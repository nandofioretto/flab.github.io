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200"/>
      </a:spcBef>
      <a:spcAft>
        <a:spcPts val="0"/>
      </a:spcAft>
      <a:buClrTx/>
      <a:buSzTx/>
      <a:buFontTx/>
      <a:buNone/>
      <a:tabLst/>
      <a:defRPr kumimoji="0" sz="4800" b="0" i="0" u="none" strike="noStrike" cap="none" spc="0" normalizeH="0" baseline="0">
        <a:ln>
          <a:noFill/>
        </a:ln>
        <a:solidFill>
          <a:srgbClr val="000000"/>
        </a:solidFill>
        <a:effectLst/>
        <a:uFillTx/>
        <a:latin typeface="Gill Sans Light"/>
        <a:ea typeface="Gill Sans Light"/>
        <a:cs typeface="Gill Sans Light"/>
        <a:sym typeface="Gill Sans Light"/>
      </a:defRPr>
    </a:lvl1pPr>
    <a:lvl2pPr marL="0" marR="0" indent="457200" algn="l" defTabSz="2438338" rtl="0" fontAlgn="auto" latinLnBrk="0" hangingPunct="0">
      <a:lnSpc>
        <a:spcPct val="90000"/>
      </a:lnSpc>
      <a:spcBef>
        <a:spcPts val="2200"/>
      </a:spcBef>
      <a:spcAft>
        <a:spcPts val="0"/>
      </a:spcAft>
      <a:buClrTx/>
      <a:buSzTx/>
      <a:buFontTx/>
      <a:buNone/>
      <a:tabLst/>
      <a:defRPr kumimoji="0" sz="4800" b="0" i="0" u="none" strike="noStrike" cap="none" spc="0" normalizeH="0" baseline="0">
        <a:ln>
          <a:noFill/>
        </a:ln>
        <a:solidFill>
          <a:srgbClr val="000000"/>
        </a:solidFill>
        <a:effectLst/>
        <a:uFillTx/>
        <a:latin typeface="Gill Sans Light"/>
        <a:ea typeface="Gill Sans Light"/>
        <a:cs typeface="Gill Sans Light"/>
        <a:sym typeface="Gill Sans Light"/>
      </a:defRPr>
    </a:lvl2pPr>
    <a:lvl3pPr marL="0" marR="0" indent="914400" algn="l" defTabSz="2438338" rtl="0" fontAlgn="auto" latinLnBrk="0" hangingPunct="0">
      <a:lnSpc>
        <a:spcPct val="90000"/>
      </a:lnSpc>
      <a:spcBef>
        <a:spcPts val="2200"/>
      </a:spcBef>
      <a:spcAft>
        <a:spcPts val="0"/>
      </a:spcAft>
      <a:buClrTx/>
      <a:buSzTx/>
      <a:buFontTx/>
      <a:buNone/>
      <a:tabLst/>
      <a:defRPr kumimoji="0" sz="4800" b="0" i="0" u="none" strike="noStrike" cap="none" spc="0" normalizeH="0" baseline="0">
        <a:ln>
          <a:noFill/>
        </a:ln>
        <a:solidFill>
          <a:srgbClr val="000000"/>
        </a:solidFill>
        <a:effectLst/>
        <a:uFillTx/>
        <a:latin typeface="Gill Sans Light"/>
        <a:ea typeface="Gill Sans Light"/>
        <a:cs typeface="Gill Sans Light"/>
        <a:sym typeface="Gill Sans Light"/>
      </a:defRPr>
    </a:lvl3pPr>
    <a:lvl4pPr marL="0" marR="0" indent="1371600" algn="l" defTabSz="2438338" rtl="0" fontAlgn="auto" latinLnBrk="0" hangingPunct="0">
      <a:lnSpc>
        <a:spcPct val="90000"/>
      </a:lnSpc>
      <a:spcBef>
        <a:spcPts val="2200"/>
      </a:spcBef>
      <a:spcAft>
        <a:spcPts val="0"/>
      </a:spcAft>
      <a:buClrTx/>
      <a:buSzTx/>
      <a:buFontTx/>
      <a:buNone/>
      <a:tabLst/>
      <a:defRPr kumimoji="0" sz="4800" b="0" i="0" u="none" strike="noStrike" cap="none" spc="0" normalizeH="0" baseline="0">
        <a:ln>
          <a:noFill/>
        </a:ln>
        <a:solidFill>
          <a:srgbClr val="000000"/>
        </a:solidFill>
        <a:effectLst/>
        <a:uFillTx/>
        <a:latin typeface="Gill Sans Light"/>
        <a:ea typeface="Gill Sans Light"/>
        <a:cs typeface="Gill Sans Light"/>
        <a:sym typeface="Gill Sans Light"/>
      </a:defRPr>
    </a:lvl4pPr>
    <a:lvl5pPr marL="0" marR="0" indent="1828800" algn="l" defTabSz="2438338" rtl="0" fontAlgn="auto" latinLnBrk="0" hangingPunct="0">
      <a:lnSpc>
        <a:spcPct val="90000"/>
      </a:lnSpc>
      <a:spcBef>
        <a:spcPts val="2200"/>
      </a:spcBef>
      <a:spcAft>
        <a:spcPts val="0"/>
      </a:spcAft>
      <a:buClrTx/>
      <a:buSzTx/>
      <a:buFontTx/>
      <a:buNone/>
      <a:tabLst/>
      <a:defRPr kumimoji="0" sz="4800" b="0" i="0" u="none" strike="noStrike" cap="none" spc="0" normalizeH="0" baseline="0">
        <a:ln>
          <a:noFill/>
        </a:ln>
        <a:solidFill>
          <a:srgbClr val="000000"/>
        </a:solidFill>
        <a:effectLst/>
        <a:uFillTx/>
        <a:latin typeface="Gill Sans Light"/>
        <a:ea typeface="Gill Sans Light"/>
        <a:cs typeface="Gill Sans Light"/>
        <a:sym typeface="Gill Sans Light"/>
      </a:defRPr>
    </a:lvl5pPr>
    <a:lvl6pPr marL="0" marR="0" indent="2286000" algn="l" defTabSz="2438338" rtl="0" fontAlgn="auto" latinLnBrk="0" hangingPunct="0">
      <a:lnSpc>
        <a:spcPct val="90000"/>
      </a:lnSpc>
      <a:spcBef>
        <a:spcPts val="2200"/>
      </a:spcBef>
      <a:spcAft>
        <a:spcPts val="0"/>
      </a:spcAft>
      <a:buClrTx/>
      <a:buSzTx/>
      <a:buFontTx/>
      <a:buNone/>
      <a:tabLst/>
      <a:defRPr kumimoji="0" sz="4800" b="0" i="0" u="none" strike="noStrike" cap="none" spc="0" normalizeH="0" baseline="0">
        <a:ln>
          <a:noFill/>
        </a:ln>
        <a:solidFill>
          <a:srgbClr val="000000"/>
        </a:solidFill>
        <a:effectLst/>
        <a:uFillTx/>
        <a:latin typeface="Gill Sans Light"/>
        <a:ea typeface="Gill Sans Light"/>
        <a:cs typeface="Gill Sans Light"/>
        <a:sym typeface="Gill Sans Light"/>
      </a:defRPr>
    </a:lvl6pPr>
    <a:lvl7pPr marL="0" marR="0" indent="2743200" algn="l" defTabSz="2438338" rtl="0" fontAlgn="auto" latinLnBrk="0" hangingPunct="0">
      <a:lnSpc>
        <a:spcPct val="90000"/>
      </a:lnSpc>
      <a:spcBef>
        <a:spcPts val="2200"/>
      </a:spcBef>
      <a:spcAft>
        <a:spcPts val="0"/>
      </a:spcAft>
      <a:buClrTx/>
      <a:buSzTx/>
      <a:buFontTx/>
      <a:buNone/>
      <a:tabLst/>
      <a:defRPr kumimoji="0" sz="4800" b="0" i="0" u="none" strike="noStrike" cap="none" spc="0" normalizeH="0" baseline="0">
        <a:ln>
          <a:noFill/>
        </a:ln>
        <a:solidFill>
          <a:srgbClr val="000000"/>
        </a:solidFill>
        <a:effectLst/>
        <a:uFillTx/>
        <a:latin typeface="Gill Sans Light"/>
        <a:ea typeface="Gill Sans Light"/>
        <a:cs typeface="Gill Sans Light"/>
        <a:sym typeface="Gill Sans Light"/>
      </a:defRPr>
    </a:lvl7pPr>
    <a:lvl8pPr marL="0" marR="0" indent="3200400" algn="l" defTabSz="2438338" rtl="0" fontAlgn="auto" latinLnBrk="0" hangingPunct="0">
      <a:lnSpc>
        <a:spcPct val="90000"/>
      </a:lnSpc>
      <a:spcBef>
        <a:spcPts val="2200"/>
      </a:spcBef>
      <a:spcAft>
        <a:spcPts val="0"/>
      </a:spcAft>
      <a:buClrTx/>
      <a:buSzTx/>
      <a:buFontTx/>
      <a:buNone/>
      <a:tabLst/>
      <a:defRPr kumimoji="0" sz="4800" b="0" i="0" u="none" strike="noStrike" cap="none" spc="0" normalizeH="0" baseline="0">
        <a:ln>
          <a:noFill/>
        </a:ln>
        <a:solidFill>
          <a:srgbClr val="000000"/>
        </a:solidFill>
        <a:effectLst/>
        <a:uFillTx/>
        <a:latin typeface="Gill Sans Light"/>
        <a:ea typeface="Gill Sans Light"/>
        <a:cs typeface="Gill Sans Light"/>
        <a:sym typeface="Gill Sans Light"/>
      </a:defRPr>
    </a:lvl8pPr>
    <a:lvl9pPr marL="0" marR="0" indent="3657600" algn="l" defTabSz="2438338" rtl="0" fontAlgn="auto" latinLnBrk="0" hangingPunct="0">
      <a:lnSpc>
        <a:spcPct val="90000"/>
      </a:lnSpc>
      <a:spcBef>
        <a:spcPts val="2200"/>
      </a:spcBef>
      <a:spcAft>
        <a:spcPts val="0"/>
      </a:spcAft>
      <a:buClrTx/>
      <a:buSzTx/>
      <a:buFontTx/>
      <a:buNone/>
      <a:tabLst/>
      <a:defRPr kumimoji="0" sz="4800" b="0" i="0" u="none" strike="noStrike" cap="none" spc="0" normalizeH="0" baseline="0">
        <a:ln>
          <a:noFill/>
        </a:ln>
        <a:solidFill>
          <a:srgbClr val="000000"/>
        </a:solidFill>
        <a:effectLst/>
        <a:uFillTx/>
        <a:latin typeface="Gill Sans Light"/>
        <a:ea typeface="Gill Sans Light"/>
        <a:cs typeface="Gill Sans Light"/>
        <a:sym typeface="Gill Sans Ligh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52" d="100"/>
          <a:sy n="52" d="100"/>
        </p:scale>
        <p:origin x="232"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7" name="Shape 277"/>
          <p:cNvSpPr>
            <a:spLocks noGrp="1" noRot="1" noChangeAspect="1"/>
          </p:cNvSpPr>
          <p:nvPr>
            <p:ph type="sldImg"/>
          </p:nvPr>
        </p:nvSpPr>
        <p:spPr>
          <a:xfrm>
            <a:off x="1143000" y="685800"/>
            <a:ext cx="4572000" cy="3429000"/>
          </a:xfrm>
          <a:prstGeom prst="rect">
            <a:avLst/>
          </a:prstGeom>
        </p:spPr>
        <p:txBody>
          <a:bodyPr/>
          <a:lstStyle/>
          <a:p>
            <a:endParaRPr/>
          </a:p>
        </p:txBody>
      </p:sp>
      <p:sp>
        <p:nvSpPr>
          <p:cNvPr id="278" name="Shape 27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Shape 339"/>
          <p:cNvSpPr>
            <a:spLocks noGrp="1" noRot="1" noChangeAspect="1"/>
          </p:cNvSpPr>
          <p:nvPr>
            <p:ph type="sldImg"/>
          </p:nvPr>
        </p:nvSpPr>
        <p:spPr>
          <a:xfrm>
            <a:off x="381000" y="685800"/>
            <a:ext cx="6096000" cy="3429000"/>
          </a:xfrm>
          <a:prstGeom prst="rect">
            <a:avLst/>
          </a:prstGeom>
        </p:spPr>
        <p:txBody>
          <a:bodyPr/>
          <a:lstStyle/>
          <a:p>
            <a:endParaRPr/>
          </a:p>
        </p:txBody>
      </p:sp>
      <p:sp>
        <p:nvSpPr>
          <p:cNvPr id="340" name="Shape 340"/>
          <p:cNvSpPr>
            <a:spLocks noGrp="1"/>
          </p:cNvSpPr>
          <p:nvPr>
            <p:ph type="body" sz="quarter" idx="1"/>
          </p:nvPr>
        </p:nvSpPr>
        <p:spPr>
          <a:prstGeom prst="rect">
            <a:avLst/>
          </a:prstGeom>
        </p:spPr>
        <p:txBody>
          <a:bodyPr/>
          <a:lstStyle/>
          <a:p>
            <a:r>
              <a:t>"To give you a quick map of what we do, my lab focuses on embedding constraints into AI—whether that means forcing a generative model to obey the laws of physics for materials discovery, or guaranteeing differential privacy and safety in self-evolving agents.”</a:t>
            </a:r>
            <a:br/>
            <a:endParaRPr/>
          </a:p>
          <a:p>
            <a:r>
              <a:t>My focus on on foundational Artificial Intelligence (AI) research at the juncture of Machine Learning (ML), optimization, privacy, and ethics. Most of my research to date focuses on two key areas:</a:t>
            </a:r>
          </a:p>
          <a:p>
            <a:r>
              <a:rPr b="1"/>
              <a:t>Integration of ML and Optimization.</a:t>
            </a:r>
            <a:r>
              <a:t> It develops the foundations to blend deep learning and constrained optimization to serve the resolution of complex decision tasks and creates novel ways to integrate knowledge, constraints, and physical principles into learning models</a:t>
            </a:r>
          </a:p>
          <a:p>
            <a:endParaRPr/>
          </a:p>
          <a:p>
            <a:r>
              <a:rPr b="1"/>
              <a:t>Trustworthy ML and Decision Making. </a:t>
            </a:r>
            <a:r>
              <a:t>It analyzes the equity of machine learning and decision- making algorithms and it designs practical tools to render AI systems more aligned with societal values, focusing especially on differential privacy, fairness, and their interplay</a:t>
            </a:r>
            <a:br/>
            <a:br/>
            <a:endParaRPr/>
          </a:p>
          <a:p>
            <a:r>
              <a:t>"While my lab actively works across both of these domains, today I am going to dive deep into this bottom-left quadrant: how we are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bg>
      <p:bgPr>
        <a:solidFill>
          <a:srgbClr val="003462"/>
        </a:solidFill>
        <a:effectLst/>
      </p:bgPr>
    </p:bg>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1340" y="11847162"/>
            <a:ext cx="21971003" cy="636979"/>
          </a:xfrm>
          <a:prstGeom prst="rect">
            <a:avLst/>
          </a:prstGeom>
        </p:spPr>
        <p:txBody>
          <a:bodyPr lIns="45719" tIns="45719" rIns="45719" bIns="45719"/>
          <a:lstStyle>
            <a:lvl1pPr marL="0" indent="0" defTabSz="825500">
              <a:lnSpc>
                <a:spcPct val="100000"/>
              </a:lnSpc>
              <a:spcBef>
                <a:spcPts val="0"/>
              </a:spcBef>
              <a:buSzTx/>
              <a:buNone/>
              <a:defRPr sz="3600" b="1">
                <a:solidFill>
                  <a:srgbClr val="FFFFFF"/>
                </a:solidFill>
                <a:latin typeface="+mn-lt"/>
                <a:ea typeface="+mn-ea"/>
                <a:cs typeface="+mn-cs"/>
                <a:sym typeface="Helvetica Neue"/>
              </a:defRPr>
            </a:lvl1pPr>
          </a:lstStyle>
          <a:p>
            <a:r>
              <a:t>Author and Date</a:t>
            </a:r>
          </a:p>
        </p:txBody>
      </p:sp>
      <p:sp>
        <p:nvSpPr>
          <p:cNvPr id="12"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spc="-232">
                <a:solidFill>
                  <a:srgbClr val="FFFFFF"/>
                </a:solidFill>
              </a:defRPr>
            </a:lvl1pPr>
          </a:lstStyle>
          <a:p>
            <a:r>
              <a:t>Presentation Title</a:t>
            </a:r>
          </a:p>
        </p:txBody>
      </p:sp>
      <p:sp>
        <p:nvSpPr>
          <p:cNvPr id="13" name="Body Level One…"/>
          <p:cNvSpPr txBox="1">
            <a:spLocks noGrp="1"/>
          </p:cNvSpPr>
          <p:nvPr>
            <p:ph type="body" sz="quarter" idx="1" hasCustomPrompt="1"/>
          </p:nvPr>
        </p:nvSpPr>
        <p:spPr>
          <a:xfrm>
            <a:off x="1201342" y="7210490"/>
            <a:ext cx="21971001" cy="1905001"/>
          </a:xfrm>
          <a:prstGeom prst="rect">
            <a:avLst/>
          </a:prstGeom>
        </p:spPr>
        <p:txBody>
          <a:bodyPr/>
          <a:lstStyle>
            <a:lvl1pPr marL="0" indent="0" defTabSz="825500">
              <a:lnSpc>
                <a:spcPct val="100000"/>
              </a:lnSpc>
              <a:spcBef>
                <a:spcPts val="0"/>
              </a:spcBef>
              <a:buSzTx/>
              <a:buNone/>
              <a:defRPr sz="5500" b="1">
                <a:latin typeface="+mn-lt"/>
                <a:ea typeface="+mn-ea"/>
                <a:cs typeface="+mn-cs"/>
                <a:sym typeface="Helvetica Neue"/>
              </a:defRPr>
            </a:lvl1pPr>
            <a:lvl2pPr marL="0" indent="457200" defTabSz="825500">
              <a:lnSpc>
                <a:spcPct val="100000"/>
              </a:lnSpc>
              <a:spcBef>
                <a:spcPts val="0"/>
              </a:spcBef>
              <a:buSzTx/>
              <a:buNone/>
              <a:defRPr sz="5500" b="1">
                <a:latin typeface="+mn-lt"/>
                <a:ea typeface="+mn-ea"/>
                <a:cs typeface="+mn-cs"/>
                <a:sym typeface="Helvetica Neue"/>
              </a:defRPr>
            </a:lvl2pPr>
            <a:lvl3pPr marL="0" indent="914400" defTabSz="825500">
              <a:lnSpc>
                <a:spcPct val="100000"/>
              </a:lnSpc>
              <a:spcBef>
                <a:spcPts val="0"/>
              </a:spcBef>
              <a:buSzTx/>
              <a:buNone/>
              <a:defRPr sz="5500" b="1">
                <a:latin typeface="+mn-lt"/>
                <a:ea typeface="+mn-ea"/>
                <a:cs typeface="+mn-cs"/>
                <a:sym typeface="Helvetica Neue"/>
              </a:defRPr>
            </a:lvl3pPr>
            <a:lvl4pPr marL="0" indent="1371600" defTabSz="825500">
              <a:lnSpc>
                <a:spcPct val="100000"/>
              </a:lnSpc>
              <a:spcBef>
                <a:spcPts val="0"/>
              </a:spcBef>
              <a:buSzTx/>
              <a:buNone/>
              <a:defRPr sz="5500" b="1">
                <a:latin typeface="+mn-lt"/>
                <a:ea typeface="+mn-ea"/>
                <a:cs typeface="+mn-cs"/>
                <a:sym typeface="Helvetica Neue"/>
              </a:defRPr>
            </a:lvl4pPr>
            <a:lvl5pPr marL="0" indent="1828800" defTabSz="825500">
              <a:lnSpc>
                <a:spcPct val="100000"/>
              </a:lnSpc>
              <a:spcBef>
                <a:spcPts val="0"/>
              </a:spcBef>
              <a:buSzTx/>
              <a:buNone/>
              <a:defRPr sz="5500" b="1">
                <a:latin typeface="+mn-lt"/>
                <a:ea typeface="+mn-ea"/>
                <a:cs typeface="+mn-cs"/>
                <a:sym typeface="Helvetica Neue"/>
              </a:defRPr>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Close-up of the top of a hot-air balloon viewed from above"/>
          <p:cNvSpPr>
            <a:spLocks noGrp="1"/>
          </p:cNvSpPr>
          <p:nvPr>
            <p:ph type="pic" idx="21"/>
          </p:nvPr>
        </p:nvSpPr>
        <p:spPr>
          <a:xfrm>
            <a:off x="0" y="-1270000"/>
            <a:ext cx="24384000" cy="16256000"/>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solidFill>
                  <a:srgbClr val="FFFFFF"/>
                </a:solidFill>
              </a:defRPr>
            </a:lvl1pPr>
          </a:lstStyle>
          <a:p>
            <a:r>
              <a:t>Presentation Title</a:t>
            </a:r>
          </a:p>
        </p:txBody>
      </p:sp>
      <p:sp>
        <p:nvSpPr>
          <p:cNvPr id="23" name="Author and Date"/>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b="1">
                <a:latin typeface="+mn-lt"/>
                <a:ea typeface="+mn-ea"/>
                <a:cs typeface="+mn-cs"/>
                <a:sym typeface="Helvetica Neue"/>
              </a:defRPr>
            </a:lvl1pPr>
          </a:lstStyle>
          <a:p>
            <a:r>
              <a:t>Author and Date</a:t>
            </a:r>
          </a:p>
        </p:txBody>
      </p:sp>
      <p:sp>
        <p:nvSpPr>
          <p:cNvPr id="24" name="Body Level One…"/>
          <p:cNvSpPr txBox="1">
            <a:spLocks noGrp="1"/>
          </p:cNvSpPr>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b="1">
                <a:solidFill>
                  <a:srgbClr val="FFFFFF"/>
                </a:solidFill>
                <a:latin typeface="+mn-lt"/>
                <a:ea typeface="+mn-ea"/>
                <a:cs typeface="+mn-cs"/>
                <a:sym typeface="Helvetica Neue"/>
              </a:defRPr>
            </a:lvl1pPr>
            <a:lvl2pPr marL="0" indent="457200" defTabSz="825500">
              <a:lnSpc>
                <a:spcPct val="100000"/>
              </a:lnSpc>
              <a:spcBef>
                <a:spcPts val="0"/>
              </a:spcBef>
              <a:buSzTx/>
              <a:buNone/>
              <a:defRPr sz="5500" b="1">
                <a:solidFill>
                  <a:srgbClr val="FFFFFF"/>
                </a:solidFill>
                <a:latin typeface="+mn-lt"/>
                <a:ea typeface="+mn-ea"/>
                <a:cs typeface="+mn-cs"/>
                <a:sym typeface="Helvetica Neue"/>
              </a:defRPr>
            </a:lvl2pPr>
            <a:lvl3pPr marL="0" indent="914400" defTabSz="825500">
              <a:lnSpc>
                <a:spcPct val="100000"/>
              </a:lnSpc>
              <a:spcBef>
                <a:spcPts val="0"/>
              </a:spcBef>
              <a:buSzTx/>
              <a:buNone/>
              <a:defRPr sz="5500" b="1">
                <a:solidFill>
                  <a:srgbClr val="FFFFFF"/>
                </a:solidFill>
                <a:latin typeface="+mn-lt"/>
                <a:ea typeface="+mn-ea"/>
                <a:cs typeface="+mn-cs"/>
                <a:sym typeface="Helvetica Neue"/>
              </a:defRPr>
            </a:lvl3pPr>
            <a:lvl4pPr marL="0" indent="1371600" defTabSz="825500">
              <a:lnSpc>
                <a:spcPct val="100000"/>
              </a:lnSpc>
              <a:spcBef>
                <a:spcPts val="0"/>
              </a:spcBef>
              <a:buSzTx/>
              <a:buNone/>
              <a:defRPr sz="5500" b="1">
                <a:solidFill>
                  <a:srgbClr val="FFFFFF"/>
                </a:solidFill>
                <a:latin typeface="+mn-lt"/>
                <a:ea typeface="+mn-ea"/>
                <a:cs typeface="+mn-cs"/>
                <a:sym typeface="Helvetica Neue"/>
              </a:defRPr>
            </a:lvl4pPr>
            <a:lvl5pPr marL="0" indent="1828800" defTabSz="825500">
              <a:lnSpc>
                <a:spcPct val="100000"/>
              </a:lnSpc>
              <a:spcBef>
                <a:spcPts val="0"/>
              </a:spcBef>
              <a:buSzTx/>
              <a:buNone/>
              <a:defRPr sz="5500" b="1">
                <a:solidFill>
                  <a:srgbClr val="FFFFFF"/>
                </a:solidFill>
                <a:latin typeface="+mn-lt"/>
                <a:ea typeface="+mn-ea"/>
                <a:cs typeface="+mn-cs"/>
                <a:sym typeface="Helvetica Neue"/>
              </a:defRPr>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Close-up of a hot-air balloon viewed from below"/>
          <p:cNvSpPr>
            <a:spLocks noGrp="1"/>
          </p:cNvSpPr>
          <p:nvPr>
            <p:ph type="pic" idx="21"/>
          </p:nvPr>
        </p:nvSpPr>
        <p:spPr>
          <a:xfrm>
            <a:off x="9226574" y="1270000"/>
            <a:ext cx="16840152" cy="11184435"/>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b="1">
                <a:latin typeface="+mn-lt"/>
                <a:ea typeface="+mn-ea"/>
                <a:cs typeface="+mn-cs"/>
                <a:sym typeface="Helvetica Neue"/>
              </a:defRPr>
            </a:lvl1pPr>
            <a:lvl2pPr marL="0" indent="457200" defTabSz="825500">
              <a:lnSpc>
                <a:spcPct val="100000"/>
              </a:lnSpc>
              <a:spcBef>
                <a:spcPts val="0"/>
              </a:spcBef>
              <a:buSzTx/>
              <a:buNone/>
              <a:defRPr sz="5500" b="1">
                <a:latin typeface="+mn-lt"/>
                <a:ea typeface="+mn-ea"/>
                <a:cs typeface="+mn-cs"/>
                <a:sym typeface="Helvetica Neue"/>
              </a:defRPr>
            </a:lvl2pPr>
            <a:lvl3pPr marL="0" indent="914400" defTabSz="825500">
              <a:lnSpc>
                <a:spcPct val="100000"/>
              </a:lnSpc>
              <a:spcBef>
                <a:spcPts val="0"/>
              </a:spcBef>
              <a:buSzTx/>
              <a:buNone/>
              <a:defRPr sz="5500" b="1">
                <a:latin typeface="+mn-lt"/>
                <a:ea typeface="+mn-ea"/>
                <a:cs typeface="+mn-cs"/>
                <a:sym typeface="Helvetica Neue"/>
              </a:defRPr>
            </a:lvl3pPr>
            <a:lvl4pPr marL="0" indent="1371600" defTabSz="825500">
              <a:lnSpc>
                <a:spcPct val="100000"/>
              </a:lnSpc>
              <a:spcBef>
                <a:spcPts val="0"/>
              </a:spcBef>
              <a:buSzTx/>
              <a:buNone/>
              <a:defRPr sz="5500" b="1">
                <a:latin typeface="+mn-lt"/>
                <a:ea typeface="+mn-ea"/>
                <a:cs typeface="+mn-cs"/>
                <a:sym typeface="Helvetica Neue"/>
              </a:defRPr>
            </a:lvl4pPr>
            <a:lvl5pPr marL="0" indent="1828800" defTabSz="825500">
              <a:lnSpc>
                <a:spcPct val="100000"/>
              </a:lnSpc>
              <a:spcBef>
                <a:spcPts val="0"/>
              </a:spcBef>
              <a:buSzTx/>
              <a:buNone/>
              <a:defRPr sz="5500" b="1">
                <a:latin typeface="+mn-lt"/>
                <a:ea typeface="+mn-ea"/>
                <a:cs typeface="+mn-cs"/>
                <a:sym typeface="Helvetica Neue"/>
              </a:defRPr>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42" name="Slide Subtitle"/>
          <p:cNvSpPr txBox="1">
            <a:spLocks noGrp="1"/>
          </p:cNvSpPr>
          <p:nvPr>
            <p:ph type="body" sz="quarter" idx="21" hasCustomPrompt="1"/>
          </p:nvPr>
        </p:nvSpPr>
        <p:spPr>
          <a:xfrm>
            <a:off x="1206500" y="2247900"/>
            <a:ext cx="9779000" cy="934779"/>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43"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44" name="Hot-air balloons viewed from below against a blue sky"/>
          <p:cNvSpPr>
            <a:spLocks noGrp="1"/>
          </p:cNvSpPr>
          <p:nvPr>
            <p:ph type="pic" idx="22"/>
          </p:nvPr>
        </p:nvSpPr>
        <p:spPr>
          <a:xfrm>
            <a:off x="8432800" y="1263848"/>
            <a:ext cx="16850011" cy="11188205"/>
          </a:xfrm>
          <a:prstGeom prst="rect">
            <a:avLst/>
          </a:prstGeom>
        </p:spPr>
        <p:txBody>
          <a:bodyPr lIns="91439" tIns="45719" rIns="91439" bIns="45719">
            <a:noAutofit/>
          </a:bodyPr>
          <a:lstStyle/>
          <a:p>
            <a:endParaRPr/>
          </a:p>
        </p:txBody>
      </p:sp>
      <p:sp>
        <p:nvSpPr>
          <p:cNvPr id="45" name="Slide Title"/>
          <p:cNvSpPr txBox="1">
            <a:spLocks noGrp="1"/>
          </p:cNvSpPr>
          <p:nvPr>
            <p:ph type="title" hasCustomPrompt="1"/>
          </p:nvPr>
        </p:nvSpPr>
        <p:spPr>
          <a:xfrm>
            <a:off x="1206500" y="952500"/>
            <a:ext cx="9779000" cy="1435100"/>
          </a:xfrm>
          <a:prstGeom prst="rect">
            <a:avLst/>
          </a:prstGeom>
        </p:spPr>
        <p:txBody>
          <a:bodyPr/>
          <a:lstStyle/>
          <a:p>
            <a:r>
              <a:t>Slide Title</a:t>
            </a:r>
          </a:p>
        </p:txBody>
      </p:sp>
      <p:sp>
        <p:nvSpPr>
          <p:cNvPr id="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53" name="Slide Subtitle"/>
          <p:cNvSpPr txBox="1">
            <a:spLocks noGrp="1"/>
          </p:cNvSpPr>
          <p:nvPr>
            <p:ph type="body" sz="quarter" idx="21" hasCustomPrompt="1"/>
          </p:nvPr>
        </p:nvSpPr>
        <p:spPr>
          <a:xfrm>
            <a:off x="1206500" y="2247900"/>
            <a:ext cx="9779000" cy="934779"/>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54"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55" name="Slide Title"/>
          <p:cNvSpPr txBox="1">
            <a:spLocks noGrp="1"/>
          </p:cNvSpPr>
          <p:nvPr>
            <p:ph type="title" hasCustomPrompt="1"/>
          </p:nvPr>
        </p:nvSpPr>
        <p:spPr>
          <a:xfrm>
            <a:off x="1206500" y="952500"/>
            <a:ext cx="9779000" cy="1435100"/>
          </a:xfrm>
          <a:prstGeom prst="rect">
            <a:avLst/>
          </a:prstGeom>
        </p:spPr>
        <p:txBody>
          <a:bodyPr/>
          <a:lstStyle/>
          <a:p>
            <a:r>
              <a:t>Slide Title</a:t>
            </a:r>
          </a:p>
        </p:txBody>
      </p:sp>
      <p:sp>
        <p:nvSpPr>
          <p:cNvPr id="5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63" name="Slide Subtitle"/>
          <p:cNvSpPr txBox="1">
            <a:spLocks noGrp="1"/>
          </p:cNvSpPr>
          <p:nvPr>
            <p:ph type="body" sz="quarter" idx="21" hasCustomPrompt="1"/>
          </p:nvPr>
        </p:nvSpPr>
        <p:spPr>
          <a:xfrm>
            <a:off x="1206500" y="2247900"/>
            <a:ext cx="9779000" cy="934779"/>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64"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5" name="Slide Title"/>
          <p:cNvSpPr txBox="1">
            <a:spLocks noGrp="1"/>
          </p:cNvSpPr>
          <p:nvPr>
            <p:ph type="title" hasCustomPrompt="1"/>
          </p:nvPr>
        </p:nvSpPr>
        <p:spPr>
          <a:xfrm>
            <a:off x="1206500" y="952500"/>
            <a:ext cx="9779000" cy="1435100"/>
          </a:xfrm>
          <a:prstGeom prst="rect">
            <a:avLst/>
          </a:prstGeom>
        </p:spPr>
        <p:txBody>
          <a:bodyPr/>
          <a:lstStyle/>
          <a:p>
            <a:r>
              <a:t>Slide Title</a:t>
            </a:r>
          </a:p>
        </p:txBody>
      </p:sp>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ection">
    <p:bg>
      <p:bgPr>
        <a:solidFill>
          <a:srgbClr val="003462"/>
        </a:solidFill>
        <a:effectLst/>
      </p:bgPr>
    </p:bg>
    <p:spTree>
      <p:nvGrpSpPr>
        <p:cNvPr id="1" name=""/>
        <p:cNvGrpSpPr/>
        <p:nvPr/>
      </p:nvGrpSpPr>
      <p:grpSpPr>
        <a:xfrm>
          <a:off x="0" y="0"/>
          <a:ext cx="0" cy="0"/>
          <a:chOff x="0" y="0"/>
          <a:chExt cx="0" cy="0"/>
        </a:xfrm>
      </p:grpSpPr>
      <p:sp>
        <p:nvSpPr>
          <p:cNvPr id="73"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b="0" spc="-232">
                <a:solidFill>
                  <a:srgbClr val="FFFFFF"/>
                </a:solidFill>
                <a:latin typeface="Helvetica Neue Medium"/>
                <a:ea typeface="Helvetica Neue Medium"/>
                <a:cs typeface="Helvetica Neue Medium"/>
                <a:sym typeface="Helvetica Neue Medium"/>
              </a:defRPr>
            </a:lvl1pPr>
          </a:lstStyle>
          <a:p>
            <a:r>
              <a:t>Section Title</a:t>
            </a:r>
          </a:p>
        </p:txBody>
      </p:sp>
      <p:sp>
        <p:nvSpPr>
          <p:cNvPr id="74" name="Slide Number"/>
          <p:cNvSpPr txBox="1">
            <a:spLocks noGrp="1"/>
          </p:cNvSpPr>
          <p:nvPr>
            <p:ph type="sldNum" sz="quarter" idx="2"/>
          </p:nvPr>
        </p:nvSpPr>
        <p:spPr>
          <a:xfrm>
            <a:off x="12001499" y="13085233"/>
            <a:ext cx="368505" cy="374600"/>
          </a:xfrm>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81" name="Slide Title"/>
          <p:cNvSpPr txBox="1">
            <a:spLocks noGrp="1"/>
          </p:cNvSpPr>
          <p:nvPr>
            <p:ph type="title" hasCustomPrompt="1"/>
          </p:nvPr>
        </p:nvSpPr>
        <p:spPr>
          <a:prstGeom prst="rect">
            <a:avLst/>
          </a:prstGeom>
        </p:spPr>
        <p:txBody>
          <a:bodyPr/>
          <a:lstStyle/>
          <a:p>
            <a:r>
              <a:t>Slide Title</a:t>
            </a:r>
          </a:p>
        </p:txBody>
      </p:sp>
      <p:sp>
        <p:nvSpPr>
          <p:cNvPr id="82" name="Slide Subtitle"/>
          <p:cNvSpPr txBox="1">
            <a:spLocks noGrp="1"/>
          </p:cNvSpPr>
          <p:nvPr>
            <p:ph type="body" sz="quarter" idx="21" hasCustomPrompt="1"/>
          </p:nvPr>
        </p:nvSpPr>
        <p:spPr>
          <a:xfrm>
            <a:off x="1206500" y="2247900"/>
            <a:ext cx="21971000" cy="934779"/>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8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90" name="Agenda Title"/>
          <p:cNvSpPr txBox="1">
            <a:spLocks noGrp="1"/>
          </p:cNvSpPr>
          <p:nvPr>
            <p:ph type="title" hasCustomPrompt="1"/>
          </p:nvPr>
        </p:nvSpPr>
        <p:spPr>
          <a:xfrm>
            <a:off x="1206500" y="952500"/>
            <a:ext cx="21971000" cy="1435100"/>
          </a:xfrm>
          <a:prstGeom prst="rect">
            <a:avLst/>
          </a:prstGeom>
        </p:spPr>
        <p:txBody>
          <a:bodyPr/>
          <a:lstStyle/>
          <a:p>
            <a:r>
              <a:t>Agenda Title</a:t>
            </a:r>
          </a:p>
        </p:txBody>
      </p:sp>
      <p:sp>
        <p:nvSpPr>
          <p:cNvPr id="91" name="Agenda Subtitle"/>
          <p:cNvSpPr txBox="1">
            <a:spLocks noGrp="1"/>
          </p:cNvSpPr>
          <p:nvPr>
            <p:ph type="body" sz="quarter" idx="21" hasCustomPrompt="1"/>
          </p:nvPr>
        </p:nvSpPr>
        <p:spPr>
          <a:xfrm>
            <a:off x="1206500" y="2247900"/>
            <a:ext cx="21971000" cy="934779"/>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Agenda Subtitle</a:t>
            </a:r>
          </a:p>
        </p:txBody>
      </p:sp>
      <p:sp>
        <p:nvSpPr>
          <p:cNvPr id="92" name="Body Level One…"/>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latin typeface="+mn-lt"/>
                <a:ea typeface="+mn-ea"/>
                <a:cs typeface="+mn-cs"/>
                <a:sym typeface="Helvetica Neue"/>
              </a:defRPr>
            </a:lvl1pPr>
            <a:lvl2pPr marL="0" indent="457200" defTabSz="825500">
              <a:lnSpc>
                <a:spcPct val="100000"/>
              </a:lnSpc>
              <a:spcBef>
                <a:spcPts val="1800"/>
              </a:spcBef>
              <a:buSzTx/>
              <a:buNone/>
              <a:defRPr sz="5500" spc="-55">
                <a:latin typeface="+mn-lt"/>
                <a:ea typeface="+mn-ea"/>
                <a:cs typeface="+mn-cs"/>
                <a:sym typeface="Helvetica Neue"/>
              </a:defRPr>
            </a:lvl2pPr>
            <a:lvl3pPr marL="0" indent="914400" defTabSz="825500">
              <a:lnSpc>
                <a:spcPct val="100000"/>
              </a:lnSpc>
              <a:spcBef>
                <a:spcPts val="1800"/>
              </a:spcBef>
              <a:buSzTx/>
              <a:buNone/>
              <a:defRPr sz="5500" spc="-55">
                <a:latin typeface="+mn-lt"/>
                <a:ea typeface="+mn-ea"/>
                <a:cs typeface="+mn-cs"/>
                <a:sym typeface="Helvetica Neue"/>
              </a:defRPr>
            </a:lvl3pPr>
            <a:lvl4pPr marL="0" indent="1371600" defTabSz="825500">
              <a:lnSpc>
                <a:spcPct val="100000"/>
              </a:lnSpc>
              <a:spcBef>
                <a:spcPts val="1800"/>
              </a:spcBef>
              <a:buSzTx/>
              <a:buNone/>
              <a:defRPr sz="5500" spc="-55">
                <a:latin typeface="+mn-lt"/>
                <a:ea typeface="+mn-ea"/>
                <a:cs typeface="+mn-cs"/>
                <a:sym typeface="Helvetica Neue"/>
              </a:defRPr>
            </a:lvl4pPr>
            <a:lvl5pPr marL="0" indent="1828800" defTabSz="825500">
              <a:lnSpc>
                <a:spcPct val="100000"/>
              </a:lnSpc>
              <a:spcBef>
                <a:spcPts val="1800"/>
              </a:spcBef>
              <a:buSzTx/>
              <a:buNone/>
              <a:defRPr sz="5500" spc="-55">
                <a:latin typeface="+mn-lt"/>
                <a:ea typeface="+mn-ea"/>
                <a:cs typeface="+mn-cs"/>
                <a:sym typeface="Helvetica Neue"/>
              </a:defRPr>
            </a:lvl5pPr>
          </a:lstStyle>
          <a:p>
            <a:r>
              <a:t>Agenda Topics</a:t>
            </a:r>
          </a:p>
          <a:p>
            <a:pPr lvl="1"/>
            <a:endParaRPr/>
          </a:p>
          <a:p>
            <a:pPr lvl="2"/>
            <a:endParaRPr/>
          </a:p>
          <a:p>
            <a:pPr lvl="3"/>
            <a:endParaRPr/>
          </a:p>
          <a:p>
            <a:pPr lvl="4"/>
            <a:endParaRPr/>
          </a:p>
        </p:txBody>
      </p:sp>
      <p:sp>
        <p:nvSpPr>
          <p:cNvPr id="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00" name="Body Level One…"/>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solidFill>
                  <a:schemeClr val="accent1">
                    <a:hueOff val="114395"/>
                    <a:lumOff val="-24975"/>
                  </a:schemeClr>
                </a:solidFill>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solidFill>
                  <a:schemeClr val="accent1">
                    <a:hueOff val="114395"/>
                    <a:lumOff val="-24975"/>
                  </a:schemeClr>
                </a:solidFill>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solidFill>
                  <a:schemeClr val="accent1">
                    <a:hueOff val="114395"/>
                    <a:lumOff val="-24975"/>
                  </a:schemeClr>
                </a:solidFill>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solidFill>
                  <a:schemeClr val="accent1">
                    <a:hueOff val="114395"/>
                    <a:lumOff val="-24975"/>
                  </a:schemeClr>
                </a:solidFill>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solidFill>
                  <a:schemeClr val="accent1">
                    <a:hueOff val="114395"/>
                    <a:lumOff val="-24975"/>
                  </a:schemeClr>
                </a:solidFill>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08" name="Body Level One…"/>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solidFill>
                  <a:schemeClr val="accent1">
                    <a:hueOff val="114395"/>
                    <a:lumOff val="-24975"/>
                  </a:schemeClr>
                </a:solidFill>
                <a:latin typeface="+mn-lt"/>
                <a:ea typeface="+mn-ea"/>
                <a:cs typeface="+mn-cs"/>
                <a:sym typeface="Helvetica Neue"/>
              </a:defRPr>
            </a:lvl1pPr>
            <a:lvl2pPr marL="0" indent="457200" algn="ctr">
              <a:lnSpc>
                <a:spcPct val="80000"/>
              </a:lnSpc>
              <a:spcBef>
                <a:spcPts val="0"/>
              </a:spcBef>
              <a:buSzTx/>
              <a:buNone/>
              <a:defRPr sz="25000" b="1" spc="-250">
                <a:solidFill>
                  <a:schemeClr val="accent1">
                    <a:hueOff val="114395"/>
                    <a:lumOff val="-24975"/>
                  </a:schemeClr>
                </a:solidFill>
                <a:latin typeface="+mn-lt"/>
                <a:ea typeface="+mn-ea"/>
                <a:cs typeface="+mn-cs"/>
                <a:sym typeface="Helvetica Neue"/>
              </a:defRPr>
            </a:lvl2pPr>
            <a:lvl3pPr marL="0" indent="914400" algn="ctr">
              <a:lnSpc>
                <a:spcPct val="80000"/>
              </a:lnSpc>
              <a:spcBef>
                <a:spcPts val="0"/>
              </a:spcBef>
              <a:buSzTx/>
              <a:buNone/>
              <a:defRPr sz="25000" b="1" spc="-250">
                <a:solidFill>
                  <a:schemeClr val="accent1">
                    <a:hueOff val="114395"/>
                    <a:lumOff val="-24975"/>
                  </a:schemeClr>
                </a:solidFill>
                <a:latin typeface="+mn-lt"/>
                <a:ea typeface="+mn-ea"/>
                <a:cs typeface="+mn-cs"/>
                <a:sym typeface="Helvetica Neue"/>
              </a:defRPr>
            </a:lvl3pPr>
            <a:lvl4pPr marL="0" indent="1371600" algn="ctr">
              <a:lnSpc>
                <a:spcPct val="80000"/>
              </a:lnSpc>
              <a:spcBef>
                <a:spcPts val="0"/>
              </a:spcBef>
              <a:buSzTx/>
              <a:buNone/>
              <a:defRPr sz="25000" b="1" spc="-250">
                <a:solidFill>
                  <a:schemeClr val="accent1">
                    <a:hueOff val="114395"/>
                    <a:lumOff val="-24975"/>
                  </a:schemeClr>
                </a:solidFill>
                <a:latin typeface="+mn-lt"/>
                <a:ea typeface="+mn-ea"/>
                <a:cs typeface="+mn-cs"/>
                <a:sym typeface="Helvetica Neue"/>
              </a:defRPr>
            </a:lvl4pPr>
            <a:lvl5pPr marL="0" indent="1828800" algn="ctr">
              <a:lnSpc>
                <a:spcPct val="80000"/>
              </a:lnSpc>
              <a:spcBef>
                <a:spcPts val="0"/>
              </a:spcBef>
              <a:buSzTx/>
              <a:buNone/>
              <a:defRPr sz="25000" b="1" spc="-250">
                <a:solidFill>
                  <a:schemeClr val="accent1">
                    <a:hueOff val="114395"/>
                    <a:lumOff val="-24975"/>
                  </a:schemeClr>
                </a:solidFill>
                <a:latin typeface="+mn-lt"/>
                <a:ea typeface="+mn-ea"/>
                <a:cs typeface="+mn-cs"/>
                <a:sym typeface="Helvetica Neue"/>
              </a:defRPr>
            </a:lvl5pPr>
          </a:lstStyle>
          <a:p>
            <a:r>
              <a:t>100%</a:t>
            </a:r>
          </a:p>
          <a:p>
            <a:pPr lvl="1"/>
            <a:endParaRPr/>
          </a:p>
          <a:p>
            <a:pPr lvl="2"/>
            <a:endParaRPr/>
          </a:p>
          <a:p>
            <a:pPr lvl="3"/>
            <a:endParaRPr/>
          </a:p>
          <a:p>
            <a:pPr lvl="4"/>
            <a:endParaRPr/>
          </a:p>
        </p:txBody>
      </p:sp>
      <p:sp>
        <p:nvSpPr>
          <p:cNvPr id="109"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latin typeface="+mn-lt"/>
                <a:ea typeface="+mn-ea"/>
                <a:cs typeface="+mn-cs"/>
                <a:sym typeface="Helvetica Neue"/>
              </a:defRPr>
            </a:lvl1pPr>
          </a:lstStyle>
          <a:p>
            <a:r>
              <a:t>Fact information</a:t>
            </a:r>
          </a:p>
        </p:txBody>
      </p:sp>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7" name="Attribution"/>
          <p:cNvSpPr txBox="1">
            <a:spLocks noGrp="1"/>
          </p:cNvSpPr>
          <p:nvPr>
            <p:ph type="body" sz="quarter" idx="21" hasCustomPrompt="1"/>
          </p:nvPr>
        </p:nvSpPr>
        <p:spPr>
          <a:xfrm>
            <a:off x="2480825" y="10675453"/>
            <a:ext cx="20149252" cy="636979"/>
          </a:xfrm>
          <a:prstGeom prst="rect">
            <a:avLst/>
          </a:prstGeom>
        </p:spPr>
        <p:txBody>
          <a:bodyPr lIns="45719" tIns="45719" rIns="45719" bIns="45719"/>
          <a:lstStyle>
            <a:lvl1pPr marL="0" indent="0" defTabSz="825500">
              <a:lnSpc>
                <a:spcPct val="100000"/>
              </a:lnSpc>
              <a:spcBef>
                <a:spcPts val="0"/>
              </a:spcBef>
              <a:buSzTx/>
              <a:buNone/>
              <a:defRPr sz="3600" b="1">
                <a:latin typeface="+mn-lt"/>
                <a:ea typeface="+mn-ea"/>
                <a:cs typeface="+mn-cs"/>
                <a:sym typeface="Helvetica Neue"/>
              </a:defRPr>
            </a:lvl1pPr>
          </a:lstStyle>
          <a:p>
            <a:r>
              <a:t>Attribution</a:t>
            </a:r>
          </a:p>
        </p:txBody>
      </p:sp>
      <p:sp>
        <p:nvSpPr>
          <p:cNvPr id="118" name="Body Level One…"/>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solidFill>
                  <a:schemeClr val="accent1">
                    <a:hueOff val="114395"/>
                    <a:lumOff val="-24975"/>
                  </a:schemeClr>
                </a:solidFill>
                <a:latin typeface="Helvetica Neue Medium"/>
                <a:ea typeface="Helvetica Neue Medium"/>
                <a:cs typeface="Helvetica Neue Medium"/>
                <a:sym typeface="Helvetica Neue Medium"/>
              </a:defRPr>
            </a:lvl1pPr>
            <a:lvl2pPr marL="638923" indent="-12700">
              <a:spcBef>
                <a:spcPts val="0"/>
              </a:spcBef>
              <a:buSzTx/>
              <a:buNone/>
              <a:defRPr sz="8500" spc="-170">
                <a:solidFill>
                  <a:schemeClr val="accent1">
                    <a:hueOff val="114395"/>
                    <a:lumOff val="-24975"/>
                  </a:schemeClr>
                </a:solidFill>
                <a:latin typeface="Helvetica Neue Medium"/>
                <a:ea typeface="Helvetica Neue Medium"/>
                <a:cs typeface="Helvetica Neue Medium"/>
                <a:sym typeface="Helvetica Neue Medium"/>
              </a:defRPr>
            </a:lvl2pPr>
            <a:lvl3pPr marL="638923" indent="444500">
              <a:spcBef>
                <a:spcPts val="0"/>
              </a:spcBef>
              <a:buSzTx/>
              <a:buNone/>
              <a:defRPr sz="8500" spc="-170">
                <a:solidFill>
                  <a:schemeClr val="accent1">
                    <a:hueOff val="114395"/>
                    <a:lumOff val="-24975"/>
                  </a:schemeClr>
                </a:solidFill>
                <a:latin typeface="Helvetica Neue Medium"/>
                <a:ea typeface="Helvetica Neue Medium"/>
                <a:cs typeface="Helvetica Neue Medium"/>
                <a:sym typeface="Helvetica Neue Medium"/>
              </a:defRPr>
            </a:lvl3pPr>
            <a:lvl4pPr marL="638923" indent="901700">
              <a:spcBef>
                <a:spcPts val="0"/>
              </a:spcBef>
              <a:buSzTx/>
              <a:buNone/>
              <a:defRPr sz="8500" spc="-170">
                <a:solidFill>
                  <a:schemeClr val="accent1">
                    <a:hueOff val="114395"/>
                    <a:lumOff val="-24975"/>
                  </a:schemeClr>
                </a:solidFill>
                <a:latin typeface="Helvetica Neue Medium"/>
                <a:ea typeface="Helvetica Neue Medium"/>
                <a:cs typeface="Helvetica Neue Medium"/>
                <a:sym typeface="Helvetica Neue Medium"/>
              </a:defRPr>
            </a:lvl4pPr>
            <a:lvl5pPr marL="638923" indent="1358900">
              <a:spcBef>
                <a:spcPts val="0"/>
              </a:spcBef>
              <a:buSzTx/>
              <a:buNone/>
              <a:defRPr sz="8500" spc="-170">
                <a:solidFill>
                  <a:schemeClr val="accent1">
                    <a:hueOff val="114395"/>
                    <a:lumOff val="-24975"/>
                  </a:schemeClr>
                </a:solidFill>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26" name="Hot-air balloons viewed from below against a blue sky"/>
          <p:cNvSpPr>
            <a:spLocks noGrp="1"/>
          </p:cNvSpPr>
          <p:nvPr>
            <p:ph type="pic" sz="quarter" idx="21"/>
          </p:nvPr>
        </p:nvSpPr>
        <p:spPr>
          <a:xfrm>
            <a:off x="15436504" y="1270000"/>
            <a:ext cx="8167167" cy="5422900"/>
          </a:xfrm>
          <a:prstGeom prst="rect">
            <a:avLst/>
          </a:prstGeom>
        </p:spPr>
        <p:txBody>
          <a:bodyPr lIns="91439" tIns="45719" rIns="91439" bIns="45719">
            <a:noAutofit/>
          </a:bodyPr>
          <a:lstStyle/>
          <a:p>
            <a:endParaRPr/>
          </a:p>
        </p:txBody>
      </p:sp>
      <p:sp>
        <p:nvSpPr>
          <p:cNvPr id="127" name="Close-up of the top of a hot-air balloon viewed from above"/>
          <p:cNvSpPr>
            <a:spLocks noGrp="1"/>
          </p:cNvSpPr>
          <p:nvPr>
            <p:ph type="pic" sz="quarter" idx="22"/>
          </p:nvPr>
        </p:nvSpPr>
        <p:spPr>
          <a:xfrm>
            <a:off x="15461772" y="7085972"/>
            <a:ext cx="8148414" cy="5432276"/>
          </a:xfrm>
          <a:prstGeom prst="rect">
            <a:avLst/>
          </a:prstGeom>
        </p:spPr>
        <p:txBody>
          <a:bodyPr lIns="91439" tIns="45719" rIns="91439" bIns="45719">
            <a:noAutofit/>
          </a:bodyPr>
          <a:lstStyle/>
          <a:p>
            <a:endParaRPr/>
          </a:p>
        </p:txBody>
      </p:sp>
      <p:sp>
        <p:nvSpPr>
          <p:cNvPr id="128" name="Hot-air balloons viewed from below against a blue sky"/>
          <p:cNvSpPr>
            <a:spLocks noGrp="1"/>
          </p:cNvSpPr>
          <p:nvPr>
            <p:ph type="pic" idx="23"/>
          </p:nvPr>
        </p:nvSpPr>
        <p:spPr>
          <a:xfrm>
            <a:off x="-124635" y="1270000"/>
            <a:ext cx="16859219" cy="11239479"/>
          </a:xfrm>
          <a:prstGeom prst="rect">
            <a:avLst/>
          </a:prstGeom>
        </p:spPr>
        <p:txBody>
          <a:bodyPr lIns="91439" tIns="45719" rIns="91439" bIns="45719">
            <a:noAutofit/>
          </a:bodyPr>
          <a:lstStyle/>
          <a:p>
            <a:endParaRPr/>
          </a:p>
        </p:txBody>
      </p:sp>
      <p:sp>
        <p:nvSpPr>
          <p:cNvPr id="12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36" name="Hot-air balloons viewed from below against a blue sky"/>
          <p:cNvSpPr>
            <a:spLocks noGrp="1"/>
          </p:cNvSpPr>
          <p:nvPr>
            <p:ph type="pic" idx="21"/>
          </p:nvPr>
        </p:nvSpPr>
        <p:spPr>
          <a:xfrm>
            <a:off x="0" y="-1270000"/>
            <a:ext cx="24384000" cy="16256000"/>
          </a:xfrm>
          <a:prstGeom prst="rect">
            <a:avLst/>
          </a:prstGeom>
        </p:spPr>
        <p:txBody>
          <a:bodyPr lIns="91439" tIns="45719" rIns="91439" bIns="45719">
            <a:noAutofit/>
          </a:bodyPr>
          <a:lstStyle/>
          <a:p>
            <a:endParaRPr/>
          </a:p>
        </p:txBody>
      </p:sp>
      <p:sp>
        <p:nvSpPr>
          <p:cNvPr id="137"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51" name="Slide Title"/>
          <p:cNvSpPr txBox="1">
            <a:spLocks noGrp="1"/>
          </p:cNvSpPr>
          <p:nvPr>
            <p:ph type="title" hasCustomPrompt="1"/>
          </p:nvPr>
        </p:nvSpPr>
        <p:spPr>
          <a:xfrm>
            <a:off x="1206500" y="571500"/>
            <a:ext cx="21971000" cy="1433163"/>
          </a:xfrm>
          <a:prstGeom prst="rect">
            <a:avLst/>
          </a:prstGeom>
        </p:spPr>
        <p:txBody>
          <a:bodyPr/>
          <a:lstStyle/>
          <a:p>
            <a:r>
              <a:t>Slide Title</a:t>
            </a:r>
          </a:p>
        </p:txBody>
      </p:sp>
      <p:sp>
        <p:nvSpPr>
          <p:cNvPr id="152" name="Slide Subtitle"/>
          <p:cNvSpPr txBox="1">
            <a:spLocks noGrp="1"/>
          </p:cNvSpPr>
          <p:nvPr>
            <p:ph type="body" sz="quarter" idx="21" hasCustomPrompt="1"/>
          </p:nvPr>
        </p:nvSpPr>
        <p:spPr>
          <a:xfrm>
            <a:off x="1206500" y="1864962"/>
            <a:ext cx="21971000" cy="934780"/>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153" name="Body Level One…"/>
          <p:cNvSpPr txBox="1">
            <a:spLocks noGrp="1"/>
          </p:cNvSpPr>
          <p:nvPr>
            <p:ph type="body" idx="1" hasCustomPrompt="1"/>
          </p:nvPr>
        </p:nvSpPr>
        <p:spPr>
          <a:prstGeom prst="rect">
            <a:avLst/>
          </a:prstGeom>
        </p:spPr>
        <p:txBody>
          <a:bodyPr/>
          <a:lstStyle>
            <a:lvl1pPr marL="543339" indent="-543339">
              <a:buSzPct val="70000"/>
              <a:defRPr>
                <a:latin typeface="Helvetica Neue Light"/>
                <a:ea typeface="Helvetica Neue Light"/>
                <a:cs typeface="Helvetica Neue Light"/>
                <a:sym typeface="Helvetica Neue Light"/>
              </a:defRPr>
            </a:lvl1pPr>
            <a:lvl2pPr marL="1064039" indent="-543339">
              <a:defRPr>
                <a:latin typeface="Helvetica Neue Light"/>
                <a:ea typeface="Helvetica Neue Light"/>
                <a:cs typeface="Helvetica Neue Light"/>
                <a:sym typeface="Helvetica Neue Light"/>
              </a:defRPr>
            </a:lvl2pPr>
            <a:lvl3pPr marL="1584739" indent="-543339">
              <a:defRPr>
                <a:latin typeface="Helvetica Neue Light"/>
                <a:ea typeface="Helvetica Neue Light"/>
                <a:cs typeface="Helvetica Neue Light"/>
                <a:sym typeface="Helvetica Neue Light"/>
              </a:defRPr>
            </a:lvl3pPr>
            <a:lvl4pPr marL="2105439" indent="-543339">
              <a:defRPr>
                <a:latin typeface="Helvetica Neue Light"/>
                <a:ea typeface="Helvetica Neue Light"/>
                <a:cs typeface="Helvetica Neue Light"/>
                <a:sym typeface="Helvetica Neue Light"/>
              </a:defRPr>
            </a:lvl4pPr>
            <a:lvl5pPr marL="2626139" indent="-543339">
              <a:defRPr>
                <a:latin typeface="Helvetica Neue Light"/>
                <a:ea typeface="Helvetica Neue Light"/>
                <a:cs typeface="Helvetica Neue Light"/>
                <a:sym typeface="Helvetica Neue Light"/>
              </a:defRPr>
            </a:lvl5pPr>
          </a:lstStyle>
          <a:p>
            <a:r>
              <a:t>Slide bullet text</a:t>
            </a:r>
          </a:p>
          <a:p>
            <a:pPr lvl="1"/>
            <a:endParaRPr/>
          </a:p>
          <a:p>
            <a:pPr lvl="2"/>
            <a:endParaRPr/>
          </a:p>
          <a:p>
            <a:pPr lvl="3"/>
            <a:endParaRPr/>
          </a:p>
          <a:p>
            <a:pPr lvl="4"/>
            <a:endParaRPr/>
          </a:p>
        </p:txBody>
      </p:sp>
      <p:sp>
        <p:nvSpPr>
          <p:cNvPr id="154" name="Slide Number"/>
          <p:cNvSpPr txBox="1">
            <a:spLocks noGrp="1"/>
          </p:cNvSpPr>
          <p:nvPr>
            <p:ph type="sldNum" sz="quarter" idx="2"/>
          </p:nvPr>
        </p:nvSpPr>
        <p:spPr>
          <a:xfrm>
            <a:off x="23484413" y="12933411"/>
            <a:ext cx="645791" cy="523086"/>
          </a:xfrm>
          <a:prstGeom prst="rect">
            <a:avLst/>
          </a:prstGeom>
        </p:spPr>
        <p:txBody>
          <a:bodyPr wrap="square"/>
          <a:lstStyle>
            <a:lvl1pPr>
              <a:defRPr sz="2800">
                <a:solidFill>
                  <a:schemeClr val="accent1">
                    <a:lumOff val="-13575"/>
                  </a:schemeClr>
                </a:solidFill>
                <a:latin typeface="Helvetica Neue Medium"/>
                <a:ea typeface="Helvetica Neue Medium"/>
                <a:cs typeface="Helvetica Neue Medium"/>
                <a:sym typeface="Helvetica Neue Medium"/>
              </a:defRPr>
            </a:lvl1pPr>
          </a:lstStyle>
          <a:p>
            <a:fld id="{86CB4B4D-7CA3-9044-876B-883B54F8677D}" type="slidenum">
              <a:t>‹#›</a:t>
            </a:fld>
            <a:endParaRPr/>
          </a:p>
        </p:txBody>
      </p:sp>
      <p:sp>
        <p:nvSpPr>
          <p:cNvPr id="155" name="Nando Fioretto | University of  Virginia"/>
          <p:cNvSpPr txBox="1"/>
          <p:nvPr/>
        </p:nvSpPr>
        <p:spPr>
          <a:xfrm>
            <a:off x="255195" y="12965365"/>
            <a:ext cx="6261991" cy="636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a:lnSpc>
                <a:spcPct val="100000"/>
              </a:lnSpc>
              <a:spcBef>
                <a:spcPts val="0"/>
              </a:spcBef>
              <a:defRPr sz="3100"/>
            </a:pPr>
            <a:r>
              <a:rPr>
                <a:latin typeface="Gill Sans"/>
                <a:ea typeface="Gill Sans"/>
                <a:cs typeface="Gill Sans"/>
                <a:sym typeface="Gill Sans"/>
              </a:rPr>
              <a:t>Nando Fioretto</a:t>
            </a:r>
            <a:r>
              <a:t> | University of  Virginia</a:t>
            </a: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62" name="Slide Title"/>
          <p:cNvSpPr txBox="1">
            <a:spLocks noGrp="1"/>
          </p:cNvSpPr>
          <p:nvPr>
            <p:ph type="title" hasCustomPrompt="1"/>
          </p:nvPr>
        </p:nvSpPr>
        <p:spPr>
          <a:xfrm>
            <a:off x="1206500" y="571500"/>
            <a:ext cx="21971000" cy="1433163"/>
          </a:xfrm>
          <a:prstGeom prst="rect">
            <a:avLst/>
          </a:prstGeom>
        </p:spPr>
        <p:txBody>
          <a:bodyPr/>
          <a:lstStyle/>
          <a:p>
            <a:r>
              <a:t>Slide Title</a:t>
            </a:r>
          </a:p>
        </p:txBody>
      </p:sp>
      <p:sp>
        <p:nvSpPr>
          <p:cNvPr id="163" name="Slide Subtitle"/>
          <p:cNvSpPr txBox="1">
            <a:spLocks noGrp="1"/>
          </p:cNvSpPr>
          <p:nvPr>
            <p:ph type="body" sz="quarter" idx="21" hasCustomPrompt="1"/>
          </p:nvPr>
        </p:nvSpPr>
        <p:spPr>
          <a:xfrm>
            <a:off x="1206500" y="1864962"/>
            <a:ext cx="21971000" cy="934780"/>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164" name="Body Level One…"/>
          <p:cNvSpPr txBox="1">
            <a:spLocks noGrp="1"/>
          </p:cNvSpPr>
          <p:nvPr>
            <p:ph type="body" idx="1" hasCustomPrompt="1"/>
          </p:nvPr>
        </p:nvSpPr>
        <p:spPr>
          <a:prstGeom prst="rect">
            <a:avLst/>
          </a:prstGeom>
        </p:spPr>
        <p:txBody>
          <a:bodyPr/>
          <a:lstStyle>
            <a:lvl1pPr marL="543339" indent="-543339">
              <a:spcBef>
                <a:spcPts val="4500"/>
              </a:spcBef>
              <a:buSzPct val="70000"/>
              <a:defRPr>
                <a:latin typeface="Helvetica Neue Light"/>
                <a:ea typeface="Helvetica Neue Light"/>
                <a:cs typeface="Helvetica Neue Light"/>
                <a:sym typeface="Helvetica Neue Light"/>
              </a:defRPr>
            </a:lvl1pPr>
            <a:lvl2pPr marL="1064039" indent="-543339">
              <a:spcBef>
                <a:spcPts val="4500"/>
              </a:spcBef>
              <a:defRPr>
                <a:latin typeface="Helvetica Neue Light"/>
                <a:ea typeface="Helvetica Neue Light"/>
                <a:cs typeface="Helvetica Neue Light"/>
                <a:sym typeface="Helvetica Neue Light"/>
              </a:defRPr>
            </a:lvl2pPr>
            <a:lvl3pPr marL="1584739" indent="-543339">
              <a:spcBef>
                <a:spcPts val="4500"/>
              </a:spcBef>
              <a:defRPr>
                <a:latin typeface="Helvetica Neue Light"/>
                <a:ea typeface="Helvetica Neue Light"/>
                <a:cs typeface="Helvetica Neue Light"/>
                <a:sym typeface="Helvetica Neue Light"/>
              </a:defRPr>
            </a:lvl3pPr>
            <a:lvl4pPr marL="2105439" indent="-543339">
              <a:spcBef>
                <a:spcPts val="4500"/>
              </a:spcBef>
              <a:defRPr>
                <a:latin typeface="Helvetica Neue Light"/>
                <a:ea typeface="Helvetica Neue Light"/>
                <a:cs typeface="Helvetica Neue Light"/>
                <a:sym typeface="Helvetica Neue Light"/>
              </a:defRPr>
            </a:lvl4pPr>
            <a:lvl5pPr marL="2626139" indent="-543339">
              <a:spcBef>
                <a:spcPts val="4500"/>
              </a:spcBef>
              <a:defRPr>
                <a:latin typeface="Helvetica Neue Light"/>
                <a:ea typeface="Helvetica Neue Light"/>
                <a:cs typeface="Helvetica Neue Light"/>
                <a:sym typeface="Helvetica Neue Light"/>
              </a:defRPr>
            </a:lvl5pPr>
          </a:lstStyle>
          <a:p>
            <a:r>
              <a:t>Slide bullet text</a:t>
            </a:r>
          </a:p>
          <a:p>
            <a:pPr lvl="1"/>
            <a:endParaRPr/>
          </a:p>
          <a:p>
            <a:pPr lvl="2"/>
            <a:endParaRPr/>
          </a:p>
          <a:p>
            <a:pPr lvl="3"/>
            <a:endParaRPr/>
          </a:p>
          <a:p>
            <a:pPr lvl="4"/>
            <a:endParaRPr/>
          </a:p>
        </p:txBody>
      </p:sp>
      <p:sp>
        <p:nvSpPr>
          <p:cNvPr id="165" name="Slide Number"/>
          <p:cNvSpPr txBox="1">
            <a:spLocks noGrp="1"/>
          </p:cNvSpPr>
          <p:nvPr>
            <p:ph type="sldNum" sz="quarter" idx="2"/>
          </p:nvPr>
        </p:nvSpPr>
        <p:spPr>
          <a:xfrm>
            <a:off x="23484413" y="12933411"/>
            <a:ext cx="645791" cy="523086"/>
          </a:xfrm>
          <a:prstGeom prst="rect">
            <a:avLst/>
          </a:prstGeom>
        </p:spPr>
        <p:txBody>
          <a:bodyPr wrap="square"/>
          <a:lstStyle>
            <a:lvl1pPr>
              <a:defRPr sz="2800">
                <a:solidFill>
                  <a:schemeClr val="accent1">
                    <a:lumOff val="-13575"/>
                  </a:schemeClr>
                </a:solidFill>
                <a:latin typeface="Helvetica Neue Medium"/>
                <a:ea typeface="Helvetica Neue Medium"/>
                <a:cs typeface="Helvetica Neue Medium"/>
                <a:sym typeface="Helvetica Neue Medium"/>
              </a:defRPr>
            </a:lvl1pPr>
          </a:lstStyle>
          <a:p>
            <a:fld id="{86CB4B4D-7CA3-9044-876B-883B54F8677D}" type="slidenum">
              <a:t>‹#›</a:t>
            </a:fld>
            <a:endParaRPr/>
          </a:p>
        </p:txBody>
      </p:sp>
      <p:sp>
        <p:nvSpPr>
          <p:cNvPr id="166" name="Nando Fioretto | University of  Virginia"/>
          <p:cNvSpPr txBox="1"/>
          <p:nvPr/>
        </p:nvSpPr>
        <p:spPr>
          <a:xfrm>
            <a:off x="255195" y="12965365"/>
            <a:ext cx="6261991" cy="636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a:lnSpc>
                <a:spcPct val="100000"/>
              </a:lnSpc>
              <a:spcBef>
                <a:spcPts val="0"/>
              </a:spcBef>
              <a:defRPr sz="3100"/>
            </a:pPr>
            <a:r>
              <a:rPr>
                <a:latin typeface="Gill Sans"/>
                <a:ea typeface="Gill Sans"/>
                <a:cs typeface="Gill Sans"/>
                <a:sym typeface="Gill Sans"/>
              </a:rPr>
              <a:t>Nando Fioretto</a:t>
            </a:r>
            <a:r>
              <a:t> | University of  Virginia</a:t>
            </a: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173" name="Slide Title"/>
          <p:cNvSpPr txBox="1">
            <a:spLocks noGrp="1"/>
          </p:cNvSpPr>
          <p:nvPr>
            <p:ph type="title" hasCustomPrompt="1"/>
          </p:nvPr>
        </p:nvSpPr>
        <p:spPr>
          <a:xfrm>
            <a:off x="1206500" y="571500"/>
            <a:ext cx="21971000" cy="1434949"/>
          </a:xfrm>
          <a:prstGeom prst="rect">
            <a:avLst/>
          </a:prstGeom>
        </p:spPr>
        <p:txBody>
          <a:bodyPr/>
          <a:lstStyle/>
          <a:p>
            <a:r>
              <a:t>Slide Title</a:t>
            </a:r>
          </a:p>
        </p:txBody>
      </p:sp>
      <p:sp>
        <p:nvSpPr>
          <p:cNvPr id="174" name="Slide Subtitle"/>
          <p:cNvSpPr txBox="1">
            <a:spLocks noGrp="1"/>
          </p:cNvSpPr>
          <p:nvPr>
            <p:ph type="body" sz="quarter" idx="21" hasCustomPrompt="1"/>
          </p:nvPr>
        </p:nvSpPr>
        <p:spPr>
          <a:xfrm>
            <a:off x="1206500" y="1866900"/>
            <a:ext cx="21971000" cy="934779"/>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175" name="Slide Number"/>
          <p:cNvSpPr txBox="1">
            <a:spLocks noGrp="1"/>
          </p:cNvSpPr>
          <p:nvPr>
            <p:ph type="sldNum" sz="quarter" idx="2"/>
          </p:nvPr>
        </p:nvSpPr>
        <p:spPr>
          <a:xfrm>
            <a:off x="23678388" y="12932513"/>
            <a:ext cx="509728" cy="523086"/>
          </a:xfrm>
          <a:prstGeom prst="rect">
            <a:avLst/>
          </a:prstGeom>
        </p:spPr>
        <p:txBody>
          <a:bodyPr/>
          <a:lstStyle>
            <a:lvl1pPr>
              <a:defRPr sz="2800">
                <a:solidFill>
                  <a:schemeClr val="accent1">
                    <a:lumOff val="-13575"/>
                  </a:schemeClr>
                </a:solidFill>
                <a:latin typeface="Helvetica Neue Medium"/>
                <a:ea typeface="Helvetica Neue Medium"/>
                <a:cs typeface="Helvetica Neue Medium"/>
                <a:sym typeface="Helvetica Neue Medium"/>
              </a:defRPr>
            </a:lvl1pPr>
          </a:lstStyle>
          <a:p>
            <a:fld id="{86CB4B4D-7CA3-9044-876B-883B54F8677D}" type="slidenum">
              <a:t>‹#›</a:t>
            </a:fld>
            <a:endParaRPr/>
          </a:p>
        </p:txBody>
      </p:sp>
      <p:sp>
        <p:nvSpPr>
          <p:cNvPr id="176" name="Nando Fioretto | University of  Virginia"/>
          <p:cNvSpPr txBox="1"/>
          <p:nvPr/>
        </p:nvSpPr>
        <p:spPr>
          <a:xfrm>
            <a:off x="255195" y="12965365"/>
            <a:ext cx="6261991" cy="636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a:lnSpc>
                <a:spcPct val="100000"/>
              </a:lnSpc>
              <a:spcBef>
                <a:spcPts val="0"/>
              </a:spcBef>
              <a:defRPr sz="3100"/>
            </a:pPr>
            <a:r>
              <a:rPr>
                <a:latin typeface="Gill Sans"/>
                <a:ea typeface="Gill Sans"/>
                <a:cs typeface="Gill Sans"/>
                <a:sym typeface="Gill Sans"/>
              </a:rPr>
              <a:t>Nando Fioretto</a:t>
            </a:r>
            <a:r>
              <a:t> | University of  Virginia</a:t>
            </a: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83" name="Slide Title"/>
          <p:cNvSpPr txBox="1">
            <a:spLocks noGrp="1"/>
          </p:cNvSpPr>
          <p:nvPr>
            <p:ph type="title" hasCustomPrompt="1"/>
          </p:nvPr>
        </p:nvSpPr>
        <p:spPr>
          <a:xfrm>
            <a:off x="622300" y="355600"/>
            <a:ext cx="23139400" cy="1433163"/>
          </a:xfrm>
          <a:prstGeom prst="rect">
            <a:avLst/>
          </a:prstGeom>
        </p:spPr>
        <p:txBody>
          <a:bodyPr/>
          <a:lstStyle/>
          <a:p>
            <a:r>
              <a:t>Slide Title</a:t>
            </a:r>
          </a:p>
        </p:txBody>
      </p:sp>
      <p:sp>
        <p:nvSpPr>
          <p:cNvPr id="184" name="Slide Subtitle"/>
          <p:cNvSpPr txBox="1">
            <a:spLocks noGrp="1"/>
          </p:cNvSpPr>
          <p:nvPr>
            <p:ph type="body" sz="quarter" idx="21" hasCustomPrompt="1"/>
          </p:nvPr>
        </p:nvSpPr>
        <p:spPr>
          <a:xfrm>
            <a:off x="622300" y="1649062"/>
            <a:ext cx="23004723" cy="934780"/>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185" name="Body Level One…"/>
          <p:cNvSpPr txBox="1">
            <a:spLocks noGrp="1"/>
          </p:cNvSpPr>
          <p:nvPr>
            <p:ph type="body" idx="1" hasCustomPrompt="1"/>
          </p:nvPr>
        </p:nvSpPr>
        <p:spPr>
          <a:xfrm>
            <a:off x="1206500" y="3376995"/>
            <a:ext cx="21971000" cy="9127521"/>
          </a:xfrm>
          <a:prstGeom prst="rect">
            <a:avLst/>
          </a:prstGeom>
        </p:spPr>
        <p:txBody>
          <a:bodyPr/>
          <a:lstStyle>
            <a:lvl1pPr marL="584200" indent="-584200">
              <a:spcBef>
                <a:spcPts val="3600"/>
              </a:spcBef>
              <a:defRPr sz="4600"/>
            </a:lvl1pPr>
            <a:lvl2pPr marL="1193800" indent="-584200">
              <a:spcBef>
                <a:spcPts val="3600"/>
              </a:spcBef>
              <a:defRPr sz="4600"/>
            </a:lvl2pPr>
            <a:lvl3pPr marL="1803400" indent="-584200">
              <a:spcBef>
                <a:spcPts val="3600"/>
              </a:spcBef>
              <a:defRPr sz="4600"/>
            </a:lvl3pPr>
            <a:lvl4pPr marL="2413000" indent="-584200">
              <a:spcBef>
                <a:spcPts val="3600"/>
              </a:spcBef>
              <a:defRPr sz="4600"/>
            </a:lvl4pPr>
            <a:lvl5pPr marL="3022600" indent="-584200">
              <a:spcBef>
                <a:spcPts val="3600"/>
              </a:spcBef>
              <a:defRPr sz="4600"/>
            </a:lvl5pPr>
          </a:lstStyle>
          <a:p>
            <a:r>
              <a:t>Slide bullet text</a:t>
            </a:r>
          </a:p>
          <a:p>
            <a:pPr lvl="1"/>
            <a:endParaRPr/>
          </a:p>
          <a:p>
            <a:pPr lvl="2"/>
            <a:endParaRPr/>
          </a:p>
          <a:p>
            <a:pPr lvl="3"/>
            <a:endParaRPr/>
          </a:p>
          <a:p>
            <a:pPr lvl="4"/>
            <a:endParaRPr/>
          </a:p>
        </p:txBody>
      </p:sp>
      <p:sp>
        <p:nvSpPr>
          <p:cNvPr id="186" name="Slide Number"/>
          <p:cNvSpPr txBox="1">
            <a:spLocks noGrp="1"/>
          </p:cNvSpPr>
          <p:nvPr>
            <p:ph type="sldNum" sz="quarter" idx="2"/>
          </p:nvPr>
        </p:nvSpPr>
        <p:spPr>
          <a:xfrm>
            <a:off x="23552811" y="13045744"/>
            <a:ext cx="481483" cy="498755"/>
          </a:xfrm>
          <a:prstGeom prst="rect">
            <a:avLst/>
          </a:prstGeom>
        </p:spPr>
        <p:txBody>
          <a:bodyPr/>
          <a:lstStyle>
            <a:lvl1pPr>
              <a:defRPr sz="2600">
                <a:solidFill>
                  <a:schemeClr val="accent1">
                    <a:hueOff val="114395"/>
                    <a:lumOff val="-24975"/>
                  </a:schemeClr>
                </a:solidFill>
              </a:defRPr>
            </a:lvl1pPr>
          </a:lstStyle>
          <a:p>
            <a:fld id="{86CB4B4D-7CA3-9044-876B-883B54F8677D}" type="slidenum">
              <a:t>‹#›</a:t>
            </a:fld>
            <a:endParaRPr/>
          </a:p>
        </p:txBody>
      </p:sp>
      <p:sp>
        <p:nvSpPr>
          <p:cNvPr id="187" name="Nando Fioretto | University of  Virginia"/>
          <p:cNvSpPr txBox="1"/>
          <p:nvPr/>
        </p:nvSpPr>
        <p:spPr>
          <a:xfrm>
            <a:off x="255195" y="12965365"/>
            <a:ext cx="6261991" cy="636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a:lnSpc>
                <a:spcPct val="100000"/>
              </a:lnSpc>
              <a:spcBef>
                <a:spcPts val="0"/>
              </a:spcBef>
              <a:defRPr sz="3100"/>
            </a:pPr>
            <a:r>
              <a:rPr>
                <a:latin typeface="Gill Sans"/>
                <a:ea typeface="Gill Sans"/>
                <a:cs typeface="Gill Sans"/>
                <a:sym typeface="Gill Sans"/>
              </a:rPr>
              <a:t>Nando Fioretto</a:t>
            </a:r>
            <a:r>
              <a:t> | University of  Virginia</a:t>
            </a: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94" name="Slide Title"/>
          <p:cNvSpPr txBox="1">
            <a:spLocks noGrp="1"/>
          </p:cNvSpPr>
          <p:nvPr>
            <p:ph type="title" hasCustomPrompt="1"/>
          </p:nvPr>
        </p:nvSpPr>
        <p:spPr>
          <a:xfrm>
            <a:off x="622300" y="355600"/>
            <a:ext cx="23139400" cy="1433163"/>
          </a:xfrm>
          <a:prstGeom prst="rect">
            <a:avLst/>
          </a:prstGeom>
        </p:spPr>
        <p:txBody>
          <a:bodyPr/>
          <a:lstStyle/>
          <a:p>
            <a:r>
              <a:t>Slide Title</a:t>
            </a:r>
          </a:p>
        </p:txBody>
      </p:sp>
      <p:sp>
        <p:nvSpPr>
          <p:cNvPr id="195" name="Slide Subtitle"/>
          <p:cNvSpPr txBox="1">
            <a:spLocks noGrp="1"/>
          </p:cNvSpPr>
          <p:nvPr>
            <p:ph type="body" sz="quarter" idx="21" hasCustomPrompt="1"/>
          </p:nvPr>
        </p:nvSpPr>
        <p:spPr>
          <a:xfrm>
            <a:off x="622300" y="1649062"/>
            <a:ext cx="23004723" cy="934780"/>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196" name="Body Level One…"/>
          <p:cNvSpPr txBox="1">
            <a:spLocks noGrp="1"/>
          </p:cNvSpPr>
          <p:nvPr>
            <p:ph type="body" idx="1" hasCustomPrompt="1"/>
          </p:nvPr>
        </p:nvSpPr>
        <p:spPr>
          <a:xfrm>
            <a:off x="1206500" y="3376995"/>
            <a:ext cx="21971000" cy="9127521"/>
          </a:xfrm>
          <a:prstGeom prst="rect">
            <a:avLst/>
          </a:prstGeom>
        </p:spPr>
        <p:txBody>
          <a:bodyPr/>
          <a:lstStyle>
            <a:lvl1pPr marL="584200" indent="-584200">
              <a:spcBef>
                <a:spcPts val="3600"/>
              </a:spcBef>
              <a:defRPr sz="4600"/>
            </a:lvl1pPr>
            <a:lvl2pPr marL="1193800" indent="-584200">
              <a:spcBef>
                <a:spcPts val="3600"/>
              </a:spcBef>
              <a:defRPr sz="4600"/>
            </a:lvl2pPr>
            <a:lvl3pPr marL="1803400" indent="-584200">
              <a:spcBef>
                <a:spcPts val="3600"/>
              </a:spcBef>
              <a:defRPr sz="4600"/>
            </a:lvl3pPr>
            <a:lvl4pPr marL="2413000" indent="-584200">
              <a:spcBef>
                <a:spcPts val="3600"/>
              </a:spcBef>
              <a:defRPr sz="4600"/>
            </a:lvl4pPr>
            <a:lvl5pPr marL="3022600" indent="-584200">
              <a:spcBef>
                <a:spcPts val="3600"/>
              </a:spcBef>
              <a:defRPr sz="4600"/>
            </a:lvl5pPr>
          </a:lstStyle>
          <a:p>
            <a:r>
              <a:t>Slide bullet text</a:t>
            </a:r>
          </a:p>
          <a:p>
            <a:pPr lvl="1"/>
            <a:endParaRPr/>
          </a:p>
          <a:p>
            <a:pPr lvl="2"/>
            <a:endParaRPr/>
          </a:p>
          <a:p>
            <a:pPr lvl="3"/>
            <a:endParaRPr/>
          </a:p>
          <a:p>
            <a:pPr lvl="4"/>
            <a:endParaRPr/>
          </a:p>
        </p:txBody>
      </p:sp>
      <p:sp>
        <p:nvSpPr>
          <p:cNvPr id="197" name="Slide Number"/>
          <p:cNvSpPr txBox="1">
            <a:spLocks noGrp="1"/>
          </p:cNvSpPr>
          <p:nvPr>
            <p:ph type="sldNum" sz="quarter" idx="2"/>
          </p:nvPr>
        </p:nvSpPr>
        <p:spPr>
          <a:xfrm>
            <a:off x="23552811" y="13045744"/>
            <a:ext cx="481483" cy="498755"/>
          </a:xfrm>
          <a:prstGeom prst="rect">
            <a:avLst/>
          </a:prstGeom>
        </p:spPr>
        <p:txBody>
          <a:bodyPr/>
          <a:lstStyle>
            <a:lvl1pPr>
              <a:defRPr sz="2600">
                <a:solidFill>
                  <a:schemeClr val="accent1">
                    <a:hueOff val="114395"/>
                    <a:lumOff val="-24975"/>
                  </a:schemeClr>
                </a:solidFill>
              </a:defRPr>
            </a:lvl1pPr>
          </a:lstStyle>
          <a:p>
            <a:fld id="{86CB4B4D-7CA3-9044-876B-883B54F8677D}" type="slidenum">
              <a:t>‹#›</a:t>
            </a:fld>
            <a:endParaRPr/>
          </a:p>
        </p:txBody>
      </p:sp>
      <p:sp>
        <p:nvSpPr>
          <p:cNvPr id="198" name="Nando Fioretto | University of  Virginia"/>
          <p:cNvSpPr txBox="1"/>
          <p:nvPr/>
        </p:nvSpPr>
        <p:spPr>
          <a:xfrm>
            <a:off x="255195" y="12965365"/>
            <a:ext cx="6261991" cy="636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a:lnSpc>
                <a:spcPct val="100000"/>
              </a:lnSpc>
              <a:spcBef>
                <a:spcPts val="0"/>
              </a:spcBef>
              <a:defRPr sz="3100"/>
            </a:pPr>
            <a:r>
              <a:rPr>
                <a:latin typeface="Gill Sans"/>
                <a:ea typeface="Gill Sans"/>
                <a:cs typeface="Gill Sans"/>
                <a:sym typeface="Gill Sans"/>
              </a:rPr>
              <a:t>Nando Fioretto</a:t>
            </a:r>
            <a:r>
              <a:t> | University of  Virginia</a:t>
            </a: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05" name="Slide Title"/>
          <p:cNvSpPr txBox="1">
            <a:spLocks noGrp="1"/>
          </p:cNvSpPr>
          <p:nvPr>
            <p:ph type="title" hasCustomPrompt="1"/>
          </p:nvPr>
        </p:nvSpPr>
        <p:spPr>
          <a:xfrm>
            <a:off x="1206500" y="952500"/>
            <a:ext cx="21971000" cy="1433163"/>
          </a:xfrm>
          <a:prstGeom prst="rect">
            <a:avLst/>
          </a:prstGeom>
        </p:spPr>
        <p:txBody>
          <a:bodyPr/>
          <a:lstStyle/>
          <a:p>
            <a:r>
              <a:t>Slide Title</a:t>
            </a:r>
          </a:p>
        </p:txBody>
      </p:sp>
      <p:sp>
        <p:nvSpPr>
          <p:cNvPr id="206" name="Slide Subtitle"/>
          <p:cNvSpPr txBox="1">
            <a:spLocks noGrp="1"/>
          </p:cNvSpPr>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207"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20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15" name="Slide Title"/>
          <p:cNvSpPr txBox="1">
            <a:spLocks noGrp="1"/>
          </p:cNvSpPr>
          <p:nvPr>
            <p:ph type="title" hasCustomPrompt="1"/>
          </p:nvPr>
        </p:nvSpPr>
        <p:spPr>
          <a:xfrm>
            <a:off x="1206500" y="571500"/>
            <a:ext cx="21971000" cy="1433163"/>
          </a:xfrm>
          <a:prstGeom prst="rect">
            <a:avLst/>
          </a:prstGeom>
        </p:spPr>
        <p:txBody>
          <a:bodyPr/>
          <a:lstStyle/>
          <a:p>
            <a:r>
              <a:t>Slide Title</a:t>
            </a:r>
          </a:p>
        </p:txBody>
      </p:sp>
      <p:sp>
        <p:nvSpPr>
          <p:cNvPr id="216" name="Slide Subtitle"/>
          <p:cNvSpPr txBox="1">
            <a:spLocks noGrp="1"/>
          </p:cNvSpPr>
          <p:nvPr>
            <p:ph type="body" sz="quarter" idx="21" hasCustomPrompt="1"/>
          </p:nvPr>
        </p:nvSpPr>
        <p:spPr>
          <a:xfrm>
            <a:off x="1206500" y="1864962"/>
            <a:ext cx="21971000" cy="934780"/>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217" name="Body Level One…"/>
          <p:cNvSpPr txBox="1">
            <a:spLocks noGrp="1"/>
          </p:cNvSpPr>
          <p:nvPr>
            <p:ph type="body" idx="1" hasCustomPrompt="1"/>
          </p:nvPr>
        </p:nvSpPr>
        <p:spPr>
          <a:prstGeom prst="rect">
            <a:avLst/>
          </a:prstGeom>
        </p:spPr>
        <p:txBody>
          <a:bodyPr/>
          <a:lstStyle>
            <a:lvl1pPr marL="543339" indent="-543339">
              <a:buSzPct val="70000"/>
              <a:defRPr>
                <a:latin typeface="Helvetica Neue Light"/>
                <a:ea typeface="Helvetica Neue Light"/>
                <a:cs typeface="Helvetica Neue Light"/>
                <a:sym typeface="Helvetica Neue Light"/>
              </a:defRPr>
            </a:lvl1pPr>
            <a:lvl2pPr marL="1064039" indent="-543339">
              <a:defRPr>
                <a:latin typeface="Helvetica Neue Light"/>
                <a:ea typeface="Helvetica Neue Light"/>
                <a:cs typeface="Helvetica Neue Light"/>
                <a:sym typeface="Helvetica Neue Light"/>
              </a:defRPr>
            </a:lvl2pPr>
            <a:lvl3pPr marL="1584739" indent="-543339">
              <a:defRPr>
                <a:latin typeface="Helvetica Neue Light"/>
                <a:ea typeface="Helvetica Neue Light"/>
                <a:cs typeface="Helvetica Neue Light"/>
                <a:sym typeface="Helvetica Neue Light"/>
              </a:defRPr>
            </a:lvl3pPr>
            <a:lvl4pPr marL="2105439" indent="-543339">
              <a:defRPr>
                <a:latin typeface="Helvetica Neue Light"/>
                <a:ea typeface="Helvetica Neue Light"/>
                <a:cs typeface="Helvetica Neue Light"/>
                <a:sym typeface="Helvetica Neue Light"/>
              </a:defRPr>
            </a:lvl4pPr>
            <a:lvl5pPr marL="2626139" indent="-543339">
              <a:defRPr>
                <a:latin typeface="Helvetica Neue Light"/>
                <a:ea typeface="Helvetica Neue Light"/>
                <a:cs typeface="Helvetica Neue Light"/>
                <a:sym typeface="Helvetica Neue Light"/>
              </a:defRPr>
            </a:lvl5pPr>
          </a:lstStyle>
          <a:p>
            <a:r>
              <a:t>Slide bullet text</a:t>
            </a:r>
          </a:p>
          <a:p>
            <a:pPr lvl="1"/>
            <a:endParaRPr/>
          </a:p>
          <a:p>
            <a:pPr lvl="2"/>
            <a:endParaRPr/>
          </a:p>
          <a:p>
            <a:pPr lvl="3"/>
            <a:endParaRPr/>
          </a:p>
          <a:p>
            <a:pPr lvl="4"/>
            <a:endParaRPr/>
          </a:p>
        </p:txBody>
      </p:sp>
      <p:sp>
        <p:nvSpPr>
          <p:cNvPr id="218" name="Slide Number"/>
          <p:cNvSpPr txBox="1">
            <a:spLocks noGrp="1"/>
          </p:cNvSpPr>
          <p:nvPr>
            <p:ph type="sldNum" sz="quarter" idx="2"/>
          </p:nvPr>
        </p:nvSpPr>
        <p:spPr>
          <a:xfrm>
            <a:off x="23484413" y="12933411"/>
            <a:ext cx="645791" cy="523086"/>
          </a:xfrm>
          <a:prstGeom prst="rect">
            <a:avLst/>
          </a:prstGeom>
        </p:spPr>
        <p:txBody>
          <a:bodyPr wrap="square"/>
          <a:lstStyle>
            <a:lvl1pPr>
              <a:defRPr sz="2800">
                <a:solidFill>
                  <a:schemeClr val="accent1">
                    <a:lumOff val="-13575"/>
                  </a:schemeClr>
                </a:solidFill>
                <a:latin typeface="Helvetica Neue Medium"/>
                <a:ea typeface="Helvetica Neue Medium"/>
                <a:cs typeface="Helvetica Neue Medium"/>
                <a:sym typeface="Helvetica Neue Medium"/>
              </a:defRPr>
            </a:lvl1pPr>
          </a:lstStyle>
          <a:p>
            <a:fld id="{86CB4B4D-7CA3-9044-876B-883B54F8677D}" type="slidenum">
              <a:t>‹#›</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25" name="Slide Title"/>
          <p:cNvSpPr txBox="1">
            <a:spLocks noGrp="1"/>
          </p:cNvSpPr>
          <p:nvPr>
            <p:ph type="title" hasCustomPrompt="1"/>
          </p:nvPr>
        </p:nvSpPr>
        <p:spPr>
          <a:xfrm>
            <a:off x="1206500" y="571500"/>
            <a:ext cx="21971000" cy="1433163"/>
          </a:xfrm>
          <a:prstGeom prst="rect">
            <a:avLst/>
          </a:prstGeom>
        </p:spPr>
        <p:txBody>
          <a:bodyPr/>
          <a:lstStyle/>
          <a:p>
            <a:r>
              <a:t>Slide Title</a:t>
            </a:r>
          </a:p>
        </p:txBody>
      </p:sp>
      <p:sp>
        <p:nvSpPr>
          <p:cNvPr id="226" name="Slide Subtitle"/>
          <p:cNvSpPr txBox="1">
            <a:spLocks noGrp="1"/>
          </p:cNvSpPr>
          <p:nvPr>
            <p:ph type="body" sz="quarter" idx="21" hasCustomPrompt="1"/>
          </p:nvPr>
        </p:nvSpPr>
        <p:spPr>
          <a:xfrm>
            <a:off x="1206500" y="1864962"/>
            <a:ext cx="21971000" cy="934780"/>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227" name="Body Level One…"/>
          <p:cNvSpPr txBox="1">
            <a:spLocks noGrp="1"/>
          </p:cNvSpPr>
          <p:nvPr>
            <p:ph type="body" idx="1" hasCustomPrompt="1"/>
          </p:nvPr>
        </p:nvSpPr>
        <p:spPr>
          <a:prstGeom prst="rect">
            <a:avLst/>
          </a:prstGeom>
        </p:spPr>
        <p:txBody>
          <a:bodyPr/>
          <a:lstStyle>
            <a:lvl1pPr marL="543339" indent="-543339">
              <a:spcBef>
                <a:spcPts val="4500"/>
              </a:spcBef>
              <a:buSzPct val="70000"/>
              <a:defRPr>
                <a:latin typeface="Helvetica Neue Light"/>
                <a:ea typeface="Helvetica Neue Light"/>
                <a:cs typeface="Helvetica Neue Light"/>
                <a:sym typeface="Helvetica Neue Light"/>
              </a:defRPr>
            </a:lvl1pPr>
            <a:lvl2pPr marL="1064039" indent="-543339">
              <a:spcBef>
                <a:spcPts val="4500"/>
              </a:spcBef>
              <a:defRPr>
                <a:latin typeface="Helvetica Neue Light"/>
                <a:ea typeface="Helvetica Neue Light"/>
                <a:cs typeface="Helvetica Neue Light"/>
                <a:sym typeface="Helvetica Neue Light"/>
              </a:defRPr>
            </a:lvl2pPr>
            <a:lvl3pPr marL="1584739" indent="-543339">
              <a:spcBef>
                <a:spcPts val="4500"/>
              </a:spcBef>
              <a:defRPr>
                <a:latin typeface="Helvetica Neue Light"/>
                <a:ea typeface="Helvetica Neue Light"/>
                <a:cs typeface="Helvetica Neue Light"/>
                <a:sym typeface="Helvetica Neue Light"/>
              </a:defRPr>
            </a:lvl3pPr>
            <a:lvl4pPr marL="2105439" indent="-543339">
              <a:spcBef>
                <a:spcPts val="4500"/>
              </a:spcBef>
              <a:defRPr>
                <a:latin typeface="Helvetica Neue Light"/>
                <a:ea typeface="Helvetica Neue Light"/>
                <a:cs typeface="Helvetica Neue Light"/>
                <a:sym typeface="Helvetica Neue Light"/>
              </a:defRPr>
            </a:lvl4pPr>
            <a:lvl5pPr marL="2626139" indent="-543339">
              <a:spcBef>
                <a:spcPts val="4500"/>
              </a:spcBef>
              <a:defRPr>
                <a:latin typeface="Helvetica Neue Light"/>
                <a:ea typeface="Helvetica Neue Light"/>
                <a:cs typeface="Helvetica Neue Light"/>
                <a:sym typeface="Helvetica Neue Light"/>
              </a:defRPr>
            </a:lvl5pPr>
          </a:lstStyle>
          <a:p>
            <a:r>
              <a:t>Slide bullet text</a:t>
            </a:r>
          </a:p>
          <a:p>
            <a:pPr lvl="1"/>
            <a:endParaRPr/>
          </a:p>
          <a:p>
            <a:pPr lvl="2"/>
            <a:endParaRPr/>
          </a:p>
          <a:p>
            <a:pPr lvl="3"/>
            <a:endParaRPr/>
          </a:p>
          <a:p>
            <a:pPr lvl="4"/>
            <a:endParaRPr/>
          </a:p>
        </p:txBody>
      </p:sp>
      <p:sp>
        <p:nvSpPr>
          <p:cNvPr id="228" name="Slide Number"/>
          <p:cNvSpPr txBox="1">
            <a:spLocks noGrp="1"/>
          </p:cNvSpPr>
          <p:nvPr>
            <p:ph type="sldNum" sz="quarter" idx="2"/>
          </p:nvPr>
        </p:nvSpPr>
        <p:spPr>
          <a:xfrm>
            <a:off x="23484413" y="12933411"/>
            <a:ext cx="645791" cy="523086"/>
          </a:xfrm>
          <a:prstGeom prst="rect">
            <a:avLst/>
          </a:prstGeom>
        </p:spPr>
        <p:txBody>
          <a:bodyPr wrap="square"/>
          <a:lstStyle>
            <a:lvl1pPr>
              <a:defRPr sz="2800">
                <a:solidFill>
                  <a:schemeClr val="accent1">
                    <a:lumOff val="-13575"/>
                  </a:schemeClr>
                </a:solidFill>
                <a:latin typeface="Helvetica Neue Medium"/>
                <a:ea typeface="Helvetica Neue Medium"/>
                <a:cs typeface="Helvetica Neue Medium"/>
                <a:sym typeface="Helvetica Neue Medium"/>
              </a:defRPr>
            </a:lvl1pPr>
          </a:lstStyle>
          <a:p>
            <a:fld id="{86CB4B4D-7CA3-9044-876B-883B54F8677D}" type="slidenum">
              <a:t>‹#›</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35" name="Slide Title"/>
          <p:cNvSpPr txBox="1">
            <a:spLocks noGrp="1"/>
          </p:cNvSpPr>
          <p:nvPr>
            <p:ph type="title" hasCustomPrompt="1"/>
          </p:nvPr>
        </p:nvSpPr>
        <p:spPr>
          <a:xfrm>
            <a:off x="1206500" y="571500"/>
            <a:ext cx="21971000" cy="1433163"/>
          </a:xfrm>
          <a:prstGeom prst="rect">
            <a:avLst/>
          </a:prstGeom>
        </p:spPr>
        <p:txBody>
          <a:bodyPr/>
          <a:lstStyle/>
          <a:p>
            <a:r>
              <a:t>Slide Title</a:t>
            </a:r>
          </a:p>
        </p:txBody>
      </p:sp>
      <p:sp>
        <p:nvSpPr>
          <p:cNvPr id="236" name="Slide Subtitle"/>
          <p:cNvSpPr txBox="1">
            <a:spLocks noGrp="1"/>
          </p:cNvSpPr>
          <p:nvPr>
            <p:ph type="body" sz="quarter" idx="21" hasCustomPrompt="1"/>
          </p:nvPr>
        </p:nvSpPr>
        <p:spPr>
          <a:xfrm>
            <a:off x="1206500" y="1864962"/>
            <a:ext cx="21971000" cy="934780"/>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237" name="Body Level One…"/>
          <p:cNvSpPr txBox="1">
            <a:spLocks noGrp="1"/>
          </p:cNvSpPr>
          <p:nvPr>
            <p:ph type="body" idx="1" hasCustomPrompt="1"/>
          </p:nvPr>
        </p:nvSpPr>
        <p:spPr>
          <a:prstGeom prst="rect">
            <a:avLst/>
          </a:prstGeom>
        </p:spPr>
        <p:txBody>
          <a:bodyPr/>
          <a:lstStyle>
            <a:lvl1pPr marL="543339" indent="-543339">
              <a:spcBef>
                <a:spcPts val="4500"/>
              </a:spcBef>
              <a:buSzPct val="70000"/>
              <a:defRPr>
                <a:latin typeface="Helvetica Neue Light"/>
                <a:ea typeface="Helvetica Neue Light"/>
                <a:cs typeface="Helvetica Neue Light"/>
                <a:sym typeface="Helvetica Neue Light"/>
              </a:defRPr>
            </a:lvl1pPr>
            <a:lvl2pPr marL="1064039" indent="-543339">
              <a:spcBef>
                <a:spcPts val="4500"/>
              </a:spcBef>
              <a:defRPr>
                <a:latin typeface="Helvetica Neue Light"/>
                <a:ea typeface="Helvetica Neue Light"/>
                <a:cs typeface="Helvetica Neue Light"/>
                <a:sym typeface="Helvetica Neue Light"/>
              </a:defRPr>
            </a:lvl2pPr>
            <a:lvl3pPr marL="1584739" indent="-543339">
              <a:spcBef>
                <a:spcPts val="4500"/>
              </a:spcBef>
              <a:defRPr>
                <a:latin typeface="Helvetica Neue Light"/>
                <a:ea typeface="Helvetica Neue Light"/>
                <a:cs typeface="Helvetica Neue Light"/>
                <a:sym typeface="Helvetica Neue Light"/>
              </a:defRPr>
            </a:lvl3pPr>
            <a:lvl4pPr marL="2105439" indent="-543339">
              <a:spcBef>
                <a:spcPts val="4500"/>
              </a:spcBef>
              <a:defRPr>
                <a:latin typeface="Helvetica Neue Light"/>
                <a:ea typeface="Helvetica Neue Light"/>
                <a:cs typeface="Helvetica Neue Light"/>
                <a:sym typeface="Helvetica Neue Light"/>
              </a:defRPr>
            </a:lvl4pPr>
            <a:lvl5pPr marL="2626139" indent="-543339">
              <a:spcBef>
                <a:spcPts val="4500"/>
              </a:spcBef>
              <a:defRPr>
                <a:latin typeface="Helvetica Neue Light"/>
                <a:ea typeface="Helvetica Neue Light"/>
                <a:cs typeface="Helvetica Neue Light"/>
                <a:sym typeface="Helvetica Neue Light"/>
              </a:defRPr>
            </a:lvl5pPr>
          </a:lstStyle>
          <a:p>
            <a:r>
              <a:t>Slide bullet text</a:t>
            </a:r>
          </a:p>
          <a:p>
            <a:pPr lvl="1"/>
            <a:endParaRPr/>
          </a:p>
          <a:p>
            <a:pPr lvl="2"/>
            <a:endParaRPr/>
          </a:p>
          <a:p>
            <a:pPr lvl="3"/>
            <a:endParaRPr/>
          </a:p>
          <a:p>
            <a:pPr lvl="4"/>
            <a:endParaRPr/>
          </a:p>
        </p:txBody>
      </p:sp>
      <p:sp>
        <p:nvSpPr>
          <p:cNvPr id="238" name="Slide Number"/>
          <p:cNvSpPr txBox="1">
            <a:spLocks noGrp="1"/>
          </p:cNvSpPr>
          <p:nvPr>
            <p:ph type="sldNum" sz="quarter" idx="2"/>
          </p:nvPr>
        </p:nvSpPr>
        <p:spPr>
          <a:xfrm>
            <a:off x="23484413" y="12933411"/>
            <a:ext cx="645791" cy="523086"/>
          </a:xfrm>
          <a:prstGeom prst="rect">
            <a:avLst/>
          </a:prstGeom>
        </p:spPr>
        <p:txBody>
          <a:bodyPr wrap="square"/>
          <a:lstStyle>
            <a:lvl1pPr>
              <a:defRPr sz="2800">
                <a:solidFill>
                  <a:schemeClr val="accent1">
                    <a:lumOff val="-13575"/>
                  </a:schemeClr>
                </a:solidFill>
                <a:latin typeface="Helvetica Neue Medium"/>
                <a:ea typeface="Helvetica Neue Medium"/>
                <a:cs typeface="Helvetica Neue Medium"/>
                <a:sym typeface="Helvetica Neue Medium"/>
              </a:defRPr>
            </a:lvl1pPr>
          </a:lstStyle>
          <a:p>
            <a:fld id="{86CB4B4D-7CA3-9044-876B-883B54F8677D}" type="slidenum">
              <a:t>‹#›</a:t>
            </a:fld>
            <a:endParaRPr/>
          </a:p>
        </p:txBody>
      </p:sp>
      <p:sp>
        <p:nvSpPr>
          <p:cNvPr id="239" name="Nando Fioretto | University of  Virginia"/>
          <p:cNvSpPr txBox="1"/>
          <p:nvPr/>
        </p:nvSpPr>
        <p:spPr>
          <a:xfrm>
            <a:off x="255195" y="12965365"/>
            <a:ext cx="6261991" cy="636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a:lnSpc>
                <a:spcPct val="100000"/>
              </a:lnSpc>
              <a:spcBef>
                <a:spcPts val="0"/>
              </a:spcBef>
              <a:defRPr sz="3100"/>
            </a:pPr>
            <a:r>
              <a:rPr>
                <a:latin typeface="Gill Sans"/>
                <a:ea typeface="Gill Sans"/>
                <a:cs typeface="Gill Sans"/>
                <a:sym typeface="Gill Sans"/>
              </a:rPr>
              <a:t>Nando Fioretto</a:t>
            </a:r>
            <a:r>
              <a:t> | University of  Virginia</a:t>
            </a: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57" name="Slide Title"/>
          <p:cNvSpPr txBox="1">
            <a:spLocks noGrp="1"/>
          </p:cNvSpPr>
          <p:nvPr>
            <p:ph type="title" hasCustomPrompt="1"/>
          </p:nvPr>
        </p:nvSpPr>
        <p:spPr>
          <a:xfrm>
            <a:off x="1206500" y="571500"/>
            <a:ext cx="21971000" cy="1433163"/>
          </a:xfrm>
          <a:prstGeom prst="rect">
            <a:avLst/>
          </a:prstGeom>
        </p:spPr>
        <p:txBody>
          <a:bodyPr/>
          <a:lstStyle/>
          <a:p>
            <a:r>
              <a:t>Slide Title</a:t>
            </a:r>
          </a:p>
        </p:txBody>
      </p:sp>
      <p:sp>
        <p:nvSpPr>
          <p:cNvPr id="258" name="Slide Subtitle"/>
          <p:cNvSpPr txBox="1">
            <a:spLocks noGrp="1"/>
          </p:cNvSpPr>
          <p:nvPr>
            <p:ph type="body" sz="quarter" idx="21" hasCustomPrompt="1"/>
          </p:nvPr>
        </p:nvSpPr>
        <p:spPr>
          <a:xfrm>
            <a:off x="1206500" y="1864962"/>
            <a:ext cx="21971000" cy="934780"/>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259" name="Body Level One…"/>
          <p:cNvSpPr txBox="1">
            <a:spLocks noGrp="1"/>
          </p:cNvSpPr>
          <p:nvPr>
            <p:ph type="body" idx="1" hasCustomPrompt="1"/>
          </p:nvPr>
        </p:nvSpPr>
        <p:spPr>
          <a:prstGeom prst="rect">
            <a:avLst/>
          </a:prstGeom>
        </p:spPr>
        <p:txBody>
          <a:bodyPr/>
          <a:lstStyle>
            <a:lvl1pPr marL="543339" indent="-543339">
              <a:spcBef>
                <a:spcPts val="4500"/>
              </a:spcBef>
              <a:buSzPct val="70000"/>
              <a:defRPr>
                <a:latin typeface="Helvetica Neue Light"/>
                <a:ea typeface="Helvetica Neue Light"/>
                <a:cs typeface="Helvetica Neue Light"/>
                <a:sym typeface="Helvetica Neue Light"/>
              </a:defRPr>
            </a:lvl1pPr>
            <a:lvl2pPr marL="1064039" indent="-543339">
              <a:spcBef>
                <a:spcPts val="4500"/>
              </a:spcBef>
              <a:defRPr>
                <a:latin typeface="Helvetica Neue Light"/>
                <a:ea typeface="Helvetica Neue Light"/>
                <a:cs typeface="Helvetica Neue Light"/>
                <a:sym typeface="Helvetica Neue Light"/>
              </a:defRPr>
            </a:lvl2pPr>
            <a:lvl3pPr marL="1584739" indent="-543339">
              <a:spcBef>
                <a:spcPts val="4500"/>
              </a:spcBef>
              <a:defRPr>
                <a:latin typeface="Helvetica Neue Light"/>
                <a:ea typeface="Helvetica Neue Light"/>
                <a:cs typeface="Helvetica Neue Light"/>
                <a:sym typeface="Helvetica Neue Light"/>
              </a:defRPr>
            </a:lvl3pPr>
            <a:lvl4pPr marL="2105439" indent="-543339">
              <a:spcBef>
                <a:spcPts val="4500"/>
              </a:spcBef>
              <a:defRPr>
                <a:latin typeface="Helvetica Neue Light"/>
                <a:ea typeface="Helvetica Neue Light"/>
                <a:cs typeface="Helvetica Neue Light"/>
                <a:sym typeface="Helvetica Neue Light"/>
              </a:defRPr>
            </a:lvl4pPr>
            <a:lvl5pPr marL="2626139" indent="-543339">
              <a:spcBef>
                <a:spcPts val="4500"/>
              </a:spcBef>
              <a:defRPr>
                <a:latin typeface="Helvetica Neue Light"/>
                <a:ea typeface="Helvetica Neue Light"/>
                <a:cs typeface="Helvetica Neue Light"/>
                <a:sym typeface="Helvetica Neue Light"/>
              </a:defRPr>
            </a:lvl5pPr>
          </a:lstStyle>
          <a:p>
            <a:r>
              <a:t>Slide bullet text</a:t>
            </a:r>
          </a:p>
          <a:p>
            <a:pPr lvl="1"/>
            <a:endParaRPr/>
          </a:p>
          <a:p>
            <a:pPr lvl="2"/>
            <a:endParaRPr/>
          </a:p>
          <a:p>
            <a:pPr lvl="3"/>
            <a:endParaRPr/>
          </a:p>
          <a:p>
            <a:pPr lvl="4"/>
            <a:endParaRPr/>
          </a:p>
        </p:txBody>
      </p:sp>
      <p:sp>
        <p:nvSpPr>
          <p:cNvPr id="260" name="Slide Number"/>
          <p:cNvSpPr txBox="1">
            <a:spLocks noGrp="1"/>
          </p:cNvSpPr>
          <p:nvPr>
            <p:ph type="sldNum" sz="quarter" idx="2"/>
          </p:nvPr>
        </p:nvSpPr>
        <p:spPr>
          <a:xfrm>
            <a:off x="23484413" y="12933411"/>
            <a:ext cx="645791" cy="523086"/>
          </a:xfrm>
          <a:prstGeom prst="rect">
            <a:avLst/>
          </a:prstGeom>
        </p:spPr>
        <p:txBody>
          <a:bodyPr wrap="square"/>
          <a:lstStyle>
            <a:lvl1pPr>
              <a:defRPr sz="2800">
                <a:solidFill>
                  <a:schemeClr val="accent1">
                    <a:lumOff val="-13575"/>
                  </a:schemeClr>
                </a:solidFill>
                <a:latin typeface="Helvetica Neue Medium"/>
                <a:ea typeface="Helvetica Neue Medium"/>
                <a:cs typeface="Helvetica Neue Medium"/>
                <a:sym typeface="Helvetica Neue Medium"/>
              </a:defRPr>
            </a:lvl1pPr>
          </a:lstStyle>
          <a:p>
            <a:fld id="{86CB4B4D-7CA3-9044-876B-883B54F8677D}" type="slidenum">
              <a:t>‹#›</a:t>
            </a:fld>
            <a:endParaRPr/>
          </a:p>
        </p:txBody>
      </p:sp>
      <p:sp>
        <p:nvSpPr>
          <p:cNvPr id="261" name="Ferdinando Fioretto | University of  Virginia"/>
          <p:cNvSpPr txBox="1"/>
          <p:nvPr/>
        </p:nvSpPr>
        <p:spPr>
          <a:xfrm>
            <a:off x="638548" y="12950707"/>
            <a:ext cx="7038454" cy="636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a:lnSpc>
                <a:spcPct val="100000"/>
              </a:lnSpc>
              <a:spcBef>
                <a:spcPts val="0"/>
              </a:spcBef>
              <a:defRPr sz="3100"/>
            </a:pPr>
            <a:r>
              <a:rPr>
                <a:latin typeface="Gill Sans"/>
                <a:ea typeface="Gill Sans"/>
                <a:cs typeface="Gill Sans"/>
                <a:sym typeface="Gill Sans"/>
              </a:rPr>
              <a:t>Ferdinando Fioretto</a:t>
            </a:r>
            <a:r>
              <a:t> | University of  Virginia</a:t>
            </a: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68" name="Slide Title"/>
          <p:cNvSpPr txBox="1">
            <a:spLocks noGrp="1"/>
          </p:cNvSpPr>
          <p:nvPr>
            <p:ph type="title" hasCustomPrompt="1"/>
          </p:nvPr>
        </p:nvSpPr>
        <p:spPr>
          <a:xfrm>
            <a:off x="1206500" y="952500"/>
            <a:ext cx="21971000" cy="1433163"/>
          </a:xfrm>
          <a:prstGeom prst="rect">
            <a:avLst/>
          </a:prstGeom>
        </p:spPr>
        <p:txBody>
          <a:bodyPr/>
          <a:lstStyle/>
          <a:p>
            <a:r>
              <a:t>Slide Title</a:t>
            </a:r>
          </a:p>
        </p:txBody>
      </p:sp>
      <p:sp>
        <p:nvSpPr>
          <p:cNvPr id="269" name="Slide Subtitle"/>
          <p:cNvSpPr txBox="1">
            <a:spLocks noGrp="1"/>
          </p:cNvSpPr>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sz="5500" b="1">
                <a:latin typeface="+mn-lt"/>
                <a:ea typeface="+mn-ea"/>
                <a:cs typeface="+mn-cs"/>
                <a:sym typeface="Helvetica Neue"/>
              </a:defRPr>
            </a:lvl1pPr>
          </a:lstStyle>
          <a:p>
            <a:r>
              <a:t>Slide Subtitle</a:t>
            </a:r>
          </a:p>
        </p:txBody>
      </p:sp>
      <p:sp>
        <p:nvSpPr>
          <p:cNvPr id="270" name="Body Level One…"/>
          <p:cNvSpPr txBox="1">
            <a:spLocks noGrp="1"/>
          </p:cNvSpPr>
          <p:nvPr>
            <p:ph type="body" idx="1" hasCustomPrompt="1"/>
          </p:nvPr>
        </p:nvSpPr>
        <p:spPr>
          <a:prstGeom prst="rect">
            <a:avLst/>
          </a:prstGeom>
        </p:spPr>
        <p:txBody>
          <a:bodyPr/>
          <a:lstStyle>
            <a:lvl1pPr>
              <a:spcBef>
                <a:spcPts val="4500"/>
              </a:spcBef>
              <a:defRPr>
                <a:latin typeface="+mn-lt"/>
                <a:ea typeface="+mn-ea"/>
                <a:cs typeface="+mn-cs"/>
                <a:sym typeface="Helvetica Neue"/>
              </a:defRPr>
            </a:lvl1pPr>
            <a:lvl2pPr>
              <a:spcBef>
                <a:spcPts val="4500"/>
              </a:spcBef>
              <a:defRPr>
                <a:latin typeface="+mn-lt"/>
                <a:ea typeface="+mn-ea"/>
                <a:cs typeface="+mn-cs"/>
                <a:sym typeface="Helvetica Neue"/>
              </a:defRPr>
            </a:lvl2pPr>
            <a:lvl3pPr>
              <a:spcBef>
                <a:spcPts val="4500"/>
              </a:spcBef>
              <a:defRPr>
                <a:latin typeface="+mn-lt"/>
                <a:ea typeface="+mn-ea"/>
                <a:cs typeface="+mn-cs"/>
                <a:sym typeface="Helvetica Neue"/>
              </a:defRPr>
            </a:lvl3pPr>
            <a:lvl4pPr>
              <a:spcBef>
                <a:spcPts val="4500"/>
              </a:spcBef>
              <a:defRPr>
                <a:latin typeface="+mn-lt"/>
                <a:ea typeface="+mn-ea"/>
                <a:cs typeface="+mn-cs"/>
                <a:sym typeface="Helvetica Neue"/>
              </a:defRPr>
            </a:lvl4pPr>
            <a:lvl5pPr>
              <a:spcBef>
                <a:spcPts val="4500"/>
              </a:spcBef>
              <a:defRPr>
                <a:latin typeface="+mn-lt"/>
                <a:ea typeface="+mn-ea"/>
                <a:cs typeface="+mn-cs"/>
                <a:sym typeface="Helvetica Neue"/>
              </a:defRPr>
            </a:lvl5pPr>
          </a:lstStyle>
          <a:p>
            <a:r>
              <a:t>Slide bullet text</a:t>
            </a:r>
          </a:p>
          <a:p>
            <a:pPr lvl="1"/>
            <a:endParaRPr/>
          </a:p>
          <a:p>
            <a:pPr lvl="2"/>
            <a:endParaRPr/>
          </a:p>
          <a:p>
            <a:pPr lvl="3"/>
            <a:endParaRPr/>
          </a:p>
          <a:p>
            <a:pPr lvl="4"/>
            <a:endParaRPr/>
          </a:p>
        </p:txBody>
      </p:sp>
      <p:sp>
        <p:nvSpPr>
          <p:cNvPr id="27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952500"/>
            <a:ext cx="21971000" cy="14349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atin typeface="+mn-lt"/>
                <a:ea typeface="+mn-ea"/>
                <a:cs typeface="+mn-cs"/>
                <a:sym typeface="Helvetica Neue"/>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4" r:id="rId25"/>
    <p:sldLayoutId id="2147483675" r:id="rId26"/>
  </p:sldLayoutIdLst>
  <p:transition spd="med"/>
  <p:txStyles>
    <p:titleStyle>
      <a:lvl1pPr marL="0" marR="0" indent="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9pPr>
    </p:titleStyle>
    <p:bodyStyle>
      <a:lvl1pPr marL="609600" marR="0" indent="-609600" algn="l" defTabSz="2438338" rtl="0" latinLnBrk="0">
        <a:lnSpc>
          <a:spcPct val="90000"/>
        </a:lnSpc>
        <a:spcBef>
          <a:spcPts val="2200"/>
        </a:spcBef>
        <a:spcAft>
          <a:spcPts val="0"/>
        </a:spcAft>
        <a:buClrTx/>
        <a:buSzPct val="123000"/>
        <a:buFontTx/>
        <a:buChar char="•"/>
        <a:tabLst/>
        <a:defRPr sz="4800" b="0" i="0" u="none" strike="noStrike" cap="none" spc="0" baseline="0">
          <a:solidFill>
            <a:srgbClr val="000000"/>
          </a:solidFill>
          <a:uFillTx/>
          <a:latin typeface="Gill Sans Light"/>
          <a:ea typeface="Gill Sans Light"/>
          <a:cs typeface="Gill Sans Light"/>
          <a:sym typeface="Gill Sans Light"/>
        </a:defRPr>
      </a:lvl1pPr>
      <a:lvl2pPr marL="1219200" marR="0" indent="-609600" algn="l" defTabSz="2438338" rtl="0" latinLnBrk="0">
        <a:lnSpc>
          <a:spcPct val="90000"/>
        </a:lnSpc>
        <a:spcBef>
          <a:spcPts val="2200"/>
        </a:spcBef>
        <a:spcAft>
          <a:spcPts val="0"/>
        </a:spcAft>
        <a:buClrTx/>
        <a:buSzPct val="123000"/>
        <a:buFontTx/>
        <a:buChar char="•"/>
        <a:tabLst/>
        <a:defRPr sz="4800" b="0" i="0" u="none" strike="noStrike" cap="none" spc="0" baseline="0">
          <a:solidFill>
            <a:srgbClr val="000000"/>
          </a:solidFill>
          <a:uFillTx/>
          <a:latin typeface="Gill Sans Light"/>
          <a:ea typeface="Gill Sans Light"/>
          <a:cs typeface="Gill Sans Light"/>
          <a:sym typeface="Gill Sans Light"/>
        </a:defRPr>
      </a:lvl2pPr>
      <a:lvl3pPr marL="1828800" marR="0" indent="-609600" algn="l" defTabSz="2438338" rtl="0" latinLnBrk="0">
        <a:lnSpc>
          <a:spcPct val="90000"/>
        </a:lnSpc>
        <a:spcBef>
          <a:spcPts val="2200"/>
        </a:spcBef>
        <a:spcAft>
          <a:spcPts val="0"/>
        </a:spcAft>
        <a:buClrTx/>
        <a:buSzPct val="123000"/>
        <a:buFontTx/>
        <a:buChar char="•"/>
        <a:tabLst/>
        <a:defRPr sz="4800" b="0" i="0" u="none" strike="noStrike" cap="none" spc="0" baseline="0">
          <a:solidFill>
            <a:srgbClr val="000000"/>
          </a:solidFill>
          <a:uFillTx/>
          <a:latin typeface="Gill Sans Light"/>
          <a:ea typeface="Gill Sans Light"/>
          <a:cs typeface="Gill Sans Light"/>
          <a:sym typeface="Gill Sans Light"/>
        </a:defRPr>
      </a:lvl3pPr>
      <a:lvl4pPr marL="2438400" marR="0" indent="-609600" algn="l" defTabSz="2438338" rtl="0" latinLnBrk="0">
        <a:lnSpc>
          <a:spcPct val="90000"/>
        </a:lnSpc>
        <a:spcBef>
          <a:spcPts val="2200"/>
        </a:spcBef>
        <a:spcAft>
          <a:spcPts val="0"/>
        </a:spcAft>
        <a:buClrTx/>
        <a:buSzPct val="123000"/>
        <a:buFontTx/>
        <a:buChar char="•"/>
        <a:tabLst/>
        <a:defRPr sz="4800" b="0" i="0" u="none" strike="noStrike" cap="none" spc="0" baseline="0">
          <a:solidFill>
            <a:srgbClr val="000000"/>
          </a:solidFill>
          <a:uFillTx/>
          <a:latin typeface="Gill Sans Light"/>
          <a:ea typeface="Gill Sans Light"/>
          <a:cs typeface="Gill Sans Light"/>
          <a:sym typeface="Gill Sans Light"/>
        </a:defRPr>
      </a:lvl4pPr>
      <a:lvl5pPr marL="3048000" marR="0" indent="-609600" algn="l" defTabSz="2438338" rtl="0" latinLnBrk="0">
        <a:lnSpc>
          <a:spcPct val="90000"/>
        </a:lnSpc>
        <a:spcBef>
          <a:spcPts val="2200"/>
        </a:spcBef>
        <a:spcAft>
          <a:spcPts val="0"/>
        </a:spcAft>
        <a:buClrTx/>
        <a:buSzPct val="123000"/>
        <a:buFontTx/>
        <a:buChar char="•"/>
        <a:tabLst/>
        <a:defRPr sz="4800" b="0" i="0" u="none" strike="noStrike" cap="none" spc="0" baseline="0">
          <a:solidFill>
            <a:srgbClr val="000000"/>
          </a:solidFill>
          <a:uFillTx/>
          <a:latin typeface="Gill Sans Light"/>
          <a:ea typeface="Gill Sans Light"/>
          <a:cs typeface="Gill Sans Light"/>
          <a:sym typeface="Gill Sans Light"/>
        </a:defRPr>
      </a:lvl5pPr>
      <a:lvl6pPr marL="3657600" marR="0" indent="-609600" algn="l" defTabSz="2438338" rtl="0" latinLnBrk="0">
        <a:lnSpc>
          <a:spcPct val="90000"/>
        </a:lnSpc>
        <a:spcBef>
          <a:spcPts val="2200"/>
        </a:spcBef>
        <a:spcAft>
          <a:spcPts val="0"/>
        </a:spcAft>
        <a:buClrTx/>
        <a:buSzPct val="123000"/>
        <a:buFontTx/>
        <a:buChar char="•"/>
        <a:tabLst/>
        <a:defRPr sz="4800" b="0" i="0" u="none" strike="noStrike" cap="none" spc="0" baseline="0">
          <a:solidFill>
            <a:srgbClr val="000000"/>
          </a:solidFill>
          <a:uFillTx/>
          <a:latin typeface="Gill Sans Light"/>
          <a:ea typeface="Gill Sans Light"/>
          <a:cs typeface="Gill Sans Light"/>
          <a:sym typeface="Gill Sans Light"/>
        </a:defRPr>
      </a:lvl6pPr>
      <a:lvl7pPr marL="4267200" marR="0" indent="-609600" algn="l" defTabSz="2438338" rtl="0" latinLnBrk="0">
        <a:lnSpc>
          <a:spcPct val="90000"/>
        </a:lnSpc>
        <a:spcBef>
          <a:spcPts val="2200"/>
        </a:spcBef>
        <a:spcAft>
          <a:spcPts val="0"/>
        </a:spcAft>
        <a:buClrTx/>
        <a:buSzPct val="123000"/>
        <a:buFontTx/>
        <a:buChar char="•"/>
        <a:tabLst/>
        <a:defRPr sz="4800" b="0" i="0" u="none" strike="noStrike" cap="none" spc="0" baseline="0">
          <a:solidFill>
            <a:srgbClr val="000000"/>
          </a:solidFill>
          <a:uFillTx/>
          <a:latin typeface="Gill Sans Light"/>
          <a:ea typeface="Gill Sans Light"/>
          <a:cs typeface="Gill Sans Light"/>
          <a:sym typeface="Gill Sans Light"/>
        </a:defRPr>
      </a:lvl7pPr>
      <a:lvl8pPr marL="4876800" marR="0" indent="-609600" algn="l" defTabSz="2438338" rtl="0" latinLnBrk="0">
        <a:lnSpc>
          <a:spcPct val="90000"/>
        </a:lnSpc>
        <a:spcBef>
          <a:spcPts val="2200"/>
        </a:spcBef>
        <a:spcAft>
          <a:spcPts val="0"/>
        </a:spcAft>
        <a:buClrTx/>
        <a:buSzPct val="123000"/>
        <a:buFontTx/>
        <a:buChar char="•"/>
        <a:tabLst/>
        <a:defRPr sz="4800" b="0" i="0" u="none" strike="noStrike" cap="none" spc="0" baseline="0">
          <a:solidFill>
            <a:srgbClr val="000000"/>
          </a:solidFill>
          <a:uFillTx/>
          <a:latin typeface="Gill Sans Light"/>
          <a:ea typeface="Gill Sans Light"/>
          <a:cs typeface="Gill Sans Light"/>
          <a:sym typeface="Gill Sans Light"/>
        </a:defRPr>
      </a:lvl8pPr>
      <a:lvl9pPr marL="5486400" marR="0" indent="-609600" algn="l" defTabSz="2438338" rtl="0" latinLnBrk="0">
        <a:lnSpc>
          <a:spcPct val="90000"/>
        </a:lnSpc>
        <a:spcBef>
          <a:spcPts val="2200"/>
        </a:spcBef>
        <a:spcAft>
          <a:spcPts val="0"/>
        </a:spcAft>
        <a:buClrTx/>
        <a:buSzPct val="123000"/>
        <a:buFontTx/>
        <a:buChar char="•"/>
        <a:tabLst/>
        <a:defRPr sz="4800" b="0" i="0" u="none" strike="noStrike" cap="none" spc="0" baseline="0">
          <a:solidFill>
            <a:srgbClr val="000000"/>
          </a:solidFill>
          <a:uFillTx/>
          <a:latin typeface="Gill Sans Light"/>
          <a:ea typeface="Gill Sans Light"/>
          <a:cs typeface="Gill Sans Light"/>
          <a:sym typeface="Gill Sans Light"/>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jpe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8.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jpeg"/><Relationship Id="rId5" Type="http://schemas.openxmlformats.org/officeDocument/2006/relationships/image" Target="../media/image3.tif"/><Relationship Id="rId15" Type="http://schemas.openxmlformats.org/officeDocument/2006/relationships/image" Target="../media/image13.png"/><Relationship Id="rId23" Type="http://schemas.openxmlformats.org/officeDocument/2006/relationships/image" Target="../media/image21.jpeg"/><Relationship Id="rId10" Type="http://schemas.openxmlformats.org/officeDocument/2006/relationships/image" Target="../media/image8.jpe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7.xml"/><Relationship Id="rId6" Type="http://schemas.openxmlformats.org/officeDocument/2006/relationships/image" Target="../media/image8.jpeg"/><Relationship Id="rId11" Type="http://schemas.openxmlformats.org/officeDocument/2006/relationships/image" Target="../media/image25.png"/><Relationship Id="rId5" Type="http://schemas.openxmlformats.org/officeDocument/2006/relationships/image" Target="../media/image7.jpeg"/><Relationship Id="rId10" Type="http://schemas.openxmlformats.org/officeDocument/2006/relationships/image" Target="../media/image24.png"/><Relationship Id="rId4" Type="http://schemas.openxmlformats.org/officeDocument/2006/relationships/image" Target="../media/image6.png"/><Relationship Id="rId9" Type="http://schemas.openxmlformats.org/officeDocument/2006/relationships/image" Target="../media/image23.png"/></Relationships>
</file>

<file path=ppt/slides/_rels/slide3.xml.rels><?xml version="1.0" encoding="UTF-8" standalone="yes"?>
<Relationships xmlns="http://schemas.openxmlformats.org/package/2006/relationships"><Relationship Id="rId8" Type="http://schemas.openxmlformats.org/officeDocument/2006/relationships/image" Target="../media/image32.tif"/><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6.png"/><Relationship Id="rId1" Type="http://schemas.openxmlformats.org/officeDocument/2006/relationships/slideLayout" Target="../slideLayouts/slideLayout17.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4.xml.rels><?xml version="1.0" encoding="UTF-8" standalone="yes"?>
<Relationships xmlns="http://schemas.openxmlformats.org/package/2006/relationships"><Relationship Id="rId8" Type="http://schemas.openxmlformats.org/officeDocument/2006/relationships/image" Target="../media/image32.tif"/><Relationship Id="rId3" Type="http://schemas.openxmlformats.org/officeDocument/2006/relationships/image" Target="../media/image27.png"/><Relationship Id="rId7" Type="http://schemas.openxmlformats.org/officeDocument/2006/relationships/image" Target="../media/image40.png"/><Relationship Id="rId2" Type="http://schemas.openxmlformats.org/officeDocument/2006/relationships/image" Target="../media/image26.png"/><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9.png"/><Relationship Id="rId4" Type="http://schemas.openxmlformats.org/officeDocument/2006/relationships/image" Target="../media/image28.png"/><Relationship Id="rId9" Type="http://schemas.openxmlformats.org/officeDocument/2006/relationships/image" Target="../media/image41.png"/></Relationships>
</file>

<file path=ppt/slides/_rels/slide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8.xml"/><Relationship Id="rId5" Type="http://schemas.openxmlformats.org/officeDocument/2006/relationships/image" Target="../media/image45.png"/><Relationship Id="rId4" Type="http://schemas.openxmlformats.org/officeDocument/2006/relationships/image" Target="../media/image44.png"/></Relationships>
</file>

<file path=ppt/slides/_rels/slide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8.png"/><Relationship Id="rId7" Type="http://schemas.openxmlformats.org/officeDocument/2006/relationships/hyperlink" Target="https://proceedings.neurips.cc/paper_files/paper/2024/hash/a28af221f2f70be183afc16797a56b91-Abstract-Conference.html" TargetMode="External"/><Relationship Id="rId2" Type="http://schemas.openxmlformats.org/officeDocument/2006/relationships/image" Target="../media/image47.png"/><Relationship Id="rId1" Type="http://schemas.openxmlformats.org/officeDocument/2006/relationships/slideLayout" Target="../slideLayouts/slideLayout17.xml"/><Relationship Id="rId6" Type="http://schemas.openxmlformats.org/officeDocument/2006/relationships/image" Target="../media/image50.png"/><Relationship Id="rId5" Type="http://schemas.openxmlformats.org/officeDocument/2006/relationships/image" Target="../media/image41.png"/><Relationship Id="rId4" Type="http://schemas.openxmlformats.org/officeDocument/2006/relationships/image" Target="../media/image49.png"/></Relationships>
</file>

<file path=ppt/slides/_rels/slide8.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53.png"/><Relationship Id="rId7" Type="http://schemas.openxmlformats.org/officeDocument/2006/relationships/hyperlink" Target="https://proceedings.neurips.cc/paper_files/paper/2024/hash/a28af221f2f70be183afc16797a56b91-Abstract-Conference.html" TargetMode="External"/><Relationship Id="rId2" Type="http://schemas.openxmlformats.org/officeDocument/2006/relationships/image" Target="../media/image52.png"/><Relationship Id="rId1" Type="http://schemas.openxmlformats.org/officeDocument/2006/relationships/slideLayout" Target="../slideLayouts/slideLayout1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41.png"/></Relationships>
</file>

<file path=ppt/slides/_rels/slide9.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56.png"/><Relationship Id="rId7" Type="http://schemas.openxmlformats.org/officeDocument/2006/relationships/hyperlink" Target="https://proceedings.neurips.cc/paper_files/paper/2024/hash/a28af221f2f70be183afc16797a56b91-Abstract-Conference.html" TargetMode="External"/><Relationship Id="rId2" Type="http://schemas.openxmlformats.org/officeDocument/2006/relationships/image" Target="../media/image46.png"/><Relationship Id="rId1" Type="http://schemas.openxmlformats.org/officeDocument/2006/relationships/slideLayout" Target="../slideLayouts/slideLayout1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0.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51.png"/><Relationship Id="rId2" Type="http://schemas.openxmlformats.org/officeDocument/2006/relationships/image" Target="../media/image60.png"/><Relationship Id="rId1" Type="http://schemas.openxmlformats.org/officeDocument/2006/relationships/slideLayout" Target="../slideLayouts/slideLayout16.xml"/><Relationship Id="rId6" Type="http://schemas.openxmlformats.org/officeDocument/2006/relationships/hyperlink" Target="https://proceedings.neurips.cc/paper_files/paper/2024/hash/a28af221f2f70be183afc16797a56b91-Abstract-Conference.html" TargetMode="External"/><Relationship Id="rId5" Type="http://schemas.openxmlformats.org/officeDocument/2006/relationships/image" Target="../media/image63.png"/><Relationship Id="rId4" Type="http://schemas.openxmlformats.org/officeDocument/2006/relationships/image" Target="../media/image62.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20.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13.xml.rels><?xml version="1.0" encoding="UTF-8" standalone="yes"?>
<Relationships xmlns="http://schemas.openxmlformats.org/package/2006/relationships"><Relationship Id="rId8" Type="http://schemas.openxmlformats.org/officeDocument/2006/relationships/image" Target="../media/image72.png"/><Relationship Id="rId3" Type="http://schemas.microsoft.com/office/2007/relationships/media" Target="../media/media2.mp4"/><Relationship Id="rId7" Type="http://schemas.openxmlformats.org/officeDocument/2006/relationships/image" Target="../media/image7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0.png"/><Relationship Id="rId5" Type="http://schemas.openxmlformats.org/officeDocument/2006/relationships/slideLayout" Target="../slideLayouts/slideLayout17.xml"/><Relationship Id="rId10" Type="http://schemas.openxmlformats.org/officeDocument/2006/relationships/hyperlink" Target="https://proceedings.neurips.cc/paper_files/paper/2024/hash/a28af221f2f70be183afc16797a56b91-Abstract-Conference.html" TargetMode="External"/><Relationship Id="rId4" Type="http://schemas.openxmlformats.org/officeDocument/2006/relationships/video" Target="../media/media2.mp4"/><Relationship Id="rId9" Type="http://schemas.openxmlformats.org/officeDocument/2006/relationships/hyperlink" Target="https://arxiv.org/abs/2308.01557"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74.gif"/><Relationship Id="rId2" Type="http://schemas.openxmlformats.org/officeDocument/2006/relationships/image" Target="../media/image73.gif"/><Relationship Id="rId1" Type="http://schemas.openxmlformats.org/officeDocument/2006/relationships/slideLayout" Target="../slideLayouts/slideLayout17.xml"/><Relationship Id="rId6" Type="http://schemas.openxmlformats.org/officeDocument/2006/relationships/image" Target="../media/image51.png"/><Relationship Id="rId5" Type="http://schemas.openxmlformats.org/officeDocument/2006/relationships/hyperlink" Target="https://arxiv.org/abs/2502.03607" TargetMode="External"/><Relationship Id="rId4" Type="http://schemas.openxmlformats.org/officeDocument/2006/relationships/image" Target="../media/image75.png"/></Relationships>
</file>

<file path=ppt/slides/_rels/slide1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6.xml"/><Relationship Id="rId5" Type="http://schemas.openxmlformats.org/officeDocument/2006/relationships/image" Target="../media/image51.png"/><Relationship Id="rId4" Type="http://schemas.openxmlformats.org/officeDocument/2006/relationships/hyperlink" Target="https://arxiv.org/abs/2508.20095"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78.gif"/><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81.gif"/><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8" Type="http://schemas.openxmlformats.org/officeDocument/2006/relationships/image" Target="../media/image88.png"/><Relationship Id="rId3" Type="http://schemas.microsoft.com/office/2007/relationships/media" Target="../media/media4.mp4"/><Relationship Id="rId7" Type="http://schemas.openxmlformats.org/officeDocument/2006/relationships/image" Target="../media/image87.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86.png"/><Relationship Id="rId5" Type="http://schemas.openxmlformats.org/officeDocument/2006/relationships/slideLayout" Target="../slideLayouts/slideLayout18.xml"/><Relationship Id="rId4" Type="http://schemas.openxmlformats.org/officeDocument/2006/relationships/video" Target="../media/media4.mp4"/></Relationships>
</file>

<file path=ppt/slides/_rels/slide2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91.gif"/><Relationship Id="rId2" Type="http://schemas.openxmlformats.org/officeDocument/2006/relationships/image" Target="../media/image90.png"/><Relationship Id="rId1" Type="http://schemas.openxmlformats.org/officeDocument/2006/relationships/slideLayout" Target="../slideLayouts/slideLayout20.xml"/><Relationship Id="rId5" Type="http://schemas.openxmlformats.org/officeDocument/2006/relationships/image" Target="../media/image51.png"/><Relationship Id="rId4" Type="http://schemas.openxmlformats.org/officeDocument/2006/relationships/hyperlink" Target="https://arxiv.org/abs/2406.07524"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2.xml"/><Relationship Id="rId6" Type="http://schemas.openxmlformats.org/officeDocument/2006/relationships/image" Target="../media/image51.png"/><Relationship Id="rId5" Type="http://schemas.openxmlformats.org/officeDocument/2006/relationships/hyperlink" Target="https://arxiv.org/abs/2503.09790" TargetMode="External"/><Relationship Id="rId4" Type="http://schemas.openxmlformats.org/officeDocument/2006/relationships/image" Target="../media/image94.png"/></Relationships>
</file>

<file path=ppt/slides/_rels/slide27.xml.rels><?xml version="1.0" encoding="UTF-8" standalone="yes"?>
<Relationships xmlns="http://schemas.openxmlformats.org/package/2006/relationships"><Relationship Id="rId3" Type="http://schemas.openxmlformats.org/officeDocument/2006/relationships/hyperlink" Target="https://arxiv.org/abs/2506.01121" TargetMode="External"/><Relationship Id="rId2" Type="http://schemas.openxmlformats.org/officeDocument/2006/relationships/image" Target="../media/image95.png"/><Relationship Id="rId1" Type="http://schemas.openxmlformats.org/officeDocument/2006/relationships/slideLayout" Target="../slideLayouts/slideLayout17.xml"/><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1.xml"/><Relationship Id="rId6" Type="http://schemas.openxmlformats.org/officeDocument/2006/relationships/image" Target="../media/image51.png"/><Relationship Id="rId5" Type="http://schemas.openxmlformats.org/officeDocument/2006/relationships/hyperlink" Target="https://arxiv.org/abs/2503.09790" TargetMode="External"/><Relationship Id="rId4" Type="http://schemas.openxmlformats.org/officeDocument/2006/relationships/image" Target="../media/image98.gif"/></Relationships>
</file>

<file path=ppt/slides/_rels/slide2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gif"/><Relationship Id="rId1" Type="http://schemas.openxmlformats.org/officeDocument/2006/relationships/slideLayout" Target="../slideLayouts/slideLayout17.xml"/><Relationship Id="rId6" Type="http://schemas.openxmlformats.org/officeDocument/2006/relationships/image" Target="../media/image51.png"/><Relationship Id="rId5" Type="http://schemas.openxmlformats.org/officeDocument/2006/relationships/hyperlink" Target="https://arxiv.org/abs/2503.09790" TargetMode="External"/><Relationship Id="rId4" Type="http://schemas.openxmlformats.org/officeDocument/2006/relationships/image" Target="../media/image101.png"/></Relationships>
</file>

<file path=ppt/slides/_rels/slide30.xml.rels><?xml version="1.0" encoding="UTF-8" standalone="yes"?>
<Relationships xmlns="http://schemas.openxmlformats.org/package/2006/relationships"><Relationship Id="rId3" Type="http://schemas.openxmlformats.org/officeDocument/2006/relationships/hyperlink" Target="https://proceedings.neurips.cc/paper_files/paper/2024" TargetMode="External"/><Relationship Id="rId2" Type="http://schemas.openxmlformats.org/officeDocument/2006/relationships/image" Target="../media/image51.png"/><Relationship Id="rId1" Type="http://schemas.openxmlformats.org/officeDocument/2006/relationships/slideLayout" Target="../slideLayouts/slideLayout17.xml"/><Relationship Id="rId6" Type="http://schemas.openxmlformats.org/officeDocument/2006/relationships/hyperlink" Target="https://arxiv.org/abs/2602.02727" TargetMode="External"/><Relationship Id="rId5" Type="http://schemas.openxmlformats.org/officeDocument/2006/relationships/hyperlink" Target="https://arxiv.org/abs/2508.20095" TargetMode="External"/><Relationship Id="rId4" Type="http://schemas.openxmlformats.org/officeDocument/2006/relationships/hyperlink" Target="https://arxiv.org/abs/2502.03607" TargetMode="Externa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80" name="28a5edf9-589e-403d-9863-fa52c0332db7.png" descr="28a5edf9-589e-403d-9863-fa52c0332db7.png"/>
          <p:cNvPicPr>
            <a:picLocks noChangeAspect="1"/>
          </p:cNvPicPr>
          <p:nvPr/>
        </p:nvPicPr>
        <p:blipFill>
          <a:blip r:embed="rId3"/>
          <a:srcRect l="24323" t="20559" r="19203" b="21527"/>
          <a:stretch>
            <a:fillRect/>
          </a:stretch>
        </p:blipFill>
        <p:spPr>
          <a:xfrm>
            <a:off x="8029911" y="9874930"/>
            <a:ext cx="3731111" cy="2550842"/>
          </a:xfrm>
          <a:prstGeom prst="rect">
            <a:avLst/>
          </a:prstGeom>
          <a:ln w="12700">
            <a:miter lim="400000"/>
          </a:ln>
        </p:spPr>
      </p:pic>
      <p:sp>
        <p:nvSpPr>
          <p:cNvPr id="281" name="Shape"/>
          <p:cNvSpPr/>
          <p:nvPr/>
        </p:nvSpPr>
        <p:spPr>
          <a:xfrm>
            <a:off x="9265268" y="-259113"/>
            <a:ext cx="15635440" cy="13988370"/>
          </a:xfrm>
          <a:custGeom>
            <a:avLst/>
            <a:gdLst/>
            <a:ahLst/>
            <a:cxnLst>
              <a:cxn ang="0">
                <a:pos x="wd2" y="hd2"/>
              </a:cxn>
              <a:cxn ang="5400000">
                <a:pos x="wd2" y="hd2"/>
              </a:cxn>
              <a:cxn ang="10800000">
                <a:pos x="wd2" y="hd2"/>
              </a:cxn>
              <a:cxn ang="16200000">
                <a:pos x="wd2" y="hd2"/>
              </a:cxn>
            </a:cxnLst>
            <a:rect l="0" t="0" r="r" b="b"/>
            <a:pathLst>
              <a:path w="21600" h="21588" extrusionOk="0">
                <a:moveTo>
                  <a:pt x="5946" y="3111"/>
                </a:moveTo>
                <a:cubicBezTo>
                  <a:pt x="4825" y="4627"/>
                  <a:pt x="4209" y="6535"/>
                  <a:pt x="4233" y="8502"/>
                </a:cubicBezTo>
                <a:cubicBezTo>
                  <a:pt x="4255" y="10327"/>
                  <a:pt x="4830" y="12133"/>
                  <a:pt x="4872" y="13959"/>
                </a:cubicBezTo>
                <a:cubicBezTo>
                  <a:pt x="4910" y="15624"/>
                  <a:pt x="4526" y="17212"/>
                  <a:pt x="3682" y="18600"/>
                </a:cubicBezTo>
                <a:cubicBezTo>
                  <a:pt x="2804" y="20045"/>
                  <a:pt x="1501" y="21102"/>
                  <a:pt x="0" y="21588"/>
                </a:cubicBezTo>
                <a:lnTo>
                  <a:pt x="21600" y="21503"/>
                </a:lnTo>
                <a:lnTo>
                  <a:pt x="21524" y="37"/>
                </a:lnTo>
                <a:cubicBezTo>
                  <a:pt x="18662" y="-8"/>
                  <a:pt x="15877" y="-12"/>
                  <a:pt x="13132" y="24"/>
                </a:cubicBezTo>
                <a:cubicBezTo>
                  <a:pt x="11846" y="40"/>
                  <a:pt x="10502" y="70"/>
                  <a:pt x="9261" y="520"/>
                </a:cubicBezTo>
                <a:cubicBezTo>
                  <a:pt x="7969" y="988"/>
                  <a:pt x="6855" y="1881"/>
                  <a:pt x="5946" y="3111"/>
                </a:cubicBezTo>
                <a:close/>
              </a:path>
            </a:pathLst>
          </a:custGeom>
          <a:solidFill>
            <a:schemeClr val="accent1">
              <a:lumOff val="16847"/>
              <a:alpha val="9794"/>
            </a:schemeClr>
          </a:solidFill>
          <a:ln w="25400">
            <a:solidFill>
              <a:srgbClr val="000000">
                <a:alpha val="9794"/>
              </a:srgbClr>
            </a:solidFill>
            <a:miter lim="400000"/>
          </a:ln>
        </p:spPr>
        <p:txBody>
          <a:bodyPr lIns="50800" tIns="50800" rIns="50800" bIns="50800" anchor="ctr"/>
          <a:lstStyle/>
          <a:p>
            <a:pPr>
              <a:lnSpc>
                <a:spcPct val="100000"/>
              </a:lnSpc>
              <a:spcBef>
                <a:spcPts val="0"/>
              </a:spcBef>
              <a:defRPr sz="2400">
                <a:solidFill>
                  <a:schemeClr val="accent1">
                    <a:hueOff val="114395"/>
                    <a:lumOff val="-24975"/>
                  </a:schemeClr>
                </a:solidFill>
                <a:latin typeface="+mn-lt"/>
                <a:ea typeface="+mn-ea"/>
                <a:cs typeface="+mn-cs"/>
                <a:sym typeface="Helvetica Neue"/>
              </a:defRPr>
            </a:pPr>
            <a:endParaRPr/>
          </a:p>
        </p:txBody>
      </p:sp>
      <p:sp>
        <p:nvSpPr>
          <p:cNvPr id="282" name="Slide Number"/>
          <p:cNvSpPr txBox="1">
            <a:spLocks noGrp="1"/>
          </p:cNvSpPr>
          <p:nvPr>
            <p:ph type="sldNum" sz="quarter" idx="2"/>
          </p:nvPr>
        </p:nvSpPr>
        <p:spPr>
          <a:xfrm>
            <a:off x="23760887" y="12932513"/>
            <a:ext cx="344730" cy="52308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283" name="AI for Science and Engineering"/>
          <p:cNvSpPr txBox="1"/>
          <p:nvPr/>
        </p:nvSpPr>
        <p:spPr>
          <a:xfrm>
            <a:off x="337668" y="444111"/>
            <a:ext cx="13183490" cy="1155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defTabSz="825500">
              <a:lnSpc>
                <a:spcPct val="100000"/>
              </a:lnSpc>
              <a:spcBef>
                <a:spcPts val="0"/>
              </a:spcBef>
              <a:defRPr sz="7000" b="1">
                <a:latin typeface="+mn-lt"/>
                <a:ea typeface="+mn-ea"/>
                <a:cs typeface="+mn-cs"/>
                <a:sym typeface="Helvetica Neue"/>
              </a:defRPr>
            </a:lvl1pPr>
          </a:lstStyle>
          <a:p>
            <a:r>
              <a:t>AI for Science and Engineering</a:t>
            </a:r>
          </a:p>
        </p:txBody>
      </p:sp>
      <p:sp>
        <p:nvSpPr>
          <p:cNvPr id="284" name="Differential Privacy…"/>
          <p:cNvSpPr txBox="1"/>
          <p:nvPr/>
        </p:nvSpPr>
        <p:spPr>
          <a:xfrm>
            <a:off x="24805109" y="1303678"/>
            <a:ext cx="3630465" cy="2324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nSpc>
                <a:spcPct val="100000"/>
              </a:lnSpc>
              <a:spcBef>
                <a:spcPts val="0"/>
              </a:spcBef>
              <a:defRPr sz="3100"/>
            </a:pPr>
            <a:r>
              <a:t>Differential Privacy </a:t>
            </a:r>
          </a:p>
          <a:p>
            <a:pPr>
              <a:lnSpc>
                <a:spcPct val="100000"/>
              </a:lnSpc>
              <a:spcBef>
                <a:spcPts val="0"/>
              </a:spcBef>
              <a:defRPr sz="3100"/>
            </a:pPr>
            <a:r>
              <a:t>Fairness</a:t>
            </a:r>
          </a:p>
          <a:p>
            <a:pPr>
              <a:lnSpc>
                <a:spcPct val="100000"/>
              </a:lnSpc>
              <a:spcBef>
                <a:spcPts val="0"/>
              </a:spcBef>
              <a:defRPr sz="3100"/>
            </a:pPr>
            <a:r>
              <a:t>Robustness</a:t>
            </a:r>
          </a:p>
          <a:p>
            <a:pPr>
              <a:lnSpc>
                <a:spcPct val="100000"/>
              </a:lnSpc>
              <a:spcBef>
                <a:spcPts val="0"/>
              </a:spcBef>
              <a:defRPr sz="3100"/>
            </a:pPr>
            <a:r>
              <a:t>Model Pruning</a:t>
            </a:r>
          </a:p>
          <a:p>
            <a:pPr>
              <a:lnSpc>
                <a:spcPct val="100000"/>
              </a:lnSpc>
              <a:spcBef>
                <a:spcPts val="0"/>
              </a:spcBef>
              <a:defRPr sz="3100"/>
            </a:pPr>
            <a:r>
              <a:t>Decision-making</a:t>
            </a:r>
          </a:p>
        </p:txBody>
      </p:sp>
      <p:sp>
        <p:nvSpPr>
          <p:cNvPr id="285" name="Safe AI"/>
          <p:cNvSpPr txBox="1"/>
          <p:nvPr/>
        </p:nvSpPr>
        <p:spPr>
          <a:xfrm>
            <a:off x="17349878" y="543602"/>
            <a:ext cx="3126233" cy="1155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defTabSz="825500">
              <a:lnSpc>
                <a:spcPct val="100000"/>
              </a:lnSpc>
              <a:spcBef>
                <a:spcPts val="0"/>
              </a:spcBef>
              <a:defRPr sz="7000" b="1">
                <a:latin typeface="+mn-lt"/>
                <a:ea typeface="+mn-ea"/>
                <a:cs typeface="+mn-cs"/>
                <a:sym typeface="Helvetica Neue"/>
              </a:defRPr>
            </a:lvl1pPr>
          </a:lstStyle>
          <a:p>
            <a:r>
              <a:t>Safe AI</a:t>
            </a:r>
          </a:p>
        </p:txBody>
      </p:sp>
      <p:pic>
        <p:nvPicPr>
          <p:cNvPr id="286" name="Line Shape" descr="Line Shape"/>
          <p:cNvPicPr>
            <a:picLocks/>
          </p:cNvPicPr>
          <p:nvPr/>
        </p:nvPicPr>
        <p:blipFill>
          <a:blip r:embed="rId4"/>
          <a:stretch>
            <a:fillRect/>
          </a:stretch>
        </p:blipFill>
        <p:spPr>
          <a:xfrm>
            <a:off x="7834696" y="-90579"/>
            <a:ext cx="10353110" cy="14049571"/>
          </a:xfrm>
          <a:prstGeom prst="rect">
            <a:avLst/>
          </a:prstGeom>
        </p:spPr>
      </p:pic>
      <p:pic>
        <p:nvPicPr>
          <p:cNvPr id="288" name="Image" descr="Image"/>
          <p:cNvPicPr>
            <a:picLocks noChangeAspect="1"/>
          </p:cNvPicPr>
          <p:nvPr/>
        </p:nvPicPr>
        <p:blipFill>
          <a:blip r:embed="rId5"/>
          <a:stretch>
            <a:fillRect/>
          </a:stretch>
        </p:blipFill>
        <p:spPr>
          <a:xfrm>
            <a:off x="8749973" y="2888416"/>
            <a:ext cx="2290900" cy="2628901"/>
          </a:xfrm>
          <a:prstGeom prst="rect">
            <a:avLst/>
          </a:prstGeom>
          <a:ln w="12700">
            <a:miter lim="400000"/>
          </a:ln>
        </p:spPr>
      </p:pic>
      <p:sp>
        <p:nvSpPr>
          <p:cNvPr id="289" name="Power Systems"/>
          <p:cNvSpPr txBox="1"/>
          <p:nvPr/>
        </p:nvSpPr>
        <p:spPr>
          <a:xfrm>
            <a:off x="3446572" y="14502555"/>
            <a:ext cx="3269644" cy="711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nSpc>
                <a:spcPct val="100000"/>
              </a:lnSpc>
              <a:spcBef>
                <a:spcPts val="0"/>
              </a:spcBef>
              <a:defRPr sz="4200">
                <a:solidFill>
                  <a:schemeClr val="accent5">
                    <a:lumOff val="-29866"/>
                  </a:schemeClr>
                </a:solidFill>
              </a:defRPr>
            </a:lvl1pPr>
          </a:lstStyle>
          <a:p>
            <a:r>
              <a:t>Power Systems</a:t>
            </a:r>
          </a:p>
        </p:txBody>
      </p:sp>
      <p:grpSp>
        <p:nvGrpSpPr>
          <p:cNvPr id="321" name="Group"/>
          <p:cNvGrpSpPr/>
          <p:nvPr/>
        </p:nvGrpSpPr>
        <p:grpSpPr>
          <a:xfrm>
            <a:off x="-11138815" y="12826004"/>
            <a:ext cx="10073657" cy="2048391"/>
            <a:chOff x="0" y="0"/>
            <a:chExt cx="10073655" cy="2048389"/>
          </a:xfrm>
        </p:grpSpPr>
        <p:sp>
          <p:nvSpPr>
            <p:cNvPr id="290" name="e.g., motion constraints"/>
            <p:cNvSpPr txBox="1"/>
            <p:nvPr/>
          </p:nvSpPr>
          <p:spPr>
            <a:xfrm>
              <a:off x="8612663" y="529410"/>
              <a:ext cx="1435393" cy="70332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algn="ctr" defTabSz="355600">
                <a:lnSpc>
                  <a:spcPct val="70000"/>
                </a:lnSpc>
                <a:spcBef>
                  <a:spcPts val="4700"/>
                </a:spcBef>
                <a:defRPr sz="2200">
                  <a:latin typeface="Graphik-Light"/>
                  <a:ea typeface="Graphik-Light"/>
                  <a:cs typeface="Graphik-Light"/>
                  <a:sym typeface="Graphik Light"/>
                </a:defRPr>
              </a:pPr>
              <a:r>
                <a:t>e.g., motion</a:t>
              </a:r>
              <a:br/>
              <a:r>
                <a:t>constraints</a:t>
              </a:r>
            </a:p>
          </p:txBody>
        </p:sp>
        <p:pic>
          <p:nvPicPr>
            <p:cNvPr id="291" name="23c55edf-325c-4dce-8e35-1376582a915b.png" descr="23c55edf-325c-4dce-8e35-1376582a915b.png"/>
            <p:cNvPicPr>
              <a:picLocks noChangeAspect="1"/>
            </p:cNvPicPr>
            <p:nvPr/>
          </p:nvPicPr>
          <p:blipFill>
            <a:blip r:embed="rId6"/>
            <a:srcRect l="5795" t="22154" r="54662" b="24340"/>
            <a:stretch>
              <a:fillRect/>
            </a:stretch>
          </p:blipFill>
          <p:spPr>
            <a:xfrm>
              <a:off x="8161166" y="618622"/>
              <a:ext cx="352030" cy="317563"/>
            </a:xfrm>
            <a:custGeom>
              <a:avLst/>
              <a:gdLst/>
              <a:ahLst/>
              <a:cxnLst>
                <a:cxn ang="0">
                  <a:pos x="wd2" y="hd2"/>
                </a:cxn>
                <a:cxn ang="5400000">
                  <a:pos x="wd2" y="hd2"/>
                </a:cxn>
                <a:cxn ang="10800000">
                  <a:pos x="wd2" y="hd2"/>
                </a:cxn>
                <a:cxn ang="16200000">
                  <a:pos x="wd2" y="hd2"/>
                </a:cxn>
              </a:cxnLst>
              <a:rect l="0" t="0" r="r" b="b"/>
              <a:pathLst>
                <a:path w="21600" h="21593" extrusionOk="0">
                  <a:moveTo>
                    <a:pt x="17947" y="0"/>
                  </a:moveTo>
                  <a:cubicBezTo>
                    <a:pt x="17653" y="0"/>
                    <a:pt x="16941" y="238"/>
                    <a:pt x="16730" y="405"/>
                  </a:cubicBezTo>
                  <a:cubicBezTo>
                    <a:pt x="16664" y="456"/>
                    <a:pt x="16600" y="513"/>
                    <a:pt x="16584" y="513"/>
                  </a:cubicBezTo>
                  <a:cubicBezTo>
                    <a:pt x="16567" y="513"/>
                    <a:pt x="16519" y="533"/>
                    <a:pt x="16486" y="567"/>
                  </a:cubicBezTo>
                  <a:cubicBezTo>
                    <a:pt x="16454" y="601"/>
                    <a:pt x="16318" y="728"/>
                    <a:pt x="16170" y="864"/>
                  </a:cubicBezTo>
                  <a:cubicBezTo>
                    <a:pt x="16021" y="1000"/>
                    <a:pt x="15903" y="1136"/>
                    <a:pt x="15902" y="1160"/>
                  </a:cubicBezTo>
                  <a:cubicBezTo>
                    <a:pt x="15900" y="1185"/>
                    <a:pt x="15817" y="1284"/>
                    <a:pt x="15731" y="1376"/>
                  </a:cubicBezTo>
                  <a:cubicBezTo>
                    <a:pt x="15645" y="1469"/>
                    <a:pt x="15585" y="1551"/>
                    <a:pt x="15585" y="1565"/>
                  </a:cubicBezTo>
                  <a:cubicBezTo>
                    <a:pt x="15585" y="1579"/>
                    <a:pt x="15489" y="1703"/>
                    <a:pt x="15366" y="1835"/>
                  </a:cubicBezTo>
                  <a:cubicBezTo>
                    <a:pt x="15243" y="1968"/>
                    <a:pt x="15122" y="2090"/>
                    <a:pt x="15122" y="2105"/>
                  </a:cubicBezTo>
                  <a:cubicBezTo>
                    <a:pt x="15122" y="2119"/>
                    <a:pt x="15062" y="2226"/>
                    <a:pt x="14976" y="2321"/>
                  </a:cubicBezTo>
                  <a:cubicBezTo>
                    <a:pt x="14890" y="2416"/>
                    <a:pt x="14830" y="2488"/>
                    <a:pt x="14830" y="2510"/>
                  </a:cubicBezTo>
                  <a:cubicBezTo>
                    <a:pt x="14830" y="2532"/>
                    <a:pt x="14776" y="2641"/>
                    <a:pt x="14708" y="2726"/>
                  </a:cubicBezTo>
                  <a:cubicBezTo>
                    <a:pt x="14494" y="2993"/>
                    <a:pt x="14416" y="3080"/>
                    <a:pt x="14416" y="3130"/>
                  </a:cubicBezTo>
                  <a:cubicBezTo>
                    <a:pt x="14416" y="3157"/>
                    <a:pt x="14393" y="3184"/>
                    <a:pt x="14368" y="3184"/>
                  </a:cubicBezTo>
                  <a:cubicBezTo>
                    <a:pt x="14342" y="3184"/>
                    <a:pt x="14311" y="3218"/>
                    <a:pt x="14294" y="3265"/>
                  </a:cubicBezTo>
                  <a:cubicBezTo>
                    <a:pt x="14278" y="3313"/>
                    <a:pt x="14205" y="3420"/>
                    <a:pt x="14124" y="3508"/>
                  </a:cubicBezTo>
                  <a:cubicBezTo>
                    <a:pt x="14043" y="3596"/>
                    <a:pt x="13978" y="3696"/>
                    <a:pt x="13978" y="3724"/>
                  </a:cubicBezTo>
                  <a:cubicBezTo>
                    <a:pt x="13978" y="3752"/>
                    <a:pt x="13948" y="3778"/>
                    <a:pt x="13929" y="3778"/>
                  </a:cubicBezTo>
                  <a:cubicBezTo>
                    <a:pt x="13911" y="3778"/>
                    <a:pt x="13857" y="3872"/>
                    <a:pt x="13783" y="3994"/>
                  </a:cubicBezTo>
                  <a:cubicBezTo>
                    <a:pt x="13709" y="4116"/>
                    <a:pt x="13631" y="4209"/>
                    <a:pt x="13613" y="4210"/>
                  </a:cubicBezTo>
                  <a:cubicBezTo>
                    <a:pt x="13594" y="4211"/>
                    <a:pt x="13564" y="4253"/>
                    <a:pt x="13564" y="4291"/>
                  </a:cubicBezTo>
                  <a:cubicBezTo>
                    <a:pt x="13564" y="4329"/>
                    <a:pt x="13552" y="4356"/>
                    <a:pt x="13515" y="4372"/>
                  </a:cubicBezTo>
                  <a:cubicBezTo>
                    <a:pt x="13478" y="4387"/>
                    <a:pt x="13442" y="4438"/>
                    <a:pt x="13442" y="4480"/>
                  </a:cubicBezTo>
                  <a:cubicBezTo>
                    <a:pt x="13442" y="4521"/>
                    <a:pt x="13418" y="4561"/>
                    <a:pt x="13393" y="4561"/>
                  </a:cubicBezTo>
                  <a:cubicBezTo>
                    <a:pt x="13369" y="4561"/>
                    <a:pt x="13345" y="4588"/>
                    <a:pt x="13345" y="4615"/>
                  </a:cubicBezTo>
                  <a:cubicBezTo>
                    <a:pt x="13345" y="4642"/>
                    <a:pt x="13315" y="4699"/>
                    <a:pt x="13272" y="4750"/>
                  </a:cubicBezTo>
                  <a:cubicBezTo>
                    <a:pt x="13159" y="4881"/>
                    <a:pt x="13028" y="5048"/>
                    <a:pt x="13028" y="5073"/>
                  </a:cubicBezTo>
                  <a:cubicBezTo>
                    <a:pt x="13028" y="5085"/>
                    <a:pt x="12992" y="5162"/>
                    <a:pt x="12931" y="5235"/>
                  </a:cubicBezTo>
                  <a:cubicBezTo>
                    <a:pt x="12869" y="5309"/>
                    <a:pt x="12809" y="5387"/>
                    <a:pt x="12809" y="5424"/>
                  </a:cubicBezTo>
                  <a:cubicBezTo>
                    <a:pt x="12809" y="5461"/>
                    <a:pt x="12773" y="5505"/>
                    <a:pt x="12736" y="5505"/>
                  </a:cubicBezTo>
                  <a:cubicBezTo>
                    <a:pt x="12699" y="5505"/>
                    <a:pt x="12687" y="5525"/>
                    <a:pt x="12687" y="5559"/>
                  </a:cubicBezTo>
                  <a:cubicBezTo>
                    <a:pt x="12687" y="5594"/>
                    <a:pt x="12603" y="5721"/>
                    <a:pt x="12517" y="5829"/>
                  </a:cubicBezTo>
                  <a:cubicBezTo>
                    <a:pt x="12431" y="5938"/>
                    <a:pt x="12353" y="6078"/>
                    <a:pt x="12322" y="6153"/>
                  </a:cubicBezTo>
                  <a:cubicBezTo>
                    <a:pt x="12291" y="6228"/>
                    <a:pt x="12231" y="6288"/>
                    <a:pt x="12200" y="6288"/>
                  </a:cubicBezTo>
                  <a:cubicBezTo>
                    <a:pt x="12169" y="6288"/>
                    <a:pt x="12152" y="6333"/>
                    <a:pt x="12152" y="6369"/>
                  </a:cubicBezTo>
                  <a:cubicBezTo>
                    <a:pt x="12152" y="6405"/>
                    <a:pt x="12067" y="6500"/>
                    <a:pt x="11981" y="6612"/>
                  </a:cubicBezTo>
                  <a:cubicBezTo>
                    <a:pt x="11895" y="6723"/>
                    <a:pt x="11835" y="6852"/>
                    <a:pt x="11835" y="6882"/>
                  </a:cubicBezTo>
                  <a:cubicBezTo>
                    <a:pt x="11835" y="6911"/>
                    <a:pt x="11811" y="6936"/>
                    <a:pt x="11786" y="6936"/>
                  </a:cubicBezTo>
                  <a:cubicBezTo>
                    <a:pt x="11762" y="6936"/>
                    <a:pt x="11738" y="6978"/>
                    <a:pt x="11738" y="7017"/>
                  </a:cubicBezTo>
                  <a:cubicBezTo>
                    <a:pt x="11738" y="7055"/>
                    <a:pt x="11732" y="7088"/>
                    <a:pt x="11713" y="7097"/>
                  </a:cubicBezTo>
                  <a:cubicBezTo>
                    <a:pt x="11661" y="7123"/>
                    <a:pt x="11299" y="7617"/>
                    <a:pt x="11299" y="7664"/>
                  </a:cubicBezTo>
                  <a:cubicBezTo>
                    <a:pt x="11299" y="7687"/>
                    <a:pt x="11251" y="7733"/>
                    <a:pt x="11202" y="7772"/>
                  </a:cubicBezTo>
                  <a:cubicBezTo>
                    <a:pt x="11153" y="7811"/>
                    <a:pt x="11104" y="7871"/>
                    <a:pt x="11104" y="7907"/>
                  </a:cubicBezTo>
                  <a:cubicBezTo>
                    <a:pt x="11104" y="7943"/>
                    <a:pt x="11093" y="7999"/>
                    <a:pt x="11056" y="8015"/>
                  </a:cubicBezTo>
                  <a:cubicBezTo>
                    <a:pt x="11019" y="8031"/>
                    <a:pt x="10983" y="8067"/>
                    <a:pt x="10983" y="8096"/>
                  </a:cubicBezTo>
                  <a:cubicBezTo>
                    <a:pt x="10983" y="8125"/>
                    <a:pt x="10922" y="8223"/>
                    <a:pt x="10861" y="8312"/>
                  </a:cubicBezTo>
                  <a:cubicBezTo>
                    <a:pt x="10800" y="8401"/>
                    <a:pt x="10763" y="8478"/>
                    <a:pt x="10763" y="8501"/>
                  </a:cubicBezTo>
                  <a:cubicBezTo>
                    <a:pt x="10763" y="8523"/>
                    <a:pt x="10679" y="8635"/>
                    <a:pt x="10593" y="8744"/>
                  </a:cubicBezTo>
                  <a:cubicBezTo>
                    <a:pt x="10507" y="8852"/>
                    <a:pt x="10429" y="8993"/>
                    <a:pt x="10398" y="9068"/>
                  </a:cubicBezTo>
                  <a:cubicBezTo>
                    <a:pt x="10368" y="9142"/>
                    <a:pt x="10307" y="9202"/>
                    <a:pt x="10276" y="9202"/>
                  </a:cubicBezTo>
                  <a:cubicBezTo>
                    <a:pt x="10246" y="9202"/>
                    <a:pt x="10228" y="9249"/>
                    <a:pt x="10228" y="9283"/>
                  </a:cubicBezTo>
                  <a:cubicBezTo>
                    <a:pt x="10228" y="9318"/>
                    <a:pt x="10142" y="9418"/>
                    <a:pt x="10057" y="9526"/>
                  </a:cubicBezTo>
                  <a:cubicBezTo>
                    <a:pt x="9972" y="9635"/>
                    <a:pt x="9894" y="9782"/>
                    <a:pt x="9862" y="9850"/>
                  </a:cubicBezTo>
                  <a:cubicBezTo>
                    <a:pt x="9831" y="9918"/>
                    <a:pt x="9748" y="10033"/>
                    <a:pt x="9692" y="10093"/>
                  </a:cubicBezTo>
                  <a:cubicBezTo>
                    <a:pt x="9636" y="10153"/>
                    <a:pt x="9595" y="10210"/>
                    <a:pt x="9595" y="10228"/>
                  </a:cubicBezTo>
                  <a:cubicBezTo>
                    <a:pt x="9595" y="10246"/>
                    <a:pt x="9540" y="10329"/>
                    <a:pt x="9473" y="10417"/>
                  </a:cubicBezTo>
                  <a:cubicBezTo>
                    <a:pt x="9238" y="10723"/>
                    <a:pt x="9205" y="10798"/>
                    <a:pt x="9205" y="10849"/>
                  </a:cubicBezTo>
                  <a:cubicBezTo>
                    <a:pt x="9205" y="10876"/>
                    <a:pt x="9169" y="10914"/>
                    <a:pt x="9132" y="10930"/>
                  </a:cubicBezTo>
                  <a:cubicBezTo>
                    <a:pt x="9095" y="10945"/>
                    <a:pt x="9059" y="10979"/>
                    <a:pt x="9059" y="11011"/>
                  </a:cubicBezTo>
                  <a:cubicBezTo>
                    <a:pt x="9059" y="11042"/>
                    <a:pt x="9033" y="11086"/>
                    <a:pt x="8986" y="11118"/>
                  </a:cubicBezTo>
                  <a:cubicBezTo>
                    <a:pt x="8938" y="11151"/>
                    <a:pt x="8856" y="11265"/>
                    <a:pt x="8815" y="11361"/>
                  </a:cubicBezTo>
                  <a:cubicBezTo>
                    <a:pt x="8774" y="11457"/>
                    <a:pt x="8715" y="11523"/>
                    <a:pt x="8694" y="11523"/>
                  </a:cubicBezTo>
                  <a:cubicBezTo>
                    <a:pt x="8672" y="11523"/>
                    <a:pt x="8669" y="11563"/>
                    <a:pt x="8669" y="11604"/>
                  </a:cubicBezTo>
                  <a:cubicBezTo>
                    <a:pt x="8669" y="11646"/>
                    <a:pt x="8633" y="11697"/>
                    <a:pt x="8596" y="11712"/>
                  </a:cubicBezTo>
                  <a:cubicBezTo>
                    <a:pt x="8559" y="11728"/>
                    <a:pt x="8523" y="11761"/>
                    <a:pt x="8523" y="11793"/>
                  </a:cubicBezTo>
                  <a:cubicBezTo>
                    <a:pt x="8523" y="11825"/>
                    <a:pt x="8469" y="11925"/>
                    <a:pt x="8401" y="12009"/>
                  </a:cubicBezTo>
                  <a:cubicBezTo>
                    <a:pt x="8187" y="12277"/>
                    <a:pt x="8133" y="12364"/>
                    <a:pt x="8133" y="12414"/>
                  </a:cubicBezTo>
                  <a:cubicBezTo>
                    <a:pt x="8133" y="12441"/>
                    <a:pt x="8085" y="12441"/>
                    <a:pt x="8036" y="12387"/>
                  </a:cubicBezTo>
                  <a:cubicBezTo>
                    <a:pt x="7987" y="12332"/>
                    <a:pt x="7939" y="12252"/>
                    <a:pt x="7939" y="12225"/>
                  </a:cubicBezTo>
                  <a:cubicBezTo>
                    <a:pt x="7939" y="12198"/>
                    <a:pt x="7933" y="12171"/>
                    <a:pt x="7914" y="12171"/>
                  </a:cubicBezTo>
                  <a:cubicBezTo>
                    <a:pt x="7896" y="12171"/>
                    <a:pt x="7834" y="12084"/>
                    <a:pt x="7793" y="11982"/>
                  </a:cubicBezTo>
                  <a:cubicBezTo>
                    <a:pt x="7752" y="11880"/>
                    <a:pt x="7673" y="11726"/>
                    <a:pt x="7598" y="11631"/>
                  </a:cubicBezTo>
                  <a:cubicBezTo>
                    <a:pt x="7523" y="11536"/>
                    <a:pt x="7452" y="11422"/>
                    <a:pt x="7452" y="11388"/>
                  </a:cubicBezTo>
                  <a:cubicBezTo>
                    <a:pt x="7452" y="11354"/>
                    <a:pt x="7434" y="11334"/>
                    <a:pt x="7403" y="11334"/>
                  </a:cubicBezTo>
                  <a:cubicBezTo>
                    <a:pt x="7372" y="11334"/>
                    <a:pt x="7312" y="11274"/>
                    <a:pt x="7281" y="11199"/>
                  </a:cubicBezTo>
                  <a:cubicBezTo>
                    <a:pt x="7251" y="11125"/>
                    <a:pt x="7172" y="10984"/>
                    <a:pt x="7086" y="10876"/>
                  </a:cubicBezTo>
                  <a:cubicBezTo>
                    <a:pt x="7001" y="10767"/>
                    <a:pt x="6916" y="10640"/>
                    <a:pt x="6916" y="10606"/>
                  </a:cubicBezTo>
                  <a:cubicBezTo>
                    <a:pt x="6916" y="10571"/>
                    <a:pt x="6914" y="10552"/>
                    <a:pt x="6892" y="10552"/>
                  </a:cubicBezTo>
                  <a:cubicBezTo>
                    <a:pt x="6869" y="10552"/>
                    <a:pt x="6796" y="10478"/>
                    <a:pt x="6745" y="10390"/>
                  </a:cubicBezTo>
                  <a:cubicBezTo>
                    <a:pt x="6695" y="10301"/>
                    <a:pt x="6610" y="10169"/>
                    <a:pt x="6551" y="10093"/>
                  </a:cubicBezTo>
                  <a:cubicBezTo>
                    <a:pt x="6491" y="10017"/>
                    <a:pt x="6389" y="9863"/>
                    <a:pt x="6331" y="9769"/>
                  </a:cubicBezTo>
                  <a:cubicBezTo>
                    <a:pt x="6274" y="9675"/>
                    <a:pt x="6204" y="9607"/>
                    <a:pt x="6185" y="9607"/>
                  </a:cubicBezTo>
                  <a:cubicBezTo>
                    <a:pt x="6167" y="9607"/>
                    <a:pt x="6161" y="9568"/>
                    <a:pt x="6161" y="9526"/>
                  </a:cubicBezTo>
                  <a:cubicBezTo>
                    <a:pt x="6161" y="9485"/>
                    <a:pt x="6125" y="9434"/>
                    <a:pt x="6088" y="9418"/>
                  </a:cubicBezTo>
                  <a:cubicBezTo>
                    <a:pt x="6051" y="9403"/>
                    <a:pt x="6039" y="9375"/>
                    <a:pt x="6039" y="9337"/>
                  </a:cubicBezTo>
                  <a:cubicBezTo>
                    <a:pt x="6039" y="9299"/>
                    <a:pt x="6009" y="9257"/>
                    <a:pt x="5991" y="9256"/>
                  </a:cubicBezTo>
                  <a:cubicBezTo>
                    <a:pt x="5972" y="9256"/>
                    <a:pt x="5894" y="9162"/>
                    <a:pt x="5820" y="9041"/>
                  </a:cubicBezTo>
                  <a:cubicBezTo>
                    <a:pt x="5746" y="8919"/>
                    <a:pt x="5668" y="8825"/>
                    <a:pt x="5650" y="8825"/>
                  </a:cubicBezTo>
                  <a:cubicBezTo>
                    <a:pt x="5631" y="8825"/>
                    <a:pt x="5625" y="8797"/>
                    <a:pt x="5625" y="8771"/>
                  </a:cubicBezTo>
                  <a:cubicBezTo>
                    <a:pt x="5625" y="8721"/>
                    <a:pt x="5130" y="8168"/>
                    <a:pt x="4895" y="7961"/>
                  </a:cubicBezTo>
                  <a:cubicBezTo>
                    <a:pt x="4571" y="7677"/>
                    <a:pt x="4250" y="7583"/>
                    <a:pt x="3677" y="7583"/>
                  </a:cubicBezTo>
                  <a:cubicBezTo>
                    <a:pt x="3158" y="7584"/>
                    <a:pt x="2825" y="7650"/>
                    <a:pt x="2435" y="7880"/>
                  </a:cubicBezTo>
                  <a:cubicBezTo>
                    <a:pt x="2313" y="7953"/>
                    <a:pt x="2194" y="8015"/>
                    <a:pt x="2167" y="8015"/>
                  </a:cubicBezTo>
                  <a:cubicBezTo>
                    <a:pt x="2141" y="8015"/>
                    <a:pt x="2078" y="8083"/>
                    <a:pt x="2021" y="8150"/>
                  </a:cubicBezTo>
                  <a:cubicBezTo>
                    <a:pt x="1964" y="8217"/>
                    <a:pt x="1895" y="8244"/>
                    <a:pt x="1875" y="8231"/>
                  </a:cubicBezTo>
                  <a:cubicBezTo>
                    <a:pt x="1856" y="8218"/>
                    <a:pt x="1822" y="8250"/>
                    <a:pt x="1802" y="8285"/>
                  </a:cubicBezTo>
                  <a:cubicBezTo>
                    <a:pt x="1782" y="8319"/>
                    <a:pt x="1645" y="8461"/>
                    <a:pt x="1485" y="8609"/>
                  </a:cubicBezTo>
                  <a:cubicBezTo>
                    <a:pt x="1326" y="8757"/>
                    <a:pt x="1124" y="8951"/>
                    <a:pt x="1047" y="9041"/>
                  </a:cubicBezTo>
                  <a:cubicBezTo>
                    <a:pt x="970" y="9130"/>
                    <a:pt x="892" y="9202"/>
                    <a:pt x="877" y="9202"/>
                  </a:cubicBezTo>
                  <a:cubicBezTo>
                    <a:pt x="820" y="9202"/>
                    <a:pt x="438" y="9670"/>
                    <a:pt x="438" y="9742"/>
                  </a:cubicBezTo>
                  <a:cubicBezTo>
                    <a:pt x="438" y="9769"/>
                    <a:pt x="438" y="9796"/>
                    <a:pt x="414" y="9796"/>
                  </a:cubicBezTo>
                  <a:cubicBezTo>
                    <a:pt x="390" y="9796"/>
                    <a:pt x="318" y="9896"/>
                    <a:pt x="268" y="10012"/>
                  </a:cubicBezTo>
                  <a:cubicBezTo>
                    <a:pt x="218" y="10128"/>
                    <a:pt x="166" y="10268"/>
                    <a:pt x="146" y="10309"/>
                  </a:cubicBezTo>
                  <a:cubicBezTo>
                    <a:pt x="26" y="10550"/>
                    <a:pt x="0" y="10627"/>
                    <a:pt x="0" y="10849"/>
                  </a:cubicBezTo>
                  <a:cubicBezTo>
                    <a:pt x="0" y="10983"/>
                    <a:pt x="24" y="11102"/>
                    <a:pt x="49" y="11118"/>
                  </a:cubicBezTo>
                  <a:cubicBezTo>
                    <a:pt x="73" y="11135"/>
                    <a:pt x="97" y="11215"/>
                    <a:pt x="97" y="11307"/>
                  </a:cubicBezTo>
                  <a:cubicBezTo>
                    <a:pt x="97" y="11399"/>
                    <a:pt x="122" y="11480"/>
                    <a:pt x="146" y="11496"/>
                  </a:cubicBezTo>
                  <a:cubicBezTo>
                    <a:pt x="170" y="11513"/>
                    <a:pt x="226" y="11611"/>
                    <a:pt x="268" y="11712"/>
                  </a:cubicBezTo>
                  <a:cubicBezTo>
                    <a:pt x="310" y="11813"/>
                    <a:pt x="358" y="11933"/>
                    <a:pt x="390" y="11955"/>
                  </a:cubicBezTo>
                  <a:cubicBezTo>
                    <a:pt x="422" y="11977"/>
                    <a:pt x="438" y="12024"/>
                    <a:pt x="438" y="12063"/>
                  </a:cubicBezTo>
                  <a:cubicBezTo>
                    <a:pt x="438" y="12102"/>
                    <a:pt x="462" y="12117"/>
                    <a:pt x="487" y="12117"/>
                  </a:cubicBezTo>
                  <a:cubicBezTo>
                    <a:pt x="512" y="12117"/>
                    <a:pt x="536" y="12171"/>
                    <a:pt x="536" y="12225"/>
                  </a:cubicBezTo>
                  <a:cubicBezTo>
                    <a:pt x="536" y="12279"/>
                    <a:pt x="560" y="12333"/>
                    <a:pt x="584" y="12333"/>
                  </a:cubicBezTo>
                  <a:cubicBezTo>
                    <a:pt x="609" y="12333"/>
                    <a:pt x="633" y="12346"/>
                    <a:pt x="633" y="12387"/>
                  </a:cubicBezTo>
                  <a:cubicBezTo>
                    <a:pt x="633" y="12428"/>
                    <a:pt x="636" y="12468"/>
                    <a:pt x="657" y="12468"/>
                  </a:cubicBezTo>
                  <a:cubicBezTo>
                    <a:pt x="679" y="12468"/>
                    <a:pt x="766" y="12555"/>
                    <a:pt x="828" y="12657"/>
                  </a:cubicBezTo>
                  <a:cubicBezTo>
                    <a:pt x="890" y="12759"/>
                    <a:pt x="983" y="12899"/>
                    <a:pt x="1047" y="12981"/>
                  </a:cubicBezTo>
                  <a:cubicBezTo>
                    <a:pt x="1111" y="13062"/>
                    <a:pt x="1169" y="13162"/>
                    <a:pt x="1169" y="13196"/>
                  </a:cubicBezTo>
                  <a:cubicBezTo>
                    <a:pt x="1169" y="13230"/>
                    <a:pt x="1192" y="13277"/>
                    <a:pt x="1218" y="13277"/>
                  </a:cubicBezTo>
                  <a:cubicBezTo>
                    <a:pt x="1243" y="13277"/>
                    <a:pt x="1275" y="13312"/>
                    <a:pt x="1291" y="13358"/>
                  </a:cubicBezTo>
                  <a:cubicBezTo>
                    <a:pt x="1325" y="13458"/>
                    <a:pt x="1415" y="13574"/>
                    <a:pt x="1583" y="13763"/>
                  </a:cubicBezTo>
                  <a:cubicBezTo>
                    <a:pt x="1650" y="13839"/>
                    <a:pt x="1705" y="13924"/>
                    <a:pt x="1705" y="13952"/>
                  </a:cubicBezTo>
                  <a:cubicBezTo>
                    <a:pt x="1705" y="13980"/>
                    <a:pt x="1735" y="14036"/>
                    <a:pt x="1778" y="14087"/>
                  </a:cubicBezTo>
                  <a:cubicBezTo>
                    <a:pt x="1821" y="14138"/>
                    <a:pt x="1947" y="14309"/>
                    <a:pt x="2046" y="14438"/>
                  </a:cubicBezTo>
                  <a:cubicBezTo>
                    <a:pt x="2144" y="14566"/>
                    <a:pt x="2246" y="14710"/>
                    <a:pt x="2289" y="14762"/>
                  </a:cubicBezTo>
                  <a:cubicBezTo>
                    <a:pt x="2332" y="14813"/>
                    <a:pt x="2362" y="14869"/>
                    <a:pt x="2362" y="14897"/>
                  </a:cubicBezTo>
                  <a:cubicBezTo>
                    <a:pt x="2362" y="14924"/>
                    <a:pt x="2392" y="14950"/>
                    <a:pt x="2411" y="14951"/>
                  </a:cubicBezTo>
                  <a:cubicBezTo>
                    <a:pt x="2429" y="14951"/>
                    <a:pt x="2483" y="15045"/>
                    <a:pt x="2557" y="15166"/>
                  </a:cubicBezTo>
                  <a:cubicBezTo>
                    <a:pt x="2631" y="15288"/>
                    <a:pt x="2709" y="15382"/>
                    <a:pt x="2727" y="15382"/>
                  </a:cubicBezTo>
                  <a:cubicBezTo>
                    <a:pt x="2746" y="15382"/>
                    <a:pt x="2776" y="15422"/>
                    <a:pt x="2776" y="15463"/>
                  </a:cubicBezTo>
                  <a:cubicBezTo>
                    <a:pt x="2776" y="15505"/>
                    <a:pt x="2788" y="15556"/>
                    <a:pt x="2825" y="15571"/>
                  </a:cubicBezTo>
                  <a:cubicBezTo>
                    <a:pt x="2862" y="15587"/>
                    <a:pt x="2898" y="15626"/>
                    <a:pt x="2898" y="15652"/>
                  </a:cubicBezTo>
                  <a:cubicBezTo>
                    <a:pt x="2898" y="15678"/>
                    <a:pt x="2940" y="15726"/>
                    <a:pt x="2971" y="15760"/>
                  </a:cubicBezTo>
                  <a:cubicBezTo>
                    <a:pt x="3002" y="15795"/>
                    <a:pt x="3044" y="15874"/>
                    <a:pt x="3093" y="15949"/>
                  </a:cubicBezTo>
                  <a:cubicBezTo>
                    <a:pt x="3142" y="16025"/>
                    <a:pt x="3208" y="16129"/>
                    <a:pt x="3239" y="16165"/>
                  </a:cubicBezTo>
                  <a:cubicBezTo>
                    <a:pt x="3269" y="16201"/>
                    <a:pt x="3312" y="16244"/>
                    <a:pt x="3312" y="16273"/>
                  </a:cubicBezTo>
                  <a:cubicBezTo>
                    <a:pt x="3312" y="16302"/>
                    <a:pt x="3336" y="16327"/>
                    <a:pt x="3361" y="16327"/>
                  </a:cubicBezTo>
                  <a:cubicBezTo>
                    <a:pt x="3385" y="16327"/>
                    <a:pt x="3385" y="16356"/>
                    <a:pt x="3385" y="16381"/>
                  </a:cubicBezTo>
                  <a:cubicBezTo>
                    <a:pt x="3385" y="16406"/>
                    <a:pt x="3482" y="16514"/>
                    <a:pt x="3580" y="16624"/>
                  </a:cubicBezTo>
                  <a:cubicBezTo>
                    <a:pt x="3678" y="16734"/>
                    <a:pt x="3750" y="16844"/>
                    <a:pt x="3750" y="16867"/>
                  </a:cubicBezTo>
                  <a:cubicBezTo>
                    <a:pt x="3750" y="16889"/>
                    <a:pt x="3798" y="16935"/>
                    <a:pt x="3848" y="16975"/>
                  </a:cubicBezTo>
                  <a:cubicBezTo>
                    <a:pt x="3897" y="17014"/>
                    <a:pt x="3921" y="17064"/>
                    <a:pt x="3921" y="17083"/>
                  </a:cubicBezTo>
                  <a:cubicBezTo>
                    <a:pt x="3921" y="17101"/>
                    <a:pt x="4017" y="17209"/>
                    <a:pt x="4115" y="17325"/>
                  </a:cubicBezTo>
                  <a:cubicBezTo>
                    <a:pt x="4214" y="17442"/>
                    <a:pt x="4286" y="17564"/>
                    <a:pt x="4286" y="17595"/>
                  </a:cubicBezTo>
                  <a:cubicBezTo>
                    <a:pt x="4286" y="17626"/>
                    <a:pt x="4334" y="17681"/>
                    <a:pt x="4383" y="17730"/>
                  </a:cubicBezTo>
                  <a:cubicBezTo>
                    <a:pt x="4432" y="17779"/>
                    <a:pt x="4456" y="17844"/>
                    <a:pt x="4456" y="17865"/>
                  </a:cubicBezTo>
                  <a:cubicBezTo>
                    <a:pt x="4456" y="17887"/>
                    <a:pt x="4517" y="17981"/>
                    <a:pt x="4578" y="18054"/>
                  </a:cubicBezTo>
                  <a:cubicBezTo>
                    <a:pt x="4639" y="18127"/>
                    <a:pt x="4700" y="18213"/>
                    <a:pt x="4700" y="18243"/>
                  </a:cubicBezTo>
                  <a:cubicBezTo>
                    <a:pt x="4700" y="18273"/>
                    <a:pt x="4742" y="18337"/>
                    <a:pt x="4797" y="18405"/>
                  </a:cubicBezTo>
                  <a:cubicBezTo>
                    <a:pt x="4853" y="18473"/>
                    <a:pt x="4931" y="18594"/>
                    <a:pt x="4968" y="18675"/>
                  </a:cubicBezTo>
                  <a:cubicBezTo>
                    <a:pt x="5005" y="18756"/>
                    <a:pt x="5053" y="18875"/>
                    <a:pt x="5090" y="18918"/>
                  </a:cubicBezTo>
                  <a:cubicBezTo>
                    <a:pt x="5126" y="18960"/>
                    <a:pt x="5187" y="19057"/>
                    <a:pt x="5236" y="19134"/>
                  </a:cubicBezTo>
                  <a:cubicBezTo>
                    <a:pt x="5285" y="19210"/>
                    <a:pt x="5351" y="19287"/>
                    <a:pt x="5382" y="19322"/>
                  </a:cubicBezTo>
                  <a:cubicBezTo>
                    <a:pt x="5412" y="19358"/>
                    <a:pt x="5455" y="19428"/>
                    <a:pt x="5455" y="19457"/>
                  </a:cubicBezTo>
                  <a:cubicBezTo>
                    <a:pt x="5455" y="19486"/>
                    <a:pt x="5479" y="19484"/>
                    <a:pt x="5503" y="19484"/>
                  </a:cubicBezTo>
                  <a:cubicBezTo>
                    <a:pt x="5528" y="19484"/>
                    <a:pt x="5528" y="19510"/>
                    <a:pt x="5528" y="19538"/>
                  </a:cubicBezTo>
                  <a:cubicBezTo>
                    <a:pt x="5528" y="19566"/>
                    <a:pt x="5612" y="19671"/>
                    <a:pt x="5698" y="19754"/>
                  </a:cubicBezTo>
                  <a:cubicBezTo>
                    <a:pt x="5784" y="19838"/>
                    <a:pt x="5844" y="19932"/>
                    <a:pt x="5844" y="19970"/>
                  </a:cubicBezTo>
                  <a:cubicBezTo>
                    <a:pt x="5844" y="20008"/>
                    <a:pt x="5881" y="20051"/>
                    <a:pt x="5917" y="20051"/>
                  </a:cubicBezTo>
                  <a:cubicBezTo>
                    <a:pt x="5954" y="20051"/>
                    <a:pt x="5991" y="20051"/>
                    <a:pt x="5991" y="20078"/>
                  </a:cubicBezTo>
                  <a:cubicBezTo>
                    <a:pt x="5991" y="20121"/>
                    <a:pt x="6417" y="20645"/>
                    <a:pt x="6453" y="20645"/>
                  </a:cubicBezTo>
                  <a:cubicBezTo>
                    <a:pt x="6460" y="20645"/>
                    <a:pt x="6541" y="20694"/>
                    <a:pt x="6624" y="20780"/>
                  </a:cubicBezTo>
                  <a:cubicBezTo>
                    <a:pt x="6836" y="21000"/>
                    <a:pt x="7322" y="21351"/>
                    <a:pt x="7500" y="21400"/>
                  </a:cubicBezTo>
                  <a:cubicBezTo>
                    <a:pt x="7568" y="21419"/>
                    <a:pt x="7721" y="21472"/>
                    <a:pt x="7963" y="21562"/>
                  </a:cubicBezTo>
                  <a:cubicBezTo>
                    <a:pt x="8037" y="21590"/>
                    <a:pt x="8157" y="21600"/>
                    <a:pt x="8231" y="21589"/>
                  </a:cubicBezTo>
                  <a:cubicBezTo>
                    <a:pt x="8622" y="21533"/>
                    <a:pt x="8849" y="21486"/>
                    <a:pt x="8913" y="21427"/>
                  </a:cubicBezTo>
                  <a:cubicBezTo>
                    <a:pt x="8952" y="21392"/>
                    <a:pt x="8961" y="21383"/>
                    <a:pt x="8961" y="21400"/>
                  </a:cubicBezTo>
                  <a:cubicBezTo>
                    <a:pt x="8961" y="21430"/>
                    <a:pt x="9277" y="21215"/>
                    <a:pt x="9400" y="21104"/>
                  </a:cubicBezTo>
                  <a:cubicBezTo>
                    <a:pt x="9430" y="21076"/>
                    <a:pt x="9550" y="20980"/>
                    <a:pt x="9668" y="20888"/>
                  </a:cubicBezTo>
                  <a:cubicBezTo>
                    <a:pt x="9853" y="20742"/>
                    <a:pt x="10229" y="20330"/>
                    <a:pt x="10520" y="19916"/>
                  </a:cubicBezTo>
                  <a:cubicBezTo>
                    <a:pt x="10569" y="19846"/>
                    <a:pt x="10647" y="19723"/>
                    <a:pt x="10690" y="19673"/>
                  </a:cubicBezTo>
                  <a:cubicBezTo>
                    <a:pt x="10733" y="19624"/>
                    <a:pt x="10763" y="19578"/>
                    <a:pt x="10763" y="19565"/>
                  </a:cubicBezTo>
                  <a:cubicBezTo>
                    <a:pt x="10763" y="19553"/>
                    <a:pt x="10824" y="19472"/>
                    <a:pt x="10910" y="19376"/>
                  </a:cubicBezTo>
                  <a:cubicBezTo>
                    <a:pt x="10995" y="19281"/>
                    <a:pt x="11080" y="19189"/>
                    <a:pt x="11080" y="19161"/>
                  </a:cubicBezTo>
                  <a:cubicBezTo>
                    <a:pt x="11080" y="19132"/>
                    <a:pt x="11080" y="19107"/>
                    <a:pt x="11104" y="19107"/>
                  </a:cubicBezTo>
                  <a:cubicBezTo>
                    <a:pt x="11129" y="19107"/>
                    <a:pt x="11153" y="19065"/>
                    <a:pt x="11153" y="19026"/>
                  </a:cubicBezTo>
                  <a:cubicBezTo>
                    <a:pt x="11153" y="18986"/>
                    <a:pt x="11193" y="18939"/>
                    <a:pt x="11226" y="18918"/>
                  </a:cubicBezTo>
                  <a:cubicBezTo>
                    <a:pt x="11259" y="18896"/>
                    <a:pt x="11328" y="18790"/>
                    <a:pt x="11397" y="18675"/>
                  </a:cubicBezTo>
                  <a:cubicBezTo>
                    <a:pt x="11465" y="18559"/>
                    <a:pt x="11546" y="18459"/>
                    <a:pt x="11567" y="18459"/>
                  </a:cubicBezTo>
                  <a:cubicBezTo>
                    <a:pt x="11588" y="18459"/>
                    <a:pt x="11616" y="18419"/>
                    <a:pt x="11616" y="18378"/>
                  </a:cubicBezTo>
                  <a:cubicBezTo>
                    <a:pt x="11616" y="18337"/>
                    <a:pt x="11616" y="18297"/>
                    <a:pt x="11640" y="18297"/>
                  </a:cubicBezTo>
                  <a:cubicBezTo>
                    <a:pt x="11665" y="18297"/>
                    <a:pt x="11689" y="18278"/>
                    <a:pt x="11689" y="18243"/>
                  </a:cubicBezTo>
                  <a:cubicBezTo>
                    <a:pt x="11689" y="18208"/>
                    <a:pt x="11719" y="18151"/>
                    <a:pt x="11762" y="18108"/>
                  </a:cubicBezTo>
                  <a:cubicBezTo>
                    <a:pt x="11857" y="18013"/>
                    <a:pt x="12005" y="17817"/>
                    <a:pt x="12005" y="17784"/>
                  </a:cubicBezTo>
                  <a:cubicBezTo>
                    <a:pt x="12005" y="17771"/>
                    <a:pt x="12036" y="17725"/>
                    <a:pt x="12078" y="17676"/>
                  </a:cubicBezTo>
                  <a:cubicBezTo>
                    <a:pt x="12121" y="17627"/>
                    <a:pt x="12248" y="17485"/>
                    <a:pt x="12346" y="17352"/>
                  </a:cubicBezTo>
                  <a:cubicBezTo>
                    <a:pt x="12445" y="17220"/>
                    <a:pt x="12547" y="17078"/>
                    <a:pt x="12590" y="17029"/>
                  </a:cubicBezTo>
                  <a:cubicBezTo>
                    <a:pt x="12633" y="16979"/>
                    <a:pt x="12687" y="16914"/>
                    <a:pt x="12687" y="16894"/>
                  </a:cubicBezTo>
                  <a:cubicBezTo>
                    <a:pt x="12687" y="16873"/>
                    <a:pt x="12722" y="16786"/>
                    <a:pt x="12785" y="16705"/>
                  </a:cubicBezTo>
                  <a:cubicBezTo>
                    <a:pt x="12982" y="16447"/>
                    <a:pt x="13287" y="16071"/>
                    <a:pt x="13345" y="16003"/>
                  </a:cubicBezTo>
                  <a:cubicBezTo>
                    <a:pt x="13375" y="15967"/>
                    <a:pt x="13393" y="15925"/>
                    <a:pt x="13393" y="15895"/>
                  </a:cubicBezTo>
                  <a:cubicBezTo>
                    <a:pt x="13393" y="15865"/>
                    <a:pt x="13430" y="15830"/>
                    <a:pt x="13467" y="15814"/>
                  </a:cubicBezTo>
                  <a:cubicBezTo>
                    <a:pt x="13503" y="15799"/>
                    <a:pt x="13515" y="15738"/>
                    <a:pt x="13515" y="15706"/>
                  </a:cubicBezTo>
                  <a:cubicBezTo>
                    <a:pt x="13515" y="15674"/>
                    <a:pt x="13569" y="15602"/>
                    <a:pt x="13637" y="15517"/>
                  </a:cubicBezTo>
                  <a:cubicBezTo>
                    <a:pt x="13850" y="15251"/>
                    <a:pt x="13929" y="15134"/>
                    <a:pt x="13929" y="15086"/>
                  </a:cubicBezTo>
                  <a:cubicBezTo>
                    <a:pt x="13929" y="15060"/>
                    <a:pt x="13978" y="15034"/>
                    <a:pt x="14027" y="15005"/>
                  </a:cubicBezTo>
                  <a:cubicBezTo>
                    <a:pt x="14075" y="14976"/>
                    <a:pt x="14109" y="14883"/>
                    <a:pt x="14124" y="14816"/>
                  </a:cubicBezTo>
                  <a:cubicBezTo>
                    <a:pt x="14139" y="14748"/>
                    <a:pt x="14178" y="14708"/>
                    <a:pt x="14197" y="14708"/>
                  </a:cubicBezTo>
                  <a:cubicBezTo>
                    <a:pt x="14216" y="14708"/>
                    <a:pt x="14277" y="14603"/>
                    <a:pt x="14343" y="14492"/>
                  </a:cubicBezTo>
                  <a:cubicBezTo>
                    <a:pt x="14410" y="14381"/>
                    <a:pt x="14527" y="14232"/>
                    <a:pt x="14611" y="14141"/>
                  </a:cubicBezTo>
                  <a:cubicBezTo>
                    <a:pt x="14695" y="14050"/>
                    <a:pt x="14782" y="13952"/>
                    <a:pt x="14782" y="13925"/>
                  </a:cubicBezTo>
                  <a:cubicBezTo>
                    <a:pt x="14782" y="13899"/>
                    <a:pt x="14793" y="13860"/>
                    <a:pt x="14830" y="13844"/>
                  </a:cubicBezTo>
                  <a:cubicBezTo>
                    <a:pt x="14867" y="13828"/>
                    <a:pt x="14903" y="13778"/>
                    <a:pt x="14903" y="13736"/>
                  </a:cubicBezTo>
                  <a:cubicBezTo>
                    <a:pt x="14903" y="13695"/>
                    <a:pt x="14934" y="13655"/>
                    <a:pt x="14952" y="13655"/>
                  </a:cubicBezTo>
                  <a:cubicBezTo>
                    <a:pt x="14970" y="13655"/>
                    <a:pt x="15024" y="13561"/>
                    <a:pt x="15098" y="13439"/>
                  </a:cubicBezTo>
                  <a:cubicBezTo>
                    <a:pt x="15172" y="13318"/>
                    <a:pt x="15250" y="13224"/>
                    <a:pt x="15269" y="13223"/>
                  </a:cubicBezTo>
                  <a:cubicBezTo>
                    <a:pt x="15287" y="13223"/>
                    <a:pt x="15317" y="13180"/>
                    <a:pt x="15317" y="13142"/>
                  </a:cubicBezTo>
                  <a:cubicBezTo>
                    <a:pt x="15317" y="13105"/>
                    <a:pt x="15329" y="13077"/>
                    <a:pt x="15366" y="13062"/>
                  </a:cubicBezTo>
                  <a:cubicBezTo>
                    <a:pt x="15403" y="13046"/>
                    <a:pt x="15439" y="12995"/>
                    <a:pt x="15439" y="12954"/>
                  </a:cubicBezTo>
                  <a:cubicBezTo>
                    <a:pt x="15439" y="12912"/>
                    <a:pt x="15463" y="12873"/>
                    <a:pt x="15488" y="12873"/>
                  </a:cubicBezTo>
                  <a:cubicBezTo>
                    <a:pt x="15512" y="12873"/>
                    <a:pt x="15536" y="12846"/>
                    <a:pt x="15536" y="12819"/>
                  </a:cubicBezTo>
                  <a:cubicBezTo>
                    <a:pt x="15536" y="12791"/>
                    <a:pt x="15567" y="12733"/>
                    <a:pt x="15609" y="12684"/>
                  </a:cubicBezTo>
                  <a:cubicBezTo>
                    <a:pt x="15652" y="12634"/>
                    <a:pt x="15755" y="12494"/>
                    <a:pt x="15829" y="12387"/>
                  </a:cubicBezTo>
                  <a:cubicBezTo>
                    <a:pt x="15902" y="12280"/>
                    <a:pt x="16023" y="12123"/>
                    <a:pt x="16097" y="12036"/>
                  </a:cubicBezTo>
                  <a:cubicBezTo>
                    <a:pt x="16311" y="11784"/>
                    <a:pt x="16389" y="11685"/>
                    <a:pt x="16389" y="11631"/>
                  </a:cubicBezTo>
                  <a:cubicBezTo>
                    <a:pt x="16389" y="11603"/>
                    <a:pt x="16401" y="11566"/>
                    <a:pt x="16437" y="11550"/>
                  </a:cubicBezTo>
                  <a:cubicBezTo>
                    <a:pt x="16474" y="11535"/>
                    <a:pt x="16510" y="11500"/>
                    <a:pt x="16510" y="11469"/>
                  </a:cubicBezTo>
                  <a:cubicBezTo>
                    <a:pt x="16511" y="11438"/>
                    <a:pt x="16568" y="11335"/>
                    <a:pt x="16632" y="11253"/>
                  </a:cubicBezTo>
                  <a:cubicBezTo>
                    <a:pt x="16697" y="11172"/>
                    <a:pt x="16790" y="11032"/>
                    <a:pt x="16851" y="10930"/>
                  </a:cubicBezTo>
                  <a:cubicBezTo>
                    <a:pt x="16913" y="10828"/>
                    <a:pt x="17001" y="10741"/>
                    <a:pt x="17022" y="10741"/>
                  </a:cubicBezTo>
                  <a:cubicBezTo>
                    <a:pt x="17043" y="10741"/>
                    <a:pt x="17046" y="10710"/>
                    <a:pt x="17046" y="10687"/>
                  </a:cubicBezTo>
                  <a:cubicBezTo>
                    <a:pt x="17046" y="10663"/>
                    <a:pt x="17110" y="10570"/>
                    <a:pt x="17192" y="10471"/>
                  </a:cubicBezTo>
                  <a:cubicBezTo>
                    <a:pt x="17274" y="10371"/>
                    <a:pt x="17377" y="10248"/>
                    <a:pt x="17411" y="10174"/>
                  </a:cubicBezTo>
                  <a:cubicBezTo>
                    <a:pt x="17476" y="10034"/>
                    <a:pt x="17568" y="9881"/>
                    <a:pt x="17777" y="9634"/>
                  </a:cubicBezTo>
                  <a:cubicBezTo>
                    <a:pt x="17844" y="9554"/>
                    <a:pt x="17899" y="9470"/>
                    <a:pt x="17899" y="9445"/>
                  </a:cubicBezTo>
                  <a:cubicBezTo>
                    <a:pt x="17899" y="9420"/>
                    <a:pt x="17923" y="9418"/>
                    <a:pt x="17947" y="9418"/>
                  </a:cubicBezTo>
                  <a:cubicBezTo>
                    <a:pt x="17972" y="9418"/>
                    <a:pt x="17996" y="9379"/>
                    <a:pt x="17996" y="9337"/>
                  </a:cubicBezTo>
                  <a:cubicBezTo>
                    <a:pt x="17996" y="9296"/>
                    <a:pt x="18008" y="9245"/>
                    <a:pt x="18045" y="9229"/>
                  </a:cubicBezTo>
                  <a:cubicBezTo>
                    <a:pt x="18081" y="9214"/>
                    <a:pt x="18118" y="9180"/>
                    <a:pt x="18118" y="9148"/>
                  </a:cubicBezTo>
                  <a:cubicBezTo>
                    <a:pt x="18118" y="9117"/>
                    <a:pt x="18166" y="9053"/>
                    <a:pt x="18215" y="9014"/>
                  </a:cubicBezTo>
                  <a:cubicBezTo>
                    <a:pt x="18264" y="8974"/>
                    <a:pt x="18313" y="8910"/>
                    <a:pt x="18313" y="8879"/>
                  </a:cubicBezTo>
                  <a:cubicBezTo>
                    <a:pt x="18313" y="8847"/>
                    <a:pt x="18324" y="8813"/>
                    <a:pt x="18361" y="8798"/>
                  </a:cubicBezTo>
                  <a:cubicBezTo>
                    <a:pt x="18398" y="8782"/>
                    <a:pt x="18434" y="8731"/>
                    <a:pt x="18434" y="8690"/>
                  </a:cubicBezTo>
                  <a:cubicBezTo>
                    <a:pt x="18434" y="8648"/>
                    <a:pt x="18458" y="8609"/>
                    <a:pt x="18483" y="8609"/>
                  </a:cubicBezTo>
                  <a:cubicBezTo>
                    <a:pt x="18508" y="8609"/>
                    <a:pt x="18532" y="8596"/>
                    <a:pt x="18532" y="8555"/>
                  </a:cubicBezTo>
                  <a:cubicBezTo>
                    <a:pt x="18532" y="8514"/>
                    <a:pt x="18535" y="8474"/>
                    <a:pt x="18556" y="8474"/>
                  </a:cubicBezTo>
                  <a:cubicBezTo>
                    <a:pt x="18577" y="8474"/>
                    <a:pt x="18658" y="8374"/>
                    <a:pt x="18726" y="8258"/>
                  </a:cubicBezTo>
                  <a:cubicBezTo>
                    <a:pt x="18795" y="8142"/>
                    <a:pt x="18888" y="8037"/>
                    <a:pt x="18921" y="8015"/>
                  </a:cubicBezTo>
                  <a:cubicBezTo>
                    <a:pt x="18954" y="7993"/>
                    <a:pt x="18970" y="7947"/>
                    <a:pt x="18970" y="7907"/>
                  </a:cubicBezTo>
                  <a:cubicBezTo>
                    <a:pt x="18970" y="7868"/>
                    <a:pt x="18994" y="7826"/>
                    <a:pt x="19019" y="7826"/>
                  </a:cubicBezTo>
                  <a:cubicBezTo>
                    <a:pt x="19043" y="7826"/>
                    <a:pt x="19067" y="7803"/>
                    <a:pt x="19067" y="7772"/>
                  </a:cubicBezTo>
                  <a:cubicBezTo>
                    <a:pt x="19067" y="7742"/>
                    <a:pt x="19164" y="7607"/>
                    <a:pt x="19287" y="7475"/>
                  </a:cubicBezTo>
                  <a:cubicBezTo>
                    <a:pt x="19409" y="7344"/>
                    <a:pt x="19506" y="7227"/>
                    <a:pt x="19506" y="7205"/>
                  </a:cubicBezTo>
                  <a:cubicBezTo>
                    <a:pt x="19506" y="7184"/>
                    <a:pt x="19563" y="7098"/>
                    <a:pt x="19628" y="7017"/>
                  </a:cubicBezTo>
                  <a:cubicBezTo>
                    <a:pt x="19692" y="6935"/>
                    <a:pt x="19785" y="6768"/>
                    <a:pt x="19847" y="6666"/>
                  </a:cubicBezTo>
                  <a:cubicBezTo>
                    <a:pt x="19908" y="6564"/>
                    <a:pt x="19971" y="6477"/>
                    <a:pt x="19993" y="6477"/>
                  </a:cubicBezTo>
                  <a:cubicBezTo>
                    <a:pt x="20014" y="6477"/>
                    <a:pt x="20041" y="6476"/>
                    <a:pt x="20041" y="6450"/>
                  </a:cubicBezTo>
                  <a:cubicBezTo>
                    <a:pt x="20041" y="6424"/>
                    <a:pt x="20102" y="6329"/>
                    <a:pt x="20188" y="6234"/>
                  </a:cubicBezTo>
                  <a:cubicBezTo>
                    <a:pt x="20274" y="6139"/>
                    <a:pt x="20358" y="6006"/>
                    <a:pt x="20358" y="5964"/>
                  </a:cubicBezTo>
                  <a:cubicBezTo>
                    <a:pt x="20358" y="5922"/>
                    <a:pt x="20382" y="5883"/>
                    <a:pt x="20407" y="5883"/>
                  </a:cubicBezTo>
                  <a:cubicBezTo>
                    <a:pt x="20431" y="5883"/>
                    <a:pt x="20431" y="5859"/>
                    <a:pt x="20431" y="5829"/>
                  </a:cubicBezTo>
                  <a:cubicBezTo>
                    <a:pt x="20431" y="5776"/>
                    <a:pt x="20517" y="5699"/>
                    <a:pt x="20772" y="5397"/>
                  </a:cubicBezTo>
                  <a:cubicBezTo>
                    <a:pt x="20840" y="5317"/>
                    <a:pt x="20894" y="5234"/>
                    <a:pt x="20894" y="5208"/>
                  </a:cubicBezTo>
                  <a:cubicBezTo>
                    <a:pt x="20894" y="5183"/>
                    <a:pt x="20918" y="5154"/>
                    <a:pt x="20942" y="5154"/>
                  </a:cubicBezTo>
                  <a:cubicBezTo>
                    <a:pt x="20967" y="5154"/>
                    <a:pt x="20967" y="5129"/>
                    <a:pt x="20967" y="5100"/>
                  </a:cubicBezTo>
                  <a:cubicBezTo>
                    <a:pt x="20967" y="5053"/>
                    <a:pt x="21002" y="5005"/>
                    <a:pt x="21137" y="4831"/>
                  </a:cubicBezTo>
                  <a:cubicBezTo>
                    <a:pt x="21221" y="4722"/>
                    <a:pt x="21430" y="4306"/>
                    <a:pt x="21430" y="4237"/>
                  </a:cubicBezTo>
                  <a:cubicBezTo>
                    <a:pt x="21430" y="4200"/>
                    <a:pt x="21454" y="4156"/>
                    <a:pt x="21478" y="4156"/>
                  </a:cubicBezTo>
                  <a:cubicBezTo>
                    <a:pt x="21503" y="4156"/>
                    <a:pt x="21503" y="4088"/>
                    <a:pt x="21503" y="3994"/>
                  </a:cubicBezTo>
                  <a:cubicBezTo>
                    <a:pt x="21503" y="3900"/>
                    <a:pt x="21527" y="3822"/>
                    <a:pt x="21551" y="3805"/>
                  </a:cubicBezTo>
                  <a:cubicBezTo>
                    <a:pt x="21576" y="3788"/>
                    <a:pt x="21600" y="3654"/>
                    <a:pt x="21600" y="3535"/>
                  </a:cubicBezTo>
                  <a:cubicBezTo>
                    <a:pt x="21600" y="3416"/>
                    <a:pt x="21576" y="3309"/>
                    <a:pt x="21551" y="3292"/>
                  </a:cubicBezTo>
                  <a:cubicBezTo>
                    <a:pt x="21527" y="3276"/>
                    <a:pt x="21503" y="3169"/>
                    <a:pt x="21503" y="3049"/>
                  </a:cubicBezTo>
                  <a:cubicBezTo>
                    <a:pt x="21503" y="2930"/>
                    <a:pt x="21503" y="2823"/>
                    <a:pt x="21478" y="2807"/>
                  </a:cubicBezTo>
                  <a:cubicBezTo>
                    <a:pt x="21454" y="2790"/>
                    <a:pt x="21430" y="2721"/>
                    <a:pt x="21430" y="2645"/>
                  </a:cubicBezTo>
                  <a:cubicBezTo>
                    <a:pt x="21430" y="2568"/>
                    <a:pt x="21393" y="2463"/>
                    <a:pt x="21356" y="2429"/>
                  </a:cubicBezTo>
                  <a:cubicBezTo>
                    <a:pt x="21320" y="2395"/>
                    <a:pt x="21283" y="2331"/>
                    <a:pt x="21283" y="2294"/>
                  </a:cubicBezTo>
                  <a:cubicBezTo>
                    <a:pt x="21283" y="2256"/>
                    <a:pt x="21259" y="2240"/>
                    <a:pt x="21235" y="2240"/>
                  </a:cubicBezTo>
                  <a:cubicBezTo>
                    <a:pt x="21210" y="2240"/>
                    <a:pt x="21210" y="2221"/>
                    <a:pt x="21210" y="2186"/>
                  </a:cubicBezTo>
                  <a:cubicBezTo>
                    <a:pt x="21210" y="2151"/>
                    <a:pt x="21132" y="2040"/>
                    <a:pt x="21040" y="1943"/>
                  </a:cubicBezTo>
                  <a:cubicBezTo>
                    <a:pt x="20948" y="1846"/>
                    <a:pt x="20758" y="1638"/>
                    <a:pt x="20626" y="1484"/>
                  </a:cubicBezTo>
                  <a:cubicBezTo>
                    <a:pt x="20494" y="1331"/>
                    <a:pt x="20325" y="1139"/>
                    <a:pt x="20236" y="1079"/>
                  </a:cubicBezTo>
                  <a:cubicBezTo>
                    <a:pt x="20147" y="1020"/>
                    <a:pt x="20054" y="961"/>
                    <a:pt x="20041" y="945"/>
                  </a:cubicBezTo>
                  <a:cubicBezTo>
                    <a:pt x="19974" y="852"/>
                    <a:pt x="19102" y="328"/>
                    <a:pt x="18970" y="297"/>
                  </a:cubicBezTo>
                  <a:cubicBezTo>
                    <a:pt x="18884" y="277"/>
                    <a:pt x="18800" y="237"/>
                    <a:pt x="18775" y="216"/>
                  </a:cubicBezTo>
                  <a:cubicBezTo>
                    <a:pt x="18674" y="131"/>
                    <a:pt x="18199" y="0"/>
                    <a:pt x="17947" y="0"/>
                  </a:cubicBezTo>
                  <a:close/>
                </a:path>
              </a:pathLst>
            </a:custGeom>
            <a:ln w="12700" cap="flat">
              <a:noFill/>
              <a:miter lim="400000"/>
            </a:ln>
            <a:effectLst/>
          </p:spPr>
        </p:pic>
        <p:sp>
          <p:nvSpPr>
            <p:cNvPr id="292" name="Rounded Rectangle"/>
            <p:cNvSpPr/>
            <p:nvPr/>
          </p:nvSpPr>
          <p:spPr>
            <a:xfrm>
              <a:off x="0" y="418215"/>
              <a:ext cx="1664627" cy="1540925"/>
            </a:xfrm>
            <a:prstGeom prst="roundRect">
              <a:avLst>
                <a:gd name="adj" fmla="val 14726"/>
              </a:avLst>
            </a:prstGeom>
            <a:solidFill>
              <a:srgbClr val="DDC6E1"/>
            </a:solidFill>
            <a:ln w="38100" cap="flat">
              <a:solidFill>
                <a:srgbClr val="000000"/>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Graphik-Light"/>
                  <a:ea typeface="Graphik-Light"/>
                  <a:cs typeface="Graphik-Light"/>
                  <a:sym typeface="Graphik Light"/>
                </a:defRPr>
              </a:pPr>
              <a:endParaRPr/>
            </a:p>
          </p:txBody>
        </p:sp>
        <p:sp>
          <p:nvSpPr>
            <p:cNvPr id="293" name="Rounded Rectangle"/>
            <p:cNvSpPr/>
            <p:nvPr/>
          </p:nvSpPr>
          <p:spPr>
            <a:xfrm>
              <a:off x="2350573" y="418215"/>
              <a:ext cx="1720006" cy="1581534"/>
            </a:xfrm>
            <a:prstGeom prst="roundRect">
              <a:avLst>
                <a:gd name="adj" fmla="val 14825"/>
              </a:avLst>
            </a:prstGeom>
            <a:solidFill>
              <a:srgbClr val="DDC6E1">
                <a:alpha val="50000"/>
              </a:srgbClr>
            </a:solidFill>
            <a:ln w="38100" cap="flat">
              <a:solidFill>
                <a:srgbClr val="000000"/>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Graphik-Light"/>
                  <a:ea typeface="Graphik-Light"/>
                  <a:cs typeface="Graphik-Light"/>
                  <a:sym typeface="Graphik Light"/>
                </a:defRPr>
              </a:pPr>
              <a:endParaRPr/>
            </a:p>
          </p:txBody>
        </p:sp>
        <p:sp>
          <p:nvSpPr>
            <p:cNvPr id="294" name="…"/>
            <p:cNvSpPr txBox="1"/>
            <p:nvPr/>
          </p:nvSpPr>
          <p:spPr>
            <a:xfrm>
              <a:off x="4897636" y="592491"/>
              <a:ext cx="494419" cy="70332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defTabSz="355600">
                <a:lnSpc>
                  <a:spcPct val="100000"/>
                </a:lnSpc>
                <a:spcBef>
                  <a:spcPts val="4700"/>
                </a:spcBef>
                <a:defRPr sz="4000">
                  <a:solidFill>
                    <a:srgbClr val="53585F"/>
                  </a:solidFill>
                  <a:latin typeface="Graphik-Medium"/>
                  <a:ea typeface="Graphik-Medium"/>
                  <a:cs typeface="Graphik-Medium"/>
                  <a:sym typeface="Graphik Medium"/>
                </a:defRPr>
              </a:lvl1pPr>
            </a:lstStyle>
            <a:p>
              <a:r>
                <a:t>…</a:t>
              </a:r>
            </a:p>
          </p:txBody>
        </p:sp>
        <p:sp>
          <p:nvSpPr>
            <p:cNvPr id="295" name="Rounded Rectangle"/>
            <p:cNvSpPr/>
            <p:nvPr/>
          </p:nvSpPr>
          <p:spPr>
            <a:xfrm>
              <a:off x="6259368" y="418215"/>
              <a:ext cx="1720006" cy="1540925"/>
            </a:xfrm>
            <a:prstGeom prst="roundRect">
              <a:avLst>
                <a:gd name="adj" fmla="val 15216"/>
              </a:avLst>
            </a:prstGeom>
            <a:solidFill>
              <a:srgbClr val="DDC6E1">
                <a:alpha val="10000"/>
              </a:srgbClr>
            </a:solidFill>
            <a:ln w="38100" cap="flat">
              <a:solidFill>
                <a:srgbClr val="000000"/>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Graphik-Light"/>
                  <a:ea typeface="Graphik-Light"/>
                  <a:cs typeface="Graphik-Light"/>
                  <a:sym typeface="Graphik Light"/>
                </a:defRPr>
              </a:pPr>
              <a:endParaRPr/>
            </a:p>
          </p:txBody>
        </p:sp>
        <p:pic>
          <p:nvPicPr>
            <p:cNvPr id="296" name="9d6ed4e6-f024-4b82-a319-6c75fd0f3174.png" descr="9d6ed4e6-f024-4b82-a319-6c75fd0f3174.png"/>
            <p:cNvPicPr>
              <a:picLocks noChangeAspect="1"/>
            </p:cNvPicPr>
            <p:nvPr/>
          </p:nvPicPr>
          <p:blipFill>
            <a:blip r:embed="rId7"/>
            <a:srcRect l="17864" t="12377" r="18861" b="20838"/>
            <a:stretch>
              <a:fillRect/>
            </a:stretch>
          </p:blipFill>
          <p:spPr>
            <a:xfrm>
              <a:off x="1522880" y="430762"/>
              <a:ext cx="807135" cy="567948"/>
            </a:xfrm>
            <a:custGeom>
              <a:avLst/>
              <a:gdLst/>
              <a:ahLst/>
              <a:cxnLst>
                <a:cxn ang="0">
                  <a:pos x="wd2" y="hd2"/>
                </a:cxn>
                <a:cxn ang="5400000">
                  <a:pos x="wd2" y="hd2"/>
                </a:cxn>
                <a:cxn ang="10800000">
                  <a:pos x="wd2" y="hd2"/>
                </a:cxn>
                <a:cxn ang="16200000">
                  <a:pos x="wd2" y="hd2"/>
                </a:cxn>
              </a:cxnLst>
              <a:rect l="0" t="0" r="r" b="b"/>
              <a:pathLst>
                <a:path w="21569" h="21590" extrusionOk="0">
                  <a:moveTo>
                    <a:pt x="7608" y="0"/>
                  </a:moveTo>
                  <a:cubicBezTo>
                    <a:pt x="7139" y="0"/>
                    <a:pt x="6747" y="11"/>
                    <a:pt x="6739" y="30"/>
                  </a:cubicBezTo>
                  <a:cubicBezTo>
                    <a:pt x="6730" y="49"/>
                    <a:pt x="6639" y="76"/>
                    <a:pt x="6537" y="91"/>
                  </a:cubicBezTo>
                  <a:cubicBezTo>
                    <a:pt x="6398" y="111"/>
                    <a:pt x="6326" y="146"/>
                    <a:pt x="6251" y="226"/>
                  </a:cubicBezTo>
                  <a:cubicBezTo>
                    <a:pt x="6121" y="365"/>
                    <a:pt x="5997" y="555"/>
                    <a:pt x="5996" y="619"/>
                  </a:cubicBezTo>
                  <a:cubicBezTo>
                    <a:pt x="5996" y="646"/>
                    <a:pt x="5980" y="711"/>
                    <a:pt x="5964" y="754"/>
                  </a:cubicBezTo>
                  <a:cubicBezTo>
                    <a:pt x="5949" y="798"/>
                    <a:pt x="5927" y="862"/>
                    <a:pt x="5911" y="905"/>
                  </a:cubicBezTo>
                  <a:cubicBezTo>
                    <a:pt x="5896" y="948"/>
                    <a:pt x="5890" y="1063"/>
                    <a:pt x="5890" y="1147"/>
                  </a:cubicBezTo>
                  <a:cubicBezTo>
                    <a:pt x="5890" y="1230"/>
                    <a:pt x="5870" y="1331"/>
                    <a:pt x="5848" y="1373"/>
                  </a:cubicBezTo>
                  <a:cubicBezTo>
                    <a:pt x="5820" y="1426"/>
                    <a:pt x="5806" y="1543"/>
                    <a:pt x="5805" y="1765"/>
                  </a:cubicBezTo>
                  <a:cubicBezTo>
                    <a:pt x="5805" y="1944"/>
                    <a:pt x="5789" y="2099"/>
                    <a:pt x="5773" y="2112"/>
                  </a:cubicBezTo>
                  <a:cubicBezTo>
                    <a:pt x="5758" y="2126"/>
                    <a:pt x="5742" y="2187"/>
                    <a:pt x="5742" y="2233"/>
                  </a:cubicBezTo>
                  <a:cubicBezTo>
                    <a:pt x="5742" y="2347"/>
                    <a:pt x="5672" y="2459"/>
                    <a:pt x="5593" y="2459"/>
                  </a:cubicBezTo>
                  <a:cubicBezTo>
                    <a:pt x="5557" y="2459"/>
                    <a:pt x="5481" y="2491"/>
                    <a:pt x="5423" y="2535"/>
                  </a:cubicBezTo>
                  <a:cubicBezTo>
                    <a:pt x="5366" y="2578"/>
                    <a:pt x="5295" y="2610"/>
                    <a:pt x="5275" y="2610"/>
                  </a:cubicBezTo>
                  <a:cubicBezTo>
                    <a:pt x="5255" y="2610"/>
                    <a:pt x="5191" y="2646"/>
                    <a:pt x="5126" y="2685"/>
                  </a:cubicBezTo>
                  <a:cubicBezTo>
                    <a:pt x="5062" y="2725"/>
                    <a:pt x="4958" y="2797"/>
                    <a:pt x="4893" y="2836"/>
                  </a:cubicBezTo>
                  <a:lnTo>
                    <a:pt x="4776" y="2897"/>
                  </a:lnTo>
                  <a:lnTo>
                    <a:pt x="4670" y="2806"/>
                  </a:lnTo>
                  <a:cubicBezTo>
                    <a:pt x="4613" y="2750"/>
                    <a:pt x="4531" y="2661"/>
                    <a:pt x="4490" y="2610"/>
                  </a:cubicBezTo>
                  <a:cubicBezTo>
                    <a:pt x="4449" y="2559"/>
                    <a:pt x="4388" y="2486"/>
                    <a:pt x="4352" y="2444"/>
                  </a:cubicBezTo>
                  <a:cubicBezTo>
                    <a:pt x="4316" y="2402"/>
                    <a:pt x="4215" y="2278"/>
                    <a:pt x="4130" y="2172"/>
                  </a:cubicBezTo>
                  <a:cubicBezTo>
                    <a:pt x="4044" y="2067"/>
                    <a:pt x="3961" y="1976"/>
                    <a:pt x="3949" y="1976"/>
                  </a:cubicBezTo>
                  <a:cubicBezTo>
                    <a:pt x="3937" y="1976"/>
                    <a:pt x="3891" y="1935"/>
                    <a:pt x="3843" y="1886"/>
                  </a:cubicBezTo>
                  <a:cubicBezTo>
                    <a:pt x="3763" y="1805"/>
                    <a:pt x="3719" y="1795"/>
                    <a:pt x="3408" y="1795"/>
                  </a:cubicBezTo>
                  <a:cubicBezTo>
                    <a:pt x="3188" y="1795"/>
                    <a:pt x="3061" y="1812"/>
                    <a:pt x="3048" y="1841"/>
                  </a:cubicBezTo>
                  <a:cubicBezTo>
                    <a:pt x="3037" y="1865"/>
                    <a:pt x="2998" y="1912"/>
                    <a:pt x="2952" y="1946"/>
                  </a:cubicBezTo>
                  <a:cubicBezTo>
                    <a:pt x="2906" y="1980"/>
                    <a:pt x="2810" y="2079"/>
                    <a:pt x="2751" y="2157"/>
                  </a:cubicBezTo>
                  <a:cubicBezTo>
                    <a:pt x="2691" y="2235"/>
                    <a:pt x="2639" y="2293"/>
                    <a:pt x="2634" y="2293"/>
                  </a:cubicBezTo>
                  <a:cubicBezTo>
                    <a:pt x="2614" y="2293"/>
                    <a:pt x="1548" y="3838"/>
                    <a:pt x="1478" y="3968"/>
                  </a:cubicBezTo>
                  <a:cubicBezTo>
                    <a:pt x="1436" y="4046"/>
                    <a:pt x="1404" y="4146"/>
                    <a:pt x="1404" y="4179"/>
                  </a:cubicBezTo>
                  <a:cubicBezTo>
                    <a:pt x="1404" y="4212"/>
                    <a:pt x="1387" y="4241"/>
                    <a:pt x="1372" y="4254"/>
                  </a:cubicBezTo>
                  <a:cubicBezTo>
                    <a:pt x="1357" y="4268"/>
                    <a:pt x="1351" y="4434"/>
                    <a:pt x="1351" y="4617"/>
                  </a:cubicBezTo>
                  <a:cubicBezTo>
                    <a:pt x="1351" y="4799"/>
                    <a:pt x="1357" y="4965"/>
                    <a:pt x="1372" y="4979"/>
                  </a:cubicBezTo>
                  <a:cubicBezTo>
                    <a:pt x="1387" y="4992"/>
                    <a:pt x="1404" y="5022"/>
                    <a:pt x="1404" y="5054"/>
                  </a:cubicBezTo>
                  <a:cubicBezTo>
                    <a:pt x="1404" y="5114"/>
                    <a:pt x="1617" y="5558"/>
                    <a:pt x="1658" y="5582"/>
                  </a:cubicBezTo>
                  <a:cubicBezTo>
                    <a:pt x="1671" y="5589"/>
                    <a:pt x="1680" y="5612"/>
                    <a:pt x="1680" y="5642"/>
                  </a:cubicBezTo>
                  <a:cubicBezTo>
                    <a:pt x="1680" y="5673"/>
                    <a:pt x="1696" y="5703"/>
                    <a:pt x="1711" y="5703"/>
                  </a:cubicBezTo>
                  <a:cubicBezTo>
                    <a:pt x="1727" y="5703"/>
                    <a:pt x="1733" y="5731"/>
                    <a:pt x="1733" y="5763"/>
                  </a:cubicBezTo>
                  <a:cubicBezTo>
                    <a:pt x="1733" y="5795"/>
                    <a:pt x="1756" y="5836"/>
                    <a:pt x="1775" y="5854"/>
                  </a:cubicBezTo>
                  <a:cubicBezTo>
                    <a:pt x="1794" y="5871"/>
                    <a:pt x="1846" y="5947"/>
                    <a:pt x="1892" y="6035"/>
                  </a:cubicBezTo>
                  <a:cubicBezTo>
                    <a:pt x="1937" y="6122"/>
                    <a:pt x="1975" y="6208"/>
                    <a:pt x="1987" y="6216"/>
                  </a:cubicBezTo>
                  <a:cubicBezTo>
                    <a:pt x="1999" y="6223"/>
                    <a:pt x="2019" y="6247"/>
                    <a:pt x="2019" y="6276"/>
                  </a:cubicBezTo>
                  <a:cubicBezTo>
                    <a:pt x="2019" y="6305"/>
                    <a:pt x="2032" y="6343"/>
                    <a:pt x="2051" y="6351"/>
                  </a:cubicBezTo>
                  <a:cubicBezTo>
                    <a:pt x="2072" y="6361"/>
                    <a:pt x="2086" y="6425"/>
                    <a:pt x="2083" y="6533"/>
                  </a:cubicBezTo>
                  <a:cubicBezTo>
                    <a:pt x="2078" y="6689"/>
                    <a:pt x="2038" y="6825"/>
                    <a:pt x="1913" y="7181"/>
                  </a:cubicBezTo>
                  <a:cubicBezTo>
                    <a:pt x="1891" y="7243"/>
                    <a:pt x="1870" y="7316"/>
                    <a:pt x="1870" y="7347"/>
                  </a:cubicBezTo>
                  <a:cubicBezTo>
                    <a:pt x="1870" y="7378"/>
                    <a:pt x="1865" y="7408"/>
                    <a:pt x="1849" y="7408"/>
                  </a:cubicBezTo>
                  <a:cubicBezTo>
                    <a:pt x="1834" y="7408"/>
                    <a:pt x="1817" y="7464"/>
                    <a:pt x="1817" y="7528"/>
                  </a:cubicBezTo>
                  <a:cubicBezTo>
                    <a:pt x="1817" y="7592"/>
                    <a:pt x="1798" y="7661"/>
                    <a:pt x="1775" y="7694"/>
                  </a:cubicBezTo>
                  <a:cubicBezTo>
                    <a:pt x="1752" y="7727"/>
                    <a:pt x="1733" y="7773"/>
                    <a:pt x="1733" y="7800"/>
                  </a:cubicBezTo>
                  <a:cubicBezTo>
                    <a:pt x="1733" y="7858"/>
                    <a:pt x="1609" y="8037"/>
                    <a:pt x="1563" y="8041"/>
                  </a:cubicBezTo>
                  <a:cubicBezTo>
                    <a:pt x="1427" y="8054"/>
                    <a:pt x="1270" y="8090"/>
                    <a:pt x="1234" y="8117"/>
                  </a:cubicBezTo>
                  <a:cubicBezTo>
                    <a:pt x="1210" y="8134"/>
                    <a:pt x="1127" y="8161"/>
                    <a:pt x="1043" y="8177"/>
                  </a:cubicBezTo>
                  <a:cubicBezTo>
                    <a:pt x="845" y="8214"/>
                    <a:pt x="489" y="8353"/>
                    <a:pt x="418" y="8418"/>
                  </a:cubicBezTo>
                  <a:cubicBezTo>
                    <a:pt x="334" y="8494"/>
                    <a:pt x="152" y="8752"/>
                    <a:pt x="152" y="8796"/>
                  </a:cubicBezTo>
                  <a:cubicBezTo>
                    <a:pt x="152" y="8816"/>
                    <a:pt x="136" y="8841"/>
                    <a:pt x="121" y="8841"/>
                  </a:cubicBezTo>
                  <a:cubicBezTo>
                    <a:pt x="105" y="8841"/>
                    <a:pt x="89" y="8863"/>
                    <a:pt x="89" y="8901"/>
                  </a:cubicBezTo>
                  <a:cubicBezTo>
                    <a:pt x="89" y="8939"/>
                    <a:pt x="69" y="9020"/>
                    <a:pt x="46" y="9082"/>
                  </a:cubicBezTo>
                  <a:cubicBezTo>
                    <a:pt x="-16" y="9252"/>
                    <a:pt x="-16" y="12132"/>
                    <a:pt x="46" y="12205"/>
                  </a:cubicBezTo>
                  <a:cubicBezTo>
                    <a:pt x="69" y="12232"/>
                    <a:pt x="89" y="12285"/>
                    <a:pt x="89" y="12326"/>
                  </a:cubicBezTo>
                  <a:cubicBezTo>
                    <a:pt x="89" y="12367"/>
                    <a:pt x="105" y="12401"/>
                    <a:pt x="121" y="12401"/>
                  </a:cubicBezTo>
                  <a:cubicBezTo>
                    <a:pt x="136" y="12401"/>
                    <a:pt x="152" y="12429"/>
                    <a:pt x="152" y="12462"/>
                  </a:cubicBezTo>
                  <a:cubicBezTo>
                    <a:pt x="152" y="12494"/>
                    <a:pt x="158" y="12522"/>
                    <a:pt x="174" y="12522"/>
                  </a:cubicBezTo>
                  <a:cubicBezTo>
                    <a:pt x="189" y="12522"/>
                    <a:pt x="205" y="12540"/>
                    <a:pt x="205" y="12567"/>
                  </a:cubicBezTo>
                  <a:cubicBezTo>
                    <a:pt x="207" y="12724"/>
                    <a:pt x="701" y="12996"/>
                    <a:pt x="1075" y="13050"/>
                  </a:cubicBezTo>
                  <a:cubicBezTo>
                    <a:pt x="1179" y="13065"/>
                    <a:pt x="1268" y="13106"/>
                    <a:pt x="1277" y="13125"/>
                  </a:cubicBezTo>
                  <a:cubicBezTo>
                    <a:pt x="1285" y="13145"/>
                    <a:pt x="1345" y="13156"/>
                    <a:pt x="1404" y="13156"/>
                  </a:cubicBezTo>
                  <a:cubicBezTo>
                    <a:pt x="1567" y="13156"/>
                    <a:pt x="1680" y="13201"/>
                    <a:pt x="1680" y="13261"/>
                  </a:cubicBezTo>
                  <a:cubicBezTo>
                    <a:pt x="1680" y="13291"/>
                    <a:pt x="1696" y="13306"/>
                    <a:pt x="1711" y="13306"/>
                  </a:cubicBezTo>
                  <a:cubicBezTo>
                    <a:pt x="1727" y="13306"/>
                    <a:pt x="1732" y="13344"/>
                    <a:pt x="1733" y="13382"/>
                  </a:cubicBezTo>
                  <a:cubicBezTo>
                    <a:pt x="1733" y="13420"/>
                    <a:pt x="1753" y="13490"/>
                    <a:pt x="1775" y="13533"/>
                  </a:cubicBezTo>
                  <a:cubicBezTo>
                    <a:pt x="1798" y="13575"/>
                    <a:pt x="1817" y="13642"/>
                    <a:pt x="1817" y="13684"/>
                  </a:cubicBezTo>
                  <a:cubicBezTo>
                    <a:pt x="1817" y="13725"/>
                    <a:pt x="1876" y="13921"/>
                    <a:pt x="1945" y="14121"/>
                  </a:cubicBezTo>
                  <a:cubicBezTo>
                    <a:pt x="2109" y="14600"/>
                    <a:pt x="2116" y="14724"/>
                    <a:pt x="1998" y="14921"/>
                  </a:cubicBezTo>
                  <a:cubicBezTo>
                    <a:pt x="1959" y="14986"/>
                    <a:pt x="1900" y="15068"/>
                    <a:pt x="1870" y="15117"/>
                  </a:cubicBezTo>
                  <a:cubicBezTo>
                    <a:pt x="1841" y="15166"/>
                    <a:pt x="1817" y="15230"/>
                    <a:pt x="1817" y="15253"/>
                  </a:cubicBezTo>
                  <a:cubicBezTo>
                    <a:pt x="1817" y="15275"/>
                    <a:pt x="1798" y="15300"/>
                    <a:pt x="1775" y="15313"/>
                  </a:cubicBezTo>
                  <a:cubicBezTo>
                    <a:pt x="1752" y="15325"/>
                    <a:pt x="1733" y="15360"/>
                    <a:pt x="1733" y="15388"/>
                  </a:cubicBezTo>
                  <a:cubicBezTo>
                    <a:pt x="1733" y="15417"/>
                    <a:pt x="1691" y="15508"/>
                    <a:pt x="1637" y="15584"/>
                  </a:cubicBezTo>
                  <a:cubicBezTo>
                    <a:pt x="1584" y="15661"/>
                    <a:pt x="1542" y="15734"/>
                    <a:pt x="1542" y="15750"/>
                  </a:cubicBezTo>
                  <a:cubicBezTo>
                    <a:pt x="1542" y="15767"/>
                    <a:pt x="1506" y="15845"/>
                    <a:pt x="1467" y="15916"/>
                  </a:cubicBezTo>
                  <a:cubicBezTo>
                    <a:pt x="1429" y="15988"/>
                    <a:pt x="1404" y="16065"/>
                    <a:pt x="1404" y="16097"/>
                  </a:cubicBezTo>
                  <a:cubicBezTo>
                    <a:pt x="1404" y="16130"/>
                    <a:pt x="1387" y="16174"/>
                    <a:pt x="1372" y="16188"/>
                  </a:cubicBezTo>
                  <a:cubicBezTo>
                    <a:pt x="1335" y="16220"/>
                    <a:pt x="1335" y="16912"/>
                    <a:pt x="1372" y="16912"/>
                  </a:cubicBezTo>
                  <a:cubicBezTo>
                    <a:pt x="1387" y="16912"/>
                    <a:pt x="1404" y="16942"/>
                    <a:pt x="1404" y="16972"/>
                  </a:cubicBezTo>
                  <a:cubicBezTo>
                    <a:pt x="1404" y="17003"/>
                    <a:pt x="1423" y="17035"/>
                    <a:pt x="1446" y="17048"/>
                  </a:cubicBezTo>
                  <a:cubicBezTo>
                    <a:pt x="1469" y="17060"/>
                    <a:pt x="1489" y="17105"/>
                    <a:pt x="1489" y="17138"/>
                  </a:cubicBezTo>
                  <a:cubicBezTo>
                    <a:pt x="1489" y="17172"/>
                    <a:pt x="1495" y="17199"/>
                    <a:pt x="1510" y="17199"/>
                  </a:cubicBezTo>
                  <a:cubicBezTo>
                    <a:pt x="1525" y="17199"/>
                    <a:pt x="1542" y="17217"/>
                    <a:pt x="1542" y="17244"/>
                  </a:cubicBezTo>
                  <a:cubicBezTo>
                    <a:pt x="1542" y="17271"/>
                    <a:pt x="1584" y="17355"/>
                    <a:pt x="1637" y="17425"/>
                  </a:cubicBezTo>
                  <a:cubicBezTo>
                    <a:pt x="1691" y="17495"/>
                    <a:pt x="1733" y="17565"/>
                    <a:pt x="1733" y="17576"/>
                  </a:cubicBezTo>
                  <a:cubicBezTo>
                    <a:pt x="1733" y="17587"/>
                    <a:pt x="1810" y="17688"/>
                    <a:pt x="1902" y="17817"/>
                  </a:cubicBezTo>
                  <a:cubicBezTo>
                    <a:pt x="1994" y="17947"/>
                    <a:pt x="2072" y="18083"/>
                    <a:pt x="2072" y="18104"/>
                  </a:cubicBezTo>
                  <a:cubicBezTo>
                    <a:pt x="2072" y="18125"/>
                    <a:pt x="2079" y="18142"/>
                    <a:pt x="2093" y="18149"/>
                  </a:cubicBezTo>
                  <a:cubicBezTo>
                    <a:pt x="2107" y="18156"/>
                    <a:pt x="2288" y="18394"/>
                    <a:pt x="2496" y="18677"/>
                  </a:cubicBezTo>
                  <a:cubicBezTo>
                    <a:pt x="2987" y="19345"/>
                    <a:pt x="3024" y="19371"/>
                    <a:pt x="3419" y="19371"/>
                  </a:cubicBezTo>
                  <a:cubicBezTo>
                    <a:pt x="3725" y="19371"/>
                    <a:pt x="3724" y="19377"/>
                    <a:pt x="3875" y="19235"/>
                  </a:cubicBezTo>
                  <a:cubicBezTo>
                    <a:pt x="3958" y="19157"/>
                    <a:pt x="4063" y="19047"/>
                    <a:pt x="4098" y="18994"/>
                  </a:cubicBezTo>
                  <a:cubicBezTo>
                    <a:pt x="4132" y="18941"/>
                    <a:pt x="4169" y="18904"/>
                    <a:pt x="4183" y="18904"/>
                  </a:cubicBezTo>
                  <a:cubicBezTo>
                    <a:pt x="4196" y="18904"/>
                    <a:pt x="4251" y="18829"/>
                    <a:pt x="4310" y="18753"/>
                  </a:cubicBezTo>
                  <a:cubicBezTo>
                    <a:pt x="4368" y="18676"/>
                    <a:pt x="4421" y="18617"/>
                    <a:pt x="4426" y="18617"/>
                  </a:cubicBezTo>
                  <a:cubicBezTo>
                    <a:pt x="4439" y="18617"/>
                    <a:pt x="4527" y="18521"/>
                    <a:pt x="4639" y="18376"/>
                  </a:cubicBezTo>
                  <a:cubicBezTo>
                    <a:pt x="4685" y="18316"/>
                    <a:pt x="4752" y="18270"/>
                    <a:pt x="4787" y="18270"/>
                  </a:cubicBezTo>
                  <a:cubicBezTo>
                    <a:pt x="4822" y="18270"/>
                    <a:pt x="4951" y="18334"/>
                    <a:pt x="5073" y="18421"/>
                  </a:cubicBezTo>
                  <a:cubicBezTo>
                    <a:pt x="5196" y="18508"/>
                    <a:pt x="5313" y="18587"/>
                    <a:pt x="5339" y="18587"/>
                  </a:cubicBezTo>
                  <a:cubicBezTo>
                    <a:pt x="5429" y="18587"/>
                    <a:pt x="5666" y="18747"/>
                    <a:pt x="5667" y="18813"/>
                  </a:cubicBezTo>
                  <a:cubicBezTo>
                    <a:pt x="5668" y="18848"/>
                    <a:pt x="5687" y="18907"/>
                    <a:pt x="5710" y="18949"/>
                  </a:cubicBezTo>
                  <a:cubicBezTo>
                    <a:pt x="5732" y="18991"/>
                    <a:pt x="5742" y="19113"/>
                    <a:pt x="5742" y="19205"/>
                  </a:cubicBezTo>
                  <a:cubicBezTo>
                    <a:pt x="5742" y="19298"/>
                    <a:pt x="5758" y="19373"/>
                    <a:pt x="5773" y="19386"/>
                  </a:cubicBezTo>
                  <a:cubicBezTo>
                    <a:pt x="5789" y="19400"/>
                    <a:pt x="5805" y="19551"/>
                    <a:pt x="5805" y="19718"/>
                  </a:cubicBezTo>
                  <a:cubicBezTo>
                    <a:pt x="5806" y="19923"/>
                    <a:pt x="5820" y="20059"/>
                    <a:pt x="5848" y="20110"/>
                  </a:cubicBezTo>
                  <a:cubicBezTo>
                    <a:pt x="5870" y="20153"/>
                    <a:pt x="5890" y="20254"/>
                    <a:pt x="5890" y="20337"/>
                  </a:cubicBezTo>
                  <a:cubicBezTo>
                    <a:pt x="5890" y="20420"/>
                    <a:pt x="5896" y="20488"/>
                    <a:pt x="5911" y="20488"/>
                  </a:cubicBezTo>
                  <a:cubicBezTo>
                    <a:pt x="5927" y="20488"/>
                    <a:pt x="5943" y="20520"/>
                    <a:pt x="5943" y="20563"/>
                  </a:cubicBezTo>
                  <a:cubicBezTo>
                    <a:pt x="5943" y="20607"/>
                    <a:pt x="5949" y="20639"/>
                    <a:pt x="5964" y="20639"/>
                  </a:cubicBezTo>
                  <a:cubicBezTo>
                    <a:pt x="5980" y="20639"/>
                    <a:pt x="5996" y="20656"/>
                    <a:pt x="5996" y="20684"/>
                  </a:cubicBezTo>
                  <a:cubicBezTo>
                    <a:pt x="5996" y="20771"/>
                    <a:pt x="6205" y="21049"/>
                    <a:pt x="6346" y="21151"/>
                  </a:cubicBezTo>
                  <a:lnTo>
                    <a:pt x="6484" y="21257"/>
                  </a:lnTo>
                  <a:lnTo>
                    <a:pt x="7523" y="21257"/>
                  </a:lnTo>
                  <a:lnTo>
                    <a:pt x="8573" y="21257"/>
                  </a:lnTo>
                  <a:lnTo>
                    <a:pt x="8711" y="21151"/>
                  </a:lnTo>
                  <a:cubicBezTo>
                    <a:pt x="8978" y="20951"/>
                    <a:pt x="9167" y="20601"/>
                    <a:pt x="9167" y="20322"/>
                  </a:cubicBezTo>
                  <a:cubicBezTo>
                    <a:pt x="9167" y="20262"/>
                    <a:pt x="9187" y="20198"/>
                    <a:pt x="9210" y="20171"/>
                  </a:cubicBezTo>
                  <a:cubicBezTo>
                    <a:pt x="9239" y="20136"/>
                    <a:pt x="9252" y="20031"/>
                    <a:pt x="9252" y="19839"/>
                  </a:cubicBezTo>
                  <a:cubicBezTo>
                    <a:pt x="9252" y="19690"/>
                    <a:pt x="9269" y="19566"/>
                    <a:pt x="9284" y="19552"/>
                  </a:cubicBezTo>
                  <a:cubicBezTo>
                    <a:pt x="9299" y="19539"/>
                    <a:pt x="9316" y="19418"/>
                    <a:pt x="9316" y="19281"/>
                  </a:cubicBezTo>
                  <a:cubicBezTo>
                    <a:pt x="9316" y="18848"/>
                    <a:pt x="9398" y="18718"/>
                    <a:pt x="9782" y="18602"/>
                  </a:cubicBezTo>
                  <a:cubicBezTo>
                    <a:pt x="9790" y="18599"/>
                    <a:pt x="9839" y="18564"/>
                    <a:pt x="9888" y="18526"/>
                  </a:cubicBezTo>
                  <a:cubicBezTo>
                    <a:pt x="9937" y="18489"/>
                    <a:pt x="9989" y="18466"/>
                    <a:pt x="10005" y="18466"/>
                  </a:cubicBezTo>
                  <a:cubicBezTo>
                    <a:pt x="10021" y="18466"/>
                    <a:pt x="10082" y="18417"/>
                    <a:pt x="10143" y="18360"/>
                  </a:cubicBezTo>
                  <a:cubicBezTo>
                    <a:pt x="10291" y="18221"/>
                    <a:pt x="10359" y="18250"/>
                    <a:pt x="10588" y="18541"/>
                  </a:cubicBezTo>
                  <a:cubicBezTo>
                    <a:pt x="10629" y="18593"/>
                    <a:pt x="10704" y="18680"/>
                    <a:pt x="10758" y="18738"/>
                  </a:cubicBezTo>
                  <a:cubicBezTo>
                    <a:pt x="10812" y="18795"/>
                    <a:pt x="10892" y="18889"/>
                    <a:pt x="10938" y="18949"/>
                  </a:cubicBezTo>
                  <a:cubicBezTo>
                    <a:pt x="10984" y="19009"/>
                    <a:pt x="11049" y="19072"/>
                    <a:pt x="11076" y="19085"/>
                  </a:cubicBezTo>
                  <a:cubicBezTo>
                    <a:pt x="11103" y="19097"/>
                    <a:pt x="11119" y="19113"/>
                    <a:pt x="11119" y="19130"/>
                  </a:cubicBezTo>
                  <a:cubicBezTo>
                    <a:pt x="11119" y="19147"/>
                    <a:pt x="11198" y="19208"/>
                    <a:pt x="11288" y="19266"/>
                  </a:cubicBezTo>
                  <a:cubicBezTo>
                    <a:pt x="11422" y="19351"/>
                    <a:pt x="11485" y="19371"/>
                    <a:pt x="11670" y="19371"/>
                  </a:cubicBezTo>
                  <a:lnTo>
                    <a:pt x="11903" y="19371"/>
                  </a:lnTo>
                  <a:lnTo>
                    <a:pt x="12073" y="19613"/>
                  </a:lnTo>
                  <a:cubicBezTo>
                    <a:pt x="12168" y="19743"/>
                    <a:pt x="12266" y="19854"/>
                    <a:pt x="12285" y="19854"/>
                  </a:cubicBezTo>
                  <a:cubicBezTo>
                    <a:pt x="12304" y="19854"/>
                    <a:pt x="12317" y="19867"/>
                    <a:pt x="12317" y="19884"/>
                  </a:cubicBezTo>
                  <a:cubicBezTo>
                    <a:pt x="12317" y="19901"/>
                    <a:pt x="12363" y="19948"/>
                    <a:pt x="12413" y="19990"/>
                  </a:cubicBezTo>
                  <a:cubicBezTo>
                    <a:pt x="12462" y="20031"/>
                    <a:pt x="12535" y="20107"/>
                    <a:pt x="12582" y="20171"/>
                  </a:cubicBezTo>
                  <a:cubicBezTo>
                    <a:pt x="12682" y="20304"/>
                    <a:pt x="12886" y="20488"/>
                    <a:pt x="12943" y="20488"/>
                  </a:cubicBezTo>
                  <a:cubicBezTo>
                    <a:pt x="12964" y="20488"/>
                    <a:pt x="12985" y="20500"/>
                    <a:pt x="12985" y="20518"/>
                  </a:cubicBezTo>
                  <a:cubicBezTo>
                    <a:pt x="12985" y="20535"/>
                    <a:pt x="13112" y="20625"/>
                    <a:pt x="13261" y="20729"/>
                  </a:cubicBezTo>
                  <a:cubicBezTo>
                    <a:pt x="13669" y="21013"/>
                    <a:pt x="13672" y="21019"/>
                    <a:pt x="13972" y="21151"/>
                  </a:cubicBezTo>
                  <a:cubicBezTo>
                    <a:pt x="14125" y="21219"/>
                    <a:pt x="14280" y="21298"/>
                    <a:pt x="14311" y="21317"/>
                  </a:cubicBezTo>
                  <a:cubicBezTo>
                    <a:pt x="14342" y="21337"/>
                    <a:pt x="14409" y="21366"/>
                    <a:pt x="14459" y="21378"/>
                  </a:cubicBezTo>
                  <a:cubicBezTo>
                    <a:pt x="14510" y="21389"/>
                    <a:pt x="14616" y="21418"/>
                    <a:pt x="14703" y="21453"/>
                  </a:cubicBezTo>
                  <a:cubicBezTo>
                    <a:pt x="14791" y="21489"/>
                    <a:pt x="14943" y="21544"/>
                    <a:pt x="15043" y="21559"/>
                  </a:cubicBezTo>
                  <a:cubicBezTo>
                    <a:pt x="15314" y="21600"/>
                    <a:pt x="16374" y="21600"/>
                    <a:pt x="16581" y="21559"/>
                  </a:cubicBezTo>
                  <a:cubicBezTo>
                    <a:pt x="16927" y="21490"/>
                    <a:pt x="17302" y="21374"/>
                    <a:pt x="17503" y="21287"/>
                  </a:cubicBezTo>
                  <a:cubicBezTo>
                    <a:pt x="17856" y="21135"/>
                    <a:pt x="18373" y="20837"/>
                    <a:pt x="18500" y="20714"/>
                  </a:cubicBezTo>
                  <a:cubicBezTo>
                    <a:pt x="18539" y="20676"/>
                    <a:pt x="18608" y="20638"/>
                    <a:pt x="18649" y="20623"/>
                  </a:cubicBezTo>
                  <a:cubicBezTo>
                    <a:pt x="18689" y="20609"/>
                    <a:pt x="18737" y="20563"/>
                    <a:pt x="18755" y="20533"/>
                  </a:cubicBezTo>
                  <a:cubicBezTo>
                    <a:pt x="18773" y="20502"/>
                    <a:pt x="18801" y="20474"/>
                    <a:pt x="18818" y="20473"/>
                  </a:cubicBezTo>
                  <a:cubicBezTo>
                    <a:pt x="18836" y="20471"/>
                    <a:pt x="18909" y="20412"/>
                    <a:pt x="18978" y="20337"/>
                  </a:cubicBezTo>
                  <a:cubicBezTo>
                    <a:pt x="19046" y="20262"/>
                    <a:pt x="19127" y="20191"/>
                    <a:pt x="19158" y="20171"/>
                  </a:cubicBezTo>
                  <a:cubicBezTo>
                    <a:pt x="19188" y="20151"/>
                    <a:pt x="19292" y="20036"/>
                    <a:pt x="19391" y="19914"/>
                  </a:cubicBezTo>
                  <a:cubicBezTo>
                    <a:pt x="19491" y="19793"/>
                    <a:pt x="19583" y="19688"/>
                    <a:pt x="19593" y="19688"/>
                  </a:cubicBezTo>
                  <a:cubicBezTo>
                    <a:pt x="19610" y="19688"/>
                    <a:pt x="20176" y="18897"/>
                    <a:pt x="20176" y="18873"/>
                  </a:cubicBezTo>
                  <a:cubicBezTo>
                    <a:pt x="20176" y="18867"/>
                    <a:pt x="20225" y="18795"/>
                    <a:pt x="20282" y="18707"/>
                  </a:cubicBezTo>
                  <a:cubicBezTo>
                    <a:pt x="20440" y="18467"/>
                    <a:pt x="20505" y="18340"/>
                    <a:pt x="20505" y="18300"/>
                  </a:cubicBezTo>
                  <a:cubicBezTo>
                    <a:pt x="20505" y="18280"/>
                    <a:pt x="20521" y="18270"/>
                    <a:pt x="20537" y="18270"/>
                  </a:cubicBezTo>
                  <a:cubicBezTo>
                    <a:pt x="20552" y="18270"/>
                    <a:pt x="20558" y="18242"/>
                    <a:pt x="20558" y="18210"/>
                  </a:cubicBezTo>
                  <a:cubicBezTo>
                    <a:pt x="20558" y="18177"/>
                    <a:pt x="20574" y="18149"/>
                    <a:pt x="20590" y="18149"/>
                  </a:cubicBezTo>
                  <a:cubicBezTo>
                    <a:pt x="20605" y="18149"/>
                    <a:pt x="20621" y="18115"/>
                    <a:pt x="20621" y="18074"/>
                  </a:cubicBezTo>
                  <a:cubicBezTo>
                    <a:pt x="20621" y="18033"/>
                    <a:pt x="20641" y="17981"/>
                    <a:pt x="20664" y="17968"/>
                  </a:cubicBezTo>
                  <a:cubicBezTo>
                    <a:pt x="20687" y="17956"/>
                    <a:pt x="20706" y="17926"/>
                    <a:pt x="20706" y="17893"/>
                  </a:cubicBezTo>
                  <a:cubicBezTo>
                    <a:pt x="20706" y="17859"/>
                    <a:pt x="20712" y="17832"/>
                    <a:pt x="20727" y="17832"/>
                  </a:cubicBezTo>
                  <a:cubicBezTo>
                    <a:pt x="20743" y="17832"/>
                    <a:pt x="20759" y="17805"/>
                    <a:pt x="20759" y="17772"/>
                  </a:cubicBezTo>
                  <a:cubicBezTo>
                    <a:pt x="20759" y="17739"/>
                    <a:pt x="20779" y="17694"/>
                    <a:pt x="20802" y="17682"/>
                  </a:cubicBezTo>
                  <a:cubicBezTo>
                    <a:pt x="20825" y="17669"/>
                    <a:pt x="20844" y="17632"/>
                    <a:pt x="20844" y="17606"/>
                  </a:cubicBezTo>
                  <a:cubicBezTo>
                    <a:pt x="20844" y="17537"/>
                    <a:pt x="20905" y="17350"/>
                    <a:pt x="20929" y="17350"/>
                  </a:cubicBezTo>
                  <a:cubicBezTo>
                    <a:pt x="20940" y="17349"/>
                    <a:pt x="20950" y="17334"/>
                    <a:pt x="20950" y="17304"/>
                  </a:cubicBezTo>
                  <a:cubicBezTo>
                    <a:pt x="20950" y="17274"/>
                    <a:pt x="20970" y="17226"/>
                    <a:pt x="20993" y="17199"/>
                  </a:cubicBezTo>
                  <a:cubicBezTo>
                    <a:pt x="21016" y="17172"/>
                    <a:pt x="21035" y="17096"/>
                    <a:pt x="21035" y="17033"/>
                  </a:cubicBezTo>
                  <a:cubicBezTo>
                    <a:pt x="21035" y="16970"/>
                    <a:pt x="21052" y="16912"/>
                    <a:pt x="21067" y="16912"/>
                  </a:cubicBezTo>
                  <a:cubicBezTo>
                    <a:pt x="21082" y="16912"/>
                    <a:pt x="21088" y="16878"/>
                    <a:pt x="21088" y="16837"/>
                  </a:cubicBezTo>
                  <a:cubicBezTo>
                    <a:pt x="21088" y="16795"/>
                    <a:pt x="21107" y="16759"/>
                    <a:pt x="21130" y="16746"/>
                  </a:cubicBezTo>
                  <a:cubicBezTo>
                    <a:pt x="21153" y="16734"/>
                    <a:pt x="21173" y="16684"/>
                    <a:pt x="21173" y="16641"/>
                  </a:cubicBezTo>
                  <a:cubicBezTo>
                    <a:pt x="21173" y="16598"/>
                    <a:pt x="21189" y="16548"/>
                    <a:pt x="21205" y="16535"/>
                  </a:cubicBezTo>
                  <a:cubicBezTo>
                    <a:pt x="21220" y="16521"/>
                    <a:pt x="21226" y="16487"/>
                    <a:pt x="21226" y="16444"/>
                  </a:cubicBezTo>
                  <a:cubicBezTo>
                    <a:pt x="21226" y="16367"/>
                    <a:pt x="21235" y="16342"/>
                    <a:pt x="21321" y="16097"/>
                  </a:cubicBezTo>
                  <a:cubicBezTo>
                    <a:pt x="21347" y="16025"/>
                    <a:pt x="21374" y="15903"/>
                    <a:pt x="21374" y="15841"/>
                  </a:cubicBezTo>
                  <a:cubicBezTo>
                    <a:pt x="21374" y="15779"/>
                    <a:pt x="21380" y="15719"/>
                    <a:pt x="21396" y="15705"/>
                  </a:cubicBezTo>
                  <a:cubicBezTo>
                    <a:pt x="21411" y="15692"/>
                    <a:pt x="21427" y="15605"/>
                    <a:pt x="21427" y="15509"/>
                  </a:cubicBezTo>
                  <a:cubicBezTo>
                    <a:pt x="21427" y="15414"/>
                    <a:pt x="21433" y="15326"/>
                    <a:pt x="21449" y="15313"/>
                  </a:cubicBezTo>
                  <a:cubicBezTo>
                    <a:pt x="21464" y="15299"/>
                    <a:pt x="21480" y="15204"/>
                    <a:pt x="21480" y="15102"/>
                  </a:cubicBezTo>
                  <a:cubicBezTo>
                    <a:pt x="21481" y="15000"/>
                    <a:pt x="21500" y="14862"/>
                    <a:pt x="21523" y="14800"/>
                  </a:cubicBezTo>
                  <a:cubicBezTo>
                    <a:pt x="21584" y="14634"/>
                    <a:pt x="21584" y="12335"/>
                    <a:pt x="21523" y="12220"/>
                  </a:cubicBezTo>
                  <a:cubicBezTo>
                    <a:pt x="21500" y="12178"/>
                    <a:pt x="21480" y="12071"/>
                    <a:pt x="21480" y="11979"/>
                  </a:cubicBezTo>
                  <a:cubicBezTo>
                    <a:pt x="21480" y="11886"/>
                    <a:pt x="21464" y="11796"/>
                    <a:pt x="21449" y="11783"/>
                  </a:cubicBezTo>
                  <a:cubicBezTo>
                    <a:pt x="21433" y="11769"/>
                    <a:pt x="21427" y="11687"/>
                    <a:pt x="21427" y="11602"/>
                  </a:cubicBezTo>
                  <a:cubicBezTo>
                    <a:pt x="21427" y="11516"/>
                    <a:pt x="21411" y="11451"/>
                    <a:pt x="21396" y="11451"/>
                  </a:cubicBezTo>
                  <a:cubicBezTo>
                    <a:pt x="21380" y="11451"/>
                    <a:pt x="21374" y="11394"/>
                    <a:pt x="21374" y="11330"/>
                  </a:cubicBezTo>
                  <a:cubicBezTo>
                    <a:pt x="21374" y="11266"/>
                    <a:pt x="21347" y="11161"/>
                    <a:pt x="21321" y="11089"/>
                  </a:cubicBezTo>
                  <a:cubicBezTo>
                    <a:pt x="21235" y="10844"/>
                    <a:pt x="21226" y="10819"/>
                    <a:pt x="21226" y="10742"/>
                  </a:cubicBezTo>
                  <a:cubicBezTo>
                    <a:pt x="21226" y="10699"/>
                    <a:pt x="21220" y="10650"/>
                    <a:pt x="21205" y="10636"/>
                  </a:cubicBezTo>
                  <a:cubicBezTo>
                    <a:pt x="21189" y="10623"/>
                    <a:pt x="21173" y="10564"/>
                    <a:pt x="21173" y="10500"/>
                  </a:cubicBezTo>
                  <a:cubicBezTo>
                    <a:pt x="21173" y="10436"/>
                    <a:pt x="21166" y="10380"/>
                    <a:pt x="21152" y="10380"/>
                  </a:cubicBezTo>
                  <a:cubicBezTo>
                    <a:pt x="21137" y="10380"/>
                    <a:pt x="21103" y="10310"/>
                    <a:pt x="21077" y="10229"/>
                  </a:cubicBezTo>
                  <a:cubicBezTo>
                    <a:pt x="20944" y="9807"/>
                    <a:pt x="20809" y="9429"/>
                    <a:pt x="20791" y="9429"/>
                  </a:cubicBezTo>
                  <a:cubicBezTo>
                    <a:pt x="20780" y="9429"/>
                    <a:pt x="20748" y="9370"/>
                    <a:pt x="20727" y="9293"/>
                  </a:cubicBezTo>
                  <a:cubicBezTo>
                    <a:pt x="20706" y="9217"/>
                    <a:pt x="20677" y="9158"/>
                    <a:pt x="20664" y="9158"/>
                  </a:cubicBezTo>
                  <a:cubicBezTo>
                    <a:pt x="20651" y="9158"/>
                    <a:pt x="20631" y="9119"/>
                    <a:pt x="20621" y="9082"/>
                  </a:cubicBezTo>
                  <a:cubicBezTo>
                    <a:pt x="20602" y="9011"/>
                    <a:pt x="20566" y="8936"/>
                    <a:pt x="20441" y="8735"/>
                  </a:cubicBezTo>
                  <a:cubicBezTo>
                    <a:pt x="20399" y="8668"/>
                    <a:pt x="20367" y="8603"/>
                    <a:pt x="20367" y="8584"/>
                  </a:cubicBezTo>
                  <a:cubicBezTo>
                    <a:pt x="20367" y="8566"/>
                    <a:pt x="20325" y="8490"/>
                    <a:pt x="20271" y="8418"/>
                  </a:cubicBezTo>
                  <a:cubicBezTo>
                    <a:pt x="20218" y="8346"/>
                    <a:pt x="20176" y="8282"/>
                    <a:pt x="20176" y="8267"/>
                  </a:cubicBezTo>
                  <a:cubicBezTo>
                    <a:pt x="20176" y="8237"/>
                    <a:pt x="19752" y="7657"/>
                    <a:pt x="19582" y="7453"/>
                  </a:cubicBezTo>
                  <a:cubicBezTo>
                    <a:pt x="19475" y="7324"/>
                    <a:pt x="19253" y="7078"/>
                    <a:pt x="19147" y="6985"/>
                  </a:cubicBezTo>
                  <a:cubicBezTo>
                    <a:pt x="19122" y="6963"/>
                    <a:pt x="19045" y="6899"/>
                    <a:pt x="18978" y="6834"/>
                  </a:cubicBezTo>
                  <a:cubicBezTo>
                    <a:pt x="18795" y="6659"/>
                    <a:pt x="18643" y="6522"/>
                    <a:pt x="18458" y="6382"/>
                  </a:cubicBezTo>
                  <a:cubicBezTo>
                    <a:pt x="18317" y="6275"/>
                    <a:pt x="18091" y="6140"/>
                    <a:pt x="18055" y="6140"/>
                  </a:cubicBezTo>
                  <a:cubicBezTo>
                    <a:pt x="18033" y="6140"/>
                    <a:pt x="17995" y="6131"/>
                    <a:pt x="17981" y="6110"/>
                  </a:cubicBezTo>
                  <a:cubicBezTo>
                    <a:pt x="17966" y="6090"/>
                    <a:pt x="17923" y="6061"/>
                    <a:pt x="17885" y="6050"/>
                  </a:cubicBezTo>
                  <a:cubicBezTo>
                    <a:pt x="17847" y="6038"/>
                    <a:pt x="17763" y="5995"/>
                    <a:pt x="17694" y="5959"/>
                  </a:cubicBezTo>
                  <a:cubicBezTo>
                    <a:pt x="17052" y="5622"/>
                    <a:pt x="16300" y="5487"/>
                    <a:pt x="15393" y="5552"/>
                  </a:cubicBezTo>
                  <a:cubicBezTo>
                    <a:pt x="14883" y="5588"/>
                    <a:pt x="14038" y="5877"/>
                    <a:pt x="13706" y="6125"/>
                  </a:cubicBezTo>
                  <a:cubicBezTo>
                    <a:pt x="13666" y="6156"/>
                    <a:pt x="13611" y="6186"/>
                    <a:pt x="13579" y="6186"/>
                  </a:cubicBezTo>
                  <a:cubicBezTo>
                    <a:pt x="13547" y="6186"/>
                    <a:pt x="13516" y="6194"/>
                    <a:pt x="13516" y="6216"/>
                  </a:cubicBezTo>
                  <a:cubicBezTo>
                    <a:pt x="13516" y="6237"/>
                    <a:pt x="13501" y="6261"/>
                    <a:pt x="13484" y="6261"/>
                  </a:cubicBezTo>
                  <a:cubicBezTo>
                    <a:pt x="13467" y="6261"/>
                    <a:pt x="13349" y="6339"/>
                    <a:pt x="13219" y="6427"/>
                  </a:cubicBezTo>
                  <a:cubicBezTo>
                    <a:pt x="12974" y="6592"/>
                    <a:pt x="12853" y="6598"/>
                    <a:pt x="12943" y="6457"/>
                  </a:cubicBezTo>
                  <a:cubicBezTo>
                    <a:pt x="12968" y="6418"/>
                    <a:pt x="12985" y="6375"/>
                    <a:pt x="12985" y="6351"/>
                  </a:cubicBezTo>
                  <a:cubicBezTo>
                    <a:pt x="12985" y="6328"/>
                    <a:pt x="13027" y="6236"/>
                    <a:pt x="13081" y="6155"/>
                  </a:cubicBezTo>
                  <a:cubicBezTo>
                    <a:pt x="13134" y="6074"/>
                    <a:pt x="13187" y="6003"/>
                    <a:pt x="13187" y="5989"/>
                  </a:cubicBezTo>
                  <a:cubicBezTo>
                    <a:pt x="13187" y="5975"/>
                    <a:pt x="13209" y="5930"/>
                    <a:pt x="13240" y="5899"/>
                  </a:cubicBezTo>
                  <a:cubicBezTo>
                    <a:pt x="13270" y="5867"/>
                    <a:pt x="13293" y="5822"/>
                    <a:pt x="13293" y="5793"/>
                  </a:cubicBezTo>
                  <a:cubicBezTo>
                    <a:pt x="13293" y="5765"/>
                    <a:pt x="13312" y="5730"/>
                    <a:pt x="13335" y="5718"/>
                  </a:cubicBezTo>
                  <a:cubicBezTo>
                    <a:pt x="13358" y="5705"/>
                    <a:pt x="13378" y="5669"/>
                    <a:pt x="13378" y="5642"/>
                  </a:cubicBezTo>
                  <a:cubicBezTo>
                    <a:pt x="13378" y="5616"/>
                    <a:pt x="13414" y="5558"/>
                    <a:pt x="13452" y="5507"/>
                  </a:cubicBezTo>
                  <a:cubicBezTo>
                    <a:pt x="13490" y="5455"/>
                    <a:pt x="13516" y="5405"/>
                    <a:pt x="13516" y="5386"/>
                  </a:cubicBezTo>
                  <a:cubicBezTo>
                    <a:pt x="13516" y="5367"/>
                    <a:pt x="13538" y="5312"/>
                    <a:pt x="13569" y="5265"/>
                  </a:cubicBezTo>
                  <a:cubicBezTo>
                    <a:pt x="13599" y="5218"/>
                    <a:pt x="13632" y="5150"/>
                    <a:pt x="13632" y="5114"/>
                  </a:cubicBezTo>
                  <a:cubicBezTo>
                    <a:pt x="13632" y="5079"/>
                    <a:pt x="13642" y="5006"/>
                    <a:pt x="13664" y="4964"/>
                  </a:cubicBezTo>
                  <a:cubicBezTo>
                    <a:pt x="13708" y="4881"/>
                    <a:pt x="13727" y="4315"/>
                    <a:pt x="13685" y="4315"/>
                  </a:cubicBezTo>
                  <a:cubicBezTo>
                    <a:pt x="13673" y="4315"/>
                    <a:pt x="13635" y="4231"/>
                    <a:pt x="13600" y="4119"/>
                  </a:cubicBezTo>
                  <a:cubicBezTo>
                    <a:pt x="13552" y="3959"/>
                    <a:pt x="13438" y="3765"/>
                    <a:pt x="13060" y="3229"/>
                  </a:cubicBezTo>
                  <a:cubicBezTo>
                    <a:pt x="12792" y="2850"/>
                    <a:pt x="12572" y="2527"/>
                    <a:pt x="12572" y="2519"/>
                  </a:cubicBezTo>
                  <a:cubicBezTo>
                    <a:pt x="12572" y="2493"/>
                    <a:pt x="12280" y="2089"/>
                    <a:pt x="12169" y="1961"/>
                  </a:cubicBezTo>
                  <a:cubicBezTo>
                    <a:pt x="12056" y="1833"/>
                    <a:pt x="11821" y="1705"/>
                    <a:pt x="11702" y="1705"/>
                  </a:cubicBezTo>
                  <a:cubicBezTo>
                    <a:pt x="11618" y="1705"/>
                    <a:pt x="11253" y="1836"/>
                    <a:pt x="11235" y="1871"/>
                  </a:cubicBezTo>
                  <a:cubicBezTo>
                    <a:pt x="11228" y="1886"/>
                    <a:pt x="11186" y="1912"/>
                    <a:pt x="11140" y="1946"/>
                  </a:cubicBezTo>
                  <a:cubicBezTo>
                    <a:pt x="11094" y="1980"/>
                    <a:pt x="11008" y="2079"/>
                    <a:pt x="10949" y="2157"/>
                  </a:cubicBezTo>
                  <a:cubicBezTo>
                    <a:pt x="10890" y="2235"/>
                    <a:pt x="10827" y="2293"/>
                    <a:pt x="10822" y="2293"/>
                  </a:cubicBezTo>
                  <a:cubicBezTo>
                    <a:pt x="10810" y="2293"/>
                    <a:pt x="10735" y="2388"/>
                    <a:pt x="10620" y="2535"/>
                  </a:cubicBezTo>
                  <a:cubicBezTo>
                    <a:pt x="10487" y="2704"/>
                    <a:pt x="10427" y="2776"/>
                    <a:pt x="10408" y="2776"/>
                  </a:cubicBezTo>
                  <a:cubicBezTo>
                    <a:pt x="10398" y="2776"/>
                    <a:pt x="10361" y="2802"/>
                    <a:pt x="10334" y="2836"/>
                  </a:cubicBezTo>
                  <a:cubicBezTo>
                    <a:pt x="10290" y="2892"/>
                    <a:pt x="10278" y="2888"/>
                    <a:pt x="10196" y="2836"/>
                  </a:cubicBezTo>
                  <a:cubicBezTo>
                    <a:pt x="9899" y="2652"/>
                    <a:pt x="9762" y="2580"/>
                    <a:pt x="9740" y="2580"/>
                  </a:cubicBezTo>
                  <a:cubicBezTo>
                    <a:pt x="9727" y="2580"/>
                    <a:pt x="9683" y="2548"/>
                    <a:pt x="9644" y="2519"/>
                  </a:cubicBezTo>
                  <a:cubicBezTo>
                    <a:pt x="9606" y="2491"/>
                    <a:pt x="9526" y="2459"/>
                    <a:pt x="9475" y="2444"/>
                  </a:cubicBezTo>
                  <a:cubicBezTo>
                    <a:pt x="9354" y="2410"/>
                    <a:pt x="9317" y="2318"/>
                    <a:pt x="9316" y="2112"/>
                  </a:cubicBezTo>
                  <a:cubicBezTo>
                    <a:pt x="9315" y="2021"/>
                    <a:pt x="9299" y="1929"/>
                    <a:pt x="9284" y="1916"/>
                  </a:cubicBezTo>
                  <a:cubicBezTo>
                    <a:pt x="9269" y="1903"/>
                    <a:pt x="9253" y="1779"/>
                    <a:pt x="9252" y="1644"/>
                  </a:cubicBezTo>
                  <a:cubicBezTo>
                    <a:pt x="9252" y="1492"/>
                    <a:pt x="9235" y="1375"/>
                    <a:pt x="9210" y="1328"/>
                  </a:cubicBezTo>
                  <a:cubicBezTo>
                    <a:pt x="9187" y="1285"/>
                    <a:pt x="9167" y="1179"/>
                    <a:pt x="9167" y="1086"/>
                  </a:cubicBezTo>
                  <a:cubicBezTo>
                    <a:pt x="9167" y="994"/>
                    <a:pt x="9161" y="904"/>
                    <a:pt x="9146" y="890"/>
                  </a:cubicBezTo>
                  <a:cubicBezTo>
                    <a:pt x="9131" y="877"/>
                    <a:pt x="9114" y="828"/>
                    <a:pt x="9114" y="785"/>
                  </a:cubicBezTo>
                  <a:cubicBezTo>
                    <a:pt x="9114" y="659"/>
                    <a:pt x="8945" y="352"/>
                    <a:pt x="8796" y="211"/>
                  </a:cubicBezTo>
                  <a:cubicBezTo>
                    <a:pt x="8585" y="11"/>
                    <a:pt x="8519" y="0"/>
                    <a:pt x="7608" y="0"/>
                  </a:cubicBezTo>
                  <a:close/>
                  <a:moveTo>
                    <a:pt x="7523" y="6382"/>
                  </a:moveTo>
                  <a:cubicBezTo>
                    <a:pt x="7622" y="6376"/>
                    <a:pt x="7696" y="6384"/>
                    <a:pt x="7735" y="6412"/>
                  </a:cubicBezTo>
                  <a:cubicBezTo>
                    <a:pt x="7768" y="6434"/>
                    <a:pt x="7880" y="6461"/>
                    <a:pt x="7979" y="6472"/>
                  </a:cubicBezTo>
                  <a:cubicBezTo>
                    <a:pt x="8171" y="6493"/>
                    <a:pt x="8393" y="6573"/>
                    <a:pt x="8393" y="6623"/>
                  </a:cubicBezTo>
                  <a:cubicBezTo>
                    <a:pt x="8393" y="6640"/>
                    <a:pt x="8422" y="6652"/>
                    <a:pt x="8457" y="6653"/>
                  </a:cubicBezTo>
                  <a:cubicBezTo>
                    <a:pt x="8491" y="6654"/>
                    <a:pt x="8565" y="6687"/>
                    <a:pt x="8626" y="6729"/>
                  </a:cubicBezTo>
                  <a:cubicBezTo>
                    <a:pt x="8688" y="6771"/>
                    <a:pt x="8753" y="6818"/>
                    <a:pt x="8764" y="6819"/>
                  </a:cubicBezTo>
                  <a:cubicBezTo>
                    <a:pt x="8782" y="6820"/>
                    <a:pt x="8953" y="6973"/>
                    <a:pt x="9019" y="7045"/>
                  </a:cubicBezTo>
                  <a:cubicBezTo>
                    <a:pt x="9034" y="7062"/>
                    <a:pt x="9115" y="7132"/>
                    <a:pt x="9199" y="7211"/>
                  </a:cubicBezTo>
                  <a:cubicBezTo>
                    <a:pt x="9438" y="7435"/>
                    <a:pt x="9814" y="7990"/>
                    <a:pt x="9814" y="8117"/>
                  </a:cubicBezTo>
                  <a:cubicBezTo>
                    <a:pt x="9814" y="8140"/>
                    <a:pt x="9837" y="8180"/>
                    <a:pt x="9867" y="8207"/>
                  </a:cubicBezTo>
                  <a:cubicBezTo>
                    <a:pt x="9898" y="8234"/>
                    <a:pt x="9920" y="8281"/>
                    <a:pt x="9920" y="8298"/>
                  </a:cubicBezTo>
                  <a:cubicBezTo>
                    <a:pt x="9920" y="8315"/>
                    <a:pt x="9956" y="8392"/>
                    <a:pt x="9994" y="8479"/>
                  </a:cubicBezTo>
                  <a:cubicBezTo>
                    <a:pt x="10033" y="8565"/>
                    <a:pt x="10058" y="8659"/>
                    <a:pt x="10058" y="8690"/>
                  </a:cubicBezTo>
                  <a:cubicBezTo>
                    <a:pt x="10058" y="8720"/>
                    <a:pt x="10078" y="8768"/>
                    <a:pt x="10101" y="8796"/>
                  </a:cubicBezTo>
                  <a:cubicBezTo>
                    <a:pt x="10123" y="8823"/>
                    <a:pt x="10143" y="8875"/>
                    <a:pt x="10143" y="8916"/>
                  </a:cubicBezTo>
                  <a:cubicBezTo>
                    <a:pt x="10143" y="8957"/>
                    <a:pt x="10159" y="8992"/>
                    <a:pt x="10175" y="8992"/>
                  </a:cubicBezTo>
                  <a:cubicBezTo>
                    <a:pt x="10190" y="8992"/>
                    <a:pt x="10207" y="9052"/>
                    <a:pt x="10207" y="9127"/>
                  </a:cubicBezTo>
                  <a:cubicBezTo>
                    <a:pt x="10207" y="9202"/>
                    <a:pt x="10212" y="9280"/>
                    <a:pt x="10228" y="9293"/>
                  </a:cubicBezTo>
                  <a:cubicBezTo>
                    <a:pt x="10243" y="9307"/>
                    <a:pt x="10260" y="9364"/>
                    <a:pt x="10260" y="9414"/>
                  </a:cubicBezTo>
                  <a:cubicBezTo>
                    <a:pt x="10260" y="9465"/>
                    <a:pt x="10279" y="9523"/>
                    <a:pt x="10302" y="9550"/>
                  </a:cubicBezTo>
                  <a:cubicBezTo>
                    <a:pt x="10334" y="9588"/>
                    <a:pt x="10344" y="9688"/>
                    <a:pt x="10344" y="9987"/>
                  </a:cubicBezTo>
                  <a:cubicBezTo>
                    <a:pt x="10344" y="10222"/>
                    <a:pt x="10349" y="10380"/>
                    <a:pt x="10366" y="10380"/>
                  </a:cubicBezTo>
                  <a:cubicBezTo>
                    <a:pt x="10381" y="10380"/>
                    <a:pt x="10397" y="10492"/>
                    <a:pt x="10397" y="10636"/>
                  </a:cubicBezTo>
                  <a:cubicBezTo>
                    <a:pt x="10397" y="10776"/>
                    <a:pt x="10381" y="10894"/>
                    <a:pt x="10366" y="10908"/>
                  </a:cubicBezTo>
                  <a:cubicBezTo>
                    <a:pt x="10350" y="10921"/>
                    <a:pt x="10344" y="11084"/>
                    <a:pt x="10344" y="11255"/>
                  </a:cubicBezTo>
                  <a:cubicBezTo>
                    <a:pt x="10344" y="11482"/>
                    <a:pt x="10333" y="11565"/>
                    <a:pt x="10302" y="11602"/>
                  </a:cubicBezTo>
                  <a:cubicBezTo>
                    <a:pt x="10279" y="11629"/>
                    <a:pt x="10260" y="11700"/>
                    <a:pt x="10260" y="11752"/>
                  </a:cubicBezTo>
                  <a:cubicBezTo>
                    <a:pt x="10260" y="11805"/>
                    <a:pt x="10246" y="11885"/>
                    <a:pt x="10228" y="11934"/>
                  </a:cubicBezTo>
                  <a:cubicBezTo>
                    <a:pt x="10168" y="12098"/>
                    <a:pt x="10152" y="12138"/>
                    <a:pt x="10132" y="12265"/>
                  </a:cubicBezTo>
                  <a:cubicBezTo>
                    <a:pt x="10122" y="12336"/>
                    <a:pt x="10104" y="12401"/>
                    <a:pt x="10090" y="12401"/>
                  </a:cubicBezTo>
                  <a:cubicBezTo>
                    <a:pt x="10076" y="12401"/>
                    <a:pt x="10058" y="12429"/>
                    <a:pt x="10058" y="12462"/>
                  </a:cubicBezTo>
                  <a:cubicBezTo>
                    <a:pt x="10058" y="12537"/>
                    <a:pt x="10008" y="12692"/>
                    <a:pt x="9963" y="12733"/>
                  </a:cubicBezTo>
                  <a:cubicBezTo>
                    <a:pt x="9944" y="12751"/>
                    <a:pt x="9920" y="12792"/>
                    <a:pt x="9920" y="12824"/>
                  </a:cubicBezTo>
                  <a:cubicBezTo>
                    <a:pt x="9920" y="12855"/>
                    <a:pt x="9914" y="12869"/>
                    <a:pt x="9899" y="12869"/>
                  </a:cubicBezTo>
                  <a:cubicBezTo>
                    <a:pt x="9884" y="12869"/>
                    <a:pt x="9867" y="12902"/>
                    <a:pt x="9867" y="12929"/>
                  </a:cubicBezTo>
                  <a:cubicBezTo>
                    <a:pt x="9867" y="12956"/>
                    <a:pt x="9835" y="13027"/>
                    <a:pt x="9793" y="13095"/>
                  </a:cubicBezTo>
                  <a:cubicBezTo>
                    <a:pt x="9751" y="13163"/>
                    <a:pt x="9680" y="13284"/>
                    <a:pt x="9634" y="13367"/>
                  </a:cubicBezTo>
                  <a:cubicBezTo>
                    <a:pt x="9524" y="13563"/>
                    <a:pt x="9371" y="13781"/>
                    <a:pt x="9273" y="13880"/>
                  </a:cubicBezTo>
                  <a:cubicBezTo>
                    <a:pt x="9230" y="13923"/>
                    <a:pt x="9151" y="14014"/>
                    <a:pt x="9104" y="14076"/>
                  </a:cubicBezTo>
                  <a:cubicBezTo>
                    <a:pt x="8997" y="14213"/>
                    <a:pt x="8475" y="14574"/>
                    <a:pt x="8382" y="14574"/>
                  </a:cubicBezTo>
                  <a:cubicBezTo>
                    <a:pt x="8345" y="14574"/>
                    <a:pt x="8307" y="14597"/>
                    <a:pt x="8298" y="14619"/>
                  </a:cubicBezTo>
                  <a:cubicBezTo>
                    <a:pt x="8288" y="14641"/>
                    <a:pt x="8246" y="14664"/>
                    <a:pt x="8202" y="14664"/>
                  </a:cubicBezTo>
                  <a:cubicBezTo>
                    <a:pt x="8158" y="14664"/>
                    <a:pt x="8089" y="14676"/>
                    <a:pt x="8054" y="14694"/>
                  </a:cubicBezTo>
                  <a:cubicBezTo>
                    <a:pt x="7878" y="14787"/>
                    <a:pt x="7156" y="14769"/>
                    <a:pt x="6898" y="14664"/>
                  </a:cubicBezTo>
                  <a:cubicBezTo>
                    <a:pt x="6836" y="14639"/>
                    <a:pt x="6743" y="14595"/>
                    <a:pt x="6685" y="14574"/>
                  </a:cubicBezTo>
                  <a:cubicBezTo>
                    <a:pt x="6628" y="14553"/>
                    <a:pt x="6563" y="14519"/>
                    <a:pt x="6537" y="14498"/>
                  </a:cubicBezTo>
                  <a:cubicBezTo>
                    <a:pt x="6511" y="14477"/>
                    <a:pt x="6403" y="14413"/>
                    <a:pt x="6304" y="14347"/>
                  </a:cubicBezTo>
                  <a:cubicBezTo>
                    <a:pt x="6204" y="14282"/>
                    <a:pt x="6065" y="14166"/>
                    <a:pt x="5996" y="14091"/>
                  </a:cubicBezTo>
                  <a:cubicBezTo>
                    <a:pt x="5927" y="14016"/>
                    <a:pt x="5853" y="13957"/>
                    <a:pt x="5837" y="13955"/>
                  </a:cubicBezTo>
                  <a:cubicBezTo>
                    <a:pt x="5802" y="13952"/>
                    <a:pt x="5466" y="13482"/>
                    <a:pt x="5317" y="13231"/>
                  </a:cubicBezTo>
                  <a:cubicBezTo>
                    <a:pt x="5217" y="13061"/>
                    <a:pt x="5164" y="12937"/>
                    <a:pt x="5116" y="12793"/>
                  </a:cubicBezTo>
                  <a:cubicBezTo>
                    <a:pt x="5105" y="12761"/>
                    <a:pt x="5093" y="12729"/>
                    <a:pt x="5084" y="12718"/>
                  </a:cubicBezTo>
                  <a:cubicBezTo>
                    <a:pt x="5051" y="12677"/>
                    <a:pt x="4989" y="12519"/>
                    <a:pt x="4989" y="12462"/>
                  </a:cubicBezTo>
                  <a:cubicBezTo>
                    <a:pt x="4989" y="12429"/>
                    <a:pt x="4980" y="12401"/>
                    <a:pt x="4967" y="12401"/>
                  </a:cubicBezTo>
                  <a:cubicBezTo>
                    <a:pt x="4937" y="12401"/>
                    <a:pt x="4851" y="12133"/>
                    <a:pt x="4851" y="12039"/>
                  </a:cubicBezTo>
                  <a:cubicBezTo>
                    <a:pt x="4851" y="11998"/>
                    <a:pt x="4845" y="11962"/>
                    <a:pt x="4829" y="11949"/>
                  </a:cubicBezTo>
                  <a:cubicBezTo>
                    <a:pt x="4814" y="11935"/>
                    <a:pt x="4798" y="11858"/>
                    <a:pt x="4798" y="11783"/>
                  </a:cubicBezTo>
                  <a:cubicBezTo>
                    <a:pt x="4798" y="11697"/>
                    <a:pt x="4781" y="11631"/>
                    <a:pt x="4755" y="11617"/>
                  </a:cubicBezTo>
                  <a:cubicBezTo>
                    <a:pt x="4728" y="11602"/>
                    <a:pt x="4713" y="11549"/>
                    <a:pt x="4713" y="11451"/>
                  </a:cubicBezTo>
                  <a:cubicBezTo>
                    <a:pt x="4713" y="11367"/>
                    <a:pt x="4707" y="11283"/>
                    <a:pt x="4692" y="11270"/>
                  </a:cubicBezTo>
                  <a:cubicBezTo>
                    <a:pt x="4675" y="11255"/>
                    <a:pt x="4660" y="11001"/>
                    <a:pt x="4660" y="10651"/>
                  </a:cubicBezTo>
                  <a:cubicBezTo>
                    <a:pt x="4660" y="10301"/>
                    <a:pt x="4675" y="10062"/>
                    <a:pt x="4692" y="10048"/>
                  </a:cubicBezTo>
                  <a:cubicBezTo>
                    <a:pt x="4707" y="10034"/>
                    <a:pt x="4713" y="9922"/>
                    <a:pt x="4713" y="9806"/>
                  </a:cubicBezTo>
                  <a:cubicBezTo>
                    <a:pt x="4713" y="9667"/>
                    <a:pt x="4728" y="9582"/>
                    <a:pt x="4755" y="9550"/>
                  </a:cubicBezTo>
                  <a:cubicBezTo>
                    <a:pt x="4778" y="9523"/>
                    <a:pt x="4798" y="9470"/>
                    <a:pt x="4798" y="9429"/>
                  </a:cubicBezTo>
                  <a:cubicBezTo>
                    <a:pt x="4798" y="9388"/>
                    <a:pt x="4816" y="9316"/>
                    <a:pt x="4829" y="9278"/>
                  </a:cubicBezTo>
                  <a:cubicBezTo>
                    <a:pt x="4843" y="9240"/>
                    <a:pt x="4863" y="9135"/>
                    <a:pt x="4883" y="9037"/>
                  </a:cubicBezTo>
                  <a:cubicBezTo>
                    <a:pt x="4902" y="8939"/>
                    <a:pt x="4936" y="8830"/>
                    <a:pt x="4957" y="8796"/>
                  </a:cubicBezTo>
                  <a:cubicBezTo>
                    <a:pt x="4977" y="8761"/>
                    <a:pt x="4989" y="8716"/>
                    <a:pt x="4989" y="8690"/>
                  </a:cubicBezTo>
                  <a:cubicBezTo>
                    <a:pt x="4989" y="8640"/>
                    <a:pt x="5048" y="8495"/>
                    <a:pt x="5095" y="8418"/>
                  </a:cubicBezTo>
                  <a:cubicBezTo>
                    <a:pt x="5110" y="8393"/>
                    <a:pt x="5135" y="8333"/>
                    <a:pt x="5158" y="8283"/>
                  </a:cubicBezTo>
                  <a:cubicBezTo>
                    <a:pt x="5181" y="8232"/>
                    <a:pt x="5230" y="8138"/>
                    <a:pt x="5264" y="8086"/>
                  </a:cubicBezTo>
                  <a:cubicBezTo>
                    <a:pt x="5299" y="8035"/>
                    <a:pt x="5328" y="7974"/>
                    <a:pt x="5328" y="7951"/>
                  </a:cubicBezTo>
                  <a:cubicBezTo>
                    <a:pt x="5328" y="7845"/>
                    <a:pt x="5892" y="7136"/>
                    <a:pt x="5975" y="7136"/>
                  </a:cubicBezTo>
                  <a:cubicBezTo>
                    <a:pt x="5990" y="7136"/>
                    <a:pt x="5996" y="7109"/>
                    <a:pt x="5996" y="7091"/>
                  </a:cubicBezTo>
                  <a:cubicBezTo>
                    <a:pt x="5996" y="7072"/>
                    <a:pt x="6038" y="7026"/>
                    <a:pt x="6092" y="6985"/>
                  </a:cubicBezTo>
                  <a:cubicBezTo>
                    <a:pt x="6145" y="6944"/>
                    <a:pt x="6187" y="6909"/>
                    <a:pt x="6187" y="6895"/>
                  </a:cubicBezTo>
                  <a:cubicBezTo>
                    <a:pt x="6187" y="6880"/>
                    <a:pt x="6233" y="6846"/>
                    <a:pt x="6282" y="6819"/>
                  </a:cubicBezTo>
                  <a:cubicBezTo>
                    <a:pt x="6332" y="6793"/>
                    <a:pt x="6400" y="6747"/>
                    <a:pt x="6431" y="6729"/>
                  </a:cubicBezTo>
                  <a:cubicBezTo>
                    <a:pt x="6734" y="6542"/>
                    <a:pt x="7228" y="6398"/>
                    <a:pt x="7523" y="6382"/>
                  </a:cubicBezTo>
                  <a:close/>
                </a:path>
              </a:pathLst>
            </a:custGeom>
            <a:ln w="12700" cap="flat">
              <a:noFill/>
              <a:miter lim="400000"/>
            </a:ln>
            <a:effectLst/>
          </p:spPr>
        </p:pic>
        <p:pic>
          <p:nvPicPr>
            <p:cNvPr id="297" name="9d6ed4e6-f024-4b82-a319-6c75fd0f3174.png" descr="9d6ed4e6-f024-4b82-a319-6c75fd0f3174.png"/>
            <p:cNvPicPr>
              <a:picLocks noChangeAspect="1"/>
            </p:cNvPicPr>
            <p:nvPr/>
          </p:nvPicPr>
          <p:blipFill>
            <a:blip r:embed="rId7"/>
            <a:srcRect l="17864" t="12377" r="18861" b="20838"/>
            <a:stretch>
              <a:fillRect/>
            </a:stretch>
          </p:blipFill>
          <p:spPr>
            <a:xfrm>
              <a:off x="3944497" y="430762"/>
              <a:ext cx="807135" cy="567948"/>
            </a:xfrm>
            <a:custGeom>
              <a:avLst/>
              <a:gdLst/>
              <a:ahLst/>
              <a:cxnLst>
                <a:cxn ang="0">
                  <a:pos x="wd2" y="hd2"/>
                </a:cxn>
                <a:cxn ang="5400000">
                  <a:pos x="wd2" y="hd2"/>
                </a:cxn>
                <a:cxn ang="10800000">
                  <a:pos x="wd2" y="hd2"/>
                </a:cxn>
                <a:cxn ang="16200000">
                  <a:pos x="wd2" y="hd2"/>
                </a:cxn>
              </a:cxnLst>
              <a:rect l="0" t="0" r="r" b="b"/>
              <a:pathLst>
                <a:path w="21569" h="21590" extrusionOk="0">
                  <a:moveTo>
                    <a:pt x="7608" y="0"/>
                  </a:moveTo>
                  <a:cubicBezTo>
                    <a:pt x="7139" y="0"/>
                    <a:pt x="6747" y="11"/>
                    <a:pt x="6739" y="30"/>
                  </a:cubicBezTo>
                  <a:cubicBezTo>
                    <a:pt x="6730" y="49"/>
                    <a:pt x="6639" y="76"/>
                    <a:pt x="6537" y="91"/>
                  </a:cubicBezTo>
                  <a:cubicBezTo>
                    <a:pt x="6398" y="111"/>
                    <a:pt x="6326" y="146"/>
                    <a:pt x="6251" y="226"/>
                  </a:cubicBezTo>
                  <a:cubicBezTo>
                    <a:pt x="6121" y="365"/>
                    <a:pt x="5997" y="555"/>
                    <a:pt x="5996" y="619"/>
                  </a:cubicBezTo>
                  <a:cubicBezTo>
                    <a:pt x="5996" y="646"/>
                    <a:pt x="5980" y="711"/>
                    <a:pt x="5964" y="754"/>
                  </a:cubicBezTo>
                  <a:cubicBezTo>
                    <a:pt x="5949" y="798"/>
                    <a:pt x="5927" y="862"/>
                    <a:pt x="5911" y="905"/>
                  </a:cubicBezTo>
                  <a:cubicBezTo>
                    <a:pt x="5896" y="948"/>
                    <a:pt x="5890" y="1063"/>
                    <a:pt x="5890" y="1147"/>
                  </a:cubicBezTo>
                  <a:cubicBezTo>
                    <a:pt x="5890" y="1230"/>
                    <a:pt x="5870" y="1331"/>
                    <a:pt x="5848" y="1373"/>
                  </a:cubicBezTo>
                  <a:cubicBezTo>
                    <a:pt x="5820" y="1426"/>
                    <a:pt x="5806" y="1543"/>
                    <a:pt x="5805" y="1765"/>
                  </a:cubicBezTo>
                  <a:cubicBezTo>
                    <a:pt x="5805" y="1944"/>
                    <a:pt x="5789" y="2099"/>
                    <a:pt x="5773" y="2112"/>
                  </a:cubicBezTo>
                  <a:cubicBezTo>
                    <a:pt x="5758" y="2126"/>
                    <a:pt x="5742" y="2187"/>
                    <a:pt x="5742" y="2233"/>
                  </a:cubicBezTo>
                  <a:cubicBezTo>
                    <a:pt x="5742" y="2347"/>
                    <a:pt x="5672" y="2459"/>
                    <a:pt x="5593" y="2459"/>
                  </a:cubicBezTo>
                  <a:cubicBezTo>
                    <a:pt x="5557" y="2459"/>
                    <a:pt x="5481" y="2491"/>
                    <a:pt x="5423" y="2535"/>
                  </a:cubicBezTo>
                  <a:cubicBezTo>
                    <a:pt x="5366" y="2578"/>
                    <a:pt x="5295" y="2610"/>
                    <a:pt x="5275" y="2610"/>
                  </a:cubicBezTo>
                  <a:cubicBezTo>
                    <a:pt x="5255" y="2610"/>
                    <a:pt x="5191" y="2646"/>
                    <a:pt x="5126" y="2685"/>
                  </a:cubicBezTo>
                  <a:cubicBezTo>
                    <a:pt x="5062" y="2725"/>
                    <a:pt x="4958" y="2797"/>
                    <a:pt x="4893" y="2836"/>
                  </a:cubicBezTo>
                  <a:lnTo>
                    <a:pt x="4776" y="2897"/>
                  </a:lnTo>
                  <a:lnTo>
                    <a:pt x="4670" y="2806"/>
                  </a:lnTo>
                  <a:cubicBezTo>
                    <a:pt x="4613" y="2750"/>
                    <a:pt x="4531" y="2661"/>
                    <a:pt x="4490" y="2610"/>
                  </a:cubicBezTo>
                  <a:cubicBezTo>
                    <a:pt x="4449" y="2559"/>
                    <a:pt x="4388" y="2486"/>
                    <a:pt x="4352" y="2444"/>
                  </a:cubicBezTo>
                  <a:cubicBezTo>
                    <a:pt x="4316" y="2402"/>
                    <a:pt x="4215" y="2278"/>
                    <a:pt x="4130" y="2172"/>
                  </a:cubicBezTo>
                  <a:cubicBezTo>
                    <a:pt x="4044" y="2067"/>
                    <a:pt x="3961" y="1976"/>
                    <a:pt x="3949" y="1976"/>
                  </a:cubicBezTo>
                  <a:cubicBezTo>
                    <a:pt x="3937" y="1976"/>
                    <a:pt x="3891" y="1935"/>
                    <a:pt x="3843" y="1886"/>
                  </a:cubicBezTo>
                  <a:cubicBezTo>
                    <a:pt x="3763" y="1805"/>
                    <a:pt x="3719" y="1795"/>
                    <a:pt x="3408" y="1795"/>
                  </a:cubicBezTo>
                  <a:cubicBezTo>
                    <a:pt x="3188" y="1795"/>
                    <a:pt x="3061" y="1812"/>
                    <a:pt x="3048" y="1841"/>
                  </a:cubicBezTo>
                  <a:cubicBezTo>
                    <a:pt x="3037" y="1865"/>
                    <a:pt x="2998" y="1912"/>
                    <a:pt x="2952" y="1946"/>
                  </a:cubicBezTo>
                  <a:cubicBezTo>
                    <a:pt x="2906" y="1980"/>
                    <a:pt x="2810" y="2079"/>
                    <a:pt x="2751" y="2157"/>
                  </a:cubicBezTo>
                  <a:cubicBezTo>
                    <a:pt x="2691" y="2235"/>
                    <a:pt x="2639" y="2293"/>
                    <a:pt x="2634" y="2293"/>
                  </a:cubicBezTo>
                  <a:cubicBezTo>
                    <a:pt x="2614" y="2293"/>
                    <a:pt x="1548" y="3838"/>
                    <a:pt x="1478" y="3968"/>
                  </a:cubicBezTo>
                  <a:cubicBezTo>
                    <a:pt x="1436" y="4046"/>
                    <a:pt x="1404" y="4146"/>
                    <a:pt x="1404" y="4179"/>
                  </a:cubicBezTo>
                  <a:cubicBezTo>
                    <a:pt x="1404" y="4212"/>
                    <a:pt x="1387" y="4241"/>
                    <a:pt x="1372" y="4254"/>
                  </a:cubicBezTo>
                  <a:cubicBezTo>
                    <a:pt x="1357" y="4268"/>
                    <a:pt x="1351" y="4434"/>
                    <a:pt x="1351" y="4617"/>
                  </a:cubicBezTo>
                  <a:cubicBezTo>
                    <a:pt x="1351" y="4799"/>
                    <a:pt x="1357" y="4965"/>
                    <a:pt x="1372" y="4979"/>
                  </a:cubicBezTo>
                  <a:cubicBezTo>
                    <a:pt x="1387" y="4992"/>
                    <a:pt x="1404" y="5022"/>
                    <a:pt x="1404" y="5054"/>
                  </a:cubicBezTo>
                  <a:cubicBezTo>
                    <a:pt x="1404" y="5114"/>
                    <a:pt x="1617" y="5558"/>
                    <a:pt x="1658" y="5582"/>
                  </a:cubicBezTo>
                  <a:cubicBezTo>
                    <a:pt x="1671" y="5589"/>
                    <a:pt x="1680" y="5612"/>
                    <a:pt x="1680" y="5642"/>
                  </a:cubicBezTo>
                  <a:cubicBezTo>
                    <a:pt x="1680" y="5673"/>
                    <a:pt x="1696" y="5703"/>
                    <a:pt x="1711" y="5703"/>
                  </a:cubicBezTo>
                  <a:cubicBezTo>
                    <a:pt x="1727" y="5703"/>
                    <a:pt x="1733" y="5731"/>
                    <a:pt x="1733" y="5763"/>
                  </a:cubicBezTo>
                  <a:cubicBezTo>
                    <a:pt x="1733" y="5795"/>
                    <a:pt x="1756" y="5836"/>
                    <a:pt x="1775" y="5854"/>
                  </a:cubicBezTo>
                  <a:cubicBezTo>
                    <a:pt x="1794" y="5871"/>
                    <a:pt x="1846" y="5947"/>
                    <a:pt x="1892" y="6035"/>
                  </a:cubicBezTo>
                  <a:cubicBezTo>
                    <a:pt x="1937" y="6122"/>
                    <a:pt x="1975" y="6208"/>
                    <a:pt x="1987" y="6216"/>
                  </a:cubicBezTo>
                  <a:cubicBezTo>
                    <a:pt x="1999" y="6223"/>
                    <a:pt x="2019" y="6247"/>
                    <a:pt x="2019" y="6276"/>
                  </a:cubicBezTo>
                  <a:cubicBezTo>
                    <a:pt x="2019" y="6305"/>
                    <a:pt x="2032" y="6343"/>
                    <a:pt x="2051" y="6351"/>
                  </a:cubicBezTo>
                  <a:cubicBezTo>
                    <a:pt x="2072" y="6361"/>
                    <a:pt x="2086" y="6425"/>
                    <a:pt x="2083" y="6533"/>
                  </a:cubicBezTo>
                  <a:cubicBezTo>
                    <a:pt x="2078" y="6689"/>
                    <a:pt x="2038" y="6825"/>
                    <a:pt x="1913" y="7181"/>
                  </a:cubicBezTo>
                  <a:cubicBezTo>
                    <a:pt x="1891" y="7243"/>
                    <a:pt x="1870" y="7316"/>
                    <a:pt x="1870" y="7347"/>
                  </a:cubicBezTo>
                  <a:cubicBezTo>
                    <a:pt x="1870" y="7378"/>
                    <a:pt x="1865" y="7408"/>
                    <a:pt x="1849" y="7408"/>
                  </a:cubicBezTo>
                  <a:cubicBezTo>
                    <a:pt x="1834" y="7408"/>
                    <a:pt x="1817" y="7464"/>
                    <a:pt x="1817" y="7528"/>
                  </a:cubicBezTo>
                  <a:cubicBezTo>
                    <a:pt x="1817" y="7592"/>
                    <a:pt x="1798" y="7661"/>
                    <a:pt x="1775" y="7694"/>
                  </a:cubicBezTo>
                  <a:cubicBezTo>
                    <a:pt x="1752" y="7727"/>
                    <a:pt x="1733" y="7773"/>
                    <a:pt x="1733" y="7800"/>
                  </a:cubicBezTo>
                  <a:cubicBezTo>
                    <a:pt x="1733" y="7858"/>
                    <a:pt x="1609" y="8037"/>
                    <a:pt x="1563" y="8041"/>
                  </a:cubicBezTo>
                  <a:cubicBezTo>
                    <a:pt x="1427" y="8054"/>
                    <a:pt x="1270" y="8090"/>
                    <a:pt x="1234" y="8117"/>
                  </a:cubicBezTo>
                  <a:cubicBezTo>
                    <a:pt x="1210" y="8134"/>
                    <a:pt x="1127" y="8161"/>
                    <a:pt x="1043" y="8177"/>
                  </a:cubicBezTo>
                  <a:cubicBezTo>
                    <a:pt x="845" y="8214"/>
                    <a:pt x="489" y="8353"/>
                    <a:pt x="418" y="8418"/>
                  </a:cubicBezTo>
                  <a:cubicBezTo>
                    <a:pt x="334" y="8494"/>
                    <a:pt x="152" y="8752"/>
                    <a:pt x="152" y="8796"/>
                  </a:cubicBezTo>
                  <a:cubicBezTo>
                    <a:pt x="152" y="8816"/>
                    <a:pt x="136" y="8841"/>
                    <a:pt x="121" y="8841"/>
                  </a:cubicBezTo>
                  <a:cubicBezTo>
                    <a:pt x="105" y="8841"/>
                    <a:pt x="89" y="8863"/>
                    <a:pt x="89" y="8901"/>
                  </a:cubicBezTo>
                  <a:cubicBezTo>
                    <a:pt x="89" y="8939"/>
                    <a:pt x="69" y="9020"/>
                    <a:pt x="46" y="9082"/>
                  </a:cubicBezTo>
                  <a:cubicBezTo>
                    <a:pt x="-16" y="9252"/>
                    <a:pt x="-16" y="12132"/>
                    <a:pt x="46" y="12205"/>
                  </a:cubicBezTo>
                  <a:cubicBezTo>
                    <a:pt x="69" y="12232"/>
                    <a:pt x="89" y="12285"/>
                    <a:pt x="89" y="12326"/>
                  </a:cubicBezTo>
                  <a:cubicBezTo>
                    <a:pt x="89" y="12367"/>
                    <a:pt x="105" y="12401"/>
                    <a:pt x="121" y="12401"/>
                  </a:cubicBezTo>
                  <a:cubicBezTo>
                    <a:pt x="136" y="12401"/>
                    <a:pt x="152" y="12429"/>
                    <a:pt x="152" y="12462"/>
                  </a:cubicBezTo>
                  <a:cubicBezTo>
                    <a:pt x="152" y="12494"/>
                    <a:pt x="158" y="12522"/>
                    <a:pt x="174" y="12522"/>
                  </a:cubicBezTo>
                  <a:cubicBezTo>
                    <a:pt x="189" y="12522"/>
                    <a:pt x="205" y="12540"/>
                    <a:pt x="205" y="12567"/>
                  </a:cubicBezTo>
                  <a:cubicBezTo>
                    <a:pt x="207" y="12724"/>
                    <a:pt x="701" y="12996"/>
                    <a:pt x="1075" y="13050"/>
                  </a:cubicBezTo>
                  <a:cubicBezTo>
                    <a:pt x="1179" y="13065"/>
                    <a:pt x="1268" y="13106"/>
                    <a:pt x="1277" y="13125"/>
                  </a:cubicBezTo>
                  <a:cubicBezTo>
                    <a:pt x="1285" y="13145"/>
                    <a:pt x="1345" y="13156"/>
                    <a:pt x="1404" y="13156"/>
                  </a:cubicBezTo>
                  <a:cubicBezTo>
                    <a:pt x="1567" y="13156"/>
                    <a:pt x="1680" y="13201"/>
                    <a:pt x="1680" y="13261"/>
                  </a:cubicBezTo>
                  <a:cubicBezTo>
                    <a:pt x="1680" y="13291"/>
                    <a:pt x="1696" y="13306"/>
                    <a:pt x="1711" y="13306"/>
                  </a:cubicBezTo>
                  <a:cubicBezTo>
                    <a:pt x="1727" y="13306"/>
                    <a:pt x="1732" y="13344"/>
                    <a:pt x="1733" y="13382"/>
                  </a:cubicBezTo>
                  <a:cubicBezTo>
                    <a:pt x="1733" y="13420"/>
                    <a:pt x="1753" y="13490"/>
                    <a:pt x="1775" y="13533"/>
                  </a:cubicBezTo>
                  <a:cubicBezTo>
                    <a:pt x="1798" y="13575"/>
                    <a:pt x="1817" y="13642"/>
                    <a:pt x="1817" y="13684"/>
                  </a:cubicBezTo>
                  <a:cubicBezTo>
                    <a:pt x="1817" y="13725"/>
                    <a:pt x="1876" y="13921"/>
                    <a:pt x="1945" y="14121"/>
                  </a:cubicBezTo>
                  <a:cubicBezTo>
                    <a:pt x="2109" y="14600"/>
                    <a:pt x="2116" y="14724"/>
                    <a:pt x="1998" y="14921"/>
                  </a:cubicBezTo>
                  <a:cubicBezTo>
                    <a:pt x="1959" y="14986"/>
                    <a:pt x="1900" y="15068"/>
                    <a:pt x="1870" y="15117"/>
                  </a:cubicBezTo>
                  <a:cubicBezTo>
                    <a:pt x="1841" y="15166"/>
                    <a:pt x="1817" y="15230"/>
                    <a:pt x="1817" y="15253"/>
                  </a:cubicBezTo>
                  <a:cubicBezTo>
                    <a:pt x="1817" y="15275"/>
                    <a:pt x="1798" y="15300"/>
                    <a:pt x="1775" y="15313"/>
                  </a:cubicBezTo>
                  <a:cubicBezTo>
                    <a:pt x="1752" y="15325"/>
                    <a:pt x="1733" y="15360"/>
                    <a:pt x="1733" y="15388"/>
                  </a:cubicBezTo>
                  <a:cubicBezTo>
                    <a:pt x="1733" y="15417"/>
                    <a:pt x="1691" y="15508"/>
                    <a:pt x="1637" y="15584"/>
                  </a:cubicBezTo>
                  <a:cubicBezTo>
                    <a:pt x="1584" y="15661"/>
                    <a:pt x="1542" y="15734"/>
                    <a:pt x="1542" y="15750"/>
                  </a:cubicBezTo>
                  <a:cubicBezTo>
                    <a:pt x="1542" y="15767"/>
                    <a:pt x="1506" y="15845"/>
                    <a:pt x="1467" y="15916"/>
                  </a:cubicBezTo>
                  <a:cubicBezTo>
                    <a:pt x="1429" y="15988"/>
                    <a:pt x="1404" y="16065"/>
                    <a:pt x="1404" y="16097"/>
                  </a:cubicBezTo>
                  <a:cubicBezTo>
                    <a:pt x="1404" y="16130"/>
                    <a:pt x="1387" y="16174"/>
                    <a:pt x="1372" y="16188"/>
                  </a:cubicBezTo>
                  <a:cubicBezTo>
                    <a:pt x="1335" y="16220"/>
                    <a:pt x="1335" y="16912"/>
                    <a:pt x="1372" y="16912"/>
                  </a:cubicBezTo>
                  <a:cubicBezTo>
                    <a:pt x="1387" y="16912"/>
                    <a:pt x="1404" y="16942"/>
                    <a:pt x="1404" y="16972"/>
                  </a:cubicBezTo>
                  <a:cubicBezTo>
                    <a:pt x="1404" y="17003"/>
                    <a:pt x="1423" y="17035"/>
                    <a:pt x="1446" y="17048"/>
                  </a:cubicBezTo>
                  <a:cubicBezTo>
                    <a:pt x="1469" y="17060"/>
                    <a:pt x="1489" y="17105"/>
                    <a:pt x="1489" y="17138"/>
                  </a:cubicBezTo>
                  <a:cubicBezTo>
                    <a:pt x="1489" y="17172"/>
                    <a:pt x="1495" y="17199"/>
                    <a:pt x="1510" y="17199"/>
                  </a:cubicBezTo>
                  <a:cubicBezTo>
                    <a:pt x="1525" y="17199"/>
                    <a:pt x="1542" y="17217"/>
                    <a:pt x="1542" y="17244"/>
                  </a:cubicBezTo>
                  <a:cubicBezTo>
                    <a:pt x="1542" y="17271"/>
                    <a:pt x="1584" y="17355"/>
                    <a:pt x="1637" y="17425"/>
                  </a:cubicBezTo>
                  <a:cubicBezTo>
                    <a:pt x="1691" y="17495"/>
                    <a:pt x="1733" y="17565"/>
                    <a:pt x="1733" y="17576"/>
                  </a:cubicBezTo>
                  <a:cubicBezTo>
                    <a:pt x="1733" y="17587"/>
                    <a:pt x="1810" y="17688"/>
                    <a:pt x="1902" y="17817"/>
                  </a:cubicBezTo>
                  <a:cubicBezTo>
                    <a:pt x="1994" y="17947"/>
                    <a:pt x="2072" y="18083"/>
                    <a:pt x="2072" y="18104"/>
                  </a:cubicBezTo>
                  <a:cubicBezTo>
                    <a:pt x="2072" y="18125"/>
                    <a:pt x="2079" y="18142"/>
                    <a:pt x="2093" y="18149"/>
                  </a:cubicBezTo>
                  <a:cubicBezTo>
                    <a:pt x="2107" y="18156"/>
                    <a:pt x="2288" y="18394"/>
                    <a:pt x="2496" y="18677"/>
                  </a:cubicBezTo>
                  <a:cubicBezTo>
                    <a:pt x="2987" y="19345"/>
                    <a:pt x="3024" y="19371"/>
                    <a:pt x="3419" y="19371"/>
                  </a:cubicBezTo>
                  <a:cubicBezTo>
                    <a:pt x="3725" y="19371"/>
                    <a:pt x="3724" y="19377"/>
                    <a:pt x="3875" y="19235"/>
                  </a:cubicBezTo>
                  <a:cubicBezTo>
                    <a:pt x="3958" y="19157"/>
                    <a:pt x="4063" y="19047"/>
                    <a:pt x="4098" y="18994"/>
                  </a:cubicBezTo>
                  <a:cubicBezTo>
                    <a:pt x="4132" y="18941"/>
                    <a:pt x="4169" y="18904"/>
                    <a:pt x="4183" y="18904"/>
                  </a:cubicBezTo>
                  <a:cubicBezTo>
                    <a:pt x="4196" y="18904"/>
                    <a:pt x="4251" y="18829"/>
                    <a:pt x="4310" y="18753"/>
                  </a:cubicBezTo>
                  <a:cubicBezTo>
                    <a:pt x="4368" y="18676"/>
                    <a:pt x="4421" y="18617"/>
                    <a:pt x="4426" y="18617"/>
                  </a:cubicBezTo>
                  <a:cubicBezTo>
                    <a:pt x="4439" y="18617"/>
                    <a:pt x="4527" y="18521"/>
                    <a:pt x="4639" y="18376"/>
                  </a:cubicBezTo>
                  <a:cubicBezTo>
                    <a:pt x="4685" y="18316"/>
                    <a:pt x="4752" y="18270"/>
                    <a:pt x="4787" y="18270"/>
                  </a:cubicBezTo>
                  <a:cubicBezTo>
                    <a:pt x="4822" y="18270"/>
                    <a:pt x="4951" y="18334"/>
                    <a:pt x="5073" y="18421"/>
                  </a:cubicBezTo>
                  <a:cubicBezTo>
                    <a:pt x="5196" y="18508"/>
                    <a:pt x="5313" y="18587"/>
                    <a:pt x="5339" y="18587"/>
                  </a:cubicBezTo>
                  <a:cubicBezTo>
                    <a:pt x="5429" y="18587"/>
                    <a:pt x="5666" y="18747"/>
                    <a:pt x="5667" y="18813"/>
                  </a:cubicBezTo>
                  <a:cubicBezTo>
                    <a:pt x="5668" y="18848"/>
                    <a:pt x="5687" y="18907"/>
                    <a:pt x="5710" y="18949"/>
                  </a:cubicBezTo>
                  <a:cubicBezTo>
                    <a:pt x="5732" y="18991"/>
                    <a:pt x="5742" y="19113"/>
                    <a:pt x="5742" y="19205"/>
                  </a:cubicBezTo>
                  <a:cubicBezTo>
                    <a:pt x="5742" y="19298"/>
                    <a:pt x="5758" y="19373"/>
                    <a:pt x="5773" y="19386"/>
                  </a:cubicBezTo>
                  <a:cubicBezTo>
                    <a:pt x="5789" y="19400"/>
                    <a:pt x="5805" y="19551"/>
                    <a:pt x="5805" y="19718"/>
                  </a:cubicBezTo>
                  <a:cubicBezTo>
                    <a:pt x="5806" y="19923"/>
                    <a:pt x="5820" y="20059"/>
                    <a:pt x="5848" y="20110"/>
                  </a:cubicBezTo>
                  <a:cubicBezTo>
                    <a:pt x="5870" y="20153"/>
                    <a:pt x="5890" y="20254"/>
                    <a:pt x="5890" y="20337"/>
                  </a:cubicBezTo>
                  <a:cubicBezTo>
                    <a:pt x="5890" y="20420"/>
                    <a:pt x="5896" y="20488"/>
                    <a:pt x="5911" y="20488"/>
                  </a:cubicBezTo>
                  <a:cubicBezTo>
                    <a:pt x="5927" y="20488"/>
                    <a:pt x="5943" y="20520"/>
                    <a:pt x="5943" y="20563"/>
                  </a:cubicBezTo>
                  <a:cubicBezTo>
                    <a:pt x="5943" y="20607"/>
                    <a:pt x="5949" y="20639"/>
                    <a:pt x="5964" y="20639"/>
                  </a:cubicBezTo>
                  <a:cubicBezTo>
                    <a:pt x="5980" y="20639"/>
                    <a:pt x="5996" y="20656"/>
                    <a:pt x="5996" y="20684"/>
                  </a:cubicBezTo>
                  <a:cubicBezTo>
                    <a:pt x="5996" y="20771"/>
                    <a:pt x="6205" y="21049"/>
                    <a:pt x="6346" y="21151"/>
                  </a:cubicBezTo>
                  <a:lnTo>
                    <a:pt x="6484" y="21257"/>
                  </a:lnTo>
                  <a:lnTo>
                    <a:pt x="7523" y="21257"/>
                  </a:lnTo>
                  <a:lnTo>
                    <a:pt x="8573" y="21257"/>
                  </a:lnTo>
                  <a:lnTo>
                    <a:pt x="8711" y="21151"/>
                  </a:lnTo>
                  <a:cubicBezTo>
                    <a:pt x="8978" y="20951"/>
                    <a:pt x="9167" y="20601"/>
                    <a:pt x="9167" y="20322"/>
                  </a:cubicBezTo>
                  <a:cubicBezTo>
                    <a:pt x="9167" y="20262"/>
                    <a:pt x="9187" y="20198"/>
                    <a:pt x="9210" y="20171"/>
                  </a:cubicBezTo>
                  <a:cubicBezTo>
                    <a:pt x="9239" y="20136"/>
                    <a:pt x="9252" y="20031"/>
                    <a:pt x="9252" y="19839"/>
                  </a:cubicBezTo>
                  <a:cubicBezTo>
                    <a:pt x="9252" y="19690"/>
                    <a:pt x="9269" y="19566"/>
                    <a:pt x="9284" y="19552"/>
                  </a:cubicBezTo>
                  <a:cubicBezTo>
                    <a:pt x="9299" y="19539"/>
                    <a:pt x="9316" y="19418"/>
                    <a:pt x="9316" y="19281"/>
                  </a:cubicBezTo>
                  <a:cubicBezTo>
                    <a:pt x="9316" y="18848"/>
                    <a:pt x="9398" y="18718"/>
                    <a:pt x="9782" y="18602"/>
                  </a:cubicBezTo>
                  <a:cubicBezTo>
                    <a:pt x="9790" y="18599"/>
                    <a:pt x="9839" y="18564"/>
                    <a:pt x="9888" y="18526"/>
                  </a:cubicBezTo>
                  <a:cubicBezTo>
                    <a:pt x="9937" y="18489"/>
                    <a:pt x="9989" y="18466"/>
                    <a:pt x="10005" y="18466"/>
                  </a:cubicBezTo>
                  <a:cubicBezTo>
                    <a:pt x="10021" y="18466"/>
                    <a:pt x="10082" y="18417"/>
                    <a:pt x="10143" y="18360"/>
                  </a:cubicBezTo>
                  <a:cubicBezTo>
                    <a:pt x="10291" y="18221"/>
                    <a:pt x="10359" y="18250"/>
                    <a:pt x="10588" y="18541"/>
                  </a:cubicBezTo>
                  <a:cubicBezTo>
                    <a:pt x="10629" y="18593"/>
                    <a:pt x="10704" y="18680"/>
                    <a:pt x="10758" y="18738"/>
                  </a:cubicBezTo>
                  <a:cubicBezTo>
                    <a:pt x="10812" y="18795"/>
                    <a:pt x="10892" y="18889"/>
                    <a:pt x="10938" y="18949"/>
                  </a:cubicBezTo>
                  <a:cubicBezTo>
                    <a:pt x="10984" y="19009"/>
                    <a:pt x="11049" y="19072"/>
                    <a:pt x="11076" y="19085"/>
                  </a:cubicBezTo>
                  <a:cubicBezTo>
                    <a:pt x="11103" y="19097"/>
                    <a:pt x="11119" y="19113"/>
                    <a:pt x="11119" y="19130"/>
                  </a:cubicBezTo>
                  <a:cubicBezTo>
                    <a:pt x="11119" y="19147"/>
                    <a:pt x="11198" y="19208"/>
                    <a:pt x="11288" y="19266"/>
                  </a:cubicBezTo>
                  <a:cubicBezTo>
                    <a:pt x="11422" y="19351"/>
                    <a:pt x="11485" y="19371"/>
                    <a:pt x="11670" y="19371"/>
                  </a:cubicBezTo>
                  <a:lnTo>
                    <a:pt x="11903" y="19371"/>
                  </a:lnTo>
                  <a:lnTo>
                    <a:pt x="12073" y="19613"/>
                  </a:lnTo>
                  <a:cubicBezTo>
                    <a:pt x="12168" y="19743"/>
                    <a:pt x="12266" y="19854"/>
                    <a:pt x="12285" y="19854"/>
                  </a:cubicBezTo>
                  <a:cubicBezTo>
                    <a:pt x="12304" y="19854"/>
                    <a:pt x="12317" y="19867"/>
                    <a:pt x="12317" y="19884"/>
                  </a:cubicBezTo>
                  <a:cubicBezTo>
                    <a:pt x="12317" y="19901"/>
                    <a:pt x="12363" y="19948"/>
                    <a:pt x="12413" y="19990"/>
                  </a:cubicBezTo>
                  <a:cubicBezTo>
                    <a:pt x="12462" y="20031"/>
                    <a:pt x="12535" y="20107"/>
                    <a:pt x="12582" y="20171"/>
                  </a:cubicBezTo>
                  <a:cubicBezTo>
                    <a:pt x="12682" y="20304"/>
                    <a:pt x="12886" y="20488"/>
                    <a:pt x="12943" y="20488"/>
                  </a:cubicBezTo>
                  <a:cubicBezTo>
                    <a:pt x="12964" y="20488"/>
                    <a:pt x="12985" y="20500"/>
                    <a:pt x="12985" y="20518"/>
                  </a:cubicBezTo>
                  <a:cubicBezTo>
                    <a:pt x="12985" y="20535"/>
                    <a:pt x="13112" y="20625"/>
                    <a:pt x="13261" y="20729"/>
                  </a:cubicBezTo>
                  <a:cubicBezTo>
                    <a:pt x="13669" y="21013"/>
                    <a:pt x="13672" y="21019"/>
                    <a:pt x="13972" y="21151"/>
                  </a:cubicBezTo>
                  <a:cubicBezTo>
                    <a:pt x="14125" y="21219"/>
                    <a:pt x="14280" y="21298"/>
                    <a:pt x="14311" y="21317"/>
                  </a:cubicBezTo>
                  <a:cubicBezTo>
                    <a:pt x="14342" y="21337"/>
                    <a:pt x="14409" y="21366"/>
                    <a:pt x="14459" y="21378"/>
                  </a:cubicBezTo>
                  <a:cubicBezTo>
                    <a:pt x="14510" y="21389"/>
                    <a:pt x="14616" y="21418"/>
                    <a:pt x="14703" y="21453"/>
                  </a:cubicBezTo>
                  <a:cubicBezTo>
                    <a:pt x="14791" y="21489"/>
                    <a:pt x="14943" y="21544"/>
                    <a:pt x="15043" y="21559"/>
                  </a:cubicBezTo>
                  <a:cubicBezTo>
                    <a:pt x="15314" y="21600"/>
                    <a:pt x="16374" y="21600"/>
                    <a:pt x="16581" y="21559"/>
                  </a:cubicBezTo>
                  <a:cubicBezTo>
                    <a:pt x="16927" y="21490"/>
                    <a:pt x="17302" y="21374"/>
                    <a:pt x="17503" y="21287"/>
                  </a:cubicBezTo>
                  <a:cubicBezTo>
                    <a:pt x="17856" y="21135"/>
                    <a:pt x="18373" y="20837"/>
                    <a:pt x="18500" y="20714"/>
                  </a:cubicBezTo>
                  <a:cubicBezTo>
                    <a:pt x="18539" y="20676"/>
                    <a:pt x="18608" y="20638"/>
                    <a:pt x="18649" y="20623"/>
                  </a:cubicBezTo>
                  <a:cubicBezTo>
                    <a:pt x="18689" y="20609"/>
                    <a:pt x="18737" y="20563"/>
                    <a:pt x="18755" y="20533"/>
                  </a:cubicBezTo>
                  <a:cubicBezTo>
                    <a:pt x="18773" y="20502"/>
                    <a:pt x="18801" y="20474"/>
                    <a:pt x="18818" y="20473"/>
                  </a:cubicBezTo>
                  <a:cubicBezTo>
                    <a:pt x="18836" y="20471"/>
                    <a:pt x="18909" y="20412"/>
                    <a:pt x="18978" y="20337"/>
                  </a:cubicBezTo>
                  <a:cubicBezTo>
                    <a:pt x="19046" y="20262"/>
                    <a:pt x="19127" y="20191"/>
                    <a:pt x="19158" y="20171"/>
                  </a:cubicBezTo>
                  <a:cubicBezTo>
                    <a:pt x="19188" y="20151"/>
                    <a:pt x="19292" y="20036"/>
                    <a:pt x="19391" y="19914"/>
                  </a:cubicBezTo>
                  <a:cubicBezTo>
                    <a:pt x="19491" y="19793"/>
                    <a:pt x="19583" y="19688"/>
                    <a:pt x="19593" y="19688"/>
                  </a:cubicBezTo>
                  <a:cubicBezTo>
                    <a:pt x="19610" y="19688"/>
                    <a:pt x="20176" y="18897"/>
                    <a:pt x="20176" y="18873"/>
                  </a:cubicBezTo>
                  <a:cubicBezTo>
                    <a:pt x="20176" y="18867"/>
                    <a:pt x="20225" y="18795"/>
                    <a:pt x="20282" y="18707"/>
                  </a:cubicBezTo>
                  <a:cubicBezTo>
                    <a:pt x="20440" y="18467"/>
                    <a:pt x="20505" y="18340"/>
                    <a:pt x="20505" y="18300"/>
                  </a:cubicBezTo>
                  <a:cubicBezTo>
                    <a:pt x="20505" y="18280"/>
                    <a:pt x="20521" y="18270"/>
                    <a:pt x="20537" y="18270"/>
                  </a:cubicBezTo>
                  <a:cubicBezTo>
                    <a:pt x="20552" y="18270"/>
                    <a:pt x="20558" y="18242"/>
                    <a:pt x="20558" y="18210"/>
                  </a:cubicBezTo>
                  <a:cubicBezTo>
                    <a:pt x="20558" y="18177"/>
                    <a:pt x="20574" y="18149"/>
                    <a:pt x="20590" y="18149"/>
                  </a:cubicBezTo>
                  <a:cubicBezTo>
                    <a:pt x="20605" y="18149"/>
                    <a:pt x="20621" y="18115"/>
                    <a:pt x="20621" y="18074"/>
                  </a:cubicBezTo>
                  <a:cubicBezTo>
                    <a:pt x="20621" y="18033"/>
                    <a:pt x="20641" y="17981"/>
                    <a:pt x="20664" y="17968"/>
                  </a:cubicBezTo>
                  <a:cubicBezTo>
                    <a:pt x="20687" y="17956"/>
                    <a:pt x="20706" y="17926"/>
                    <a:pt x="20706" y="17893"/>
                  </a:cubicBezTo>
                  <a:cubicBezTo>
                    <a:pt x="20706" y="17859"/>
                    <a:pt x="20712" y="17832"/>
                    <a:pt x="20727" y="17832"/>
                  </a:cubicBezTo>
                  <a:cubicBezTo>
                    <a:pt x="20743" y="17832"/>
                    <a:pt x="20759" y="17805"/>
                    <a:pt x="20759" y="17772"/>
                  </a:cubicBezTo>
                  <a:cubicBezTo>
                    <a:pt x="20759" y="17739"/>
                    <a:pt x="20779" y="17694"/>
                    <a:pt x="20802" y="17682"/>
                  </a:cubicBezTo>
                  <a:cubicBezTo>
                    <a:pt x="20825" y="17669"/>
                    <a:pt x="20844" y="17632"/>
                    <a:pt x="20844" y="17606"/>
                  </a:cubicBezTo>
                  <a:cubicBezTo>
                    <a:pt x="20844" y="17537"/>
                    <a:pt x="20905" y="17350"/>
                    <a:pt x="20929" y="17350"/>
                  </a:cubicBezTo>
                  <a:cubicBezTo>
                    <a:pt x="20940" y="17349"/>
                    <a:pt x="20950" y="17334"/>
                    <a:pt x="20950" y="17304"/>
                  </a:cubicBezTo>
                  <a:cubicBezTo>
                    <a:pt x="20950" y="17274"/>
                    <a:pt x="20970" y="17226"/>
                    <a:pt x="20993" y="17199"/>
                  </a:cubicBezTo>
                  <a:cubicBezTo>
                    <a:pt x="21016" y="17172"/>
                    <a:pt x="21035" y="17096"/>
                    <a:pt x="21035" y="17033"/>
                  </a:cubicBezTo>
                  <a:cubicBezTo>
                    <a:pt x="21035" y="16970"/>
                    <a:pt x="21052" y="16912"/>
                    <a:pt x="21067" y="16912"/>
                  </a:cubicBezTo>
                  <a:cubicBezTo>
                    <a:pt x="21082" y="16912"/>
                    <a:pt x="21088" y="16878"/>
                    <a:pt x="21088" y="16837"/>
                  </a:cubicBezTo>
                  <a:cubicBezTo>
                    <a:pt x="21088" y="16795"/>
                    <a:pt x="21107" y="16759"/>
                    <a:pt x="21130" y="16746"/>
                  </a:cubicBezTo>
                  <a:cubicBezTo>
                    <a:pt x="21153" y="16734"/>
                    <a:pt x="21173" y="16684"/>
                    <a:pt x="21173" y="16641"/>
                  </a:cubicBezTo>
                  <a:cubicBezTo>
                    <a:pt x="21173" y="16598"/>
                    <a:pt x="21189" y="16548"/>
                    <a:pt x="21205" y="16535"/>
                  </a:cubicBezTo>
                  <a:cubicBezTo>
                    <a:pt x="21220" y="16521"/>
                    <a:pt x="21226" y="16487"/>
                    <a:pt x="21226" y="16444"/>
                  </a:cubicBezTo>
                  <a:cubicBezTo>
                    <a:pt x="21226" y="16367"/>
                    <a:pt x="21235" y="16342"/>
                    <a:pt x="21321" y="16097"/>
                  </a:cubicBezTo>
                  <a:cubicBezTo>
                    <a:pt x="21347" y="16025"/>
                    <a:pt x="21374" y="15903"/>
                    <a:pt x="21374" y="15841"/>
                  </a:cubicBezTo>
                  <a:cubicBezTo>
                    <a:pt x="21374" y="15779"/>
                    <a:pt x="21380" y="15719"/>
                    <a:pt x="21396" y="15705"/>
                  </a:cubicBezTo>
                  <a:cubicBezTo>
                    <a:pt x="21411" y="15692"/>
                    <a:pt x="21427" y="15605"/>
                    <a:pt x="21427" y="15509"/>
                  </a:cubicBezTo>
                  <a:cubicBezTo>
                    <a:pt x="21427" y="15414"/>
                    <a:pt x="21433" y="15326"/>
                    <a:pt x="21449" y="15313"/>
                  </a:cubicBezTo>
                  <a:cubicBezTo>
                    <a:pt x="21464" y="15299"/>
                    <a:pt x="21480" y="15204"/>
                    <a:pt x="21480" y="15102"/>
                  </a:cubicBezTo>
                  <a:cubicBezTo>
                    <a:pt x="21481" y="15000"/>
                    <a:pt x="21500" y="14862"/>
                    <a:pt x="21523" y="14800"/>
                  </a:cubicBezTo>
                  <a:cubicBezTo>
                    <a:pt x="21584" y="14634"/>
                    <a:pt x="21584" y="12335"/>
                    <a:pt x="21523" y="12220"/>
                  </a:cubicBezTo>
                  <a:cubicBezTo>
                    <a:pt x="21500" y="12178"/>
                    <a:pt x="21480" y="12071"/>
                    <a:pt x="21480" y="11979"/>
                  </a:cubicBezTo>
                  <a:cubicBezTo>
                    <a:pt x="21480" y="11886"/>
                    <a:pt x="21464" y="11796"/>
                    <a:pt x="21449" y="11783"/>
                  </a:cubicBezTo>
                  <a:cubicBezTo>
                    <a:pt x="21433" y="11769"/>
                    <a:pt x="21427" y="11687"/>
                    <a:pt x="21427" y="11602"/>
                  </a:cubicBezTo>
                  <a:cubicBezTo>
                    <a:pt x="21427" y="11516"/>
                    <a:pt x="21411" y="11451"/>
                    <a:pt x="21396" y="11451"/>
                  </a:cubicBezTo>
                  <a:cubicBezTo>
                    <a:pt x="21380" y="11451"/>
                    <a:pt x="21374" y="11394"/>
                    <a:pt x="21374" y="11330"/>
                  </a:cubicBezTo>
                  <a:cubicBezTo>
                    <a:pt x="21374" y="11266"/>
                    <a:pt x="21347" y="11161"/>
                    <a:pt x="21321" y="11089"/>
                  </a:cubicBezTo>
                  <a:cubicBezTo>
                    <a:pt x="21235" y="10844"/>
                    <a:pt x="21226" y="10819"/>
                    <a:pt x="21226" y="10742"/>
                  </a:cubicBezTo>
                  <a:cubicBezTo>
                    <a:pt x="21226" y="10699"/>
                    <a:pt x="21220" y="10650"/>
                    <a:pt x="21205" y="10636"/>
                  </a:cubicBezTo>
                  <a:cubicBezTo>
                    <a:pt x="21189" y="10623"/>
                    <a:pt x="21173" y="10564"/>
                    <a:pt x="21173" y="10500"/>
                  </a:cubicBezTo>
                  <a:cubicBezTo>
                    <a:pt x="21173" y="10436"/>
                    <a:pt x="21166" y="10380"/>
                    <a:pt x="21152" y="10380"/>
                  </a:cubicBezTo>
                  <a:cubicBezTo>
                    <a:pt x="21137" y="10380"/>
                    <a:pt x="21103" y="10310"/>
                    <a:pt x="21077" y="10229"/>
                  </a:cubicBezTo>
                  <a:cubicBezTo>
                    <a:pt x="20944" y="9807"/>
                    <a:pt x="20809" y="9429"/>
                    <a:pt x="20791" y="9429"/>
                  </a:cubicBezTo>
                  <a:cubicBezTo>
                    <a:pt x="20780" y="9429"/>
                    <a:pt x="20748" y="9370"/>
                    <a:pt x="20727" y="9293"/>
                  </a:cubicBezTo>
                  <a:cubicBezTo>
                    <a:pt x="20706" y="9217"/>
                    <a:pt x="20677" y="9158"/>
                    <a:pt x="20664" y="9158"/>
                  </a:cubicBezTo>
                  <a:cubicBezTo>
                    <a:pt x="20651" y="9158"/>
                    <a:pt x="20631" y="9119"/>
                    <a:pt x="20621" y="9082"/>
                  </a:cubicBezTo>
                  <a:cubicBezTo>
                    <a:pt x="20602" y="9011"/>
                    <a:pt x="20566" y="8936"/>
                    <a:pt x="20441" y="8735"/>
                  </a:cubicBezTo>
                  <a:cubicBezTo>
                    <a:pt x="20399" y="8668"/>
                    <a:pt x="20367" y="8603"/>
                    <a:pt x="20367" y="8584"/>
                  </a:cubicBezTo>
                  <a:cubicBezTo>
                    <a:pt x="20367" y="8566"/>
                    <a:pt x="20325" y="8490"/>
                    <a:pt x="20271" y="8418"/>
                  </a:cubicBezTo>
                  <a:cubicBezTo>
                    <a:pt x="20218" y="8346"/>
                    <a:pt x="20176" y="8282"/>
                    <a:pt x="20176" y="8267"/>
                  </a:cubicBezTo>
                  <a:cubicBezTo>
                    <a:pt x="20176" y="8237"/>
                    <a:pt x="19752" y="7657"/>
                    <a:pt x="19582" y="7453"/>
                  </a:cubicBezTo>
                  <a:cubicBezTo>
                    <a:pt x="19475" y="7324"/>
                    <a:pt x="19253" y="7078"/>
                    <a:pt x="19147" y="6985"/>
                  </a:cubicBezTo>
                  <a:cubicBezTo>
                    <a:pt x="19122" y="6963"/>
                    <a:pt x="19045" y="6899"/>
                    <a:pt x="18978" y="6834"/>
                  </a:cubicBezTo>
                  <a:cubicBezTo>
                    <a:pt x="18795" y="6659"/>
                    <a:pt x="18643" y="6522"/>
                    <a:pt x="18458" y="6382"/>
                  </a:cubicBezTo>
                  <a:cubicBezTo>
                    <a:pt x="18317" y="6275"/>
                    <a:pt x="18091" y="6140"/>
                    <a:pt x="18055" y="6140"/>
                  </a:cubicBezTo>
                  <a:cubicBezTo>
                    <a:pt x="18033" y="6140"/>
                    <a:pt x="17995" y="6131"/>
                    <a:pt x="17981" y="6110"/>
                  </a:cubicBezTo>
                  <a:cubicBezTo>
                    <a:pt x="17966" y="6090"/>
                    <a:pt x="17923" y="6061"/>
                    <a:pt x="17885" y="6050"/>
                  </a:cubicBezTo>
                  <a:cubicBezTo>
                    <a:pt x="17847" y="6038"/>
                    <a:pt x="17763" y="5995"/>
                    <a:pt x="17694" y="5959"/>
                  </a:cubicBezTo>
                  <a:cubicBezTo>
                    <a:pt x="17052" y="5622"/>
                    <a:pt x="16300" y="5487"/>
                    <a:pt x="15393" y="5552"/>
                  </a:cubicBezTo>
                  <a:cubicBezTo>
                    <a:pt x="14883" y="5588"/>
                    <a:pt x="14038" y="5877"/>
                    <a:pt x="13706" y="6125"/>
                  </a:cubicBezTo>
                  <a:cubicBezTo>
                    <a:pt x="13666" y="6156"/>
                    <a:pt x="13611" y="6186"/>
                    <a:pt x="13579" y="6186"/>
                  </a:cubicBezTo>
                  <a:cubicBezTo>
                    <a:pt x="13547" y="6186"/>
                    <a:pt x="13516" y="6194"/>
                    <a:pt x="13516" y="6216"/>
                  </a:cubicBezTo>
                  <a:cubicBezTo>
                    <a:pt x="13516" y="6237"/>
                    <a:pt x="13501" y="6261"/>
                    <a:pt x="13484" y="6261"/>
                  </a:cubicBezTo>
                  <a:cubicBezTo>
                    <a:pt x="13467" y="6261"/>
                    <a:pt x="13349" y="6339"/>
                    <a:pt x="13219" y="6427"/>
                  </a:cubicBezTo>
                  <a:cubicBezTo>
                    <a:pt x="12974" y="6592"/>
                    <a:pt x="12853" y="6598"/>
                    <a:pt x="12943" y="6457"/>
                  </a:cubicBezTo>
                  <a:cubicBezTo>
                    <a:pt x="12968" y="6418"/>
                    <a:pt x="12985" y="6375"/>
                    <a:pt x="12985" y="6351"/>
                  </a:cubicBezTo>
                  <a:cubicBezTo>
                    <a:pt x="12985" y="6328"/>
                    <a:pt x="13027" y="6236"/>
                    <a:pt x="13081" y="6155"/>
                  </a:cubicBezTo>
                  <a:cubicBezTo>
                    <a:pt x="13134" y="6074"/>
                    <a:pt x="13187" y="6003"/>
                    <a:pt x="13187" y="5989"/>
                  </a:cubicBezTo>
                  <a:cubicBezTo>
                    <a:pt x="13187" y="5975"/>
                    <a:pt x="13209" y="5930"/>
                    <a:pt x="13240" y="5899"/>
                  </a:cubicBezTo>
                  <a:cubicBezTo>
                    <a:pt x="13270" y="5867"/>
                    <a:pt x="13293" y="5822"/>
                    <a:pt x="13293" y="5793"/>
                  </a:cubicBezTo>
                  <a:cubicBezTo>
                    <a:pt x="13293" y="5765"/>
                    <a:pt x="13312" y="5730"/>
                    <a:pt x="13335" y="5718"/>
                  </a:cubicBezTo>
                  <a:cubicBezTo>
                    <a:pt x="13358" y="5705"/>
                    <a:pt x="13378" y="5669"/>
                    <a:pt x="13378" y="5642"/>
                  </a:cubicBezTo>
                  <a:cubicBezTo>
                    <a:pt x="13378" y="5616"/>
                    <a:pt x="13414" y="5558"/>
                    <a:pt x="13452" y="5507"/>
                  </a:cubicBezTo>
                  <a:cubicBezTo>
                    <a:pt x="13490" y="5455"/>
                    <a:pt x="13516" y="5405"/>
                    <a:pt x="13516" y="5386"/>
                  </a:cubicBezTo>
                  <a:cubicBezTo>
                    <a:pt x="13516" y="5367"/>
                    <a:pt x="13538" y="5312"/>
                    <a:pt x="13569" y="5265"/>
                  </a:cubicBezTo>
                  <a:cubicBezTo>
                    <a:pt x="13599" y="5218"/>
                    <a:pt x="13632" y="5150"/>
                    <a:pt x="13632" y="5114"/>
                  </a:cubicBezTo>
                  <a:cubicBezTo>
                    <a:pt x="13632" y="5079"/>
                    <a:pt x="13642" y="5006"/>
                    <a:pt x="13664" y="4964"/>
                  </a:cubicBezTo>
                  <a:cubicBezTo>
                    <a:pt x="13708" y="4881"/>
                    <a:pt x="13727" y="4315"/>
                    <a:pt x="13685" y="4315"/>
                  </a:cubicBezTo>
                  <a:cubicBezTo>
                    <a:pt x="13673" y="4315"/>
                    <a:pt x="13635" y="4231"/>
                    <a:pt x="13600" y="4119"/>
                  </a:cubicBezTo>
                  <a:cubicBezTo>
                    <a:pt x="13552" y="3959"/>
                    <a:pt x="13438" y="3765"/>
                    <a:pt x="13060" y="3229"/>
                  </a:cubicBezTo>
                  <a:cubicBezTo>
                    <a:pt x="12792" y="2850"/>
                    <a:pt x="12572" y="2527"/>
                    <a:pt x="12572" y="2519"/>
                  </a:cubicBezTo>
                  <a:cubicBezTo>
                    <a:pt x="12572" y="2493"/>
                    <a:pt x="12280" y="2089"/>
                    <a:pt x="12169" y="1961"/>
                  </a:cubicBezTo>
                  <a:cubicBezTo>
                    <a:pt x="12056" y="1833"/>
                    <a:pt x="11821" y="1705"/>
                    <a:pt x="11702" y="1705"/>
                  </a:cubicBezTo>
                  <a:cubicBezTo>
                    <a:pt x="11618" y="1705"/>
                    <a:pt x="11253" y="1836"/>
                    <a:pt x="11235" y="1871"/>
                  </a:cubicBezTo>
                  <a:cubicBezTo>
                    <a:pt x="11228" y="1886"/>
                    <a:pt x="11186" y="1912"/>
                    <a:pt x="11140" y="1946"/>
                  </a:cubicBezTo>
                  <a:cubicBezTo>
                    <a:pt x="11094" y="1980"/>
                    <a:pt x="11008" y="2079"/>
                    <a:pt x="10949" y="2157"/>
                  </a:cubicBezTo>
                  <a:cubicBezTo>
                    <a:pt x="10890" y="2235"/>
                    <a:pt x="10827" y="2293"/>
                    <a:pt x="10822" y="2293"/>
                  </a:cubicBezTo>
                  <a:cubicBezTo>
                    <a:pt x="10810" y="2293"/>
                    <a:pt x="10735" y="2388"/>
                    <a:pt x="10620" y="2535"/>
                  </a:cubicBezTo>
                  <a:cubicBezTo>
                    <a:pt x="10487" y="2704"/>
                    <a:pt x="10427" y="2776"/>
                    <a:pt x="10408" y="2776"/>
                  </a:cubicBezTo>
                  <a:cubicBezTo>
                    <a:pt x="10398" y="2776"/>
                    <a:pt x="10361" y="2802"/>
                    <a:pt x="10334" y="2836"/>
                  </a:cubicBezTo>
                  <a:cubicBezTo>
                    <a:pt x="10290" y="2892"/>
                    <a:pt x="10278" y="2888"/>
                    <a:pt x="10196" y="2836"/>
                  </a:cubicBezTo>
                  <a:cubicBezTo>
                    <a:pt x="9899" y="2652"/>
                    <a:pt x="9762" y="2580"/>
                    <a:pt x="9740" y="2580"/>
                  </a:cubicBezTo>
                  <a:cubicBezTo>
                    <a:pt x="9727" y="2580"/>
                    <a:pt x="9683" y="2548"/>
                    <a:pt x="9644" y="2519"/>
                  </a:cubicBezTo>
                  <a:cubicBezTo>
                    <a:pt x="9606" y="2491"/>
                    <a:pt x="9526" y="2459"/>
                    <a:pt x="9475" y="2444"/>
                  </a:cubicBezTo>
                  <a:cubicBezTo>
                    <a:pt x="9354" y="2410"/>
                    <a:pt x="9317" y="2318"/>
                    <a:pt x="9316" y="2112"/>
                  </a:cubicBezTo>
                  <a:cubicBezTo>
                    <a:pt x="9315" y="2021"/>
                    <a:pt x="9299" y="1929"/>
                    <a:pt x="9284" y="1916"/>
                  </a:cubicBezTo>
                  <a:cubicBezTo>
                    <a:pt x="9269" y="1903"/>
                    <a:pt x="9253" y="1779"/>
                    <a:pt x="9252" y="1644"/>
                  </a:cubicBezTo>
                  <a:cubicBezTo>
                    <a:pt x="9252" y="1492"/>
                    <a:pt x="9235" y="1375"/>
                    <a:pt x="9210" y="1328"/>
                  </a:cubicBezTo>
                  <a:cubicBezTo>
                    <a:pt x="9187" y="1285"/>
                    <a:pt x="9167" y="1179"/>
                    <a:pt x="9167" y="1086"/>
                  </a:cubicBezTo>
                  <a:cubicBezTo>
                    <a:pt x="9167" y="994"/>
                    <a:pt x="9161" y="904"/>
                    <a:pt x="9146" y="890"/>
                  </a:cubicBezTo>
                  <a:cubicBezTo>
                    <a:pt x="9131" y="877"/>
                    <a:pt x="9114" y="828"/>
                    <a:pt x="9114" y="785"/>
                  </a:cubicBezTo>
                  <a:cubicBezTo>
                    <a:pt x="9114" y="659"/>
                    <a:pt x="8945" y="352"/>
                    <a:pt x="8796" y="211"/>
                  </a:cubicBezTo>
                  <a:cubicBezTo>
                    <a:pt x="8585" y="11"/>
                    <a:pt x="8519" y="0"/>
                    <a:pt x="7608" y="0"/>
                  </a:cubicBezTo>
                  <a:close/>
                  <a:moveTo>
                    <a:pt x="7523" y="6382"/>
                  </a:moveTo>
                  <a:cubicBezTo>
                    <a:pt x="7622" y="6376"/>
                    <a:pt x="7696" y="6384"/>
                    <a:pt x="7735" y="6412"/>
                  </a:cubicBezTo>
                  <a:cubicBezTo>
                    <a:pt x="7768" y="6434"/>
                    <a:pt x="7880" y="6461"/>
                    <a:pt x="7979" y="6472"/>
                  </a:cubicBezTo>
                  <a:cubicBezTo>
                    <a:pt x="8171" y="6493"/>
                    <a:pt x="8393" y="6573"/>
                    <a:pt x="8393" y="6623"/>
                  </a:cubicBezTo>
                  <a:cubicBezTo>
                    <a:pt x="8393" y="6640"/>
                    <a:pt x="8422" y="6652"/>
                    <a:pt x="8457" y="6653"/>
                  </a:cubicBezTo>
                  <a:cubicBezTo>
                    <a:pt x="8491" y="6654"/>
                    <a:pt x="8565" y="6687"/>
                    <a:pt x="8626" y="6729"/>
                  </a:cubicBezTo>
                  <a:cubicBezTo>
                    <a:pt x="8688" y="6771"/>
                    <a:pt x="8753" y="6818"/>
                    <a:pt x="8764" y="6819"/>
                  </a:cubicBezTo>
                  <a:cubicBezTo>
                    <a:pt x="8782" y="6820"/>
                    <a:pt x="8953" y="6973"/>
                    <a:pt x="9019" y="7045"/>
                  </a:cubicBezTo>
                  <a:cubicBezTo>
                    <a:pt x="9034" y="7062"/>
                    <a:pt x="9115" y="7132"/>
                    <a:pt x="9199" y="7211"/>
                  </a:cubicBezTo>
                  <a:cubicBezTo>
                    <a:pt x="9438" y="7435"/>
                    <a:pt x="9814" y="7990"/>
                    <a:pt x="9814" y="8117"/>
                  </a:cubicBezTo>
                  <a:cubicBezTo>
                    <a:pt x="9814" y="8140"/>
                    <a:pt x="9837" y="8180"/>
                    <a:pt x="9867" y="8207"/>
                  </a:cubicBezTo>
                  <a:cubicBezTo>
                    <a:pt x="9898" y="8234"/>
                    <a:pt x="9920" y="8281"/>
                    <a:pt x="9920" y="8298"/>
                  </a:cubicBezTo>
                  <a:cubicBezTo>
                    <a:pt x="9920" y="8315"/>
                    <a:pt x="9956" y="8392"/>
                    <a:pt x="9994" y="8479"/>
                  </a:cubicBezTo>
                  <a:cubicBezTo>
                    <a:pt x="10033" y="8565"/>
                    <a:pt x="10058" y="8659"/>
                    <a:pt x="10058" y="8690"/>
                  </a:cubicBezTo>
                  <a:cubicBezTo>
                    <a:pt x="10058" y="8720"/>
                    <a:pt x="10078" y="8768"/>
                    <a:pt x="10101" y="8796"/>
                  </a:cubicBezTo>
                  <a:cubicBezTo>
                    <a:pt x="10123" y="8823"/>
                    <a:pt x="10143" y="8875"/>
                    <a:pt x="10143" y="8916"/>
                  </a:cubicBezTo>
                  <a:cubicBezTo>
                    <a:pt x="10143" y="8957"/>
                    <a:pt x="10159" y="8992"/>
                    <a:pt x="10175" y="8992"/>
                  </a:cubicBezTo>
                  <a:cubicBezTo>
                    <a:pt x="10190" y="8992"/>
                    <a:pt x="10207" y="9052"/>
                    <a:pt x="10207" y="9127"/>
                  </a:cubicBezTo>
                  <a:cubicBezTo>
                    <a:pt x="10207" y="9202"/>
                    <a:pt x="10212" y="9280"/>
                    <a:pt x="10228" y="9293"/>
                  </a:cubicBezTo>
                  <a:cubicBezTo>
                    <a:pt x="10243" y="9307"/>
                    <a:pt x="10260" y="9364"/>
                    <a:pt x="10260" y="9414"/>
                  </a:cubicBezTo>
                  <a:cubicBezTo>
                    <a:pt x="10260" y="9465"/>
                    <a:pt x="10279" y="9523"/>
                    <a:pt x="10302" y="9550"/>
                  </a:cubicBezTo>
                  <a:cubicBezTo>
                    <a:pt x="10334" y="9588"/>
                    <a:pt x="10344" y="9688"/>
                    <a:pt x="10344" y="9987"/>
                  </a:cubicBezTo>
                  <a:cubicBezTo>
                    <a:pt x="10344" y="10222"/>
                    <a:pt x="10349" y="10380"/>
                    <a:pt x="10366" y="10380"/>
                  </a:cubicBezTo>
                  <a:cubicBezTo>
                    <a:pt x="10381" y="10380"/>
                    <a:pt x="10397" y="10492"/>
                    <a:pt x="10397" y="10636"/>
                  </a:cubicBezTo>
                  <a:cubicBezTo>
                    <a:pt x="10397" y="10776"/>
                    <a:pt x="10381" y="10894"/>
                    <a:pt x="10366" y="10908"/>
                  </a:cubicBezTo>
                  <a:cubicBezTo>
                    <a:pt x="10350" y="10921"/>
                    <a:pt x="10344" y="11084"/>
                    <a:pt x="10344" y="11255"/>
                  </a:cubicBezTo>
                  <a:cubicBezTo>
                    <a:pt x="10344" y="11482"/>
                    <a:pt x="10333" y="11565"/>
                    <a:pt x="10302" y="11602"/>
                  </a:cubicBezTo>
                  <a:cubicBezTo>
                    <a:pt x="10279" y="11629"/>
                    <a:pt x="10260" y="11700"/>
                    <a:pt x="10260" y="11752"/>
                  </a:cubicBezTo>
                  <a:cubicBezTo>
                    <a:pt x="10260" y="11805"/>
                    <a:pt x="10246" y="11885"/>
                    <a:pt x="10228" y="11934"/>
                  </a:cubicBezTo>
                  <a:cubicBezTo>
                    <a:pt x="10168" y="12098"/>
                    <a:pt x="10152" y="12138"/>
                    <a:pt x="10132" y="12265"/>
                  </a:cubicBezTo>
                  <a:cubicBezTo>
                    <a:pt x="10122" y="12336"/>
                    <a:pt x="10104" y="12401"/>
                    <a:pt x="10090" y="12401"/>
                  </a:cubicBezTo>
                  <a:cubicBezTo>
                    <a:pt x="10076" y="12401"/>
                    <a:pt x="10058" y="12429"/>
                    <a:pt x="10058" y="12462"/>
                  </a:cubicBezTo>
                  <a:cubicBezTo>
                    <a:pt x="10058" y="12537"/>
                    <a:pt x="10008" y="12692"/>
                    <a:pt x="9963" y="12733"/>
                  </a:cubicBezTo>
                  <a:cubicBezTo>
                    <a:pt x="9944" y="12751"/>
                    <a:pt x="9920" y="12792"/>
                    <a:pt x="9920" y="12824"/>
                  </a:cubicBezTo>
                  <a:cubicBezTo>
                    <a:pt x="9920" y="12855"/>
                    <a:pt x="9914" y="12869"/>
                    <a:pt x="9899" y="12869"/>
                  </a:cubicBezTo>
                  <a:cubicBezTo>
                    <a:pt x="9884" y="12869"/>
                    <a:pt x="9867" y="12902"/>
                    <a:pt x="9867" y="12929"/>
                  </a:cubicBezTo>
                  <a:cubicBezTo>
                    <a:pt x="9867" y="12956"/>
                    <a:pt x="9835" y="13027"/>
                    <a:pt x="9793" y="13095"/>
                  </a:cubicBezTo>
                  <a:cubicBezTo>
                    <a:pt x="9751" y="13163"/>
                    <a:pt x="9680" y="13284"/>
                    <a:pt x="9634" y="13367"/>
                  </a:cubicBezTo>
                  <a:cubicBezTo>
                    <a:pt x="9524" y="13563"/>
                    <a:pt x="9371" y="13781"/>
                    <a:pt x="9273" y="13880"/>
                  </a:cubicBezTo>
                  <a:cubicBezTo>
                    <a:pt x="9230" y="13923"/>
                    <a:pt x="9151" y="14014"/>
                    <a:pt x="9104" y="14076"/>
                  </a:cubicBezTo>
                  <a:cubicBezTo>
                    <a:pt x="8997" y="14213"/>
                    <a:pt x="8475" y="14574"/>
                    <a:pt x="8382" y="14574"/>
                  </a:cubicBezTo>
                  <a:cubicBezTo>
                    <a:pt x="8345" y="14574"/>
                    <a:pt x="8307" y="14597"/>
                    <a:pt x="8298" y="14619"/>
                  </a:cubicBezTo>
                  <a:cubicBezTo>
                    <a:pt x="8288" y="14641"/>
                    <a:pt x="8246" y="14664"/>
                    <a:pt x="8202" y="14664"/>
                  </a:cubicBezTo>
                  <a:cubicBezTo>
                    <a:pt x="8158" y="14664"/>
                    <a:pt x="8089" y="14676"/>
                    <a:pt x="8054" y="14694"/>
                  </a:cubicBezTo>
                  <a:cubicBezTo>
                    <a:pt x="7878" y="14787"/>
                    <a:pt x="7156" y="14769"/>
                    <a:pt x="6898" y="14664"/>
                  </a:cubicBezTo>
                  <a:cubicBezTo>
                    <a:pt x="6836" y="14639"/>
                    <a:pt x="6743" y="14595"/>
                    <a:pt x="6685" y="14574"/>
                  </a:cubicBezTo>
                  <a:cubicBezTo>
                    <a:pt x="6628" y="14553"/>
                    <a:pt x="6563" y="14519"/>
                    <a:pt x="6537" y="14498"/>
                  </a:cubicBezTo>
                  <a:cubicBezTo>
                    <a:pt x="6511" y="14477"/>
                    <a:pt x="6403" y="14413"/>
                    <a:pt x="6304" y="14347"/>
                  </a:cubicBezTo>
                  <a:cubicBezTo>
                    <a:pt x="6204" y="14282"/>
                    <a:pt x="6065" y="14166"/>
                    <a:pt x="5996" y="14091"/>
                  </a:cubicBezTo>
                  <a:cubicBezTo>
                    <a:pt x="5927" y="14016"/>
                    <a:pt x="5853" y="13957"/>
                    <a:pt x="5837" y="13955"/>
                  </a:cubicBezTo>
                  <a:cubicBezTo>
                    <a:pt x="5802" y="13952"/>
                    <a:pt x="5466" y="13482"/>
                    <a:pt x="5317" y="13231"/>
                  </a:cubicBezTo>
                  <a:cubicBezTo>
                    <a:pt x="5217" y="13061"/>
                    <a:pt x="5164" y="12937"/>
                    <a:pt x="5116" y="12793"/>
                  </a:cubicBezTo>
                  <a:cubicBezTo>
                    <a:pt x="5105" y="12761"/>
                    <a:pt x="5093" y="12729"/>
                    <a:pt x="5084" y="12718"/>
                  </a:cubicBezTo>
                  <a:cubicBezTo>
                    <a:pt x="5051" y="12677"/>
                    <a:pt x="4989" y="12519"/>
                    <a:pt x="4989" y="12462"/>
                  </a:cubicBezTo>
                  <a:cubicBezTo>
                    <a:pt x="4989" y="12429"/>
                    <a:pt x="4980" y="12401"/>
                    <a:pt x="4967" y="12401"/>
                  </a:cubicBezTo>
                  <a:cubicBezTo>
                    <a:pt x="4937" y="12401"/>
                    <a:pt x="4851" y="12133"/>
                    <a:pt x="4851" y="12039"/>
                  </a:cubicBezTo>
                  <a:cubicBezTo>
                    <a:pt x="4851" y="11998"/>
                    <a:pt x="4845" y="11962"/>
                    <a:pt x="4829" y="11949"/>
                  </a:cubicBezTo>
                  <a:cubicBezTo>
                    <a:pt x="4814" y="11935"/>
                    <a:pt x="4798" y="11858"/>
                    <a:pt x="4798" y="11783"/>
                  </a:cubicBezTo>
                  <a:cubicBezTo>
                    <a:pt x="4798" y="11697"/>
                    <a:pt x="4781" y="11631"/>
                    <a:pt x="4755" y="11617"/>
                  </a:cubicBezTo>
                  <a:cubicBezTo>
                    <a:pt x="4728" y="11602"/>
                    <a:pt x="4713" y="11549"/>
                    <a:pt x="4713" y="11451"/>
                  </a:cubicBezTo>
                  <a:cubicBezTo>
                    <a:pt x="4713" y="11367"/>
                    <a:pt x="4707" y="11283"/>
                    <a:pt x="4692" y="11270"/>
                  </a:cubicBezTo>
                  <a:cubicBezTo>
                    <a:pt x="4675" y="11255"/>
                    <a:pt x="4660" y="11001"/>
                    <a:pt x="4660" y="10651"/>
                  </a:cubicBezTo>
                  <a:cubicBezTo>
                    <a:pt x="4660" y="10301"/>
                    <a:pt x="4675" y="10062"/>
                    <a:pt x="4692" y="10048"/>
                  </a:cubicBezTo>
                  <a:cubicBezTo>
                    <a:pt x="4707" y="10034"/>
                    <a:pt x="4713" y="9922"/>
                    <a:pt x="4713" y="9806"/>
                  </a:cubicBezTo>
                  <a:cubicBezTo>
                    <a:pt x="4713" y="9667"/>
                    <a:pt x="4728" y="9582"/>
                    <a:pt x="4755" y="9550"/>
                  </a:cubicBezTo>
                  <a:cubicBezTo>
                    <a:pt x="4778" y="9523"/>
                    <a:pt x="4798" y="9470"/>
                    <a:pt x="4798" y="9429"/>
                  </a:cubicBezTo>
                  <a:cubicBezTo>
                    <a:pt x="4798" y="9388"/>
                    <a:pt x="4816" y="9316"/>
                    <a:pt x="4829" y="9278"/>
                  </a:cubicBezTo>
                  <a:cubicBezTo>
                    <a:pt x="4843" y="9240"/>
                    <a:pt x="4863" y="9135"/>
                    <a:pt x="4883" y="9037"/>
                  </a:cubicBezTo>
                  <a:cubicBezTo>
                    <a:pt x="4902" y="8939"/>
                    <a:pt x="4936" y="8830"/>
                    <a:pt x="4957" y="8796"/>
                  </a:cubicBezTo>
                  <a:cubicBezTo>
                    <a:pt x="4977" y="8761"/>
                    <a:pt x="4989" y="8716"/>
                    <a:pt x="4989" y="8690"/>
                  </a:cubicBezTo>
                  <a:cubicBezTo>
                    <a:pt x="4989" y="8640"/>
                    <a:pt x="5048" y="8495"/>
                    <a:pt x="5095" y="8418"/>
                  </a:cubicBezTo>
                  <a:cubicBezTo>
                    <a:pt x="5110" y="8393"/>
                    <a:pt x="5135" y="8333"/>
                    <a:pt x="5158" y="8283"/>
                  </a:cubicBezTo>
                  <a:cubicBezTo>
                    <a:pt x="5181" y="8232"/>
                    <a:pt x="5230" y="8138"/>
                    <a:pt x="5264" y="8086"/>
                  </a:cubicBezTo>
                  <a:cubicBezTo>
                    <a:pt x="5299" y="8035"/>
                    <a:pt x="5328" y="7974"/>
                    <a:pt x="5328" y="7951"/>
                  </a:cubicBezTo>
                  <a:cubicBezTo>
                    <a:pt x="5328" y="7845"/>
                    <a:pt x="5892" y="7136"/>
                    <a:pt x="5975" y="7136"/>
                  </a:cubicBezTo>
                  <a:cubicBezTo>
                    <a:pt x="5990" y="7136"/>
                    <a:pt x="5996" y="7109"/>
                    <a:pt x="5996" y="7091"/>
                  </a:cubicBezTo>
                  <a:cubicBezTo>
                    <a:pt x="5996" y="7072"/>
                    <a:pt x="6038" y="7026"/>
                    <a:pt x="6092" y="6985"/>
                  </a:cubicBezTo>
                  <a:cubicBezTo>
                    <a:pt x="6145" y="6944"/>
                    <a:pt x="6187" y="6909"/>
                    <a:pt x="6187" y="6895"/>
                  </a:cubicBezTo>
                  <a:cubicBezTo>
                    <a:pt x="6187" y="6880"/>
                    <a:pt x="6233" y="6846"/>
                    <a:pt x="6282" y="6819"/>
                  </a:cubicBezTo>
                  <a:cubicBezTo>
                    <a:pt x="6332" y="6793"/>
                    <a:pt x="6400" y="6747"/>
                    <a:pt x="6431" y="6729"/>
                  </a:cubicBezTo>
                  <a:cubicBezTo>
                    <a:pt x="6734" y="6542"/>
                    <a:pt x="7228" y="6398"/>
                    <a:pt x="7523" y="6382"/>
                  </a:cubicBezTo>
                  <a:close/>
                </a:path>
              </a:pathLst>
            </a:custGeom>
            <a:ln w="12700" cap="flat">
              <a:noFill/>
              <a:miter lim="400000"/>
            </a:ln>
            <a:effectLst/>
          </p:spPr>
        </p:pic>
        <p:pic>
          <p:nvPicPr>
            <p:cNvPr id="298" name="9d6ed4e6-f024-4b82-a319-6c75fd0f3174.png" descr="9d6ed4e6-f024-4b82-a319-6c75fd0f3174.png"/>
            <p:cNvPicPr>
              <a:picLocks noChangeAspect="1"/>
            </p:cNvPicPr>
            <p:nvPr/>
          </p:nvPicPr>
          <p:blipFill>
            <a:blip r:embed="rId7"/>
            <a:srcRect l="17864" t="12377" r="18861" b="20838"/>
            <a:stretch>
              <a:fillRect/>
            </a:stretch>
          </p:blipFill>
          <p:spPr>
            <a:xfrm>
              <a:off x="5680946" y="430762"/>
              <a:ext cx="807136" cy="567948"/>
            </a:xfrm>
            <a:custGeom>
              <a:avLst/>
              <a:gdLst/>
              <a:ahLst/>
              <a:cxnLst>
                <a:cxn ang="0">
                  <a:pos x="wd2" y="hd2"/>
                </a:cxn>
                <a:cxn ang="5400000">
                  <a:pos x="wd2" y="hd2"/>
                </a:cxn>
                <a:cxn ang="10800000">
                  <a:pos x="wd2" y="hd2"/>
                </a:cxn>
                <a:cxn ang="16200000">
                  <a:pos x="wd2" y="hd2"/>
                </a:cxn>
              </a:cxnLst>
              <a:rect l="0" t="0" r="r" b="b"/>
              <a:pathLst>
                <a:path w="21569" h="21590" extrusionOk="0">
                  <a:moveTo>
                    <a:pt x="7608" y="0"/>
                  </a:moveTo>
                  <a:cubicBezTo>
                    <a:pt x="7139" y="0"/>
                    <a:pt x="6747" y="11"/>
                    <a:pt x="6739" y="30"/>
                  </a:cubicBezTo>
                  <a:cubicBezTo>
                    <a:pt x="6730" y="49"/>
                    <a:pt x="6639" y="76"/>
                    <a:pt x="6537" y="91"/>
                  </a:cubicBezTo>
                  <a:cubicBezTo>
                    <a:pt x="6398" y="111"/>
                    <a:pt x="6326" y="146"/>
                    <a:pt x="6251" y="226"/>
                  </a:cubicBezTo>
                  <a:cubicBezTo>
                    <a:pt x="6121" y="365"/>
                    <a:pt x="5997" y="555"/>
                    <a:pt x="5996" y="619"/>
                  </a:cubicBezTo>
                  <a:cubicBezTo>
                    <a:pt x="5996" y="646"/>
                    <a:pt x="5980" y="711"/>
                    <a:pt x="5964" y="754"/>
                  </a:cubicBezTo>
                  <a:cubicBezTo>
                    <a:pt x="5949" y="798"/>
                    <a:pt x="5927" y="862"/>
                    <a:pt x="5911" y="905"/>
                  </a:cubicBezTo>
                  <a:cubicBezTo>
                    <a:pt x="5896" y="948"/>
                    <a:pt x="5890" y="1063"/>
                    <a:pt x="5890" y="1147"/>
                  </a:cubicBezTo>
                  <a:cubicBezTo>
                    <a:pt x="5890" y="1230"/>
                    <a:pt x="5870" y="1331"/>
                    <a:pt x="5848" y="1373"/>
                  </a:cubicBezTo>
                  <a:cubicBezTo>
                    <a:pt x="5820" y="1426"/>
                    <a:pt x="5806" y="1543"/>
                    <a:pt x="5805" y="1765"/>
                  </a:cubicBezTo>
                  <a:cubicBezTo>
                    <a:pt x="5805" y="1944"/>
                    <a:pt x="5789" y="2099"/>
                    <a:pt x="5773" y="2112"/>
                  </a:cubicBezTo>
                  <a:cubicBezTo>
                    <a:pt x="5758" y="2126"/>
                    <a:pt x="5742" y="2187"/>
                    <a:pt x="5742" y="2233"/>
                  </a:cubicBezTo>
                  <a:cubicBezTo>
                    <a:pt x="5742" y="2347"/>
                    <a:pt x="5672" y="2459"/>
                    <a:pt x="5593" y="2459"/>
                  </a:cubicBezTo>
                  <a:cubicBezTo>
                    <a:pt x="5557" y="2459"/>
                    <a:pt x="5481" y="2491"/>
                    <a:pt x="5423" y="2535"/>
                  </a:cubicBezTo>
                  <a:cubicBezTo>
                    <a:pt x="5366" y="2578"/>
                    <a:pt x="5295" y="2610"/>
                    <a:pt x="5275" y="2610"/>
                  </a:cubicBezTo>
                  <a:cubicBezTo>
                    <a:pt x="5255" y="2610"/>
                    <a:pt x="5191" y="2646"/>
                    <a:pt x="5126" y="2685"/>
                  </a:cubicBezTo>
                  <a:cubicBezTo>
                    <a:pt x="5062" y="2725"/>
                    <a:pt x="4958" y="2797"/>
                    <a:pt x="4893" y="2836"/>
                  </a:cubicBezTo>
                  <a:lnTo>
                    <a:pt x="4776" y="2897"/>
                  </a:lnTo>
                  <a:lnTo>
                    <a:pt x="4670" y="2806"/>
                  </a:lnTo>
                  <a:cubicBezTo>
                    <a:pt x="4613" y="2750"/>
                    <a:pt x="4531" y="2661"/>
                    <a:pt x="4490" y="2610"/>
                  </a:cubicBezTo>
                  <a:cubicBezTo>
                    <a:pt x="4449" y="2559"/>
                    <a:pt x="4388" y="2486"/>
                    <a:pt x="4352" y="2444"/>
                  </a:cubicBezTo>
                  <a:cubicBezTo>
                    <a:pt x="4316" y="2402"/>
                    <a:pt x="4215" y="2278"/>
                    <a:pt x="4130" y="2172"/>
                  </a:cubicBezTo>
                  <a:cubicBezTo>
                    <a:pt x="4044" y="2067"/>
                    <a:pt x="3961" y="1976"/>
                    <a:pt x="3949" y="1976"/>
                  </a:cubicBezTo>
                  <a:cubicBezTo>
                    <a:pt x="3937" y="1976"/>
                    <a:pt x="3891" y="1935"/>
                    <a:pt x="3843" y="1886"/>
                  </a:cubicBezTo>
                  <a:cubicBezTo>
                    <a:pt x="3763" y="1805"/>
                    <a:pt x="3719" y="1795"/>
                    <a:pt x="3408" y="1795"/>
                  </a:cubicBezTo>
                  <a:cubicBezTo>
                    <a:pt x="3188" y="1795"/>
                    <a:pt x="3061" y="1812"/>
                    <a:pt x="3048" y="1841"/>
                  </a:cubicBezTo>
                  <a:cubicBezTo>
                    <a:pt x="3037" y="1865"/>
                    <a:pt x="2998" y="1912"/>
                    <a:pt x="2952" y="1946"/>
                  </a:cubicBezTo>
                  <a:cubicBezTo>
                    <a:pt x="2906" y="1980"/>
                    <a:pt x="2810" y="2079"/>
                    <a:pt x="2751" y="2157"/>
                  </a:cubicBezTo>
                  <a:cubicBezTo>
                    <a:pt x="2691" y="2235"/>
                    <a:pt x="2639" y="2293"/>
                    <a:pt x="2634" y="2293"/>
                  </a:cubicBezTo>
                  <a:cubicBezTo>
                    <a:pt x="2614" y="2293"/>
                    <a:pt x="1548" y="3838"/>
                    <a:pt x="1478" y="3968"/>
                  </a:cubicBezTo>
                  <a:cubicBezTo>
                    <a:pt x="1436" y="4046"/>
                    <a:pt x="1404" y="4146"/>
                    <a:pt x="1404" y="4179"/>
                  </a:cubicBezTo>
                  <a:cubicBezTo>
                    <a:pt x="1404" y="4212"/>
                    <a:pt x="1387" y="4241"/>
                    <a:pt x="1372" y="4254"/>
                  </a:cubicBezTo>
                  <a:cubicBezTo>
                    <a:pt x="1357" y="4268"/>
                    <a:pt x="1351" y="4434"/>
                    <a:pt x="1351" y="4617"/>
                  </a:cubicBezTo>
                  <a:cubicBezTo>
                    <a:pt x="1351" y="4799"/>
                    <a:pt x="1357" y="4965"/>
                    <a:pt x="1372" y="4979"/>
                  </a:cubicBezTo>
                  <a:cubicBezTo>
                    <a:pt x="1387" y="4992"/>
                    <a:pt x="1404" y="5022"/>
                    <a:pt x="1404" y="5054"/>
                  </a:cubicBezTo>
                  <a:cubicBezTo>
                    <a:pt x="1404" y="5114"/>
                    <a:pt x="1617" y="5558"/>
                    <a:pt x="1658" y="5582"/>
                  </a:cubicBezTo>
                  <a:cubicBezTo>
                    <a:pt x="1671" y="5589"/>
                    <a:pt x="1680" y="5612"/>
                    <a:pt x="1680" y="5642"/>
                  </a:cubicBezTo>
                  <a:cubicBezTo>
                    <a:pt x="1680" y="5673"/>
                    <a:pt x="1696" y="5703"/>
                    <a:pt x="1711" y="5703"/>
                  </a:cubicBezTo>
                  <a:cubicBezTo>
                    <a:pt x="1727" y="5703"/>
                    <a:pt x="1733" y="5731"/>
                    <a:pt x="1733" y="5763"/>
                  </a:cubicBezTo>
                  <a:cubicBezTo>
                    <a:pt x="1733" y="5795"/>
                    <a:pt x="1756" y="5836"/>
                    <a:pt x="1775" y="5854"/>
                  </a:cubicBezTo>
                  <a:cubicBezTo>
                    <a:pt x="1794" y="5871"/>
                    <a:pt x="1846" y="5947"/>
                    <a:pt x="1892" y="6035"/>
                  </a:cubicBezTo>
                  <a:cubicBezTo>
                    <a:pt x="1937" y="6122"/>
                    <a:pt x="1975" y="6208"/>
                    <a:pt x="1987" y="6216"/>
                  </a:cubicBezTo>
                  <a:cubicBezTo>
                    <a:pt x="1999" y="6223"/>
                    <a:pt x="2019" y="6247"/>
                    <a:pt x="2019" y="6276"/>
                  </a:cubicBezTo>
                  <a:cubicBezTo>
                    <a:pt x="2019" y="6305"/>
                    <a:pt x="2032" y="6343"/>
                    <a:pt x="2051" y="6351"/>
                  </a:cubicBezTo>
                  <a:cubicBezTo>
                    <a:pt x="2072" y="6361"/>
                    <a:pt x="2086" y="6425"/>
                    <a:pt x="2083" y="6533"/>
                  </a:cubicBezTo>
                  <a:cubicBezTo>
                    <a:pt x="2078" y="6689"/>
                    <a:pt x="2038" y="6825"/>
                    <a:pt x="1913" y="7181"/>
                  </a:cubicBezTo>
                  <a:cubicBezTo>
                    <a:pt x="1891" y="7243"/>
                    <a:pt x="1870" y="7316"/>
                    <a:pt x="1870" y="7347"/>
                  </a:cubicBezTo>
                  <a:cubicBezTo>
                    <a:pt x="1870" y="7378"/>
                    <a:pt x="1865" y="7408"/>
                    <a:pt x="1849" y="7408"/>
                  </a:cubicBezTo>
                  <a:cubicBezTo>
                    <a:pt x="1834" y="7408"/>
                    <a:pt x="1817" y="7464"/>
                    <a:pt x="1817" y="7528"/>
                  </a:cubicBezTo>
                  <a:cubicBezTo>
                    <a:pt x="1817" y="7592"/>
                    <a:pt x="1798" y="7661"/>
                    <a:pt x="1775" y="7694"/>
                  </a:cubicBezTo>
                  <a:cubicBezTo>
                    <a:pt x="1752" y="7727"/>
                    <a:pt x="1733" y="7773"/>
                    <a:pt x="1733" y="7800"/>
                  </a:cubicBezTo>
                  <a:cubicBezTo>
                    <a:pt x="1733" y="7858"/>
                    <a:pt x="1609" y="8037"/>
                    <a:pt x="1563" y="8041"/>
                  </a:cubicBezTo>
                  <a:cubicBezTo>
                    <a:pt x="1427" y="8054"/>
                    <a:pt x="1270" y="8090"/>
                    <a:pt x="1234" y="8117"/>
                  </a:cubicBezTo>
                  <a:cubicBezTo>
                    <a:pt x="1210" y="8134"/>
                    <a:pt x="1127" y="8161"/>
                    <a:pt x="1043" y="8177"/>
                  </a:cubicBezTo>
                  <a:cubicBezTo>
                    <a:pt x="845" y="8214"/>
                    <a:pt x="489" y="8353"/>
                    <a:pt x="418" y="8418"/>
                  </a:cubicBezTo>
                  <a:cubicBezTo>
                    <a:pt x="334" y="8494"/>
                    <a:pt x="152" y="8752"/>
                    <a:pt x="152" y="8796"/>
                  </a:cubicBezTo>
                  <a:cubicBezTo>
                    <a:pt x="152" y="8816"/>
                    <a:pt x="136" y="8841"/>
                    <a:pt x="121" y="8841"/>
                  </a:cubicBezTo>
                  <a:cubicBezTo>
                    <a:pt x="105" y="8841"/>
                    <a:pt x="89" y="8863"/>
                    <a:pt x="89" y="8901"/>
                  </a:cubicBezTo>
                  <a:cubicBezTo>
                    <a:pt x="89" y="8939"/>
                    <a:pt x="69" y="9020"/>
                    <a:pt x="46" y="9082"/>
                  </a:cubicBezTo>
                  <a:cubicBezTo>
                    <a:pt x="-16" y="9252"/>
                    <a:pt x="-16" y="12132"/>
                    <a:pt x="46" y="12205"/>
                  </a:cubicBezTo>
                  <a:cubicBezTo>
                    <a:pt x="69" y="12232"/>
                    <a:pt x="89" y="12285"/>
                    <a:pt x="89" y="12326"/>
                  </a:cubicBezTo>
                  <a:cubicBezTo>
                    <a:pt x="89" y="12367"/>
                    <a:pt x="105" y="12401"/>
                    <a:pt x="121" y="12401"/>
                  </a:cubicBezTo>
                  <a:cubicBezTo>
                    <a:pt x="136" y="12401"/>
                    <a:pt x="152" y="12429"/>
                    <a:pt x="152" y="12462"/>
                  </a:cubicBezTo>
                  <a:cubicBezTo>
                    <a:pt x="152" y="12494"/>
                    <a:pt x="158" y="12522"/>
                    <a:pt x="174" y="12522"/>
                  </a:cubicBezTo>
                  <a:cubicBezTo>
                    <a:pt x="189" y="12522"/>
                    <a:pt x="205" y="12540"/>
                    <a:pt x="205" y="12567"/>
                  </a:cubicBezTo>
                  <a:cubicBezTo>
                    <a:pt x="207" y="12724"/>
                    <a:pt x="701" y="12996"/>
                    <a:pt x="1075" y="13050"/>
                  </a:cubicBezTo>
                  <a:cubicBezTo>
                    <a:pt x="1179" y="13065"/>
                    <a:pt x="1268" y="13106"/>
                    <a:pt x="1277" y="13125"/>
                  </a:cubicBezTo>
                  <a:cubicBezTo>
                    <a:pt x="1285" y="13145"/>
                    <a:pt x="1345" y="13156"/>
                    <a:pt x="1404" y="13156"/>
                  </a:cubicBezTo>
                  <a:cubicBezTo>
                    <a:pt x="1567" y="13156"/>
                    <a:pt x="1680" y="13201"/>
                    <a:pt x="1680" y="13261"/>
                  </a:cubicBezTo>
                  <a:cubicBezTo>
                    <a:pt x="1680" y="13291"/>
                    <a:pt x="1696" y="13306"/>
                    <a:pt x="1711" y="13306"/>
                  </a:cubicBezTo>
                  <a:cubicBezTo>
                    <a:pt x="1727" y="13306"/>
                    <a:pt x="1732" y="13344"/>
                    <a:pt x="1733" y="13382"/>
                  </a:cubicBezTo>
                  <a:cubicBezTo>
                    <a:pt x="1733" y="13420"/>
                    <a:pt x="1753" y="13490"/>
                    <a:pt x="1775" y="13533"/>
                  </a:cubicBezTo>
                  <a:cubicBezTo>
                    <a:pt x="1798" y="13575"/>
                    <a:pt x="1817" y="13642"/>
                    <a:pt x="1817" y="13684"/>
                  </a:cubicBezTo>
                  <a:cubicBezTo>
                    <a:pt x="1817" y="13725"/>
                    <a:pt x="1876" y="13921"/>
                    <a:pt x="1945" y="14121"/>
                  </a:cubicBezTo>
                  <a:cubicBezTo>
                    <a:pt x="2109" y="14600"/>
                    <a:pt x="2116" y="14724"/>
                    <a:pt x="1998" y="14921"/>
                  </a:cubicBezTo>
                  <a:cubicBezTo>
                    <a:pt x="1959" y="14986"/>
                    <a:pt x="1900" y="15068"/>
                    <a:pt x="1870" y="15117"/>
                  </a:cubicBezTo>
                  <a:cubicBezTo>
                    <a:pt x="1841" y="15166"/>
                    <a:pt x="1817" y="15230"/>
                    <a:pt x="1817" y="15253"/>
                  </a:cubicBezTo>
                  <a:cubicBezTo>
                    <a:pt x="1817" y="15275"/>
                    <a:pt x="1798" y="15300"/>
                    <a:pt x="1775" y="15313"/>
                  </a:cubicBezTo>
                  <a:cubicBezTo>
                    <a:pt x="1752" y="15325"/>
                    <a:pt x="1733" y="15360"/>
                    <a:pt x="1733" y="15388"/>
                  </a:cubicBezTo>
                  <a:cubicBezTo>
                    <a:pt x="1733" y="15417"/>
                    <a:pt x="1691" y="15508"/>
                    <a:pt x="1637" y="15584"/>
                  </a:cubicBezTo>
                  <a:cubicBezTo>
                    <a:pt x="1584" y="15661"/>
                    <a:pt x="1542" y="15734"/>
                    <a:pt x="1542" y="15750"/>
                  </a:cubicBezTo>
                  <a:cubicBezTo>
                    <a:pt x="1542" y="15767"/>
                    <a:pt x="1506" y="15845"/>
                    <a:pt x="1467" y="15916"/>
                  </a:cubicBezTo>
                  <a:cubicBezTo>
                    <a:pt x="1429" y="15988"/>
                    <a:pt x="1404" y="16065"/>
                    <a:pt x="1404" y="16097"/>
                  </a:cubicBezTo>
                  <a:cubicBezTo>
                    <a:pt x="1404" y="16130"/>
                    <a:pt x="1387" y="16174"/>
                    <a:pt x="1372" y="16188"/>
                  </a:cubicBezTo>
                  <a:cubicBezTo>
                    <a:pt x="1335" y="16220"/>
                    <a:pt x="1335" y="16912"/>
                    <a:pt x="1372" y="16912"/>
                  </a:cubicBezTo>
                  <a:cubicBezTo>
                    <a:pt x="1387" y="16912"/>
                    <a:pt x="1404" y="16942"/>
                    <a:pt x="1404" y="16972"/>
                  </a:cubicBezTo>
                  <a:cubicBezTo>
                    <a:pt x="1404" y="17003"/>
                    <a:pt x="1423" y="17035"/>
                    <a:pt x="1446" y="17048"/>
                  </a:cubicBezTo>
                  <a:cubicBezTo>
                    <a:pt x="1469" y="17060"/>
                    <a:pt x="1489" y="17105"/>
                    <a:pt x="1489" y="17138"/>
                  </a:cubicBezTo>
                  <a:cubicBezTo>
                    <a:pt x="1489" y="17172"/>
                    <a:pt x="1495" y="17199"/>
                    <a:pt x="1510" y="17199"/>
                  </a:cubicBezTo>
                  <a:cubicBezTo>
                    <a:pt x="1525" y="17199"/>
                    <a:pt x="1542" y="17217"/>
                    <a:pt x="1542" y="17244"/>
                  </a:cubicBezTo>
                  <a:cubicBezTo>
                    <a:pt x="1542" y="17271"/>
                    <a:pt x="1584" y="17355"/>
                    <a:pt x="1637" y="17425"/>
                  </a:cubicBezTo>
                  <a:cubicBezTo>
                    <a:pt x="1691" y="17495"/>
                    <a:pt x="1733" y="17565"/>
                    <a:pt x="1733" y="17576"/>
                  </a:cubicBezTo>
                  <a:cubicBezTo>
                    <a:pt x="1733" y="17587"/>
                    <a:pt x="1810" y="17688"/>
                    <a:pt x="1902" y="17817"/>
                  </a:cubicBezTo>
                  <a:cubicBezTo>
                    <a:pt x="1994" y="17947"/>
                    <a:pt x="2072" y="18083"/>
                    <a:pt x="2072" y="18104"/>
                  </a:cubicBezTo>
                  <a:cubicBezTo>
                    <a:pt x="2072" y="18125"/>
                    <a:pt x="2079" y="18142"/>
                    <a:pt x="2093" y="18149"/>
                  </a:cubicBezTo>
                  <a:cubicBezTo>
                    <a:pt x="2107" y="18156"/>
                    <a:pt x="2288" y="18394"/>
                    <a:pt x="2496" y="18677"/>
                  </a:cubicBezTo>
                  <a:cubicBezTo>
                    <a:pt x="2987" y="19345"/>
                    <a:pt x="3024" y="19371"/>
                    <a:pt x="3419" y="19371"/>
                  </a:cubicBezTo>
                  <a:cubicBezTo>
                    <a:pt x="3725" y="19371"/>
                    <a:pt x="3724" y="19377"/>
                    <a:pt x="3875" y="19235"/>
                  </a:cubicBezTo>
                  <a:cubicBezTo>
                    <a:pt x="3958" y="19157"/>
                    <a:pt x="4063" y="19047"/>
                    <a:pt x="4098" y="18994"/>
                  </a:cubicBezTo>
                  <a:cubicBezTo>
                    <a:pt x="4132" y="18941"/>
                    <a:pt x="4169" y="18904"/>
                    <a:pt x="4183" y="18904"/>
                  </a:cubicBezTo>
                  <a:cubicBezTo>
                    <a:pt x="4196" y="18904"/>
                    <a:pt x="4251" y="18829"/>
                    <a:pt x="4310" y="18753"/>
                  </a:cubicBezTo>
                  <a:cubicBezTo>
                    <a:pt x="4368" y="18676"/>
                    <a:pt x="4421" y="18617"/>
                    <a:pt x="4426" y="18617"/>
                  </a:cubicBezTo>
                  <a:cubicBezTo>
                    <a:pt x="4439" y="18617"/>
                    <a:pt x="4527" y="18521"/>
                    <a:pt x="4639" y="18376"/>
                  </a:cubicBezTo>
                  <a:cubicBezTo>
                    <a:pt x="4685" y="18316"/>
                    <a:pt x="4752" y="18270"/>
                    <a:pt x="4787" y="18270"/>
                  </a:cubicBezTo>
                  <a:cubicBezTo>
                    <a:pt x="4822" y="18270"/>
                    <a:pt x="4951" y="18334"/>
                    <a:pt x="5073" y="18421"/>
                  </a:cubicBezTo>
                  <a:cubicBezTo>
                    <a:pt x="5196" y="18508"/>
                    <a:pt x="5313" y="18587"/>
                    <a:pt x="5339" y="18587"/>
                  </a:cubicBezTo>
                  <a:cubicBezTo>
                    <a:pt x="5429" y="18587"/>
                    <a:pt x="5666" y="18747"/>
                    <a:pt x="5667" y="18813"/>
                  </a:cubicBezTo>
                  <a:cubicBezTo>
                    <a:pt x="5668" y="18848"/>
                    <a:pt x="5687" y="18907"/>
                    <a:pt x="5710" y="18949"/>
                  </a:cubicBezTo>
                  <a:cubicBezTo>
                    <a:pt x="5732" y="18991"/>
                    <a:pt x="5742" y="19113"/>
                    <a:pt x="5742" y="19205"/>
                  </a:cubicBezTo>
                  <a:cubicBezTo>
                    <a:pt x="5742" y="19298"/>
                    <a:pt x="5758" y="19373"/>
                    <a:pt x="5773" y="19386"/>
                  </a:cubicBezTo>
                  <a:cubicBezTo>
                    <a:pt x="5789" y="19400"/>
                    <a:pt x="5805" y="19551"/>
                    <a:pt x="5805" y="19718"/>
                  </a:cubicBezTo>
                  <a:cubicBezTo>
                    <a:pt x="5806" y="19923"/>
                    <a:pt x="5820" y="20059"/>
                    <a:pt x="5848" y="20110"/>
                  </a:cubicBezTo>
                  <a:cubicBezTo>
                    <a:pt x="5870" y="20153"/>
                    <a:pt x="5890" y="20254"/>
                    <a:pt x="5890" y="20337"/>
                  </a:cubicBezTo>
                  <a:cubicBezTo>
                    <a:pt x="5890" y="20420"/>
                    <a:pt x="5896" y="20488"/>
                    <a:pt x="5911" y="20488"/>
                  </a:cubicBezTo>
                  <a:cubicBezTo>
                    <a:pt x="5927" y="20488"/>
                    <a:pt x="5943" y="20520"/>
                    <a:pt x="5943" y="20563"/>
                  </a:cubicBezTo>
                  <a:cubicBezTo>
                    <a:pt x="5943" y="20607"/>
                    <a:pt x="5949" y="20639"/>
                    <a:pt x="5964" y="20639"/>
                  </a:cubicBezTo>
                  <a:cubicBezTo>
                    <a:pt x="5980" y="20639"/>
                    <a:pt x="5996" y="20656"/>
                    <a:pt x="5996" y="20684"/>
                  </a:cubicBezTo>
                  <a:cubicBezTo>
                    <a:pt x="5996" y="20771"/>
                    <a:pt x="6205" y="21049"/>
                    <a:pt x="6346" y="21151"/>
                  </a:cubicBezTo>
                  <a:lnTo>
                    <a:pt x="6484" y="21257"/>
                  </a:lnTo>
                  <a:lnTo>
                    <a:pt x="7523" y="21257"/>
                  </a:lnTo>
                  <a:lnTo>
                    <a:pt x="8573" y="21257"/>
                  </a:lnTo>
                  <a:lnTo>
                    <a:pt x="8711" y="21151"/>
                  </a:lnTo>
                  <a:cubicBezTo>
                    <a:pt x="8978" y="20951"/>
                    <a:pt x="9167" y="20601"/>
                    <a:pt x="9167" y="20322"/>
                  </a:cubicBezTo>
                  <a:cubicBezTo>
                    <a:pt x="9167" y="20262"/>
                    <a:pt x="9187" y="20198"/>
                    <a:pt x="9210" y="20171"/>
                  </a:cubicBezTo>
                  <a:cubicBezTo>
                    <a:pt x="9239" y="20136"/>
                    <a:pt x="9252" y="20031"/>
                    <a:pt x="9252" y="19839"/>
                  </a:cubicBezTo>
                  <a:cubicBezTo>
                    <a:pt x="9252" y="19690"/>
                    <a:pt x="9269" y="19566"/>
                    <a:pt x="9284" y="19552"/>
                  </a:cubicBezTo>
                  <a:cubicBezTo>
                    <a:pt x="9299" y="19539"/>
                    <a:pt x="9316" y="19418"/>
                    <a:pt x="9316" y="19281"/>
                  </a:cubicBezTo>
                  <a:cubicBezTo>
                    <a:pt x="9316" y="18848"/>
                    <a:pt x="9398" y="18718"/>
                    <a:pt x="9782" y="18602"/>
                  </a:cubicBezTo>
                  <a:cubicBezTo>
                    <a:pt x="9790" y="18599"/>
                    <a:pt x="9839" y="18564"/>
                    <a:pt x="9888" y="18526"/>
                  </a:cubicBezTo>
                  <a:cubicBezTo>
                    <a:pt x="9937" y="18489"/>
                    <a:pt x="9989" y="18466"/>
                    <a:pt x="10005" y="18466"/>
                  </a:cubicBezTo>
                  <a:cubicBezTo>
                    <a:pt x="10021" y="18466"/>
                    <a:pt x="10082" y="18417"/>
                    <a:pt x="10143" y="18360"/>
                  </a:cubicBezTo>
                  <a:cubicBezTo>
                    <a:pt x="10291" y="18221"/>
                    <a:pt x="10359" y="18250"/>
                    <a:pt x="10588" y="18541"/>
                  </a:cubicBezTo>
                  <a:cubicBezTo>
                    <a:pt x="10629" y="18593"/>
                    <a:pt x="10704" y="18680"/>
                    <a:pt x="10758" y="18738"/>
                  </a:cubicBezTo>
                  <a:cubicBezTo>
                    <a:pt x="10812" y="18795"/>
                    <a:pt x="10892" y="18889"/>
                    <a:pt x="10938" y="18949"/>
                  </a:cubicBezTo>
                  <a:cubicBezTo>
                    <a:pt x="10984" y="19009"/>
                    <a:pt x="11049" y="19072"/>
                    <a:pt x="11076" y="19085"/>
                  </a:cubicBezTo>
                  <a:cubicBezTo>
                    <a:pt x="11103" y="19097"/>
                    <a:pt x="11119" y="19113"/>
                    <a:pt x="11119" y="19130"/>
                  </a:cubicBezTo>
                  <a:cubicBezTo>
                    <a:pt x="11119" y="19147"/>
                    <a:pt x="11198" y="19208"/>
                    <a:pt x="11288" y="19266"/>
                  </a:cubicBezTo>
                  <a:cubicBezTo>
                    <a:pt x="11422" y="19351"/>
                    <a:pt x="11485" y="19371"/>
                    <a:pt x="11670" y="19371"/>
                  </a:cubicBezTo>
                  <a:lnTo>
                    <a:pt x="11903" y="19371"/>
                  </a:lnTo>
                  <a:lnTo>
                    <a:pt x="12073" y="19613"/>
                  </a:lnTo>
                  <a:cubicBezTo>
                    <a:pt x="12168" y="19743"/>
                    <a:pt x="12266" y="19854"/>
                    <a:pt x="12285" y="19854"/>
                  </a:cubicBezTo>
                  <a:cubicBezTo>
                    <a:pt x="12304" y="19854"/>
                    <a:pt x="12317" y="19867"/>
                    <a:pt x="12317" y="19884"/>
                  </a:cubicBezTo>
                  <a:cubicBezTo>
                    <a:pt x="12317" y="19901"/>
                    <a:pt x="12363" y="19948"/>
                    <a:pt x="12413" y="19990"/>
                  </a:cubicBezTo>
                  <a:cubicBezTo>
                    <a:pt x="12462" y="20031"/>
                    <a:pt x="12535" y="20107"/>
                    <a:pt x="12582" y="20171"/>
                  </a:cubicBezTo>
                  <a:cubicBezTo>
                    <a:pt x="12682" y="20304"/>
                    <a:pt x="12886" y="20488"/>
                    <a:pt x="12943" y="20488"/>
                  </a:cubicBezTo>
                  <a:cubicBezTo>
                    <a:pt x="12964" y="20488"/>
                    <a:pt x="12985" y="20500"/>
                    <a:pt x="12985" y="20518"/>
                  </a:cubicBezTo>
                  <a:cubicBezTo>
                    <a:pt x="12985" y="20535"/>
                    <a:pt x="13112" y="20625"/>
                    <a:pt x="13261" y="20729"/>
                  </a:cubicBezTo>
                  <a:cubicBezTo>
                    <a:pt x="13669" y="21013"/>
                    <a:pt x="13672" y="21019"/>
                    <a:pt x="13972" y="21151"/>
                  </a:cubicBezTo>
                  <a:cubicBezTo>
                    <a:pt x="14125" y="21219"/>
                    <a:pt x="14280" y="21298"/>
                    <a:pt x="14311" y="21317"/>
                  </a:cubicBezTo>
                  <a:cubicBezTo>
                    <a:pt x="14342" y="21337"/>
                    <a:pt x="14409" y="21366"/>
                    <a:pt x="14459" y="21378"/>
                  </a:cubicBezTo>
                  <a:cubicBezTo>
                    <a:pt x="14510" y="21389"/>
                    <a:pt x="14616" y="21418"/>
                    <a:pt x="14703" y="21453"/>
                  </a:cubicBezTo>
                  <a:cubicBezTo>
                    <a:pt x="14791" y="21489"/>
                    <a:pt x="14943" y="21544"/>
                    <a:pt x="15043" y="21559"/>
                  </a:cubicBezTo>
                  <a:cubicBezTo>
                    <a:pt x="15314" y="21600"/>
                    <a:pt x="16374" y="21600"/>
                    <a:pt x="16581" y="21559"/>
                  </a:cubicBezTo>
                  <a:cubicBezTo>
                    <a:pt x="16927" y="21490"/>
                    <a:pt x="17302" y="21374"/>
                    <a:pt x="17503" y="21287"/>
                  </a:cubicBezTo>
                  <a:cubicBezTo>
                    <a:pt x="17856" y="21135"/>
                    <a:pt x="18373" y="20837"/>
                    <a:pt x="18500" y="20714"/>
                  </a:cubicBezTo>
                  <a:cubicBezTo>
                    <a:pt x="18539" y="20676"/>
                    <a:pt x="18608" y="20638"/>
                    <a:pt x="18649" y="20623"/>
                  </a:cubicBezTo>
                  <a:cubicBezTo>
                    <a:pt x="18689" y="20609"/>
                    <a:pt x="18737" y="20563"/>
                    <a:pt x="18755" y="20533"/>
                  </a:cubicBezTo>
                  <a:cubicBezTo>
                    <a:pt x="18773" y="20502"/>
                    <a:pt x="18801" y="20474"/>
                    <a:pt x="18818" y="20473"/>
                  </a:cubicBezTo>
                  <a:cubicBezTo>
                    <a:pt x="18836" y="20471"/>
                    <a:pt x="18909" y="20412"/>
                    <a:pt x="18978" y="20337"/>
                  </a:cubicBezTo>
                  <a:cubicBezTo>
                    <a:pt x="19046" y="20262"/>
                    <a:pt x="19127" y="20191"/>
                    <a:pt x="19158" y="20171"/>
                  </a:cubicBezTo>
                  <a:cubicBezTo>
                    <a:pt x="19188" y="20151"/>
                    <a:pt x="19292" y="20036"/>
                    <a:pt x="19391" y="19914"/>
                  </a:cubicBezTo>
                  <a:cubicBezTo>
                    <a:pt x="19491" y="19793"/>
                    <a:pt x="19583" y="19688"/>
                    <a:pt x="19593" y="19688"/>
                  </a:cubicBezTo>
                  <a:cubicBezTo>
                    <a:pt x="19610" y="19688"/>
                    <a:pt x="20176" y="18897"/>
                    <a:pt x="20176" y="18873"/>
                  </a:cubicBezTo>
                  <a:cubicBezTo>
                    <a:pt x="20176" y="18867"/>
                    <a:pt x="20225" y="18795"/>
                    <a:pt x="20282" y="18707"/>
                  </a:cubicBezTo>
                  <a:cubicBezTo>
                    <a:pt x="20440" y="18467"/>
                    <a:pt x="20505" y="18340"/>
                    <a:pt x="20505" y="18300"/>
                  </a:cubicBezTo>
                  <a:cubicBezTo>
                    <a:pt x="20505" y="18280"/>
                    <a:pt x="20521" y="18270"/>
                    <a:pt x="20537" y="18270"/>
                  </a:cubicBezTo>
                  <a:cubicBezTo>
                    <a:pt x="20552" y="18270"/>
                    <a:pt x="20558" y="18242"/>
                    <a:pt x="20558" y="18210"/>
                  </a:cubicBezTo>
                  <a:cubicBezTo>
                    <a:pt x="20558" y="18177"/>
                    <a:pt x="20574" y="18149"/>
                    <a:pt x="20590" y="18149"/>
                  </a:cubicBezTo>
                  <a:cubicBezTo>
                    <a:pt x="20605" y="18149"/>
                    <a:pt x="20621" y="18115"/>
                    <a:pt x="20621" y="18074"/>
                  </a:cubicBezTo>
                  <a:cubicBezTo>
                    <a:pt x="20621" y="18033"/>
                    <a:pt x="20641" y="17981"/>
                    <a:pt x="20664" y="17968"/>
                  </a:cubicBezTo>
                  <a:cubicBezTo>
                    <a:pt x="20687" y="17956"/>
                    <a:pt x="20706" y="17926"/>
                    <a:pt x="20706" y="17893"/>
                  </a:cubicBezTo>
                  <a:cubicBezTo>
                    <a:pt x="20706" y="17859"/>
                    <a:pt x="20712" y="17832"/>
                    <a:pt x="20727" y="17832"/>
                  </a:cubicBezTo>
                  <a:cubicBezTo>
                    <a:pt x="20743" y="17832"/>
                    <a:pt x="20759" y="17805"/>
                    <a:pt x="20759" y="17772"/>
                  </a:cubicBezTo>
                  <a:cubicBezTo>
                    <a:pt x="20759" y="17739"/>
                    <a:pt x="20779" y="17694"/>
                    <a:pt x="20802" y="17682"/>
                  </a:cubicBezTo>
                  <a:cubicBezTo>
                    <a:pt x="20825" y="17669"/>
                    <a:pt x="20844" y="17632"/>
                    <a:pt x="20844" y="17606"/>
                  </a:cubicBezTo>
                  <a:cubicBezTo>
                    <a:pt x="20844" y="17537"/>
                    <a:pt x="20905" y="17350"/>
                    <a:pt x="20929" y="17350"/>
                  </a:cubicBezTo>
                  <a:cubicBezTo>
                    <a:pt x="20940" y="17349"/>
                    <a:pt x="20950" y="17334"/>
                    <a:pt x="20950" y="17304"/>
                  </a:cubicBezTo>
                  <a:cubicBezTo>
                    <a:pt x="20950" y="17274"/>
                    <a:pt x="20970" y="17226"/>
                    <a:pt x="20993" y="17199"/>
                  </a:cubicBezTo>
                  <a:cubicBezTo>
                    <a:pt x="21016" y="17172"/>
                    <a:pt x="21035" y="17096"/>
                    <a:pt x="21035" y="17033"/>
                  </a:cubicBezTo>
                  <a:cubicBezTo>
                    <a:pt x="21035" y="16970"/>
                    <a:pt x="21052" y="16912"/>
                    <a:pt x="21067" y="16912"/>
                  </a:cubicBezTo>
                  <a:cubicBezTo>
                    <a:pt x="21082" y="16912"/>
                    <a:pt x="21088" y="16878"/>
                    <a:pt x="21088" y="16837"/>
                  </a:cubicBezTo>
                  <a:cubicBezTo>
                    <a:pt x="21088" y="16795"/>
                    <a:pt x="21107" y="16759"/>
                    <a:pt x="21130" y="16746"/>
                  </a:cubicBezTo>
                  <a:cubicBezTo>
                    <a:pt x="21153" y="16734"/>
                    <a:pt x="21173" y="16684"/>
                    <a:pt x="21173" y="16641"/>
                  </a:cubicBezTo>
                  <a:cubicBezTo>
                    <a:pt x="21173" y="16598"/>
                    <a:pt x="21189" y="16548"/>
                    <a:pt x="21205" y="16535"/>
                  </a:cubicBezTo>
                  <a:cubicBezTo>
                    <a:pt x="21220" y="16521"/>
                    <a:pt x="21226" y="16487"/>
                    <a:pt x="21226" y="16444"/>
                  </a:cubicBezTo>
                  <a:cubicBezTo>
                    <a:pt x="21226" y="16367"/>
                    <a:pt x="21235" y="16342"/>
                    <a:pt x="21321" y="16097"/>
                  </a:cubicBezTo>
                  <a:cubicBezTo>
                    <a:pt x="21347" y="16025"/>
                    <a:pt x="21374" y="15903"/>
                    <a:pt x="21374" y="15841"/>
                  </a:cubicBezTo>
                  <a:cubicBezTo>
                    <a:pt x="21374" y="15779"/>
                    <a:pt x="21380" y="15719"/>
                    <a:pt x="21396" y="15705"/>
                  </a:cubicBezTo>
                  <a:cubicBezTo>
                    <a:pt x="21411" y="15692"/>
                    <a:pt x="21427" y="15605"/>
                    <a:pt x="21427" y="15509"/>
                  </a:cubicBezTo>
                  <a:cubicBezTo>
                    <a:pt x="21427" y="15414"/>
                    <a:pt x="21433" y="15326"/>
                    <a:pt x="21449" y="15313"/>
                  </a:cubicBezTo>
                  <a:cubicBezTo>
                    <a:pt x="21464" y="15299"/>
                    <a:pt x="21480" y="15204"/>
                    <a:pt x="21480" y="15102"/>
                  </a:cubicBezTo>
                  <a:cubicBezTo>
                    <a:pt x="21481" y="15000"/>
                    <a:pt x="21500" y="14862"/>
                    <a:pt x="21523" y="14800"/>
                  </a:cubicBezTo>
                  <a:cubicBezTo>
                    <a:pt x="21584" y="14634"/>
                    <a:pt x="21584" y="12335"/>
                    <a:pt x="21523" y="12220"/>
                  </a:cubicBezTo>
                  <a:cubicBezTo>
                    <a:pt x="21500" y="12178"/>
                    <a:pt x="21480" y="12071"/>
                    <a:pt x="21480" y="11979"/>
                  </a:cubicBezTo>
                  <a:cubicBezTo>
                    <a:pt x="21480" y="11886"/>
                    <a:pt x="21464" y="11796"/>
                    <a:pt x="21449" y="11783"/>
                  </a:cubicBezTo>
                  <a:cubicBezTo>
                    <a:pt x="21433" y="11769"/>
                    <a:pt x="21427" y="11687"/>
                    <a:pt x="21427" y="11602"/>
                  </a:cubicBezTo>
                  <a:cubicBezTo>
                    <a:pt x="21427" y="11516"/>
                    <a:pt x="21411" y="11451"/>
                    <a:pt x="21396" y="11451"/>
                  </a:cubicBezTo>
                  <a:cubicBezTo>
                    <a:pt x="21380" y="11451"/>
                    <a:pt x="21374" y="11394"/>
                    <a:pt x="21374" y="11330"/>
                  </a:cubicBezTo>
                  <a:cubicBezTo>
                    <a:pt x="21374" y="11266"/>
                    <a:pt x="21347" y="11161"/>
                    <a:pt x="21321" y="11089"/>
                  </a:cubicBezTo>
                  <a:cubicBezTo>
                    <a:pt x="21235" y="10844"/>
                    <a:pt x="21226" y="10819"/>
                    <a:pt x="21226" y="10742"/>
                  </a:cubicBezTo>
                  <a:cubicBezTo>
                    <a:pt x="21226" y="10699"/>
                    <a:pt x="21220" y="10650"/>
                    <a:pt x="21205" y="10636"/>
                  </a:cubicBezTo>
                  <a:cubicBezTo>
                    <a:pt x="21189" y="10623"/>
                    <a:pt x="21173" y="10564"/>
                    <a:pt x="21173" y="10500"/>
                  </a:cubicBezTo>
                  <a:cubicBezTo>
                    <a:pt x="21173" y="10436"/>
                    <a:pt x="21166" y="10380"/>
                    <a:pt x="21152" y="10380"/>
                  </a:cubicBezTo>
                  <a:cubicBezTo>
                    <a:pt x="21137" y="10380"/>
                    <a:pt x="21103" y="10310"/>
                    <a:pt x="21077" y="10229"/>
                  </a:cubicBezTo>
                  <a:cubicBezTo>
                    <a:pt x="20944" y="9807"/>
                    <a:pt x="20809" y="9429"/>
                    <a:pt x="20791" y="9429"/>
                  </a:cubicBezTo>
                  <a:cubicBezTo>
                    <a:pt x="20780" y="9429"/>
                    <a:pt x="20748" y="9370"/>
                    <a:pt x="20727" y="9293"/>
                  </a:cubicBezTo>
                  <a:cubicBezTo>
                    <a:pt x="20706" y="9217"/>
                    <a:pt x="20677" y="9158"/>
                    <a:pt x="20664" y="9158"/>
                  </a:cubicBezTo>
                  <a:cubicBezTo>
                    <a:pt x="20651" y="9158"/>
                    <a:pt x="20631" y="9119"/>
                    <a:pt x="20621" y="9082"/>
                  </a:cubicBezTo>
                  <a:cubicBezTo>
                    <a:pt x="20602" y="9011"/>
                    <a:pt x="20566" y="8936"/>
                    <a:pt x="20441" y="8735"/>
                  </a:cubicBezTo>
                  <a:cubicBezTo>
                    <a:pt x="20399" y="8668"/>
                    <a:pt x="20367" y="8603"/>
                    <a:pt x="20367" y="8584"/>
                  </a:cubicBezTo>
                  <a:cubicBezTo>
                    <a:pt x="20367" y="8566"/>
                    <a:pt x="20325" y="8490"/>
                    <a:pt x="20271" y="8418"/>
                  </a:cubicBezTo>
                  <a:cubicBezTo>
                    <a:pt x="20218" y="8346"/>
                    <a:pt x="20176" y="8282"/>
                    <a:pt x="20176" y="8267"/>
                  </a:cubicBezTo>
                  <a:cubicBezTo>
                    <a:pt x="20176" y="8237"/>
                    <a:pt x="19752" y="7657"/>
                    <a:pt x="19582" y="7453"/>
                  </a:cubicBezTo>
                  <a:cubicBezTo>
                    <a:pt x="19475" y="7324"/>
                    <a:pt x="19253" y="7078"/>
                    <a:pt x="19147" y="6985"/>
                  </a:cubicBezTo>
                  <a:cubicBezTo>
                    <a:pt x="19122" y="6963"/>
                    <a:pt x="19045" y="6899"/>
                    <a:pt x="18978" y="6834"/>
                  </a:cubicBezTo>
                  <a:cubicBezTo>
                    <a:pt x="18795" y="6659"/>
                    <a:pt x="18643" y="6522"/>
                    <a:pt x="18458" y="6382"/>
                  </a:cubicBezTo>
                  <a:cubicBezTo>
                    <a:pt x="18317" y="6275"/>
                    <a:pt x="18091" y="6140"/>
                    <a:pt x="18055" y="6140"/>
                  </a:cubicBezTo>
                  <a:cubicBezTo>
                    <a:pt x="18033" y="6140"/>
                    <a:pt x="17995" y="6131"/>
                    <a:pt x="17981" y="6110"/>
                  </a:cubicBezTo>
                  <a:cubicBezTo>
                    <a:pt x="17966" y="6090"/>
                    <a:pt x="17923" y="6061"/>
                    <a:pt x="17885" y="6050"/>
                  </a:cubicBezTo>
                  <a:cubicBezTo>
                    <a:pt x="17847" y="6038"/>
                    <a:pt x="17763" y="5995"/>
                    <a:pt x="17694" y="5959"/>
                  </a:cubicBezTo>
                  <a:cubicBezTo>
                    <a:pt x="17052" y="5622"/>
                    <a:pt x="16300" y="5487"/>
                    <a:pt x="15393" y="5552"/>
                  </a:cubicBezTo>
                  <a:cubicBezTo>
                    <a:pt x="14883" y="5588"/>
                    <a:pt x="14038" y="5877"/>
                    <a:pt x="13706" y="6125"/>
                  </a:cubicBezTo>
                  <a:cubicBezTo>
                    <a:pt x="13666" y="6156"/>
                    <a:pt x="13611" y="6186"/>
                    <a:pt x="13579" y="6186"/>
                  </a:cubicBezTo>
                  <a:cubicBezTo>
                    <a:pt x="13547" y="6186"/>
                    <a:pt x="13516" y="6194"/>
                    <a:pt x="13516" y="6216"/>
                  </a:cubicBezTo>
                  <a:cubicBezTo>
                    <a:pt x="13516" y="6237"/>
                    <a:pt x="13501" y="6261"/>
                    <a:pt x="13484" y="6261"/>
                  </a:cubicBezTo>
                  <a:cubicBezTo>
                    <a:pt x="13467" y="6261"/>
                    <a:pt x="13349" y="6339"/>
                    <a:pt x="13219" y="6427"/>
                  </a:cubicBezTo>
                  <a:cubicBezTo>
                    <a:pt x="12974" y="6592"/>
                    <a:pt x="12853" y="6598"/>
                    <a:pt x="12943" y="6457"/>
                  </a:cubicBezTo>
                  <a:cubicBezTo>
                    <a:pt x="12968" y="6418"/>
                    <a:pt x="12985" y="6375"/>
                    <a:pt x="12985" y="6351"/>
                  </a:cubicBezTo>
                  <a:cubicBezTo>
                    <a:pt x="12985" y="6328"/>
                    <a:pt x="13027" y="6236"/>
                    <a:pt x="13081" y="6155"/>
                  </a:cubicBezTo>
                  <a:cubicBezTo>
                    <a:pt x="13134" y="6074"/>
                    <a:pt x="13187" y="6003"/>
                    <a:pt x="13187" y="5989"/>
                  </a:cubicBezTo>
                  <a:cubicBezTo>
                    <a:pt x="13187" y="5975"/>
                    <a:pt x="13209" y="5930"/>
                    <a:pt x="13240" y="5899"/>
                  </a:cubicBezTo>
                  <a:cubicBezTo>
                    <a:pt x="13270" y="5867"/>
                    <a:pt x="13293" y="5822"/>
                    <a:pt x="13293" y="5793"/>
                  </a:cubicBezTo>
                  <a:cubicBezTo>
                    <a:pt x="13293" y="5765"/>
                    <a:pt x="13312" y="5730"/>
                    <a:pt x="13335" y="5718"/>
                  </a:cubicBezTo>
                  <a:cubicBezTo>
                    <a:pt x="13358" y="5705"/>
                    <a:pt x="13378" y="5669"/>
                    <a:pt x="13378" y="5642"/>
                  </a:cubicBezTo>
                  <a:cubicBezTo>
                    <a:pt x="13378" y="5616"/>
                    <a:pt x="13414" y="5558"/>
                    <a:pt x="13452" y="5507"/>
                  </a:cubicBezTo>
                  <a:cubicBezTo>
                    <a:pt x="13490" y="5455"/>
                    <a:pt x="13516" y="5405"/>
                    <a:pt x="13516" y="5386"/>
                  </a:cubicBezTo>
                  <a:cubicBezTo>
                    <a:pt x="13516" y="5367"/>
                    <a:pt x="13538" y="5312"/>
                    <a:pt x="13569" y="5265"/>
                  </a:cubicBezTo>
                  <a:cubicBezTo>
                    <a:pt x="13599" y="5218"/>
                    <a:pt x="13632" y="5150"/>
                    <a:pt x="13632" y="5114"/>
                  </a:cubicBezTo>
                  <a:cubicBezTo>
                    <a:pt x="13632" y="5079"/>
                    <a:pt x="13642" y="5006"/>
                    <a:pt x="13664" y="4964"/>
                  </a:cubicBezTo>
                  <a:cubicBezTo>
                    <a:pt x="13708" y="4881"/>
                    <a:pt x="13727" y="4315"/>
                    <a:pt x="13685" y="4315"/>
                  </a:cubicBezTo>
                  <a:cubicBezTo>
                    <a:pt x="13673" y="4315"/>
                    <a:pt x="13635" y="4231"/>
                    <a:pt x="13600" y="4119"/>
                  </a:cubicBezTo>
                  <a:cubicBezTo>
                    <a:pt x="13552" y="3959"/>
                    <a:pt x="13438" y="3765"/>
                    <a:pt x="13060" y="3229"/>
                  </a:cubicBezTo>
                  <a:cubicBezTo>
                    <a:pt x="12792" y="2850"/>
                    <a:pt x="12572" y="2527"/>
                    <a:pt x="12572" y="2519"/>
                  </a:cubicBezTo>
                  <a:cubicBezTo>
                    <a:pt x="12572" y="2493"/>
                    <a:pt x="12280" y="2089"/>
                    <a:pt x="12169" y="1961"/>
                  </a:cubicBezTo>
                  <a:cubicBezTo>
                    <a:pt x="12056" y="1833"/>
                    <a:pt x="11821" y="1705"/>
                    <a:pt x="11702" y="1705"/>
                  </a:cubicBezTo>
                  <a:cubicBezTo>
                    <a:pt x="11618" y="1705"/>
                    <a:pt x="11253" y="1836"/>
                    <a:pt x="11235" y="1871"/>
                  </a:cubicBezTo>
                  <a:cubicBezTo>
                    <a:pt x="11228" y="1886"/>
                    <a:pt x="11186" y="1912"/>
                    <a:pt x="11140" y="1946"/>
                  </a:cubicBezTo>
                  <a:cubicBezTo>
                    <a:pt x="11094" y="1980"/>
                    <a:pt x="11008" y="2079"/>
                    <a:pt x="10949" y="2157"/>
                  </a:cubicBezTo>
                  <a:cubicBezTo>
                    <a:pt x="10890" y="2235"/>
                    <a:pt x="10827" y="2293"/>
                    <a:pt x="10822" y="2293"/>
                  </a:cubicBezTo>
                  <a:cubicBezTo>
                    <a:pt x="10810" y="2293"/>
                    <a:pt x="10735" y="2388"/>
                    <a:pt x="10620" y="2535"/>
                  </a:cubicBezTo>
                  <a:cubicBezTo>
                    <a:pt x="10487" y="2704"/>
                    <a:pt x="10427" y="2776"/>
                    <a:pt x="10408" y="2776"/>
                  </a:cubicBezTo>
                  <a:cubicBezTo>
                    <a:pt x="10398" y="2776"/>
                    <a:pt x="10361" y="2802"/>
                    <a:pt x="10334" y="2836"/>
                  </a:cubicBezTo>
                  <a:cubicBezTo>
                    <a:pt x="10290" y="2892"/>
                    <a:pt x="10278" y="2888"/>
                    <a:pt x="10196" y="2836"/>
                  </a:cubicBezTo>
                  <a:cubicBezTo>
                    <a:pt x="9899" y="2652"/>
                    <a:pt x="9762" y="2580"/>
                    <a:pt x="9740" y="2580"/>
                  </a:cubicBezTo>
                  <a:cubicBezTo>
                    <a:pt x="9727" y="2580"/>
                    <a:pt x="9683" y="2548"/>
                    <a:pt x="9644" y="2519"/>
                  </a:cubicBezTo>
                  <a:cubicBezTo>
                    <a:pt x="9606" y="2491"/>
                    <a:pt x="9526" y="2459"/>
                    <a:pt x="9475" y="2444"/>
                  </a:cubicBezTo>
                  <a:cubicBezTo>
                    <a:pt x="9354" y="2410"/>
                    <a:pt x="9317" y="2318"/>
                    <a:pt x="9316" y="2112"/>
                  </a:cubicBezTo>
                  <a:cubicBezTo>
                    <a:pt x="9315" y="2021"/>
                    <a:pt x="9299" y="1929"/>
                    <a:pt x="9284" y="1916"/>
                  </a:cubicBezTo>
                  <a:cubicBezTo>
                    <a:pt x="9269" y="1903"/>
                    <a:pt x="9253" y="1779"/>
                    <a:pt x="9252" y="1644"/>
                  </a:cubicBezTo>
                  <a:cubicBezTo>
                    <a:pt x="9252" y="1492"/>
                    <a:pt x="9235" y="1375"/>
                    <a:pt x="9210" y="1328"/>
                  </a:cubicBezTo>
                  <a:cubicBezTo>
                    <a:pt x="9187" y="1285"/>
                    <a:pt x="9167" y="1179"/>
                    <a:pt x="9167" y="1086"/>
                  </a:cubicBezTo>
                  <a:cubicBezTo>
                    <a:pt x="9167" y="994"/>
                    <a:pt x="9161" y="904"/>
                    <a:pt x="9146" y="890"/>
                  </a:cubicBezTo>
                  <a:cubicBezTo>
                    <a:pt x="9131" y="877"/>
                    <a:pt x="9114" y="828"/>
                    <a:pt x="9114" y="785"/>
                  </a:cubicBezTo>
                  <a:cubicBezTo>
                    <a:pt x="9114" y="659"/>
                    <a:pt x="8945" y="352"/>
                    <a:pt x="8796" y="211"/>
                  </a:cubicBezTo>
                  <a:cubicBezTo>
                    <a:pt x="8585" y="11"/>
                    <a:pt x="8519" y="0"/>
                    <a:pt x="7608" y="0"/>
                  </a:cubicBezTo>
                  <a:close/>
                  <a:moveTo>
                    <a:pt x="7523" y="6382"/>
                  </a:moveTo>
                  <a:cubicBezTo>
                    <a:pt x="7622" y="6376"/>
                    <a:pt x="7696" y="6384"/>
                    <a:pt x="7735" y="6412"/>
                  </a:cubicBezTo>
                  <a:cubicBezTo>
                    <a:pt x="7768" y="6434"/>
                    <a:pt x="7880" y="6461"/>
                    <a:pt x="7979" y="6472"/>
                  </a:cubicBezTo>
                  <a:cubicBezTo>
                    <a:pt x="8171" y="6493"/>
                    <a:pt x="8393" y="6573"/>
                    <a:pt x="8393" y="6623"/>
                  </a:cubicBezTo>
                  <a:cubicBezTo>
                    <a:pt x="8393" y="6640"/>
                    <a:pt x="8422" y="6652"/>
                    <a:pt x="8457" y="6653"/>
                  </a:cubicBezTo>
                  <a:cubicBezTo>
                    <a:pt x="8491" y="6654"/>
                    <a:pt x="8565" y="6687"/>
                    <a:pt x="8626" y="6729"/>
                  </a:cubicBezTo>
                  <a:cubicBezTo>
                    <a:pt x="8688" y="6771"/>
                    <a:pt x="8753" y="6818"/>
                    <a:pt x="8764" y="6819"/>
                  </a:cubicBezTo>
                  <a:cubicBezTo>
                    <a:pt x="8782" y="6820"/>
                    <a:pt x="8953" y="6973"/>
                    <a:pt x="9019" y="7045"/>
                  </a:cubicBezTo>
                  <a:cubicBezTo>
                    <a:pt x="9034" y="7062"/>
                    <a:pt x="9115" y="7132"/>
                    <a:pt x="9199" y="7211"/>
                  </a:cubicBezTo>
                  <a:cubicBezTo>
                    <a:pt x="9438" y="7435"/>
                    <a:pt x="9814" y="7990"/>
                    <a:pt x="9814" y="8117"/>
                  </a:cubicBezTo>
                  <a:cubicBezTo>
                    <a:pt x="9814" y="8140"/>
                    <a:pt x="9837" y="8180"/>
                    <a:pt x="9867" y="8207"/>
                  </a:cubicBezTo>
                  <a:cubicBezTo>
                    <a:pt x="9898" y="8234"/>
                    <a:pt x="9920" y="8281"/>
                    <a:pt x="9920" y="8298"/>
                  </a:cubicBezTo>
                  <a:cubicBezTo>
                    <a:pt x="9920" y="8315"/>
                    <a:pt x="9956" y="8392"/>
                    <a:pt x="9994" y="8479"/>
                  </a:cubicBezTo>
                  <a:cubicBezTo>
                    <a:pt x="10033" y="8565"/>
                    <a:pt x="10058" y="8659"/>
                    <a:pt x="10058" y="8690"/>
                  </a:cubicBezTo>
                  <a:cubicBezTo>
                    <a:pt x="10058" y="8720"/>
                    <a:pt x="10078" y="8768"/>
                    <a:pt x="10101" y="8796"/>
                  </a:cubicBezTo>
                  <a:cubicBezTo>
                    <a:pt x="10123" y="8823"/>
                    <a:pt x="10143" y="8875"/>
                    <a:pt x="10143" y="8916"/>
                  </a:cubicBezTo>
                  <a:cubicBezTo>
                    <a:pt x="10143" y="8957"/>
                    <a:pt x="10159" y="8992"/>
                    <a:pt x="10175" y="8992"/>
                  </a:cubicBezTo>
                  <a:cubicBezTo>
                    <a:pt x="10190" y="8992"/>
                    <a:pt x="10207" y="9052"/>
                    <a:pt x="10207" y="9127"/>
                  </a:cubicBezTo>
                  <a:cubicBezTo>
                    <a:pt x="10207" y="9202"/>
                    <a:pt x="10212" y="9280"/>
                    <a:pt x="10228" y="9293"/>
                  </a:cubicBezTo>
                  <a:cubicBezTo>
                    <a:pt x="10243" y="9307"/>
                    <a:pt x="10260" y="9364"/>
                    <a:pt x="10260" y="9414"/>
                  </a:cubicBezTo>
                  <a:cubicBezTo>
                    <a:pt x="10260" y="9465"/>
                    <a:pt x="10279" y="9523"/>
                    <a:pt x="10302" y="9550"/>
                  </a:cubicBezTo>
                  <a:cubicBezTo>
                    <a:pt x="10334" y="9588"/>
                    <a:pt x="10344" y="9688"/>
                    <a:pt x="10344" y="9987"/>
                  </a:cubicBezTo>
                  <a:cubicBezTo>
                    <a:pt x="10344" y="10222"/>
                    <a:pt x="10349" y="10380"/>
                    <a:pt x="10366" y="10380"/>
                  </a:cubicBezTo>
                  <a:cubicBezTo>
                    <a:pt x="10381" y="10380"/>
                    <a:pt x="10397" y="10492"/>
                    <a:pt x="10397" y="10636"/>
                  </a:cubicBezTo>
                  <a:cubicBezTo>
                    <a:pt x="10397" y="10776"/>
                    <a:pt x="10381" y="10894"/>
                    <a:pt x="10366" y="10908"/>
                  </a:cubicBezTo>
                  <a:cubicBezTo>
                    <a:pt x="10350" y="10921"/>
                    <a:pt x="10344" y="11084"/>
                    <a:pt x="10344" y="11255"/>
                  </a:cubicBezTo>
                  <a:cubicBezTo>
                    <a:pt x="10344" y="11482"/>
                    <a:pt x="10333" y="11565"/>
                    <a:pt x="10302" y="11602"/>
                  </a:cubicBezTo>
                  <a:cubicBezTo>
                    <a:pt x="10279" y="11629"/>
                    <a:pt x="10260" y="11700"/>
                    <a:pt x="10260" y="11752"/>
                  </a:cubicBezTo>
                  <a:cubicBezTo>
                    <a:pt x="10260" y="11805"/>
                    <a:pt x="10246" y="11885"/>
                    <a:pt x="10228" y="11934"/>
                  </a:cubicBezTo>
                  <a:cubicBezTo>
                    <a:pt x="10168" y="12098"/>
                    <a:pt x="10152" y="12138"/>
                    <a:pt x="10132" y="12265"/>
                  </a:cubicBezTo>
                  <a:cubicBezTo>
                    <a:pt x="10122" y="12336"/>
                    <a:pt x="10104" y="12401"/>
                    <a:pt x="10090" y="12401"/>
                  </a:cubicBezTo>
                  <a:cubicBezTo>
                    <a:pt x="10076" y="12401"/>
                    <a:pt x="10058" y="12429"/>
                    <a:pt x="10058" y="12462"/>
                  </a:cubicBezTo>
                  <a:cubicBezTo>
                    <a:pt x="10058" y="12537"/>
                    <a:pt x="10008" y="12692"/>
                    <a:pt x="9963" y="12733"/>
                  </a:cubicBezTo>
                  <a:cubicBezTo>
                    <a:pt x="9944" y="12751"/>
                    <a:pt x="9920" y="12792"/>
                    <a:pt x="9920" y="12824"/>
                  </a:cubicBezTo>
                  <a:cubicBezTo>
                    <a:pt x="9920" y="12855"/>
                    <a:pt x="9914" y="12869"/>
                    <a:pt x="9899" y="12869"/>
                  </a:cubicBezTo>
                  <a:cubicBezTo>
                    <a:pt x="9884" y="12869"/>
                    <a:pt x="9867" y="12902"/>
                    <a:pt x="9867" y="12929"/>
                  </a:cubicBezTo>
                  <a:cubicBezTo>
                    <a:pt x="9867" y="12956"/>
                    <a:pt x="9835" y="13027"/>
                    <a:pt x="9793" y="13095"/>
                  </a:cubicBezTo>
                  <a:cubicBezTo>
                    <a:pt x="9751" y="13163"/>
                    <a:pt x="9680" y="13284"/>
                    <a:pt x="9634" y="13367"/>
                  </a:cubicBezTo>
                  <a:cubicBezTo>
                    <a:pt x="9524" y="13563"/>
                    <a:pt x="9371" y="13781"/>
                    <a:pt x="9273" y="13880"/>
                  </a:cubicBezTo>
                  <a:cubicBezTo>
                    <a:pt x="9230" y="13923"/>
                    <a:pt x="9151" y="14014"/>
                    <a:pt x="9104" y="14076"/>
                  </a:cubicBezTo>
                  <a:cubicBezTo>
                    <a:pt x="8997" y="14213"/>
                    <a:pt x="8475" y="14574"/>
                    <a:pt x="8382" y="14574"/>
                  </a:cubicBezTo>
                  <a:cubicBezTo>
                    <a:pt x="8345" y="14574"/>
                    <a:pt x="8307" y="14597"/>
                    <a:pt x="8298" y="14619"/>
                  </a:cubicBezTo>
                  <a:cubicBezTo>
                    <a:pt x="8288" y="14641"/>
                    <a:pt x="8246" y="14664"/>
                    <a:pt x="8202" y="14664"/>
                  </a:cubicBezTo>
                  <a:cubicBezTo>
                    <a:pt x="8158" y="14664"/>
                    <a:pt x="8089" y="14676"/>
                    <a:pt x="8054" y="14694"/>
                  </a:cubicBezTo>
                  <a:cubicBezTo>
                    <a:pt x="7878" y="14787"/>
                    <a:pt x="7156" y="14769"/>
                    <a:pt x="6898" y="14664"/>
                  </a:cubicBezTo>
                  <a:cubicBezTo>
                    <a:pt x="6836" y="14639"/>
                    <a:pt x="6743" y="14595"/>
                    <a:pt x="6685" y="14574"/>
                  </a:cubicBezTo>
                  <a:cubicBezTo>
                    <a:pt x="6628" y="14553"/>
                    <a:pt x="6563" y="14519"/>
                    <a:pt x="6537" y="14498"/>
                  </a:cubicBezTo>
                  <a:cubicBezTo>
                    <a:pt x="6511" y="14477"/>
                    <a:pt x="6403" y="14413"/>
                    <a:pt x="6304" y="14347"/>
                  </a:cubicBezTo>
                  <a:cubicBezTo>
                    <a:pt x="6204" y="14282"/>
                    <a:pt x="6065" y="14166"/>
                    <a:pt x="5996" y="14091"/>
                  </a:cubicBezTo>
                  <a:cubicBezTo>
                    <a:pt x="5927" y="14016"/>
                    <a:pt x="5853" y="13957"/>
                    <a:pt x="5837" y="13955"/>
                  </a:cubicBezTo>
                  <a:cubicBezTo>
                    <a:pt x="5802" y="13952"/>
                    <a:pt x="5466" y="13482"/>
                    <a:pt x="5317" y="13231"/>
                  </a:cubicBezTo>
                  <a:cubicBezTo>
                    <a:pt x="5217" y="13061"/>
                    <a:pt x="5164" y="12937"/>
                    <a:pt x="5116" y="12793"/>
                  </a:cubicBezTo>
                  <a:cubicBezTo>
                    <a:pt x="5105" y="12761"/>
                    <a:pt x="5093" y="12729"/>
                    <a:pt x="5084" y="12718"/>
                  </a:cubicBezTo>
                  <a:cubicBezTo>
                    <a:pt x="5051" y="12677"/>
                    <a:pt x="4989" y="12519"/>
                    <a:pt x="4989" y="12462"/>
                  </a:cubicBezTo>
                  <a:cubicBezTo>
                    <a:pt x="4989" y="12429"/>
                    <a:pt x="4980" y="12401"/>
                    <a:pt x="4967" y="12401"/>
                  </a:cubicBezTo>
                  <a:cubicBezTo>
                    <a:pt x="4937" y="12401"/>
                    <a:pt x="4851" y="12133"/>
                    <a:pt x="4851" y="12039"/>
                  </a:cubicBezTo>
                  <a:cubicBezTo>
                    <a:pt x="4851" y="11998"/>
                    <a:pt x="4845" y="11962"/>
                    <a:pt x="4829" y="11949"/>
                  </a:cubicBezTo>
                  <a:cubicBezTo>
                    <a:pt x="4814" y="11935"/>
                    <a:pt x="4798" y="11858"/>
                    <a:pt x="4798" y="11783"/>
                  </a:cubicBezTo>
                  <a:cubicBezTo>
                    <a:pt x="4798" y="11697"/>
                    <a:pt x="4781" y="11631"/>
                    <a:pt x="4755" y="11617"/>
                  </a:cubicBezTo>
                  <a:cubicBezTo>
                    <a:pt x="4728" y="11602"/>
                    <a:pt x="4713" y="11549"/>
                    <a:pt x="4713" y="11451"/>
                  </a:cubicBezTo>
                  <a:cubicBezTo>
                    <a:pt x="4713" y="11367"/>
                    <a:pt x="4707" y="11283"/>
                    <a:pt x="4692" y="11270"/>
                  </a:cubicBezTo>
                  <a:cubicBezTo>
                    <a:pt x="4675" y="11255"/>
                    <a:pt x="4660" y="11001"/>
                    <a:pt x="4660" y="10651"/>
                  </a:cubicBezTo>
                  <a:cubicBezTo>
                    <a:pt x="4660" y="10301"/>
                    <a:pt x="4675" y="10062"/>
                    <a:pt x="4692" y="10048"/>
                  </a:cubicBezTo>
                  <a:cubicBezTo>
                    <a:pt x="4707" y="10034"/>
                    <a:pt x="4713" y="9922"/>
                    <a:pt x="4713" y="9806"/>
                  </a:cubicBezTo>
                  <a:cubicBezTo>
                    <a:pt x="4713" y="9667"/>
                    <a:pt x="4728" y="9582"/>
                    <a:pt x="4755" y="9550"/>
                  </a:cubicBezTo>
                  <a:cubicBezTo>
                    <a:pt x="4778" y="9523"/>
                    <a:pt x="4798" y="9470"/>
                    <a:pt x="4798" y="9429"/>
                  </a:cubicBezTo>
                  <a:cubicBezTo>
                    <a:pt x="4798" y="9388"/>
                    <a:pt x="4816" y="9316"/>
                    <a:pt x="4829" y="9278"/>
                  </a:cubicBezTo>
                  <a:cubicBezTo>
                    <a:pt x="4843" y="9240"/>
                    <a:pt x="4863" y="9135"/>
                    <a:pt x="4883" y="9037"/>
                  </a:cubicBezTo>
                  <a:cubicBezTo>
                    <a:pt x="4902" y="8939"/>
                    <a:pt x="4936" y="8830"/>
                    <a:pt x="4957" y="8796"/>
                  </a:cubicBezTo>
                  <a:cubicBezTo>
                    <a:pt x="4977" y="8761"/>
                    <a:pt x="4989" y="8716"/>
                    <a:pt x="4989" y="8690"/>
                  </a:cubicBezTo>
                  <a:cubicBezTo>
                    <a:pt x="4989" y="8640"/>
                    <a:pt x="5048" y="8495"/>
                    <a:pt x="5095" y="8418"/>
                  </a:cubicBezTo>
                  <a:cubicBezTo>
                    <a:pt x="5110" y="8393"/>
                    <a:pt x="5135" y="8333"/>
                    <a:pt x="5158" y="8283"/>
                  </a:cubicBezTo>
                  <a:cubicBezTo>
                    <a:pt x="5181" y="8232"/>
                    <a:pt x="5230" y="8138"/>
                    <a:pt x="5264" y="8086"/>
                  </a:cubicBezTo>
                  <a:cubicBezTo>
                    <a:pt x="5299" y="8035"/>
                    <a:pt x="5328" y="7974"/>
                    <a:pt x="5328" y="7951"/>
                  </a:cubicBezTo>
                  <a:cubicBezTo>
                    <a:pt x="5328" y="7845"/>
                    <a:pt x="5892" y="7136"/>
                    <a:pt x="5975" y="7136"/>
                  </a:cubicBezTo>
                  <a:cubicBezTo>
                    <a:pt x="5990" y="7136"/>
                    <a:pt x="5996" y="7109"/>
                    <a:pt x="5996" y="7091"/>
                  </a:cubicBezTo>
                  <a:cubicBezTo>
                    <a:pt x="5996" y="7072"/>
                    <a:pt x="6038" y="7026"/>
                    <a:pt x="6092" y="6985"/>
                  </a:cubicBezTo>
                  <a:cubicBezTo>
                    <a:pt x="6145" y="6944"/>
                    <a:pt x="6187" y="6909"/>
                    <a:pt x="6187" y="6895"/>
                  </a:cubicBezTo>
                  <a:cubicBezTo>
                    <a:pt x="6187" y="6880"/>
                    <a:pt x="6233" y="6846"/>
                    <a:pt x="6282" y="6819"/>
                  </a:cubicBezTo>
                  <a:cubicBezTo>
                    <a:pt x="6332" y="6793"/>
                    <a:pt x="6400" y="6747"/>
                    <a:pt x="6431" y="6729"/>
                  </a:cubicBezTo>
                  <a:cubicBezTo>
                    <a:pt x="6734" y="6542"/>
                    <a:pt x="7228" y="6398"/>
                    <a:pt x="7523" y="6382"/>
                  </a:cubicBezTo>
                  <a:close/>
                </a:path>
              </a:pathLst>
            </a:custGeom>
            <a:ln w="12700" cap="flat">
              <a:noFill/>
              <a:miter lim="400000"/>
            </a:ln>
            <a:effectLst/>
          </p:spPr>
        </p:pic>
        <p:pic>
          <p:nvPicPr>
            <p:cNvPr id="299" name="pasted-movie.png" descr="pasted-movie.png"/>
            <p:cNvPicPr>
              <a:picLocks noChangeAspect="1"/>
            </p:cNvPicPr>
            <p:nvPr/>
          </p:nvPicPr>
          <p:blipFill>
            <a:blip r:embed="rId8"/>
            <a:srcRect l="4221" t="5738" r="69561" b="30187"/>
            <a:stretch>
              <a:fillRect/>
            </a:stretch>
          </p:blipFill>
          <p:spPr>
            <a:xfrm>
              <a:off x="258150" y="339669"/>
              <a:ext cx="966789" cy="1575209"/>
            </a:xfrm>
            <a:custGeom>
              <a:avLst/>
              <a:gdLst/>
              <a:ahLst/>
              <a:cxnLst>
                <a:cxn ang="0">
                  <a:pos x="wd2" y="hd2"/>
                </a:cxn>
                <a:cxn ang="5400000">
                  <a:pos x="wd2" y="hd2"/>
                </a:cxn>
                <a:cxn ang="10800000">
                  <a:pos x="wd2" y="hd2"/>
                </a:cxn>
                <a:cxn ang="16200000">
                  <a:pos x="wd2" y="hd2"/>
                </a:cxn>
              </a:cxnLst>
              <a:rect l="0" t="0" r="r" b="b"/>
              <a:pathLst>
                <a:path w="21600" h="21596" extrusionOk="0">
                  <a:moveTo>
                    <a:pt x="12219" y="0"/>
                  </a:moveTo>
                  <a:cubicBezTo>
                    <a:pt x="12063" y="1"/>
                    <a:pt x="11889" y="15"/>
                    <a:pt x="11696" y="33"/>
                  </a:cubicBezTo>
                  <a:cubicBezTo>
                    <a:pt x="10522" y="138"/>
                    <a:pt x="9746" y="443"/>
                    <a:pt x="9488" y="898"/>
                  </a:cubicBezTo>
                  <a:cubicBezTo>
                    <a:pt x="9421" y="1015"/>
                    <a:pt x="9282" y="1088"/>
                    <a:pt x="8956" y="1186"/>
                  </a:cubicBezTo>
                  <a:cubicBezTo>
                    <a:pt x="7687" y="1567"/>
                    <a:pt x="7407" y="2699"/>
                    <a:pt x="8450" y="3227"/>
                  </a:cubicBezTo>
                  <a:cubicBezTo>
                    <a:pt x="8773" y="3390"/>
                    <a:pt x="8778" y="3397"/>
                    <a:pt x="8752" y="3716"/>
                  </a:cubicBezTo>
                  <a:cubicBezTo>
                    <a:pt x="8716" y="4147"/>
                    <a:pt x="8920" y="4336"/>
                    <a:pt x="9656" y="4565"/>
                  </a:cubicBezTo>
                  <a:cubicBezTo>
                    <a:pt x="10094" y="4701"/>
                    <a:pt x="10294" y="4734"/>
                    <a:pt x="10720" y="4734"/>
                  </a:cubicBezTo>
                  <a:cubicBezTo>
                    <a:pt x="11182" y="4734"/>
                    <a:pt x="11302" y="4755"/>
                    <a:pt x="11687" y="4913"/>
                  </a:cubicBezTo>
                  <a:cubicBezTo>
                    <a:pt x="11928" y="5013"/>
                    <a:pt x="12296" y="5132"/>
                    <a:pt x="12511" y="5174"/>
                  </a:cubicBezTo>
                  <a:cubicBezTo>
                    <a:pt x="13316" y="5333"/>
                    <a:pt x="14737" y="5161"/>
                    <a:pt x="15349" y="4832"/>
                  </a:cubicBezTo>
                  <a:cubicBezTo>
                    <a:pt x="15502" y="4749"/>
                    <a:pt x="15692" y="4586"/>
                    <a:pt x="15766" y="4473"/>
                  </a:cubicBezTo>
                  <a:cubicBezTo>
                    <a:pt x="15853" y="4338"/>
                    <a:pt x="15950" y="4271"/>
                    <a:pt x="16049" y="4271"/>
                  </a:cubicBezTo>
                  <a:cubicBezTo>
                    <a:pt x="16312" y="4271"/>
                    <a:pt x="17041" y="4019"/>
                    <a:pt x="17229" y="3863"/>
                  </a:cubicBezTo>
                  <a:cubicBezTo>
                    <a:pt x="17689" y="3481"/>
                    <a:pt x="17787" y="2813"/>
                    <a:pt x="17433" y="2519"/>
                  </a:cubicBezTo>
                  <a:cubicBezTo>
                    <a:pt x="17287" y="2399"/>
                    <a:pt x="17272" y="2320"/>
                    <a:pt x="17308" y="2008"/>
                  </a:cubicBezTo>
                  <a:cubicBezTo>
                    <a:pt x="17350" y="1647"/>
                    <a:pt x="17233" y="1199"/>
                    <a:pt x="17042" y="985"/>
                  </a:cubicBezTo>
                  <a:cubicBezTo>
                    <a:pt x="16773" y="683"/>
                    <a:pt x="16442" y="488"/>
                    <a:pt x="15943" y="337"/>
                  </a:cubicBezTo>
                  <a:cubicBezTo>
                    <a:pt x="15451" y="189"/>
                    <a:pt x="15347" y="178"/>
                    <a:pt x="14746" y="196"/>
                  </a:cubicBezTo>
                  <a:cubicBezTo>
                    <a:pt x="14377" y="207"/>
                    <a:pt x="13970" y="248"/>
                    <a:pt x="13824" y="294"/>
                  </a:cubicBezTo>
                  <a:cubicBezTo>
                    <a:pt x="13572" y="372"/>
                    <a:pt x="13555" y="368"/>
                    <a:pt x="13300" y="228"/>
                  </a:cubicBezTo>
                  <a:cubicBezTo>
                    <a:pt x="13006" y="67"/>
                    <a:pt x="12686" y="-4"/>
                    <a:pt x="12219" y="0"/>
                  </a:cubicBezTo>
                  <a:close/>
                  <a:moveTo>
                    <a:pt x="18177" y="1023"/>
                  </a:moveTo>
                  <a:cubicBezTo>
                    <a:pt x="17827" y="1032"/>
                    <a:pt x="17752" y="1049"/>
                    <a:pt x="17752" y="1083"/>
                  </a:cubicBezTo>
                  <a:cubicBezTo>
                    <a:pt x="17752" y="1125"/>
                    <a:pt x="17786" y="1174"/>
                    <a:pt x="17832" y="1192"/>
                  </a:cubicBezTo>
                  <a:cubicBezTo>
                    <a:pt x="17877" y="1209"/>
                    <a:pt x="18919" y="1225"/>
                    <a:pt x="20146" y="1224"/>
                  </a:cubicBezTo>
                  <a:cubicBezTo>
                    <a:pt x="20929" y="1224"/>
                    <a:pt x="21189" y="1239"/>
                    <a:pt x="21600" y="1251"/>
                  </a:cubicBezTo>
                  <a:lnTo>
                    <a:pt x="21600" y="1055"/>
                  </a:lnTo>
                  <a:cubicBezTo>
                    <a:pt x="21130" y="1044"/>
                    <a:pt x="20959" y="1028"/>
                    <a:pt x="20226" y="1023"/>
                  </a:cubicBezTo>
                  <a:cubicBezTo>
                    <a:pt x="19148" y="1016"/>
                    <a:pt x="18527" y="1014"/>
                    <a:pt x="18177" y="1023"/>
                  </a:cubicBezTo>
                  <a:close/>
                  <a:moveTo>
                    <a:pt x="0" y="1072"/>
                  </a:moveTo>
                  <a:lnTo>
                    <a:pt x="0" y="1295"/>
                  </a:lnTo>
                  <a:lnTo>
                    <a:pt x="3591" y="1289"/>
                  </a:lnTo>
                  <a:cubicBezTo>
                    <a:pt x="5882" y="1284"/>
                    <a:pt x="7887" y="1264"/>
                    <a:pt x="8042" y="1246"/>
                  </a:cubicBezTo>
                  <a:cubicBezTo>
                    <a:pt x="8208" y="1227"/>
                    <a:pt x="8310" y="1189"/>
                    <a:pt x="8291" y="1153"/>
                  </a:cubicBezTo>
                  <a:cubicBezTo>
                    <a:pt x="8265" y="1107"/>
                    <a:pt x="7141" y="1090"/>
                    <a:pt x="3698" y="1083"/>
                  </a:cubicBezTo>
                  <a:lnTo>
                    <a:pt x="0" y="1072"/>
                  </a:lnTo>
                  <a:close/>
                  <a:moveTo>
                    <a:pt x="5214" y="2927"/>
                  </a:moveTo>
                  <a:cubicBezTo>
                    <a:pt x="4711" y="2926"/>
                    <a:pt x="4352" y="3033"/>
                    <a:pt x="3999" y="3286"/>
                  </a:cubicBezTo>
                  <a:cubicBezTo>
                    <a:pt x="3801" y="3429"/>
                    <a:pt x="3675" y="3478"/>
                    <a:pt x="3635" y="3439"/>
                  </a:cubicBezTo>
                  <a:cubicBezTo>
                    <a:pt x="3542" y="3346"/>
                    <a:pt x="2910" y="3184"/>
                    <a:pt x="2633" y="3183"/>
                  </a:cubicBezTo>
                  <a:cubicBezTo>
                    <a:pt x="2191" y="3181"/>
                    <a:pt x="1682" y="3377"/>
                    <a:pt x="1436" y="3640"/>
                  </a:cubicBezTo>
                  <a:cubicBezTo>
                    <a:pt x="1076" y="4028"/>
                    <a:pt x="1078" y="4024"/>
                    <a:pt x="798" y="3879"/>
                  </a:cubicBezTo>
                  <a:cubicBezTo>
                    <a:pt x="559" y="3756"/>
                    <a:pt x="361" y="3720"/>
                    <a:pt x="0" y="3700"/>
                  </a:cubicBezTo>
                  <a:lnTo>
                    <a:pt x="0" y="3847"/>
                  </a:lnTo>
                  <a:cubicBezTo>
                    <a:pt x="327" y="3882"/>
                    <a:pt x="699" y="4003"/>
                    <a:pt x="931" y="4190"/>
                  </a:cubicBezTo>
                  <a:cubicBezTo>
                    <a:pt x="1196" y="4403"/>
                    <a:pt x="1321" y="4425"/>
                    <a:pt x="1321" y="4255"/>
                  </a:cubicBezTo>
                  <a:cubicBezTo>
                    <a:pt x="1321" y="4053"/>
                    <a:pt x="1768" y="3580"/>
                    <a:pt x="2075" y="3455"/>
                  </a:cubicBezTo>
                  <a:cubicBezTo>
                    <a:pt x="2468" y="3295"/>
                    <a:pt x="2822" y="3309"/>
                    <a:pt x="3236" y="3493"/>
                  </a:cubicBezTo>
                  <a:cubicBezTo>
                    <a:pt x="3424" y="3577"/>
                    <a:pt x="3605" y="3670"/>
                    <a:pt x="3635" y="3700"/>
                  </a:cubicBezTo>
                  <a:cubicBezTo>
                    <a:pt x="3735" y="3799"/>
                    <a:pt x="3843" y="3756"/>
                    <a:pt x="4008" y="3558"/>
                  </a:cubicBezTo>
                  <a:cubicBezTo>
                    <a:pt x="4264" y="3252"/>
                    <a:pt x="4549" y="3123"/>
                    <a:pt x="5010" y="3096"/>
                  </a:cubicBezTo>
                  <a:cubicBezTo>
                    <a:pt x="5526" y="3065"/>
                    <a:pt x="6125" y="3224"/>
                    <a:pt x="6446" y="3482"/>
                  </a:cubicBezTo>
                  <a:cubicBezTo>
                    <a:pt x="6639" y="3638"/>
                    <a:pt x="6678" y="3727"/>
                    <a:pt x="6703" y="4070"/>
                  </a:cubicBezTo>
                  <a:lnTo>
                    <a:pt x="6730" y="4473"/>
                  </a:lnTo>
                  <a:lnTo>
                    <a:pt x="7173" y="4467"/>
                  </a:lnTo>
                  <a:cubicBezTo>
                    <a:pt x="7689" y="4460"/>
                    <a:pt x="7996" y="4562"/>
                    <a:pt x="8149" y="4788"/>
                  </a:cubicBezTo>
                  <a:cubicBezTo>
                    <a:pt x="8205" y="4872"/>
                    <a:pt x="8285" y="4941"/>
                    <a:pt x="8326" y="4941"/>
                  </a:cubicBezTo>
                  <a:cubicBezTo>
                    <a:pt x="8481" y="4941"/>
                    <a:pt x="8397" y="4633"/>
                    <a:pt x="8202" y="4494"/>
                  </a:cubicBezTo>
                  <a:cubicBezTo>
                    <a:pt x="8036" y="4376"/>
                    <a:pt x="7907" y="4342"/>
                    <a:pt x="7501" y="4320"/>
                  </a:cubicBezTo>
                  <a:lnTo>
                    <a:pt x="7014" y="4293"/>
                  </a:lnTo>
                  <a:lnTo>
                    <a:pt x="6996" y="4097"/>
                  </a:lnTo>
                  <a:cubicBezTo>
                    <a:pt x="6972" y="3726"/>
                    <a:pt x="6880" y="3563"/>
                    <a:pt x="6570" y="3341"/>
                  </a:cubicBezTo>
                  <a:cubicBezTo>
                    <a:pt x="6204" y="3078"/>
                    <a:pt x="5712" y="2929"/>
                    <a:pt x="5214" y="2927"/>
                  </a:cubicBezTo>
                  <a:close/>
                  <a:moveTo>
                    <a:pt x="20208" y="4440"/>
                  </a:moveTo>
                  <a:cubicBezTo>
                    <a:pt x="20081" y="4439"/>
                    <a:pt x="19948" y="4451"/>
                    <a:pt x="19809" y="4473"/>
                  </a:cubicBezTo>
                  <a:cubicBezTo>
                    <a:pt x="18702" y="4644"/>
                    <a:pt x="17949" y="5082"/>
                    <a:pt x="17796" y="5642"/>
                  </a:cubicBezTo>
                  <a:cubicBezTo>
                    <a:pt x="17701" y="5990"/>
                    <a:pt x="17702" y="5989"/>
                    <a:pt x="17397" y="5893"/>
                  </a:cubicBezTo>
                  <a:cubicBezTo>
                    <a:pt x="17084" y="5793"/>
                    <a:pt x="16391" y="5778"/>
                    <a:pt x="15961" y="5866"/>
                  </a:cubicBezTo>
                  <a:cubicBezTo>
                    <a:pt x="15609" y="5937"/>
                    <a:pt x="15274" y="6144"/>
                    <a:pt x="15100" y="6399"/>
                  </a:cubicBezTo>
                  <a:cubicBezTo>
                    <a:pt x="14963" y="6601"/>
                    <a:pt x="14923" y="6915"/>
                    <a:pt x="15030" y="6981"/>
                  </a:cubicBezTo>
                  <a:cubicBezTo>
                    <a:pt x="15064" y="7002"/>
                    <a:pt x="15123" y="6911"/>
                    <a:pt x="15154" y="6780"/>
                  </a:cubicBezTo>
                  <a:cubicBezTo>
                    <a:pt x="15277" y="6258"/>
                    <a:pt x="15783" y="5974"/>
                    <a:pt x="16590" y="5974"/>
                  </a:cubicBezTo>
                  <a:cubicBezTo>
                    <a:pt x="17131" y="5974"/>
                    <a:pt x="17338" y="6023"/>
                    <a:pt x="17690" y="6225"/>
                  </a:cubicBezTo>
                  <a:cubicBezTo>
                    <a:pt x="17964" y="6381"/>
                    <a:pt x="17974" y="6360"/>
                    <a:pt x="18027" y="5833"/>
                  </a:cubicBezTo>
                  <a:cubicBezTo>
                    <a:pt x="18056" y="5539"/>
                    <a:pt x="18118" y="5413"/>
                    <a:pt x="18293" y="5251"/>
                  </a:cubicBezTo>
                  <a:cubicBezTo>
                    <a:pt x="18587" y="4977"/>
                    <a:pt x="19291" y="4697"/>
                    <a:pt x="19862" y="4625"/>
                  </a:cubicBezTo>
                  <a:cubicBezTo>
                    <a:pt x="20489" y="4545"/>
                    <a:pt x="20831" y="4638"/>
                    <a:pt x="21307" y="5017"/>
                  </a:cubicBezTo>
                  <a:cubicBezTo>
                    <a:pt x="21435" y="5118"/>
                    <a:pt x="21508" y="5150"/>
                    <a:pt x="21600" y="5202"/>
                  </a:cubicBezTo>
                  <a:lnTo>
                    <a:pt x="21600" y="4946"/>
                  </a:lnTo>
                  <a:lnTo>
                    <a:pt x="21299" y="4772"/>
                  </a:lnTo>
                  <a:cubicBezTo>
                    <a:pt x="20925" y="4549"/>
                    <a:pt x="20589" y="4442"/>
                    <a:pt x="20208" y="4440"/>
                  </a:cubicBezTo>
                  <a:close/>
                  <a:moveTo>
                    <a:pt x="11962" y="5457"/>
                  </a:moveTo>
                  <a:cubicBezTo>
                    <a:pt x="11494" y="5457"/>
                    <a:pt x="11240" y="5545"/>
                    <a:pt x="11048" y="5773"/>
                  </a:cubicBezTo>
                  <a:cubicBezTo>
                    <a:pt x="10812" y="6054"/>
                    <a:pt x="11085" y="6381"/>
                    <a:pt x="11651" y="6491"/>
                  </a:cubicBezTo>
                  <a:cubicBezTo>
                    <a:pt x="12305" y="6618"/>
                    <a:pt x="12972" y="6430"/>
                    <a:pt x="13017" y="6105"/>
                  </a:cubicBezTo>
                  <a:cubicBezTo>
                    <a:pt x="13073" y="5693"/>
                    <a:pt x="12688" y="5457"/>
                    <a:pt x="11962" y="5457"/>
                  </a:cubicBezTo>
                  <a:close/>
                  <a:moveTo>
                    <a:pt x="5453" y="6714"/>
                  </a:moveTo>
                  <a:cubicBezTo>
                    <a:pt x="5212" y="6717"/>
                    <a:pt x="5217" y="6881"/>
                    <a:pt x="5595" y="7030"/>
                  </a:cubicBezTo>
                  <a:cubicBezTo>
                    <a:pt x="5769" y="7098"/>
                    <a:pt x="6068" y="7250"/>
                    <a:pt x="6251" y="7367"/>
                  </a:cubicBezTo>
                  <a:cubicBezTo>
                    <a:pt x="6584" y="7580"/>
                    <a:pt x="6740" y="7609"/>
                    <a:pt x="6783" y="7471"/>
                  </a:cubicBezTo>
                  <a:cubicBezTo>
                    <a:pt x="6814" y="7373"/>
                    <a:pt x="6089" y="6869"/>
                    <a:pt x="5772" y="6769"/>
                  </a:cubicBezTo>
                  <a:cubicBezTo>
                    <a:pt x="5641" y="6727"/>
                    <a:pt x="5533" y="6714"/>
                    <a:pt x="5453" y="6714"/>
                  </a:cubicBezTo>
                  <a:close/>
                  <a:moveTo>
                    <a:pt x="10747" y="6725"/>
                  </a:moveTo>
                  <a:cubicBezTo>
                    <a:pt x="10681" y="6731"/>
                    <a:pt x="10615" y="6743"/>
                    <a:pt x="10552" y="6769"/>
                  </a:cubicBezTo>
                  <a:cubicBezTo>
                    <a:pt x="10164" y="6925"/>
                    <a:pt x="10197" y="7271"/>
                    <a:pt x="10614" y="7373"/>
                  </a:cubicBezTo>
                  <a:cubicBezTo>
                    <a:pt x="10831" y="7426"/>
                    <a:pt x="11083" y="7391"/>
                    <a:pt x="11288" y="7280"/>
                  </a:cubicBezTo>
                  <a:cubicBezTo>
                    <a:pt x="11682" y="7068"/>
                    <a:pt x="11210" y="6682"/>
                    <a:pt x="10747" y="6725"/>
                  </a:cubicBezTo>
                  <a:close/>
                  <a:moveTo>
                    <a:pt x="3635" y="7220"/>
                  </a:moveTo>
                  <a:cubicBezTo>
                    <a:pt x="3552" y="7226"/>
                    <a:pt x="3511" y="7254"/>
                    <a:pt x="3511" y="7307"/>
                  </a:cubicBezTo>
                  <a:cubicBezTo>
                    <a:pt x="3511" y="7372"/>
                    <a:pt x="3717" y="7461"/>
                    <a:pt x="4185" y="7601"/>
                  </a:cubicBezTo>
                  <a:cubicBezTo>
                    <a:pt x="4554" y="7712"/>
                    <a:pt x="4960" y="7857"/>
                    <a:pt x="5090" y="7922"/>
                  </a:cubicBezTo>
                  <a:cubicBezTo>
                    <a:pt x="5356" y="8056"/>
                    <a:pt x="5622" y="8081"/>
                    <a:pt x="5622" y="7971"/>
                  </a:cubicBezTo>
                  <a:cubicBezTo>
                    <a:pt x="5622" y="7867"/>
                    <a:pt x="5093" y="7607"/>
                    <a:pt x="4433" y="7394"/>
                  </a:cubicBezTo>
                  <a:cubicBezTo>
                    <a:pt x="4039" y="7267"/>
                    <a:pt x="3775" y="7212"/>
                    <a:pt x="3635" y="7220"/>
                  </a:cubicBezTo>
                  <a:close/>
                  <a:moveTo>
                    <a:pt x="16546" y="7792"/>
                  </a:moveTo>
                  <a:cubicBezTo>
                    <a:pt x="16499" y="7787"/>
                    <a:pt x="16484" y="7808"/>
                    <a:pt x="16484" y="7857"/>
                  </a:cubicBezTo>
                  <a:cubicBezTo>
                    <a:pt x="16484" y="8101"/>
                    <a:pt x="17448" y="8261"/>
                    <a:pt x="18106" y="8124"/>
                  </a:cubicBezTo>
                  <a:lnTo>
                    <a:pt x="18505" y="8042"/>
                  </a:lnTo>
                  <a:lnTo>
                    <a:pt x="18878" y="8216"/>
                  </a:lnTo>
                  <a:cubicBezTo>
                    <a:pt x="19359" y="8442"/>
                    <a:pt x="19779" y="8526"/>
                    <a:pt x="20252" y="8494"/>
                  </a:cubicBezTo>
                  <a:cubicBezTo>
                    <a:pt x="20650" y="8466"/>
                    <a:pt x="21001" y="8312"/>
                    <a:pt x="21130" y="8107"/>
                  </a:cubicBezTo>
                  <a:lnTo>
                    <a:pt x="21201" y="7993"/>
                  </a:lnTo>
                  <a:lnTo>
                    <a:pt x="21529" y="8096"/>
                  </a:lnTo>
                  <a:cubicBezTo>
                    <a:pt x="21548" y="8103"/>
                    <a:pt x="21578" y="8101"/>
                    <a:pt x="21600" y="8107"/>
                  </a:cubicBezTo>
                  <a:lnTo>
                    <a:pt x="21600" y="7922"/>
                  </a:lnTo>
                  <a:cubicBezTo>
                    <a:pt x="21573" y="7910"/>
                    <a:pt x="21522" y="7903"/>
                    <a:pt x="21502" y="7890"/>
                  </a:cubicBezTo>
                  <a:cubicBezTo>
                    <a:pt x="21284" y="7741"/>
                    <a:pt x="21145" y="7757"/>
                    <a:pt x="20988" y="7960"/>
                  </a:cubicBezTo>
                  <a:cubicBezTo>
                    <a:pt x="20612" y="8447"/>
                    <a:pt x="19726" y="8456"/>
                    <a:pt x="18825" y="7982"/>
                  </a:cubicBezTo>
                  <a:lnTo>
                    <a:pt x="18505" y="7819"/>
                  </a:lnTo>
                  <a:lnTo>
                    <a:pt x="18124" y="7939"/>
                  </a:lnTo>
                  <a:cubicBezTo>
                    <a:pt x="17667" y="8079"/>
                    <a:pt x="17183" y="8058"/>
                    <a:pt x="16812" y="7890"/>
                  </a:cubicBezTo>
                  <a:cubicBezTo>
                    <a:pt x="16672" y="7826"/>
                    <a:pt x="16593" y="7797"/>
                    <a:pt x="16546" y="7792"/>
                  </a:cubicBezTo>
                  <a:close/>
                  <a:moveTo>
                    <a:pt x="9035" y="7808"/>
                  </a:moveTo>
                  <a:cubicBezTo>
                    <a:pt x="8286" y="7808"/>
                    <a:pt x="8133" y="7829"/>
                    <a:pt x="7714" y="7955"/>
                  </a:cubicBezTo>
                  <a:cubicBezTo>
                    <a:pt x="7075" y="8148"/>
                    <a:pt x="6660" y="8409"/>
                    <a:pt x="6349" y="8815"/>
                  </a:cubicBezTo>
                  <a:cubicBezTo>
                    <a:pt x="6125" y="9106"/>
                    <a:pt x="6091" y="9210"/>
                    <a:pt x="6092" y="9566"/>
                  </a:cubicBezTo>
                  <a:cubicBezTo>
                    <a:pt x="6092" y="9902"/>
                    <a:pt x="6126" y="10037"/>
                    <a:pt x="6304" y="10273"/>
                  </a:cubicBezTo>
                  <a:cubicBezTo>
                    <a:pt x="6703" y="10800"/>
                    <a:pt x="7421" y="11170"/>
                    <a:pt x="8291" y="11296"/>
                  </a:cubicBezTo>
                  <a:cubicBezTo>
                    <a:pt x="9792" y="11513"/>
                    <a:pt x="11377" y="11001"/>
                    <a:pt x="11846" y="10148"/>
                  </a:cubicBezTo>
                  <a:cubicBezTo>
                    <a:pt x="12325" y="9278"/>
                    <a:pt x="11738" y="8372"/>
                    <a:pt x="10445" y="7982"/>
                  </a:cubicBezTo>
                  <a:cubicBezTo>
                    <a:pt x="9913" y="7822"/>
                    <a:pt x="9821" y="7808"/>
                    <a:pt x="9035" y="7808"/>
                  </a:cubicBezTo>
                  <a:close/>
                  <a:moveTo>
                    <a:pt x="4176" y="8439"/>
                  </a:moveTo>
                  <a:cubicBezTo>
                    <a:pt x="4005" y="8432"/>
                    <a:pt x="3886" y="8456"/>
                    <a:pt x="3866" y="8515"/>
                  </a:cubicBezTo>
                  <a:cubicBezTo>
                    <a:pt x="3844" y="8580"/>
                    <a:pt x="3962" y="8630"/>
                    <a:pt x="4327" y="8706"/>
                  </a:cubicBezTo>
                  <a:cubicBezTo>
                    <a:pt x="4596" y="8762"/>
                    <a:pt x="4906" y="8806"/>
                    <a:pt x="5010" y="8809"/>
                  </a:cubicBezTo>
                  <a:cubicBezTo>
                    <a:pt x="5332" y="8820"/>
                    <a:pt x="5220" y="8679"/>
                    <a:pt x="4815" y="8559"/>
                  </a:cubicBezTo>
                  <a:cubicBezTo>
                    <a:pt x="4575" y="8488"/>
                    <a:pt x="4348" y="8447"/>
                    <a:pt x="4176" y="8439"/>
                  </a:cubicBezTo>
                  <a:close/>
                  <a:moveTo>
                    <a:pt x="1082" y="9261"/>
                  </a:moveTo>
                  <a:cubicBezTo>
                    <a:pt x="593" y="9253"/>
                    <a:pt x="195" y="9274"/>
                    <a:pt x="168" y="9321"/>
                  </a:cubicBezTo>
                  <a:cubicBezTo>
                    <a:pt x="146" y="9360"/>
                    <a:pt x="302" y="9391"/>
                    <a:pt x="621" y="9413"/>
                  </a:cubicBezTo>
                  <a:cubicBezTo>
                    <a:pt x="1756" y="9491"/>
                    <a:pt x="4412" y="9868"/>
                    <a:pt x="4593" y="9979"/>
                  </a:cubicBezTo>
                  <a:cubicBezTo>
                    <a:pt x="4662" y="10022"/>
                    <a:pt x="4935" y="10011"/>
                    <a:pt x="4983" y="9963"/>
                  </a:cubicBezTo>
                  <a:cubicBezTo>
                    <a:pt x="5008" y="9938"/>
                    <a:pt x="4957" y="9881"/>
                    <a:pt x="4877" y="9838"/>
                  </a:cubicBezTo>
                  <a:cubicBezTo>
                    <a:pt x="4696" y="9739"/>
                    <a:pt x="3443" y="9482"/>
                    <a:pt x="2545" y="9359"/>
                  </a:cubicBezTo>
                  <a:cubicBezTo>
                    <a:pt x="2151" y="9305"/>
                    <a:pt x="1571" y="9269"/>
                    <a:pt x="1082" y="9261"/>
                  </a:cubicBezTo>
                  <a:close/>
                  <a:moveTo>
                    <a:pt x="17424" y="10229"/>
                  </a:moveTo>
                  <a:cubicBezTo>
                    <a:pt x="17241" y="10228"/>
                    <a:pt x="17056" y="10244"/>
                    <a:pt x="16865" y="10284"/>
                  </a:cubicBezTo>
                  <a:cubicBezTo>
                    <a:pt x="16298" y="10402"/>
                    <a:pt x="15946" y="10583"/>
                    <a:pt x="15695" y="10893"/>
                  </a:cubicBezTo>
                  <a:cubicBezTo>
                    <a:pt x="15472" y="11167"/>
                    <a:pt x="15387" y="11660"/>
                    <a:pt x="15562" y="11660"/>
                  </a:cubicBezTo>
                  <a:cubicBezTo>
                    <a:pt x="15608" y="11660"/>
                    <a:pt x="15649" y="11577"/>
                    <a:pt x="15650" y="11470"/>
                  </a:cubicBezTo>
                  <a:cubicBezTo>
                    <a:pt x="15653" y="11184"/>
                    <a:pt x="15907" y="10882"/>
                    <a:pt x="16360" y="10637"/>
                  </a:cubicBezTo>
                  <a:cubicBezTo>
                    <a:pt x="17018" y="10282"/>
                    <a:pt x="17674" y="10282"/>
                    <a:pt x="18293" y="10632"/>
                  </a:cubicBezTo>
                  <a:cubicBezTo>
                    <a:pt x="18490" y="10744"/>
                    <a:pt x="18741" y="10939"/>
                    <a:pt x="18851" y="11067"/>
                  </a:cubicBezTo>
                  <a:cubicBezTo>
                    <a:pt x="18962" y="11195"/>
                    <a:pt x="19105" y="11301"/>
                    <a:pt x="19162" y="11301"/>
                  </a:cubicBezTo>
                  <a:cubicBezTo>
                    <a:pt x="19218" y="11301"/>
                    <a:pt x="19434" y="11194"/>
                    <a:pt x="19640" y="11067"/>
                  </a:cubicBezTo>
                  <a:cubicBezTo>
                    <a:pt x="20231" y="10705"/>
                    <a:pt x="20877" y="10669"/>
                    <a:pt x="21387" y="10969"/>
                  </a:cubicBezTo>
                  <a:lnTo>
                    <a:pt x="21600" y="11100"/>
                  </a:lnTo>
                  <a:lnTo>
                    <a:pt x="21600" y="10822"/>
                  </a:lnTo>
                  <a:cubicBezTo>
                    <a:pt x="21536" y="10808"/>
                    <a:pt x="21476" y="10795"/>
                    <a:pt x="21369" y="10752"/>
                  </a:cubicBezTo>
                  <a:cubicBezTo>
                    <a:pt x="20766" y="10507"/>
                    <a:pt x="20169" y="10553"/>
                    <a:pt x="19463" y="10909"/>
                  </a:cubicBezTo>
                  <a:lnTo>
                    <a:pt x="19206" y="11046"/>
                  </a:lnTo>
                  <a:lnTo>
                    <a:pt x="18904" y="10784"/>
                  </a:lnTo>
                  <a:cubicBezTo>
                    <a:pt x="18476" y="10418"/>
                    <a:pt x="17971" y="10234"/>
                    <a:pt x="17424" y="10229"/>
                  </a:cubicBezTo>
                  <a:close/>
                  <a:moveTo>
                    <a:pt x="523" y="11274"/>
                  </a:moveTo>
                  <a:cubicBezTo>
                    <a:pt x="199" y="11274"/>
                    <a:pt x="121" y="11306"/>
                    <a:pt x="0" y="11334"/>
                  </a:cubicBezTo>
                  <a:lnTo>
                    <a:pt x="0" y="11454"/>
                  </a:lnTo>
                  <a:cubicBezTo>
                    <a:pt x="33" y="11449"/>
                    <a:pt x="33" y="11454"/>
                    <a:pt x="71" y="11448"/>
                  </a:cubicBezTo>
                  <a:cubicBezTo>
                    <a:pt x="867" y="11317"/>
                    <a:pt x="1543" y="11553"/>
                    <a:pt x="1800" y="12052"/>
                  </a:cubicBezTo>
                  <a:cubicBezTo>
                    <a:pt x="1879" y="12206"/>
                    <a:pt x="1992" y="12335"/>
                    <a:pt x="2048" y="12335"/>
                  </a:cubicBezTo>
                  <a:cubicBezTo>
                    <a:pt x="2104" y="12335"/>
                    <a:pt x="2316" y="12288"/>
                    <a:pt x="2518" y="12232"/>
                  </a:cubicBezTo>
                  <a:cubicBezTo>
                    <a:pt x="2732" y="12172"/>
                    <a:pt x="3068" y="12129"/>
                    <a:pt x="3325" y="12128"/>
                  </a:cubicBezTo>
                  <a:cubicBezTo>
                    <a:pt x="3716" y="12127"/>
                    <a:pt x="3807" y="12148"/>
                    <a:pt x="4105" y="12313"/>
                  </a:cubicBezTo>
                  <a:cubicBezTo>
                    <a:pt x="4291" y="12416"/>
                    <a:pt x="4442" y="12543"/>
                    <a:pt x="4442" y="12596"/>
                  </a:cubicBezTo>
                  <a:cubicBezTo>
                    <a:pt x="4442" y="12730"/>
                    <a:pt x="4518" y="12722"/>
                    <a:pt x="5081" y="12515"/>
                  </a:cubicBezTo>
                  <a:cubicBezTo>
                    <a:pt x="6000" y="12175"/>
                    <a:pt x="6943" y="12307"/>
                    <a:pt x="7262" y="12819"/>
                  </a:cubicBezTo>
                  <a:cubicBezTo>
                    <a:pt x="7405" y="13049"/>
                    <a:pt x="7387" y="13182"/>
                    <a:pt x="7165" y="13668"/>
                  </a:cubicBezTo>
                  <a:lnTo>
                    <a:pt x="7111" y="13793"/>
                  </a:lnTo>
                  <a:lnTo>
                    <a:pt x="7750" y="13755"/>
                  </a:lnTo>
                  <a:cubicBezTo>
                    <a:pt x="8323" y="13722"/>
                    <a:pt x="8420" y="13729"/>
                    <a:pt x="8690" y="13831"/>
                  </a:cubicBezTo>
                  <a:cubicBezTo>
                    <a:pt x="9248" y="14043"/>
                    <a:pt x="9421" y="14474"/>
                    <a:pt x="9044" y="14724"/>
                  </a:cubicBezTo>
                  <a:cubicBezTo>
                    <a:pt x="8657" y="14980"/>
                    <a:pt x="7936" y="15122"/>
                    <a:pt x="7510" y="15023"/>
                  </a:cubicBezTo>
                  <a:cubicBezTo>
                    <a:pt x="7298" y="14974"/>
                    <a:pt x="7245" y="14983"/>
                    <a:pt x="6969" y="15148"/>
                  </a:cubicBezTo>
                  <a:cubicBezTo>
                    <a:pt x="6548" y="15401"/>
                    <a:pt x="6172" y="15399"/>
                    <a:pt x="5719" y="15148"/>
                  </a:cubicBezTo>
                  <a:cubicBezTo>
                    <a:pt x="5369" y="14954"/>
                    <a:pt x="5222" y="14927"/>
                    <a:pt x="5152" y="15039"/>
                  </a:cubicBezTo>
                  <a:cubicBezTo>
                    <a:pt x="5065" y="15178"/>
                    <a:pt x="4389" y="15428"/>
                    <a:pt x="3999" y="15464"/>
                  </a:cubicBezTo>
                  <a:cubicBezTo>
                    <a:pt x="3496" y="15510"/>
                    <a:pt x="3114" y="15428"/>
                    <a:pt x="2767" y="15208"/>
                  </a:cubicBezTo>
                  <a:lnTo>
                    <a:pt x="2492" y="15034"/>
                  </a:lnTo>
                  <a:lnTo>
                    <a:pt x="1951" y="15257"/>
                  </a:lnTo>
                  <a:cubicBezTo>
                    <a:pt x="1289" y="15529"/>
                    <a:pt x="825" y="15589"/>
                    <a:pt x="231" y="15469"/>
                  </a:cubicBezTo>
                  <a:cubicBezTo>
                    <a:pt x="12" y="15425"/>
                    <a:pt x="72" y="15455"/>
                    <a:pt x="0" y="15447"/>
                  </a:cubicBezTo>
                  <a:lnTo>
                    <a:pt x="0" y="15551"/>
                  </a:lnTo>
                  <a:cubicBezTo>
                    <a:pt x="134" y="15587"/>
                    <a:pt x="299" y="15621"/>
                    <a:pt x="461" y="15638"/>
                  </a:cubicBezTo>
                  <a:cubicBezTo>
                    <a:pt x="1018" y="15695"/>
                    <a:pt x="1600" y="15611"/>
                    <a:pt x="2057" y="15404"/>
                  </a:cubicBezTo>
                  <a:lnTo>
                    <a:pt x="2314" y="15284"/>
                  </a:lnTo>
                  <a:lnTo>
                    <a:pt x="2882" y="15464"/>
                  </a:lnTo>
                  <a:cubicBezTo>
                    <a:pt x="3685" y="15721"/>
                    <a:pt x="4308" y="15687"/>
                    <a:pt x="4930" y="15355"/>
                  </a:cubicBezTo>
                  <a:lnTo>
                    <a:pt x="5240" y="15186"/>
                  </a:lnTo>
                  <a:lnTo>
                    <a:pt x="5427" y="15290"/>
                  </a:lnTo>
                  <a:cubicBezTo>
                    <a:pt x="5887" y="15551"/>
                    <a:pt x="6694" y="15564"/>
                    <a:pt x="7120" y="15317"/>
                  </a:cubicBezTo>
                  <a:cubicBezTo>
                    <a:pt x="7312" y="15205"/>
                    <a:pt x="7426" y="15183"/>
                    <a:pt x="7856" y="15186"/>
                  </a:cubicBezTo>
                  <a:cubicBezTo>
                    <a:pt x="8768" y="15193"/>
                    <a:pt x="9402" y="14888"/>
                    <a:pt x="9470" y="14408"/>
                  </a:cubicBezTo>
                  <a:cubicBezTo>
                    <a:pt x="9541" y="13910"/>
                    <a:pt x="8899" y="13556"/>
                    <a:pt x="7980" y="13587"/>
                  </a:cubicBezTo>
                  <a:lnTo>
                    <a:pt x="7519" y="13597"/>
                  </a:lnTo>
                  <a:lnTo>
                    <a:pt x="7546" y="13200"/>
                  </a:lnTo>
                  <a:cubicBezTo>
                    <a:pt x="7573" y="12845"/>
                    <a:pt x="7552" y="12776"/>
                    <a:pt x="7360" y="12575"/>
                  </a:cubicBezTo>
                  <a:cubicBezTo>
                    <a:pt x="6957" y="12153"/>
                    <a:pt x="6065" y="12046"/>
                    <a:pt x="5134" y="12308"/>
                  </a:cubicBezTo>
                  <a:lnTo>
                    <a:pt x="4655" y="12438"/>
                  </a:lnTo>
                  <a:lnTo>
                    <a:pt x="4469" y="12292"/>
                  </a:lnTo>
                  <a:cubicBezTo>
                    <a:pt x="4081" y="11987"/>
                    <a:pt x="3196" y="11887"/>
                    <a:pt x="2527" y="12074"/>
                  </a:cubicBezTo>
                  <a:lnTo>
                    <a:pt x="2172" y="12172"/>
                  </a:lnTo>
                  <a:lnTo>
                    <a:pt x="1898" y="11829"/>
                  </a:lnTo>
                  <a:cubicBezTo>
                    <a:pt x="1521" y="11360"/>
                    <a:pt x="1309" y="11274"/>
                    <a:pt x="523" y="11274"/>
                  </a:cubicBezTo>
                  <a:close/>
                  <a:moveTo>
                    <a:pt x="10339" y="11889"/>
                  </a:moveTo>
                  <a:cubicBezTo>
                    <a:pt x="10282" y="11896"/>
                    <a:pt x="10250" y="11922"/>
                    <a:pt x="10250" y="11971"/>
                  </a:cubicBezTo>
                  <a:cubicBezTo>
                    <a:pt x="10250" y="11995"/>
                    <a:pt x="10620" y="12238"/>
                    <a:pt x="11066" y="12515"/>
                  </a:cubicBezTo>
                  <a:lnTo>
                    <a:pt x="11873" y="13021"/>
                  </a:lnTo>
                  <a:lnTo>
                    <a:pt x="12387" y="12988"/>
                  </a:lnTo>
                  <a:cubicBezTo>
                    <a:pt x="12671" y="12970"/>
                    <a:pt x="13101" y="12940"/>
                    <a:pt x="13336" y="12923"/>
                  </a:cubicBezTo>
                  <a:cubicBezTo>
                    <a:pt x="13706" y="12895"/>
                    <a:pt x="13793" y="12909"/>
                    <a:pt x="13992" y="13015"/>
                  </a:cubicBezTo>
                  <a:cubicBezTo>
                    <a:pt x="14217" y="13134"/>
                    <a:pt x="14216" y="13138"/>
                    <a:pt x="14099" y="13342"/>
                  </a:cubicBezTo>
                  <a:cubicBezTo>
                    <a:pt x="14032" y="13456"/>
                    <a:pt x="13822" y="13742"/>
                    <a:pt x="13629" y="13978"/>
                  </a:cubicBezTo>
                  <a:cubicBezTo>
                    <a:pt x="13033" y="14706"/>
                    <a:pt x="13000" y="15111"/>
                    <a:pt x="13513" y="15317"/>
                  </a:cubicBezTo>
                  <a:cubicBezTo>
                    <a:pt x="13716" y="15398"/>
                    <a:pt x="13945" y="15409"/>
                    <a:pt x="15349" y="15409"/>
                  </a:cubicBezTo>
                  <a:cubicBezTo>
                    <a:pt x="16813" y="15409"/>
                    <a:pt x="16977" y="15416"/>
                    <a:pt x="17246" y="15513"/>
                  </a:cubicBezTo>
                  <a:cubicBezTo>
                    <a:pt x="17712" y="15680"/>
                    <a:pt x="17696" y="15885"/>
                    <a:pt x="17158" y="16563"/>
                  </a:cubicBezTo>
                  <a:cubicBezTo>
                    <a:pt x="16621" y="17238"/>
                    <a:pt x="16543" y="17492"/>
                    <a:pt x="16838" y="17673"/>
                  </a:cubicBezTo>
                  <a:cubicBezTo>
                    <a:pt x="16952" y="17743"/>
                    <a:pt x="17275" y="17842"/>
                    <a:pt x="17548" y="17891"/>
                  </a:cubicBezTo>
                  <a:cubicBezTo>
                    <a:pt x="18485" y="18058"/>
                    <a:pt x="18842" y="18221"/>
                    <a:pt x="18842" y="18478"/>
                  </a:cubicBezTo>
                  <a:cubicBezTo>
                    <a:pt x="18842" y="18535"/>
                    <a:pt x="18691" y="18783"/>
                    <a:pt x="18505" y="19028"/>
                  </a:cubicBezTo>
                  <a:cubicBezTo>
                    <a:pt x="18164" y="19479"/>
                    <a:pt x="18083" y="19747"/>
                    <a:pt x="18275" y="19790"/>
                  </a:cubicBezTo>
                  <a:cubicBezTo>
                    <a:pt x="18436" y="19825"/>
                    <a:pt x="18594" y="19727"/>
                    <a:pt x="18594" y="19588"/>
                  </a:cubicBezTo>
                  <a:cubicBezTo>
                    <a:pt x="18594" y="19520"/>
                    <a:pt x="18699" y="19333"/>
                    <a:pt x="18833" y="19169"/>
                  </a:cubicBezTo>
                  <a:cubicBezTo>
                    <a:pt x="19524" y="18329"/>
                    <a:pt x="19304" y="17966"/>
                    <a:pt x="17929" y="17706"/>
                  </a:cubicBezTo>
                  <a:cubicBezTo>
                    <a:pt x="17312" y="17589"/>
                    <a:pt x="17078" y="17487"/>
                    <a:pt x="17078" y="17330"/>
                  </a:cubicBezTo>
                  <a:cubicBezTo>
                    <a:pt x="17078" y="17272"/>
                    <a:pt x="17270" y="16974"/>
                    <a:pt x="17503" y="16672"/>
                  </a:cubicBezTo>
                  <a:cubicBezTo>
                    <a:pt x="17754" y="16346"/>
                    <a:pt x="17943" y="16017"/>
                    <a:pt x="17973" y="15861"/>
                  </a:cubicBezTo>
                  <a:cubicBezTo>
                    <a:pt x="18020" y="15618"/>
                    <a:pt x="18010" y="15584"/>
                    <a:pt x="17778" y="15442"/>
                  </a:cubicBezTo>
                  <a:cubicBezTo>
                    <a:pt x="17424" y="15224"/>
                    <a:pt x="16941" y="15157"/>
                    <a:pt x="15854" y="15175"/>
                  </a:cubicBezTo>
                  <a:cubicBezTo>
                    <a:pt x="14002" y="15206"/>
                    <a:pt x="14067" y="15211"/>
                    <a:pt x="13815" y="15094"/>
                  </a:cubicBezTo>
                  <a:cubicBezTo>
                    <a:pt x="13454" y="14927"/>
                    <a:pt x="13504" y="14692"/>
                    <a:pt x="14028" y="14011"/>
                  </a:cubicBezTo>
                  <a:cubicBezTo>
                    <a:pt x="14668" y="13179"/>
                    <a:pt x="14703" y="12926"/>
                    <a:pt x="14196" y="12765"/>
                  </a:cubicBezTo>
                  <a:cubicBezTo>
                    <a:pt x="13983" y="12697"/>
                    <a:pt x="13786" y="12691"/>
                    <a:pt x="13247" y="12716"/>
                  </a:cubicBezTo>
                  <a:cubicBezTo>
                    <a:pt x="12874" y="12733"/>
                    <a:pt x="12468" y="12758"/>
                    <a:pt x="12343" y="12776"/>
                  </a:cubicBezTo>
                  <a:cubicBezTo>
                    <a:pt x="12169" y="12801"/>
                    <a:pt x="12076" y="12781"/>
                    <a:pt x="11926" y="12683"/>
                  </a:cubicBezTo>
                  <a:cubicBezTo>
                    <a:pt x="11819" y="12613"/>
                    <a:pt x="11547" y="12433"/>
                    <a:pt x="11323" y="12286"/>
                  </a:cubicBezTo>
                  <a:cubicBezTo>
                    <a:pt x="10911" y="12017"/>
                    <a:pt x="10510" y="11867"/>
                    <a:pt x="10339" y="11889"/>
                  </a:cubicBezTo>
                  <a:close/>
                  <a:moveTo>
                    <a:pt x="10037" y="16465"/>
                  </a:moveTo>
                  <a:cubicBezTo>
                    <a:pt x="9616" y="16475"/>
                    <a:pt x="9134" y="16545"/>
                    <a:pt x="8699" y="16677"/>
                  </a:cubicBezTo>
                  <a:cubicBezTo>
                    <a:pt x="8010" y="16885"/>
                    <a:pt x="7218" y="17325"/>
                    <a:pt x="7218" y="17499"/>
                  </a:cubicBezTo>
                  <a:cubicBezTo>
                    <a:pt x="7218" y="17603"/>
                    <a:pt x="7270" y="17583"/>
                    <a:pt x="7617" y="17346"/>
                  </a:cubicBezTo>
                  <a:cubicBezTo>
                    <a:pt x="8572" y="16695"/>
                    <a:pt x="10115" y="16370"/>
                    <a:pt x="10729" y="16693"/>
                  </a:cubicBezTo>
                  <a:cubicBezTo>
                    <a:pt x="11076" y="16877"/>
                    <a:pt x="11024" y="17083"/>
                    <a:pt x="10507" y="17635"/>
                  </a:cubicBezTo>
                  <a:cubicBezTo>
                    <a:pt x="10041" y="18132"/>
                    <a:pt x="9957" y="18284"/>
                    <a:pt x="10037" y="18413"/>
                  </a:cubicBezTo>
                  <a:cubicBezTo>
                    <a:pt x="10083" y="18487"/>
                    <a:pt x="10113" y="18482"/>
                    <a:pt x="10357" y="18391"/>
                  </a:cubicBezTo>
                  <a:cubicBezTo>
                    <a:pt x="10507" y="18335"/>
                    <a:pt x="10945" y="18171"/>
                    <a:pt x="11332" y="18027"/>
                  </a:cubicBezTo>
                  <a:cubicBezTo>
                    <a:pt x="12264" y="17678"/>
                    <a:pt x="13655" y="17346"/>
                    <a:pt x="14178" y="17346"/>
                  </a:cubicBezTo>
                  <a:cubicBezTo>
                    <a:pt x="14925" y="17346"/>
                    <a:pt x="15098" y="17643"/>
                    <a:pt x="14622" y="18103"/>
                  </a:cubicBezTo>
                  <a:cubicBezTo>
                    <a:pt x="14294" y="18418"/>
                    <a:pt x="14048" y="18739"/>
                    <a:pt x="14045" y="18859"/>
                  </a:cubicBezTo>
                  <a:cubicBezTo>
                    <a:pt x="14043" y="18985"/>
                    <a:pt x="14282" y="18974"/>
                    <a:pt x="14817" y="18821"/>
                  </a:cubicBezTo>
                  <a:cubicBezTo>
                    <a:pt x="15451" y="18640"/>
                    <a:pt x="15984" y="18646"/>
                    <a:pt x="16333" y="18837"/>
                  </a:cubicBezTo>
                  <a:cubicBezTo>
                    <a:pt x="16606" y="18987"/>
                    <a:pt x="16660" y="19159"/>
                    <a:pt x="16528" y="19403"/>
                  </a:cubicBezTo>
                  <a:cubicBezTo>
                    <a:pt x="16489" y="19476"/>
                    <a:pt x="16498" y="19517"/>
                    <a:pt x="16555" y="19517"/>
                  </a:cubicBezTo>
                  <a:cubicBezTo>
                    <a:pt x="16605" y="19517"/>
                    <a:pt x="16695" y="19429"/>
                    <a:pt x="16750" y="19316"/>
                  </a:cubicBezTo>
                  <a:cubicBezTo>
                    <a:pt x="17038" y="18726"/>
                    <a:pt x="16183" y="18387"/>
                    <a:pt x="15012" y="18631"/>
                  </a:cubicBezTo>
                  <a:cubicBezTo>
                    <a:pt x="14724" y="18690"/>
                    <a:pt x="14478" y="18716"/>
                    <a:pt x="14435" y="18690"/>
                  </a:cubicBezTo>
                  <a:cubicBezTo>
                    <a:pt x="14393" y="18664"/>
                    <a:pt x="14521" y="18474"/>
                    <a:pt x="14746" y="18239"/>
                  </a:cubicBezTo>
                  <a:cubicBezTo>
                    <a:pt x="15502" y="17447"/>
                    <a:pt x="15161" y="17079"/>
                    <a:pt x="13824" y="17248"/>
                  </a:cubicBezTo>
                  <a:cubicBezTo>
                    <a:pt x="13552" y="17283"/>
                    <a:pt x="13138" y="17351"/>
                    <a:pt x="12910" y="17406"/>
                  </a:cubicBezTo>
                  <a:cubicBezTo>
                    <a:pt x="12352" y="17541"/>
                    <a:pt x="11027" y="17951"/>
                    <a:pt x="10729" y="18081"/>
                  </a:cubicBezTo>
                  <a:cubicBezTo>
                    <a:pt x="10283" y="18276"/>
                    <a:pt x="10297" y="18121"/>
                    <a:pt x="10756" y="17629"/>
                  </a:cubicBezTo>
                  <a:cubicBezTo>
                    <a:pt x="11241" y="17110"/>
                    <a:pt x="11315" y="16814"/>
                    <a:pt x="11013" y="16628"/>
                  </a:cubicBezTo>
                  <a:cubicBezTo>
                    <a:pt x="10822" y="16511"/>
                    <a:pt x="10459" y="16455"/>
                    <a:pt x="10037" y="16465"/>
                  </a:cubicBezTo>
                  <a:close/>
                  <a:moveTo>
                    <a:pt x="2438" y="17303"/>
                  </a:moveTo>
                  <a:cubicBezTo>
                    <a:pt x="2068" y="17273"/>
                    <a:pt x="1650" y="17313"/>
                    <a:pt x="1268" y="17423"/>
                  </a:cubicBezTo>
                  <a:cubicBezTo>
                    <a:pt x="909" y="17525"/>
                    <a:pt x="368" y="17823"/>
                    <a:pt x="0" y="18070"/>
                  </a:cubicBezTo>
                  <a:lnTo>
                    <a:pt x="0" y="18217"/>
                  </a:lnTo>
                  <a:lnTo>
                    <a:pt x="98" y="18157"/>
                  </a:lnTo>
                  <a:cubicBezTo>
                    <a:pt x="977" y="17596"/>
                    <a:pt x="1367" y="17443"/>
                    <a:pt x="2031" y="17412"/>
                  </a:cubicBezTo>
                  <a:cubicBezTo>
                    <a:pt x="2469" y="17391"/>
                    <a:pt x="2585" y="17409"/>
                    <a:pt x="2837" y="17515"/>
                  </a:cubicBezTo>
                  <a:cubicBezTo>
                    <a:pt x="3022" y="17592"/>
                    <a:pt x="3170" y="17707"/>
                    <a:pt x="3236" y="17831"/>
                  </a:cubicBezTo>
                  <a:cubicBezTo>
                    <a:pt x="3332" y="18009"/>
                    <a:pt x="3330" y="18059"/>
                    <a:pt x="3130" y="18348"/>
                  </a:cubicBezTo>
                  <a:cubicBezTo>
                    <a:pt x="2869" y="18724"/>
                    <a:pt x="2774" y="19001"/>
                    <a:pt x="2917" y="19001"/>
                  </a:cubicBezTo>
                  <a:cubicBezTo>
                    <a:pt x="2971" y="19001"/>
                    <a:pt x="3327" y="18912"/>
                    <a:pt x="3706" y="18799"/>
                  </a:cubicBezTo>
                  <a:cubicBezTo>
                    <a:pt x="4390" y="18597"/>
                    <a:pt x="4793" y="18522"/>
                    <a:pt x="5551" y="18462"/>
                  </a:cubicBezTo>
                  <a:cubicBezTo>
                    <a:pt x="5891" y="18435"/>
                    <a:pt x="5972" y="18448"/>
                    <a:pt x="6198" y="18565"/>
                  </a:cubicBezTo>
                  <a:cubicBezTo>
                    <a:pt x="6532" y="18738"/>
                    <a:pt x="6535" y="18899"/>
                    <a:pt x="6207" y="19305"/>
                  </a:cubicBezTo>
                  <a:cubicBezTo>
                    <a:pt x="5898" y="19688"/>
                    <a:pt x="5881" y="19828"/>
                    <a:pt x="6145" y="19828"/>
                  </a:cubicBezTo>
                  <a:cubicBezTo>
                    <a:pt x="6249" y="19828"/>
                    <a:pt x="6459" y="19785"/>
                    <a:pt x="6606" y="19730"/>
                  </a:cubicBezTo>
                  <a:cubicBezTo>
                    <a:pt x="6996" y="19584"/>
                    <a:pt x="7657" y="19476"/>
                    <a:pt x="7865" y="19523"/>
                  </a:cubicBezTo>
                  <a:cubicBezTo>
                    <a:pt x="8028" y="19560"/>
                    <a:pt x="8137" y="19633"/>
                    <a:pt x="8566" y="19985"/>
                  </a:cubicBezTo>
                  <a:lnTo>
                    <a:pt x="8716" y="20111"/>
                  </a:lnTo>
                  <a:lnTo>
                    <a:pt x="9124" y="20023"/>
                  </a:lnTo>
                  <a:cubicBezTo>
                    <a:pt x="9695" y="19898"/>
                    <a:pt x="9812" y="19906"/>
                    <a:pt x="10135" y="20116"/>
                  </a:cubicBezTo>
                  <a:cubicBezTo>
                    <a:pt x="10371" y="20270"/>
                    <a:pt x="10427" y="20285"/>
                    <a:pt x="10472" y="20214"/>
                  </a:cubicBezTo>
                  <a:cubicBezTo>
                    <a:pt x="10506" y="20159"/>
                    <a:pt x="10447" y="20079"/>
                    <a:pt x="10303" y="19991"/>
                  </a:cubicBezTo>
                  <a:cubicBezTo>
                    <a:pt x="10118" y="19877"/>
                    <a:pt x="10003" y="19855"/>
                    <a:pt x="9638" y="19855"/>
                  </a:cubicBezTo>
                  <a:cubicBezTo>
                    <a:pt x="9396" y="19855"/>
                    <a:pt x="9117" y="19876"/>
                    <a:pt x="9018" y="19898"/>
                  </a:cubicBezTo>
                  <a:cubicBezTo>
                    <a:pt x="8867" y="19932"/>
                    <a:pt x="8792" y="19897"/>
                    <a:pt x="8539" y="19681"/>
                  </a:cubicBezTo>
                  <a:cubicBezTo>
                    <a:pt x="8141" y="19341"/>
                    <a:pt x="7880" y="19308"/>
                    <a:pt x="6987" y="19485"/>
                  </a:cubicBezTo>
                  <a:cubicBezTo>
                    <a:pt x="6627" y="19556"/>
                    <a:pt x="6310" y="19600"/>
                    <a:pt x="6278" y="19588"/>
                  </a:cubicBezTo>
                  <a:cubicBezTo>
                    <a:pt x="6246" y="19576"/>
                    <a:pt x="6328" y="19422"/>
                    <a:pt x="6464" y="19245"/>
                  </a:cubicBezTo>
                  <a:cubicBezTo>
                    <a:pt x="6735" y="18894"/>
                    <a:pt x="6764" y="18766"/>
                    <a:pt x="6615" y="18565"/>
                  </a:cubicBezTo>
                  <a:cubicBezTo>
                    <a:pt x="6400" y="18276"/>
                    <a:pt x="5399" y="18285"/>
                    <a:pt x="4008" y="18587"/>
                  </a:cubicBezTo>
                  <a:cubicBezTo>
                    <a:pt x="3598" y="18676"/>
                    <a:pt x="3271" y="18717"/>
                    <a:pt x="3228" y="18690"/>
                  </a:cubicBezTo>
                  <a:cubicBezTo>
                    <a:pt x="3184" y="18664"/>
                    <a:pt x="3218" y="18566"/>
                    <a:pt x="3307" y="18451"/>
                  </a:cubicBezTo>
                  <a:cubicBezTo>
                    <a:pt x="3392" y="18343"/>
                    <a:pt x="3474" y="18136"/>
                    <a:pt x="3494" y="17994"/>
                  </a:cubicBezTo>
                  <a:cubicBezTo>
                    <a:pt x="3523" y="17783"/>
                    <a:pt x="3499" y="17707"/>
                    <a:pt x="3343" y="17586"/>
                  </a:cubicBezTo>
                  <a:cubicBezTo>
                    <a:pt x="3142" y="17430"/>
                    <a:pt x="2809" y="17333"/>
                    <a:pt x="2438" y="17303"/>
                  </a:cubicBezTo>
                  <a:close/>
                  <a:moveTo>
                    <a:pt x="15606" y="20976"/>
                  </a:moveTo>
                  <a:cubicBezTo>
                    <a:pt x="15295" y="20980"/>
                    <a:pt x="14994" y="21017"/>
                    <a:pt x="14604" y="21095"/>
                  </a:cubicBezTo>
                  <a:cubicBezTo>
                    <a:pt x="13824" y="21252"/>
                    <a:pt x="13511" y="21257"/>
                    <a:pt x="12600" y="21123"/>
                  </a:cubicBezTo>
                  <a:cubicBezTo>
                    <a:pt x="11714" y="20992"/>
                    <a:pt x="11422" y="20994"/>
                    <a:pt x="10623" y="21128"/>
                  </a:cubicBezTo>
                  <a:cubicBezTo>
                    <a:pt x="10111" y="21214"/>
                    <a:pt x="9845" y="21229"/>
                    <a:pt x="9337" y="21204"/>
                  </a:cubicBezTo>
                  <a:cubicBezTo>
                    <a:pt x="7527" y="21114"/>
                    <a:pt x="6906" y="21110"/>
                    <a:pt x="6455" y="21188"/>
                  </a:cubicBezTo>
                  <a:cubicBezTo>
                    <a:pt x="5595" y="21337"/>
                    <a:pt x="5340" y="21345"/>
                    <a:pt x="4646" y="21226"/>
                  </a:cubicBezTo>
                  <a:cubicBezTo>
                    <a:pt x="4125" y="21136"/>
                    <a:pt x="3871" y="21118"/>
                    <a:pt x="3396" y="21144"/>
                  </a:cubicBezTo>
                  <a:cubicBezTo>
                    <a:pt x="2720" y="21182"/>
                    <a:pt x="2575" y="21184"/>
                    <a:pt x="1871" y="21182"/>
                  </a:cubicBezTo>
                  <a:cubicBezTo>
                    <a:pt x="1593" y="21182"/>
                    <a:pt x="1214" y="21182"/>
                    <a:pt x="1029" y="21182"/>
                  </a:cubicBezTo>
                  <a:cubicBezTo>
                    <a:pt x="617" y="21184"/>
                    <a:pt x="313" y="21136"/>
                    <a:pt x="0" y="21095"/>
                  </a:cubicBezTo>
                  <a:lnTo>
                    <a:pt x="0" y="21596"/>
                  </a:lnTo>
                  <a:lnTo>
                    <a:pt x="21600" y="21596"/>
                  </a:lnTo>
                  <a:lnTo>
                    <a:pt x="21600" y="21068"/>
                  </a:lnTo>
                  <a:cubicBezTo>
                    <a:pt x="21414" y="21068"/>
                    <a:pt x="21140" y="21040"/>
                    <a:pt x="20979" y="21063"/>
                  </a:cubicBezTo>
                  <a:cubicBezTo>
                    <a:pt x="20653" y="21110"/>
                    <a:pt x="20482" y="21108"/>
                    <a:pt x="20110" y="21046"/>
                  </a:cubicBezTo>
                  <a:cubicBezTo>
                    <a:pt x="19492" y="20943"/>
                    <a:pt x="19172" y="20945"/>
                    <a:pt x="18470" y="21068"/>
                  </a:cubicBezTo>
                  <a:cubicBezTo>
                    <a:pt x="18146" y="21125"/>
                    <a:pt x="17731" y="21172"/>
                    <a:pt x="17557" y="21172"/>
                  </a:cubicBezTo>
                  <a:cubicBezTo>
                    <a:pt x="17382" y="21172"/>
                    <a:pt x="16969" y="21125"/>
                    <a:pt x="16634" y="21068"/>
                  </a:cubicBezTo>
                  <a:cubicBezTo>
                    <a:pt x="16234" y="21000"/>
                    <a:pt x="15917" y="20972"/>
                    <a:pt x="15606" y="20976"/>
                  </a:cubicBezTo>
                  <a:close/>
                </a:path>
              </a:pathLst>
            </a:custGeom>
            <a:ln w="12700" cap="flat">
              <a:noFill/>
              <a:miter lim="400000"/>
            </a:ln>
            <a:effectLst/>
          </p:spPr>
        </p:pic>
        <p:pic>
          <p:nvPicPr>
            <p:cNvPr id="300" name="pasted-movie.png" descr="pasted-movie.png"/>
            <p:cNvPicPr>
              <a:picLocks noChangeAspect="1"/>
            </p:cNvPicPr>
            <p:nvPr/>
          </p:nvPicPr>
          <p:blipFill>
            <a:blip r:embed="rId9">
              <a:alphaModFix amt="72301"/>
            </a:blip>
            <a:srcRect l="51928" t="54368" r="40724" b="34555"/>
            <a:stretch>
              <a:fillRect/>
            </a:stretch>
          </p:blipFill>
          <p:spPr>
            <a:xfrm>
              <a:off x="897896" y="901746"/>
              <a:ext cx="270955" cy="272289"/>
            </a:xfrm>
            <a:custGeom>
              <a:avLst/>
              <a:gdLst/>
              <a:ahLst/>
              <a:cxnLst>
                <a:cxn ang="0">
                  <a:pos x="wd2" y="hd2"/>
                </a:cxn>
                <a:cxn ang="5400000">
                  <a:pos x="wd2" y="hd2"/>
                </a:cxn>
                <a:cxn ang="10800000">
                  <a:pos x="wd2" y="hd2"/>
                </a:cxn>
                <a:cxn ang="16200000">
                  <a:pos x="wd2" y="hd2"/>
                </a:cxn>
              </a:cxnLst>
              <a:rect l="0" t="0" r="r" b="b"/>
              <a:pathLst>
                <a:path w="21422" h="21507" extrusionOk="0">
                  <a:moveTo>
                    <a:pt x="10929" y="0"/>
                  </a:moveTo>
                  <a:cubicBezTo>
                    <a:pt x="8817" y="15"/>
                    <a:pt x="6321" y="631"/>
                    <a:pt x="5281" y="1505"/>
                  </a:cubicBezTo>
                  <a:cubicBezTo>
                    <a:pt x="4896" y="1828"/>
                    <a:pt x="4590" y="2023"/>
                    <a:pt x="4590" y="1944"/>
                  </a:cubicBezTo>
                  <a:cubicBezTo>
                    <a:pt x="4590" y="1645"/>
                    <a:pt x="1787" y="4568"/>
                    <a:pt x="1735" y="4922"/>
                  </a:cubicBezTo>
                  <a:cubicBezTo>
                    <a:pt x="1705" y="5125"/>
                    <a:pt x="1601" y="5370"/>
                    <a:pt x="1484" y="5455"/>
                  </a:cubicBezTo>
                  <a:cubicBezTo>
                    <a:pt x="1151" y="5694"/>
                    <a:pt x="541" y="6923"/>
                    <a:pt x="574" y="7304"/>
                  </a:cubicBezTo>
                  <a:cubicBezTo>
                    <a:pt x="590" y="7493"/>
                    <a:pt x="505" y="7803"/>
                    <a:pt x="386" y="7963"/>
                  </a:cubicBezTo>
                  <a:cubicBezTo>
                    <a:pt x="-144" y="8669"/>
                    <a:pt x="-123" y="12712"/>
                    <a:pt x="417" y="13605"/>
                  </a:cubicBezTo>
                  <a:cubicBezTo>
                    <a:pt x="493" y="13731"/>
                    <a:pt x="602" y="14038"/>
                    <a:pt x="637" y="14264"/>
                  </a:cubicBezTo>
                  <a:cubicBezTo>
                    <a:pt x="736" y="14900"/>
                    <a:pt x="1631" y="16564"/>
                    <a:pt x="1986" y="16771"/>
                  </a:cubicBezTo>
                  <a:cubicBezTo>
                    <a:pt x="2161" y="16874"/>
                    <a:pt x="2240" y="17042"/>
                    <a:pt x="2174" y="17148"/>
                  </a:cubicBezTo>
                  <a:cubicBezTo>
                    <a:pt x="1757" y="17822"/>
                    <a:pt x="7512" y="21525"/>
                    <a:pt x="8167" y="21003"/>
                  </a:cubicBezTo>
                  <a:cubicBezTo>
                    <a:pt x="8333" y="20872"/>
                    <a:pt x="8487" y="20891"/>
                    <a:pt x="8575" y="21035"/>
                  </a:cubicBezTo>
                  <a:cubicBezTo>
                    <a:pt x="8662" y="21174"/>
                    <a:pt x="9298" y="21211"/>
                    <a:pt x="10176" y="21129"/>
                  </a:cubicBezTo>
                  <a:cubicBezTo>
                    <a:pt x="11144" y="21039"/>
                    <a:pt x="11700" y="21081"/>
                    <a:pt x="11807" y="21254"/>
                  </a:cubicBezTo>
                  <a:cubicBezTo>
                    <a:pt x="12007" y="21577"/>
                    <a:pt x="12306" y="21595"/>
                    <a:pt x="12498" y="21286"/>
                  </a:cubicBezTo>
                  <a:cubicBezTo>
                    <a:pt x="12578" y="21156"/>
                    <a:pt x="12757" y="21069"/>
                    <a:pt x="12905" y="21097"/>
                  </a:cubicBezTo>
                  <a:cubicBezTo>
                    <a:pt x="13313" y="21175"/>
                    <a:pt x="14274" y="20835"/>
                    <a:pt x="14725" y="20439"/>
                  </a:cubicBezTo>
                  <a:cubicBezTo>
                    <a:pt x="14946" y="20246"/>
                    <a:pt x="15133" y="20144"/>
                    <a:pt x="15133" y="20220"/>
                  </a:cubicBezTo>
                  <a:cubicBezTo>
                    <a:pt x="15133" y="20647"/>
                    <a:pt x="16661" y="19694"/>
                    <a:pt x="17957" y="18464"/>
                  </a:cubicBezTo>
                  <a:cubicBezTo>
                    <a:pt x="19372" y="17123"/>
                    <a:pt x="19974" y="16311"/>
                    <a:pt x="20091" y="15612"/>
                  </a:cubicBezTo>
                  <a:cubicBezTo>
                    <a:pt x="20119" y="15443"/>
                    <a:pt x="20288" y="15131"/>
                    <a:pt x="20468" y="14922"/>
                  </a:cubicBezTo>
                  <a:cubicBezTo>
                    <a:pt x="20950" y="14359"/>
                    <a:pt x="21171" y="13722"/>
                    <a:pt x="21252" y="12571"/>
                  </a:cubicBezTo>
                  <a:cubicBezTo>
                    <a:pt x="21292" y="12004"/>
                    <a:pt x="21362" y="11193"/>
                    <a:pt x="21409" y="10753"/>
                  </a:cubicBezTo>
                  <a:cubicBezTo>
                    <a:pt x="21456" y="10312"/>
                    <a:pt x="21372" y="9812"/>
                    <a:pt x="21252" y="9655"/>
                  </a:cubicBezTo>
                  <a:cubicBezTo>
                    <a:pt x="21132" y="9499"/>
                    <a:pt x="21120" y="9169"/>
                    <a:pt x="21189" y="8903"/>
                  </a:cubicBezTo>
                  <a:cubicBezTo>
                    <a:pt x="21259" y="8637"/>
                    <a:pt x="21201" y="8139"/>
                    <a:pt x="21064" y="7806"/>
                  </a:cubicBezTo>
                  <a:cubicBezTo>
                    <a:pt x="20927" y="7473"/>
                    <a:pt x="20765" y="6992"/>
                    <a:pt x="20719" y="6740"/>
                  </a:cubicBezTo>
                  <a:cubicBezTo>
                    <a:pt x="20673" y="6488"/>
                    <a:pt x="20435" y="6015"/>
                    <a:pt x="20185" y="5674"/>
                  </a:cubicBezTo>
                  <a:cubicBezTo>
                    <a:pt x="19935" y="5333"/>
                    <a:pt x="19714" y="4912"/>
                    <a:pt x="19714" y="4765"/>
                  </a:cubicBezTo>
                  <a:cubicBezTo>
                    <a:pt x="19714" y="4493"/>
                    <a:pt x="17625" y="2359"/>
                    <a:pt x="16953" y="1944"/>
                  </a:cubicBezTo>
                  <a:cubicBezTo>
                    <a:pt x="16051" y="1386"/>
                    <a:pt x="14598" y="615"/>
                    <a:pt x="14255" y="533"/>
                  </a:cubicBezTo>
                  <a:cubicBezTo>
                    <a:pt x="14049" y="484"/>
                    <a:pt x="13410" y="360"/>
                    <a:pt x="12843" y="220"/>
                  </a:cubicBezTo>
                  <a:cubicBezTo>
                    <a:pt x="12290" y="83"/>
                    <a:pt x="11632" y="-5"/>
                    <a:pt x="10929" y="0"/>
                  </a:cubicBezTo>
                  <a:close/>
                </a:path>
              </a:pathLst>
            </a:custGeom>
            <a:ln w="12700" cap="flat">
              <a:noFill/>
              <a:miter lim="400000"/>
            </a:ln>
            <a:effectLst/>
          </p:spPr>
        </p:pic>
        <p:pic>
          <p:nvPicPr>
            <p:cNvPr id="301" name="pasted-movie.png" descr="pasted-movie.png"/>
            <p:cNvPicPr>
              <a:picLocks noChangeAspect="1"/>
            </p:cNvPicPr>
            <p:nvPr/>
          </p:nvPicPr>
          <p:blipFill>
            <a:blip r:embed="rId9">
              <a:alphaModFix amt="47617"/>
            </a:blip>
            <a:srcRect l="51928" t="54368" r="40724" b="34555"/>
            <a:stretch>
              <a:fillRect/>
            </a:stretch>
          </p:blipFill>
          <p:spPr>
            <a:xfrm>
              <a:off x="606230" y="1248193"/>
              <a:ext cx="270955" cy="272289"/>
            </a:xfrm>
            <a:custGeom>
              <a:avLst/>
              <a:gdLst/>
              <a:ahLst/>
              <a:cxnLst>
                <a:cxn ang="0">
                  <a:pos x="wd2" y="hd2"/>
                </a:cxn>
                <a:cxn ang="5400000">
                  <a:pos x="wd2" y="hd2"/>
                </a:cxn>
                <a:cxn ang="10800000">
                  <a:pos x="wd2" y="hd2"/>
                </a:cxn>
                <a:cxn ang="16200000">
                  <a:pos x="wd2" y="hd2"/>
                </a:cxn>
              </a:cxnLst>
              <a:rect l="0" t="0" r="r" b="b"/>
              <a:pathLst>
                <a:path w="21422" h="21507" extrusionOk="0">
                  <a:moveTo>
                    <a:pt x="10929" y="0"/>
                  </a:moveTo>
                  <a:cubicBezTo>
                    <a:pt x="8817" y="15"/>
                    <a:pt x="6321" y="631"/>
                    <a:pt x="5281" y="1505"/>
                  </a:cubicBezTo>
                  <a:cubicBezTo>
                    <a:pt x="4896" y="1828"/>
                    <a:pt x="4590" y="2023"/>
                    <a:pt x="4590" y="1944"/>
                  </a:cubicBezTo>
                  <a:cubicBezTo>
                    <a:pt x="4590" y="1645"/>
                    <a:pt x="1787" y="4568"/>
                    <a:pt x="1735" y="4922"/>
                  </a:cubicBezTo>
                  <a:cubicBezTo>
                    <a:pt x="1705" y="5125"/>
                    <a:pt x="1601" y="5370"/>
                    <a:pt x="1484" y="5455"/>
                  </a:cubicBezTo>
                  <a:cubicBezTo>
                    <a:pt x="1151" y="5694"/>
                    <a:pt x="541" y="6923"/>
                    <a:pt x="574" y="7304"/>
                  </a:cubicBezTo>
                  <a:cubicBezTo>
                    <a:pt x="590" y="7493"/>
                    <a:pt x="505" y="7803"/>
                    <a:pt x="386" y="7963"/>
                  </a:cubicBezTo>
                  <a:cubicBezTo>
                    <a:pt x="-144" y="8669"/>
                    <a:pt x="-123" y="12712"/>
                    <a:pt x="417" y="13605"/>
                  </a:cubicBezTo>
                  <a:cubicBezTo>
                    <a:pt x="493" y="13731"/>
                    <a:pt x="602" y="14038"/>
                    <a:pt x="637" y="14264"/>
                  </a:cubicBezTo>
                  <a:cubicBezTo>
                    <a:pt x="736" y="14900"/>
                    <a:pt x="1631" y="16564"/>
                    <a:pt x="1986" y="16771"/>
                  </a:cubicBezTo>
                  <a:cubicBezTo>
                    <a:pt x="2161" y="16874"/>
                    <a:pt x="2240" y="17042"/>
                    <a:pt x="2174" y="17148"/>
                  </a:cubicBezTo>
                  <a:cubicBezTo>
                    <a:pt x="1757" y="17822"/>
                    <a:pt x="7512" y="21525"/>
                    <a:pt x="8167" y="21003"/>
                  </a:cubicBezTo>
                  <a:cubicBezTo>
                    <a:pt x="8333" y="20872"/>
                    <a:pt x="8487" y="20891"/>
                    <a:pt x="8575" y="21035"/>
                  </a:cubicBezTo>
                  <a:cubicBezTo>
                    <a:pt x="8662" y="21174"/>
                    <a:pt x="9298" y="21211"/>
                    <a:pt x="10176" y="21129"/>
                  </a:cubicBezTo>
                  <a:cubicBezTo>
                    <a:pt x="11144" y="21039"/>
                    <a:pt x="11700" y="21081"/>
                    <a:pt x="11807" y="21254"/>
                  </a:cubicBezTo>
                  <a:cubicBezTo>
                    <a:pt x="12007" y="21577"/>
                    <a:pt x="12306" y="21595"/>
                    <a:pt x="12498" y="21286"/>
                  </a:cubicBezTo>
                  <a:cubicBezTo>
                    <a:pt x="12578" y="21156"/>
                    <a:pt x="12757" y="21069"/>
                    <a:pt x="12905" y="21097"/>
                  </a:cubicBezTo>
                  <a:cubicBezTo>
                    <a:pt x="13313" y="21175"/>
                    <a:pt x="14274" y="20835"/>
                    <a:pt x="14725" y="20439"/>
                  </a:cubicBezTo>
                  <a:cubicBezTo>
                    <a:pt x="14946" y="20246"/>
                    <a:pt x="15133" y="20144"/>
                    <a:pt x="15133" y="20220"/>
                  </a:cubicBezTo>
                  <a:cubicBezTo>
                    <a:pt x="15133" y="20647"/>
                    <a:pt x="16661" y="19694"/>
                    <a:pt x="17957" y="18464"/>
                  </a:cubicBezTo>
                  <a:cubicBezTo>
                    <a:pt x="19372" y="17123"/>
                    <a:pt x="19974" y="16311"/>
                    <a:pt x="20091" y="15612"/>
                  </a:cubicBezTo>
                  <a:cubicBezTo>
                    <a:pt x="20119" y="15443"/>
                    <a:pt x="20288" y="15131"/>
                    <a:pt x="20468" y="14922"/>
                  </a:cubicBezTo>
                  <a:cubicBezTo>
                    <a:pt x="20950" y="14359"/>
                    <a:pt x="21171" y="13722"/>
                    <a:pt x="21252" y="12571"/>
                  </a:cubicBezTo>
                  <a:cubicBezTo>
                    <a:pt x="21292" y="12004"/>
                    <a:pt x="21362" y="11193"/>
                    <a:pt x="21409" y="10753"/>
                  </a:cubicBezTo>
                  <a:cubicBezTo>
                    <a:pt x="21456" y="10312"/>
                    <a:pt x="21372" y="9812"/>
                    <a:pt x="21252" y="9655"/>
                  </a:cubicBezTo>
                  <a:cubicBezTo>
                    <a:pt x="21132" y="9499"/>
                    <a:pt x="21120" y="9169"/>
                    <a:pt x="21189" y="8903"/>
                  </a:cubicBezTo>
                  <a:cubicBezTo>
                    <a:pt x="21259" y="8637"/>
                    <a:pt x="21201" y="8139"/>
                    <a:pt x="21064" y="7806"/>
                  </a:cubicBezTo>
                  <a:cubicBezTo>
                    <a:pt x="20927" y="7473"/>
                    <a:pt x="20765" y="6992"/>
                    <a:pt x="20719" y="6740"/>
                  </a:cubicBezTo>
                  <a:cubicBezTo>
                    <a:pt x="20673" y="6488"/>
                    <a:pt x="20435" y="6015"/>
                    <a:pt x="20185" y="5674"/>
                  </a:cubicBezTo>
                  <a:cubicBezTo>
                    <a:pt x="19935" y="5333"/>
                    <a:pt x="19714" y="4912"/>
                    <a:pt x="19714" y="4765"/>
                  </a:cubicBezTo>
                  <a:cubicBezTo>
                    <a:pt x="19714" y="4493"/>
                    <a:pt x="17625" y="2359"/>
                    <a:pt x="16953" y="1944"/>
                  </a:cubicBezTo>
                  <a:cubicBezTo>
                    <a:pt x="16051" y="1386"/>
                    <a:pt x="14598" y="615"/>
                    <a:pt x="14255" y="533"/>
                  </a:cubicBezTo>
                  <a:cubicBezTo>
                    <a:pt x="14049" y="484"/>
                    <a:pt x="13410" y="360"/>
                    <a:pt x="12843" y="220"/>
                  </a:cubicBezTo>
                  <a:cubicBezTo>
                    <a:pt x="12290" y="83"/>
                    <a:pt x="11632" y="-5"/>
                    <a:pt x="10929" y="0"/>
                  </a:cubicBezTo>
                  <a:close/>
                </a:path>
              </a:pathLst>
            </a:custGeom>
            <a:ln w="12700" cap="flat">
              <a:noFill/>
              <a:miter lim="400000"/>
            </a:ln>
            <a:effectLst/>
          </p:spPr>
        </p:pic>
        <p:pic>
          <p:nvPicPr>
            <p:cNvPr id="302" name="pasted-movie.png" descr="pasted-movie.png"/>
            <p:cNvPicPr>
              <a:picLocks noChangeAspect="1"/>
            </p:cNvPicPr>
            <p:nvPr/>
          </p:nvPicPr>
          <p:blipFill>
            <a:blip r:embed="rId9">
              <a:alphaModFix amt="24309"/>
            </a:blip>
            <a:srcRect l="51928" t="54368" r="40724" b="34555"/>
            <a:stretch>
              <a:fillRect/>
            </a:stretch>
          </p:blipFill>
          <p:spPr>
            <a:xfrm>
              <a:off x="972776" y="1248193"/>
              <a:ext cx="270954" cy="272289"/>
            </a:xfrm>
            <a:custGeom>
              <a:avLst/>
              <a:gdLst/>
              <a:ahLst/>
              <a:cxnLst>
                <a:cxn ang="0">
                  <a:pos x="wd2" y="hd2"/>
                </a:cxn>
                <a:cxn ang="5400000">
                  <a:pos x="wd2" y="hd2"/>
                </a:cxn>
                <a:cxn ang="10800000">
                  <a:pos x="wd2" y="hd2"/>
                </a:cxn>
                <a:cxn ang="16200000">
                  <a:pos x="wd2" y="hd2"/>
                </a:cxn>
              </a:cxnLst>
              <a:rect l="0" t="0" r="r" b="b"/>
              <a:pathLst>
                <a:path w="21422" h="21507" extrusionOk="0">
                  <a:moveTo>
                    <a:pt x="10929" y="0"/>
                  </a:moveTo>
                  <a:cubicBezTo>
                    <a:pt x="8817" y="15"/>
                    <a:pt x="6321" y="631"/>
                    <a:pt x="5281" y="1505"/>
                  </a:cubicBezTo>
                  <a:cubicBezTo>
                    <a:pt x="4896" y="1828"/>
                    <a:pt x="4590" y="2023"/>
                    <a:pt x="4590" y="1944"/>
                  </a:cubicBezTo>
                  <a:cubicBezTo>
                    <a:pt x="4590" y="1645"/>
                    <a:pt x="1787" y="4568"/>
                    <a:pt x="1735" y="4922"/>
                  </a:cubicBezTo>
                  <a:cubicBezTo>
                    <a:pt x="1705" y="5125"/>
                    <a:pt x="1601" y="5370"/>
                    <a:pt x="1484" y="5455"/>
                  </a:cubicBezTo>
                  <a:cubicBezTo>
                    <a:pt x="1151" y="5694"/>
                    <a:pt x="541" y="6923"/>
                    <a:pt x="574" y="7304"/>
                  </a:cubicBezTo>
                  <a:cubicBezTo>
                    <a:pt x="590" y="7493"/>
                    <a:pt x="505" y="7803"/>
                    <a:pt x="386" y="7963"/>
                  </a:cubicBezTo>
                  <a:cubicBezTo>
                    <a:pt x="-144" y="8669"/>
                    <a:pt x="-123" y="12712"/>
                    <a:pt x="417" y="13605"/>
                  </a:cubicBezTo>
                  <a:cubicBezTo>
                    <a:pt x="493" y="13731"/>
                    <a:pt x="602" y="14038"/>
                    <a:pt x="637" y="14264"/>
                  </a:cubicBezTo>
                  <a:cubicBezTo>
                    <a:pt x="736" y="14900"/>
                    <a:pt x="1631" y="16564"/>
                    <a:pt x="1986" y="16771"/>
                  </a:cubicBezTo>
                  <a:cubicBezTo>
                    <a:pt x="2161" y="16874"/>
                    <a:pt x="2240" y="17042"/>
                    <a:pt x="2174" y="17148"/>
                  </a:cubicBezTo>
                  <a:cubicBezTo>
                    <a:pt x="1757" y="17822"/>
                    <a:pt x="7512" y="21525"/>
                    <a:pt x="8167" y="21003"/>
                  </a:cubicBezTo>
                  <a:cubicBezTo>
                    <a:pt x="8333" y="20872"/>
                    <a:pt x="8487" y="20891"/>
                    <a:pt x="8575" y="21035"/>
                  </a:cubicBezTo>
                  <a:cubicBezTo>
                    <a:pt x="8662" y="21174"/>
                    <a:pt x="9298" y="21211"/>
                    <a:pt x="10176" y="21129"/>
                  </a:cubicBezTo>
                  <a:cubicBezTo>
                    <a:pt x="11144" y="21039"/>
                    <a:pt x="11700" y="21081"/>
                    <a:pt x="11807" y="21254"/>
                  </a:cubicBezTo>
                  <a:cubicBezTo>
                    <a:pt x="12007" y="21577"/>
                    <a:pt x="12306" y="21595"/>
                    <a:pt x="12498" y="21286"/>
                  </a:cubicBezTo>
                  <a:cubicBezTo>
                    <a:pt x="12578" y="21156"/>
                    <a:pt x="12757" y="21069"/>
                    <a:pt x="12905" y="21097"/>
                  </a:cubicBezTo>
                  <a:cubicBezTo>
                    <a:pt x="13313" y="21175"/>
                    <a:pt x="14274" y="20835"/>
                    <a:pt x="14725" y="20439"/>
                  </a:cubicBezTo>
                  <a:cubicBezTo>
                    <a:pt x="14946" y="20246"/>
                    <a:pt x="15133" y="20144"/>
                    <a:pt x="15133" y="20220"/>
                  </a:cubicBezTo>
                  <a:cubicBezTo>
                    <a:pt x="15133" y="20647"/>
                    <a:pt x="16661" y="19694"/>
                    <a:pt x="17957" y="18464"/>
                  </a:cubicBezTo>
                  <a:cubicBezTo>
                    <a:pt x="19372" y="17123"/>
                    <a:pt x="19974" y="16311"/>
                    <a:pt x="20091" y="15612"/>
                  </a:cubicBezTo>
                  <a:cubicBezTo>
                    <a:pt x="20119" y="15443"/>
                    <a:pt x="20288" y="15131"/>
                    <a:pt x="20468" y="14922"/>
                  </a:cubicBezTo>
                  <a:cubicBezTo>
                    <a:pt x="20950" y="14359"/>
                    <a:pt x="21171" y="13722"/>
                    <a:pt x="21252" y="12571"/>
                  </a:cubicBezTo>
                  <a:cubicBezTo>
                    <a:pt x="21292" y="12004"/>
                    <a:pt x="21362" y="11193"/>
                    <a:pt x="21409" y="10753"/>
                  </a:cubicBezTo>
                  <a:cubicBezTo>
                    <a:pt x="21456" y="10312"/>
                    <a:pt x="21372" y="9812"/>
                    <a:pt x="21252" y="9655"/>
                  </a:cubicBezTo>
                  <a:cubicBezTo>
                    <a:pt x="21132" y="9499"/>
                    <a:pt x="21120" y="9169"/>
                    <a:pt x="21189" y="8903"/>
                  </a:cubicBezTo>
                  <a:cubicBezTo>
                    <a:pt x="21259" y="8637"/>
                    <a:pt x="21201" y="8139"/>
                    <a:pt x="21064" y="7806"/>
                  </a:cubicBezTo>
                  <a:cubicBezTo>
                    <a:pt x="20927" y="7473"/>
                    <a:pt x="20765" y="6992"/>
                    <a:pt x="20719" y="6740"/>
                  </a:cubicBezTo>
                  <a:cubicBezTo>
                    <a:pt x="20673" y="6488"/>
                    <a:pt x="20435" y="6015"/>
                    <a:pt x="20185" y="5674"/>
                  </a:cubicBezTo>
                  <a:cubicBezTo>
                    <a:pt x="19935" y="5333"/>
                    <a:pt x="19714" y="4912"/>
                    <a:pt x="19714" y="4765"/>
                  </a:cubicBezTo>
                  <a:cubicBezTo>
                    <a:pt x="19714" y="4493"/>
                    <a:pt x="17625" y="2359"/>
                    <a:pt x="16953" y="1944"/>
                  </a:cubicBezTo>
                  <a:cubicBezTo>
                    <a:pt x="16051" y="1386"/>
                    <a:pt x="14598" y="615"/>
                    <a:pt x="14255" y="533"/>
                  </a:cubicBezTo>
                  <a:cubicBezTo>
                    <a:pt x="14049" y="484"/>
                    <a:pt x="13410" y="360"/>
                    <a:pt x="12843" y="220"/>
                  </a:cubicBezTo>
                  <a:cubicBezTo>
                    <a:pt x="12290" y="83"/>
                    <a:pt x="11632" y="-5"/>
                    <a:pt x="10929" y="0"/>
                  </a:cubicBezTo>
                  <a:close/>
                </a:path>
              </a:pathLst>
            </a:custGeom>
            <a:ln w="12700" cap="flat">
              <a:noFill/>
              <a:miter lim="400000"/>
            </a:ln>
            <a:effectLst/>
          </p:spPr>
        </p:pic>
        <p:pic>
          <p:nvPicPr>
            <p:cNvPr id="303" name="pasted-movie.png" descr="pasted-movie.png"/>
            <p:cNvPicPr>
              <a:picLocks noChangeAspect="1"/>
            </p:cNvPicPr>
            <p:nvPr/>
          </p:nvPicPr>
          <p:blipFill>
            <a:blip r:embed="rId9">
              <a:alphaModFix amt="24171"/>
            </a:blip>
            <a:srcRect l="51928" t="54368" r="40724" b="34555"/>
            <a:stretch>
              <a:fillRect/>
            </a:stretch>
          </p:blipFill>
          <p:spPr>
            <a:xfrm>
              <a:off x="897896" y="1544148"/>
              <a:ext cx="270955" cy="272289"/>
            </a:xfrm>
            <a:custGeom>
              <a:avLst/>
              <a:gdLst/>
              <a:ahLst/>
              <a:cxnLst>
                <a:cxn ang="0">
                  <a:pos x="wd2" y="hd2"/>
                </a:cxn>
                <a:cxn ang="5400000">
                  <a:pos x="wd2" y="hd2"/>
                </a:cxn>
                <a:cxn ang="10800000">
                  <a:pos x="wd2" y="hd2"/>
                </a:cxn>
                <a:cxn ang="16200000">
                  <a:pos x="wd2" y="hd2"/>
                </a:cxn>
              </a:cxnLst>
              <a:rect l="0" t="0" r="r" b="b"/>
              <a:pathLst>
                <a:path w="21422" h="21507" extrusionOk="0">
                  <a:moveTo>
                    <a:pt x="10929" y="0"/>
                  </a:moveTo>
                  <a:cubicBezTo>
                    <a:pt x="8817" y="15"/>
                    <a:pt x="6321" y="631"/>
                    <a:pt x="5281" y="1505"/>
                  </a:cubicBezTo>
                  <a:cubicBezTo>
                    <a:pt x="4896" y="1828"/>
                    <a:pt x="4590" y="2023"/>
                    <a:pt x="4590" y="1944"/>
                  </a:cubicBezTo>
                  <a:cubicBezTo>
                    <a:pt x="4590" y="1645"/>
                    <a:pt x="1787" y="4568"/>
                    <a:pt x="1735" y="4922"/>
                  </a:cubicBezTo>
                  <a:cubicBezTo>
                    <a:pt x="1705" y="5125"/>
                    <a:pt x="1601" y="5370"/>
                    <a:pt x="1484" y="5455"/>
                  </a:cubicBezTo>
                  <a:cubicBezTo>
                    <a:pt x="1151" y="5694"/>
                    <a:pt x="541" y="6923"/>
                    <a:pt x="574" y="7304"/>
                  </a:cubicBezTo>
                  <a:cubicBezTo>
                    <a:pt x="590" y="7493"/>
                    <a:pt x="505" y="7803"/>
                    <a:pt x="386" y="7963"/>
                  </a:cubicBezTo>
                  <a:cubicBezTo>
                    <a:pt x="-144" y="8669"/>
                    <a:pt x="-123" y="12712"/>
                    <a:pt x="417" y="13605"/>
                  </a:cubicBezTo>
                  <a:cubicBezTo>
                    <a:pt x="493" y="13731"/>
                    <a:pt x="602" y="14038"/>
                    <a:pt x="637" y="14264"/>
                  </a:cubicBezTo>
                  <a:cubicBezTo>
                    <a:pt x="736" y="14900"/>
                    <a:pt x="1631" y="16564"/>
                    <a:pt x="1986" y="16771"/>
                  </a:cubicBezTo>
                  <a:cubicBezTo>
                    <a:pt x="2161" y="16874"/>
                    <a:pt x="2240" y="17042"/>
                    <a:pt x="2174" y="17148"/>
                  </a:cubicBezTo>
                  <a:cubicBezTo>
                    <a:pt x="1757" y="17822"/>
                    <a:pt x="7512" y="21525"/>
                    <a:pt x="8167" y="21003"/>
                  </a:cubicBezTo>
                  <a:cubicBezTo>
                    <a:pt x="8333" y="20872"/>
                    <a:pt x="8487" y="20891"/>
                    <a:pt x="8575" y="21035"/>
                  </a:cubicBezTo>
                  <a:cubicBezTo>
                    <a:pt x="8662" y="21174"/>
                    <a:pt x="9298" y="21211"/>
                    <a:pt x="10176" y="21129"/>
                  </a:cubicBezTo>
                  <a:cubicBezTo>
                    <a:pt x="11144" y="21039"/>
                    <a:pt x="11700" y="21081"/>
                    <a:pt x="11807" y="21254"/>
                  </a:cubicBezTo>
                  <a:cubicBezTo>
                    <a:pt x="12007" y="21577"/>
                    <a:pt x="12306" y="21595"/>
                    <a:pt x="12498" y="21286"/>
                  </a:cubicBezTo>
                  <a:cubicBezTo>
                    <a:pt x="12578" y="21156"/>
                    <a:pt x="12757" y="21069"/>
                    <a:pt x="12905" y="21097"/>
                  </a:cubicBezTo>
                  <a:cubicBezTo>
                    <a:pt x="13313" y="21175"/>
                    <a:pt x="14274" y="20835"/>
                    <a:pt x="14725" y="20439"/>
                  </a:cubicBezTo>
                  <a:cubicBezTo>
                    <a:pt x="14946" y="20246"/>
                    <a:pt x="15133" y="20144"/>
                    <a:pt x="15133" y="20220"/>
                  </a:cubicBezTo>
                  <a:cubicBezTo>
                    <a:pt x="15133" y="20647"/>
                    <a:pt x="16661" y="19694"/>
                    <a:pt x="17957" y="18464"/>
                  </a:cubicBezTo>
                  <a:cubicBezTo>
                    <a:pt x="19372" y="17123"/>
                    <a:pt x="19974" y="16311"/>
                    <a:pt x="20091" y="15612"/>
                  </a:cubicBezTo>
                  <a:cubicBezTo>
                    <a:pt x="20119" y="15443"/>
                    <a:pt x="20288" y="15131"/>
                    <a:pt x="20468" y="14922"/>
                  </a:cubicBezTo>
                  <a:cubicBezTo>
                    <a:pt x="20950" y="14359"/>
                    <a:pt x="21171" y="13722"/>
                    <a:pt x="21252" y="12571"/>
                  </a:cubicBezTo>
                  <a:cubicBezTo>
                    <a:pt x="21292" y="12004"/>
                    <a:pt x="21362" y="11193"/>
                    <a:pt x="21409" y="10753"/>
                  </a:cubicBezTo>
                  <a:cubicBezTo>
                    <a:pt x="21456" y="10312"/>
                    <a:pt x="21372" y="9812"/>
                    <a:pt x="21252" y="9655"/>
                  </a:cubicBezTo>
                  <a:cubicBezTo>
                    <a:pt x="21132" y="9499"/>
                    <a:pt x="21120" y="9169"/>
                    <a:pt x="21189" y="8903"/>
                  </a:cubicBezTo>
                  <a:cubicBezTo>
                    <a:pt x="21259" y="8637"/>
                    <a:pt x="21201" y="8139"/>
                    <a:pt x="21064" y="7806"/>
                  </a:cubicBezTo>
                  <a:cubicBezTo>
                    <a:pt x="20927" y="7473"/>
                    <a:pt x="20765" y="6992"/>
                    <a:pt x="20719" y="6740"/>
                  </a:cubicBezTo>
                  <a:cubicBezTo>
                    <a:pt x="20673" y="6488"/>
                    <a:pt x="20435" y="6015"/>
                    <a:pt x="20185" y="5674"/>
                  </a:cubicBezTo>
                  <a:cubicBezTo>
                    <a:pt x="19935" y="5333"/>
                    <a:pt x="19714" y="4912"/>
                    <a:pt x="19714" y="4765"/>
                  </a:cubicBezTo>
                  <a:cubicBezTo>
                    <a:pt x="19714" y="4493"/>
                    <a:pt x="17625" y="2359"/>
                    <a:pt x="16953" y="1944"/>
                  </a:cubicBezTo>
                  <a:cubicBezTo>
                    <a:pt x="16051" y="1386"/>
                    <a:pt x="14598" y="615"/>
                    <a:pt x="14255" y="533"/>
                  </a:cubicBezTo>
                  <a:cubicBezTo>
                    <a:pt x="14049" y="484"/>
                    <a:pt x="13410" y="360"/>
                    <a:pt x="12843" y="220"/>
                  </a:cubicBezTo>
                  <a:cubicBezTo>
                    <a:pt x="12290" y="83"/>
                    <a:pt x="11632" y="-5"/>
                    <a:pt x="10929" y="0"/>
                  </a:cubicBezTo>
                  <a:close/>
                </a:path>
              </a:pathLst>
            </a:custGeom>
            <a:ln w="12700" cap="flat">
              <a:noFill/>
              <a:miter lim="400000"/>
            </a:ln>
            <a:effectLst/>
          </p:spPr>
        </p:pic>
        <p:pic>
          <p:nvPicPr>
            <p:cNvPr id="304" name="pasted-movie.png" descr="pasted-movie.png"/>
            <p:cNvPicPr>
              <a:picLocks noChangeAspect="1"/>
            </p:cNvPicPr>
            <p:nvPr/>
          </p:nvPicPr>
          <p:blipFill>
            <a:blip r:embed="rId9">
              <a:alphaModFix amt="16565"/>
            </a:blip>
            <a:srcRect l="51928" t="54368" r="40724" b="34555"/>
            <a:stretch>
              <a:fillRect/>
            </a:stretch>
          </p:blipFill>
          <p:spPr>
            <a:xfrm>
              <a:off x="1189562" y="1544148"/>
              <a:ext cx="270955" cy="272289"/>
            </a:xfrm>
            <a:custGeom>
              <a:avLst/>
              <a:gdLst/>
              <a:ahLst/>
              <a:cxnLst>
                <a:cxn ang="0">
                  <a:pos x="wd2" y="hd2"/>
                </a:cxn>
                <a:cxn ang="5400000">
                  <a:pos x="wd2" y="hd2"/>
                </a:cxn>
                <a:cxn ang="10800000">
                  <a:pos x="wd2" y="hd2"/>
                </a:cxn>
                <a:cxn ang="16200000">
                  <a:pos x="wd2" y="hd2"/>
                </a:cxn>
              </a:cxnLst>
              <a:rect l="0" t="0" r="r" b="b"/>
              <a:pathLst>
                <a:path w="21422" h="21507" extrusionOk="0">
                  <a:moveTo>
                    <a:pt x="10929" y="0"/>
                  </a:moveTo>
                  <a:cubicBezTo>
                    <a:pt x="8817" y="15"/>
                    <a:pt x="6321" y="631"/>
                    <a:pt x="5281" y="1505"/>
                  </a:cubicBezTo>
                  <a:cubicBezTo>
                    <a:pt x="4896" y="1828"/>
                    <a:pt x="4590" y="2023"/>
                    <a:pt x="4590" y="1944"/>
                  </a:cubicBezTo>
                  <a:cubicBezTo>
                    <a:pt x="4590" y="1645"/>
                    <a:pt x="1787" y="4568"/>
                    <a:pt x="1735" y="4922"/>
                  </a:cubicBezTo>
                  <a:cubicBezTo>
                    <a:pt x="1705" y="5125"/>
                    <a:pt x="1601" y="5370"/>
                    <a:pt x="1484" y="5455"/>
                  </a:cubicBezTo>
                  <a:cubicBezTo>
                    <a:pt x="1151" y="5694"/>
                    <a:pt x="541" y="6923"/>
                    <a:pt x="574" y="7304"/>
                  </a:cubicBezTo>
                  <a:cubicBezTo>
                    <a:pt x="590" y="7493"/>
                    <a:pt x="505" y="7803"/>
                    <a:pt x="386" y="7963"/>
                  </a:cubicBezTo>
                  <a:cubicBezTo>
                    <a:pt x="-144" y="8669"/>
                    <a:pt x="-123" y="12712"/>
                    <a:pt x="417" y="13605"/>
                  </a:cubicBezTo>
                  <a:cubicBezTo>
                    <a:pt x="493" y="13731"/>
                    <a:pt x="602" y="14038"/>
                    <a:pt x="637" y="14264"/>
                  </a:cubicBezTo>
                  <a:cubicBezTo>
                    <a:pt x="736" y="14900"/>
                    <a:pt x="1631" y="16564"/>
                    <a:pt x="1986" y="16771"/>
                  </a:cubicBezTo>
                  <a:cubicBezTo>
                    <a:pt x="2161" y="16874"/>
                    <a:pt x="2240" y="17042"/>
                    <a:pt x="2174" y="17148"/>
                  </a:cubicBezTo>
                  <a:cubicBezTo>
                    <a:pt x="1757" y="17822"/>
                    <a:pt x="7512" y="21525"/>
                    <a:pt x="8167" y="21003"/>
                  </a:cubicBezTo>
                  <a:cubicBezTo>
                    <a:pt x="8333" y="20872"/>
                    <a:pt x="8487" y="20891"/>
                    <a:pt x="8575" y="21035"/>
                  </a:cubicBezTo>
                  <a:cubicBezTo>
                    <a:pt x="8662" y="21174"/>
                    <a:pt x="9298" y="21211"/>
                    <a:pt x="10176" y="21129"/>
                  </a:cubicBezTo>
                  <a:cubicBezTo>
                    <a:pt x="11144" y="21039"/>
                    <a:pt x="11700" y="21081"/>
                    <a:pt x="11807" y="21254"/>
                  </a:cubicBezTo>
                  <a:cubicBezTo>
                    <a:pt x="12007" y="21577"/>
                    <a:pt x="12306" y="21595"/>
                    <a:pt x="12498" y="21286"/>
                  </a:cubicBezTo>
                  <a:cubicBezTo>
                    <a:pt x="12578" y="21156"/>
                    <a:pt x="12757" y="21069"/>
                    <a:pt x="12905" y="21097"/>
                  </a:cubicBezTo>
                  <a:cubicBezTo>
                    <a:pt x="13313" y="21175"/>
                    <a:pt x="14274" y="20835"/>
                    <a:pt x="14725" y="20439"/>
                  </a:cubicBezTo>
                  <a:cubicBezTo>
                    <a:pt x="14946" y="20246"/>
                    <a:pt x="15133" y="20144"/>
                    <a:pt x="15133" y="20220"/>
                  </a:cubicBezTo>
                  <a:cubicBezTo>
                    <a:pt x="15133" y="20647"/>
                    <a:pt x="16661" y="19694"/>
                    <a:pt x="17957" y="18464"/>
                  </a:cubicBezTo>
                  <a:cubicBezTo>
                    <a:pt x="19372" y="17123"/>
                    <a:pt x="19974" y="16311"/>
                    <a:pt x="20091" y="15612"/>
                  </a:cubicBezTo>
                  <a:cubicBezTo>
                    <a:pt x="20119" y="15443"/>
                    <a:pt x="20288" y="15131"/>
                    <a:pt x="20468" y="14922"/>
                  </a:cubicBezTo>
                  <a:cubicBezTo>
                    <a:pt x="20950" y="14359"/>
                    <a:pt x="21171" y="13722"/>
                    <a:pt x="21252" y="12571"/>
                  </a:cubicBezTo>
                  <a:cubicBezTo>
                    <a:pt x="21292" y="12004"/>
                    <a:pt x="21362" y="11193"/>
                    <a:pt x="21409" y="10753"/>
                  </a:cubicBezTo>
                  <a:cubicBezTo>
                    <a:pt x="21456" y="10312"/>
                    <a:pt x="21372" y="9812"/>
                    <a:pt x="21252" y="9655"/>
                  </a:cubicBezTo>
                  <a:cubicBezTo>
                    <a:pt x="21132" y="9499"/>
                    <a:pt x="21120" y="9169"/>
                    <a:pt x="21189" y="8903"/>
                  </a:cubicBezTo>
                  <a:cubicBezTo>
                    <a:pt x="21259" y="8637"/>
                    <a:pt x="21201" y="8139"/>
                    <a:pt x="21064" y="7806"/>
                  </a:cubicBezTo>
                  <a:cubicBezTo>
                    <a:pt x="20927" y="7473"/>
                    <a:pt x="20765" y="6992"/>
                    <a:pt x="20719" y="6740"/>
                  </a:cubicBezTo>
                  <a:cubicBezTo>
                    <a:pt x="20673" y="6488"/>
                    <a:pt x="20435" y="6015"/>
                    <a:pt x="20185" y="5674"/>
                  </a:cubicBezTo>
                  <a:cubicBezTo>
                    <a:pt x="19935" y="5333"/>
                    <a:pt x="19714" y="4912"/>
                    <a:pt x="19714" y="4765"/>
                  </a:cubicBezTo>
                  <a:cubicBezTo>
                    <a:pt x="19714" y="4493"/>
                    <a:pt x="17625" y="2359"/>
                    <a:pt x="16953" y="1944"/>
                  </a:cubicBezTo>
                  <a:cubicBezTo>
                    <a:pt x="16051" y="1386"/>
                    <a:pt x="14598" y="615"/>
                    <a:pt x="14255" y="533"/>
                  </a:cubicBezTo>
                  <a:cubicBezTo>
                    <a:pt x="14049" y="484"/>
                    <a:pt x="13410" y="360"/>
                    <a:pt x="12843" y="220"/>
                  </a:cubicBezTo>
                  <a:cubicBezTo>
                    <a:pt x="12290" y="83"/>
                    <a:pt x="11632" y="-5"/>
                    <a:pt x="10929" y="0"/>
                  </a:cubicBezTo>
                  <a:close/>
                </a:path>
              </a:pathLst>
            </a:custGeom>
            <a:ln w="12700" cap="flat">
              <a:noFill/>
              <a:miter lim="400000"/>
            </a:ln>
            <a:effectLst/>
          </p:spPr>
        </p:pic>
        <p:pic>
          <p:nvPicPr>
            <p:cNvPr id="305" name="pasted-movie.png" descr="pasted-movie.png"/>
            <p:cNvPicPr>
              <a:picLocks noChangeAspect="1"/>
            </p:cNvPicPr>
            <p:nvPr/>
          </p:nvPicPr>
          <p:blipFill>
            <a:blip r:embed="rId8"/>
            <a:srcRect l="36890" t="15733" r="36892" b="31024"/>
            <a:stretch>
              <a:fillRect/>
            </a:stretch>
          </p:blipFill>
          <p:spPr>
            <a:xfrm>
              <a:off x="2657705" y="596889"/>
              <a:ext cx="966788" cy="130889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96"/>
                  </a:lnTo>
                  <a:cubicBezTo>
                    <a:pt x="1729" y="251"/>
                    <a:pt x="4606" y="1127"/>
                    <a:pt x="6570" y="2220"/>
                  </a:cubicBezTo>
                  <a:cubicBezTo>
                    <a:pt x="7253" y="2600"/>
                    <a:pt x="7541" y="2678"/>
                    <a:pt x="7439" y="2449"/>
                  </a:cubicBezTo>
                  <a:cubicBezTo>
                    <a:pt x="7250" y="2022"/>
                    <a:pt x="4467" y="824"/>
                    <a:pt x="2589" y="360"/>
                  </a:cubicBezTo>
                  <a:cubicBezTo>
                    <a:pt x="1754" y="154"/>
                    <a:pt x="685" y="24"/>
                    <a:pt x="0" y="0"/>
                  </a:cubicBezTo>
                  <a:close/>
                  <a:moveTo>
                    <a:pt x="0" y="2417"/>
                  </a:moveTo>
                  <a:lnTo>
                    <a:pt x="0" y="2613"/>
                  </a:lnTo>
                  <a:cubicBezTo>
                    <a:pt x="169" y="2659"/>
                    <a:pt x="285" y="2704"/>
                    <a:pt x="541" y="2751"/>
                  </a:cubicBezTo>
                  <a:cubicBezTo>
                    <a:pt x="1975" y="3011"/>
                    <a:pt x="3366" y="3548"/>
                    <a:pt x="4593" y="4310"/>
                  </a:cubicBezTo>
                  <a:cubicBezTo>
                    <a:pt x="5711" y="5003"/>
                    <a:pt x="7065" y="6170"/>
                    <a:pt x="6934" y="6327"/>
                  </a:cubicBezTo>
                  <a:cubicBezTo>
                    <a:pt x="6889" y="6381"/>
                    <a:pt x="6656" y="6391"/>
                    <a:pt x="6420" y="6353"/>
                  </a:cubicBezTo>
                  <a:cubicBezTo>
                    <a:pt x="5709" y="6238"/>
                    <a:pt x="5941" y="6439"/>
                    <a:pt x="6996" y="6864"/>
                  </a:cubicBezTo>
                  <a:cubicBezTo>
                    <a:pt x="7544" y="7084"/>
                    <a:pt x="8063" y="7271"/>
                    <a:pt x="8149" y="7276"/>
                  </a:cubicBezTo>
                  <a:cubicBezTo>
                    <a:pt x="8252" y="7283"/>
                    <a:pt x="8264" y="7079"/>
                    <a:pt x="8193" y="6661"/>
                  </a:cubicBezTo>
                  <a:cubicBezTo>
                    <a:pt x="8135" y="6315"/>
                    <a:pt x="8085" y="5918"/>
                    <a:pt x="8078" y="5783"/>
                  </a:cubicBezTo>
                  <a:cubicBezTo>
                    <a:pt x="8059" y="5415"/>
                    <a:pt x="7767" y="5483"/>
                    <a:pt x="7767" y="5855"/>
                  </a:cubicBezTo>
                  <a:cubicBezTo>
                    <a:pt x="7767" y="6367"/>
                    <a:pt x="7537" y="6342"/>
                    <a:pt x="7040" y="5770"/>
                  </a:cubicBezTo>
                  <a:cubicBezTo>
                    <a:pt x="5672" y="4194"/>
                    <a:pt x="2659" y="2737"/>
                    <a:pt x="115" y="2423"/>
                  </a:cubicBezTo>
                  <a:cubicBezTo>
                    <a:pt x="59" y="2416"/>
                    <a:pt x="48" y="2422"/>
                    <a:pt x="0" y="2417"/>
                  </a:cubicBezTo>
                  <a:close/>
                  <a:moveTo>
                    <a:pt x="8033" y="2914"/>
                  </a:moveTo>
                  <a:cubicBezTo>
                    <a:pt x="8009" y="2919"/>
                    <a:pt x="7989" y="2928"/>
                    <a:pt x="7971" y="2941"/>
                  </a:cubicBezTo>
                  <a:cubicBezTo>
                    <a:pt x="7913" y="2984"/>
                    <a:pt x="8020" y="3144"/>
                    <a:pt x="8211" y="3294"/>
                  </a:cubicBezTo>
                  <a:cubicBezTo>
                    <a:pt x="8402" y="3444"/>
                    <a:pt x="8661" y="3569"/>
                    <a:pt x="8778" y="3569"/>
                  </a:cubicBezTo>
                  <a:cubicBezTo>
                    <a:pt x="8965" y="3569"/>
                    <a:pt x="8957" y="3536"/>
                    <a:pt x="8769" y="3327"/>
                  </a:cubicBezTo>
                  <a:cubicBezTo>
                    <a:pt x="8534" y="3064"/>
                    <a:pt x="8206" y="2885"/>
                    <a:pt x="8033" y="2914"/>
                  </a:cubicBezTo>
                  <a:close/>
                  <a:moveTo>
                    <a:pt x="9532" y="4113"/>
                  </a:moveTo>
                  <a:cubicBezTo>
                    <a:pt x="9318" y="4113"/>
                    <a:pt x="9372" y="4322"/>
                    <a:pt x="9656" y="4611"/>
                  </a:cubicBezTo>
                  <a:cubicBezTo>
                    <a:pt x="9890" y="4849"/>
                    <a:pt x="10286" y="4976"/>
                    <a:pt x="10286" y="4814"/>
                  </a:cubicBezTo>
                  <a:cubicBezTo>
                    <a:pt x="10286" y="4687"/>
                    <a:pt x="9668" y="4113"/>
                    <a:pt x="9532" y="4113"/>
                  </a:cubicBezTo>
                  <a:close/>
                  <a:moveTo>
                    <a:pt x="10773" y="5429"/>
                  </a:moveTo>
                  <a:cubicBezTo>
                    <a:pt x="10512" y="5429"/>
                    <a:pt x="10528" y="5478"/>
                    <a:pt x="10915" y="5980"/>
                  </a:cubicBezTo>
                  <a:cubicBezTo>
                    <a:pt x="11234" y="6392"/>
                    <a:pt x="11465" y="6532"/>
                    <a:pt x="11465" y="6307"/>
                  </a:cubicBezTo>
                  <a:cubicBezTo>
                    <a:pt x="11465" y="6076"/>
                    <a:pt x="10956" y="5429"/>
                    <a:pt x="10773" y="5429"/>
                  </a:cubicBezTo>
                  <a:close/>
                  <a:moveTo>
                    <a:pt x="11908" y="6955"/>
                  </a:moveTo>
                  <a:cubicBezTo>
                    <a:pt x="11876" y="6952"/>
                    <a:pt x="11837" y="6962"/>
                    <a:pt x="11793" y="6975"/>
                  </a:cubicBezTo>
                  <a:cubicBezTo>
                    <a:pt x="11720" y="6996"/>
                    <a:pt x="11790" y="7222"/>
                    <a:pt x="11944" y="7479"/>
                  </a:cubicBezTo>
                  <a:cubicBezTo>
                    <a:pt x="12284" y="8050"/>
                    <a:pt x="12596" y="7993"/>
                    <a:pt x="12272" y="7420"/>
                  </a:cubicBezTo>
                  <a:cubicBezTo>
                    <a:pt x="12075" y="7072"/>
                    <a:pt x="12006" y="6965"/>
                    <a:pt x="11908" y="6955"/>
                  </a:cubicBezTo>
                  <a:close/>
                  <a:moveTo>
                    <a:pt x="12715" y="8423"/>
                  </a:moveTo>
                  <a:cubicBezTo>
                    <a:pt x="12696" y="8419"/>
                    <a:pt x="12679" y="8421"/>
                    <a:pt x="12662" y="8429"/>
                  </a:cubicBezTo>
                  <a:cubicBezTo>
                    <a:pt x="12580" y="8466"/>
                    <a:pt x="12617" y="8696"/>
                    <a:pt x="12751" y="8986"/>
                  </a:cubicBezTo>
                  <a:cubicBezTo>
                    <a:pt x="12986" y="9497"/>
                    <a:pt x="13346" y="9675"/>
                    <a:pt x="13185" y="9202"/>
                  </a:cubicBezTo>
                  <a:cubicBezTo>
                    <a:pt x="13028" y="8737"/>
                    <a:pt x="12848" y="8447"/>
                    <a:pt x="12715" y="8423"/>
                  </a:cubicBezTo>
                  <a:close/>
                  <a:moveTo>
                    <a:pt x="13292" y="10008"/>
                  </a:moveTo>
                  <a:cubicBezTo>
                    <a:pt x="13262" y="10018"/>
                    <a:pt x="13238" y="10052"/>
                    <a:pt x="13238" y="10112"/>
                  </a:cubicBezTo>
                  <a:cubicBezTo>
                    <a:pt x="13238" y="10205"/>
                    <a:pt x="13481" y="10803"/>
                    <a:pt x="13646" y="11114"/>
                  </a:cubicBezTo>
                  <a:cubicBezTo>
                    <a:pt x="13821" y="11444"/>
                    <a:pt x="13854" y="10786"/>
                    <a:pt x="13682" y="10400"/>
                  </a:cubicBezTo>
                  <a:cubicBezTo>
                    <a:pt x="13568" y="10146"/>
                    <a:pt x="13381" y="9975"/>
                    <a:pt x="13292" y="10008"/>
                  </a:cubicBezTo>
                  <a:close/>
                  <a:moveTo>
                    <a:pt x="14036" y="11828"/>
                  </a:moveTo>
                  <a:cubicBezTo>
                    <a:pt x="13933" y="11811"/>
                    <a:pt x="13886" y="12053"/>
                    <a:pt x="14001" y="12450"/>
                  </a:cubicBezTo>
                  <a:cubicBezTo>
                    <a:pt x="14084" y="12736"/>
                    <a:pt x="14210" y="12974"/>
                    <a:pt x="14285" y="12974"/>
                  </a:cubicBezTo>
                  <a:cubicBezTo>
                    <a:pt x="14464" y="12974"/>
                    <a:pt x="14462" y="12689"/>
                    <a:pt x="14267" y="12169"/>
                  </a:cubicBezTo>
                  <a:cubicBezTo>
                    <a:pt x="14183" y="11946"/>
                    <a:pt x="14099" y="11839"/>
                    <a:pt x="14036" y="11828"/>
                  </a:cubicBezTo>
                  <a:close/>
                  <a:moveTo>
                    <a:pt x="14382" y="13538"/>
                  </a:moveTo>
                  <a:cubicBezTo>
                    <a:pt x="14263" y="13572"/>
                    <a:pt x="14309" y="13873"/>
                    <a:pt x="14524" y="14435"/>
                  </a:cubicBezTo>
                  <a:cubicBezTo>
                    <a:pt x="14572" y="14558"/>
                    <a:pt x="14654" y="14595"/>
                    <a:pt x="14737" y="14533"/>
                  </a:cubicBezTo>
                  <a:cubicBezTo>
                    <a:pt x="14923" y="14395"/>
                    <a:pt x="14690" y="13605"/>
                    <a:pt x="14444" y="13544"/>
                  </a:cubicBezTo>
                  <a:cubicBezTo>
                    <a:pt x="14420" y="13538"/>
                    <a:pt x="14399" y="13533"/>
                    <a:pt x="14382" y="13538"/>
                  </a:cubicBezTo>
                  <a:close/>
                  <a:moveTo>
                    <a:pt x="15446" y="15751"/>
                  </a:moveTo>
                  <a:cubicBezTo>
                    <a:pt x="13890" y="15733"/>
                    <a:pt x="12511" y="16606"/>
                    <a:pt x="12511" y="17893"/>
                  </a:cubicBezTo>
                  <a:cubicBezTo>
                    <a:pt x="12511" y="18846"/>
                    <a:pt x="13267" y="19644"/>
                    <a:pt x="14444" y="19923"/>
                  </a:cubicBezTo>
                  <a:cubicBezTo>
                    <a:pt x="15262" y="20117"/>
                    <a:pt x="16243" y="20032"/>
                    <a:pt x="17016" y="19701"/>
                  </a:cubicBezTo>
                  <a:cubicBezTo>
                    <a:pt x="18743" y="18961"/>
                    <a:pt x="18743" y="16834"/>
                    <a:pt x="17016" y="16085"/>
                  </a:cubicBezTo>
                  <a:cubicBezTo>
                    <a:pt x="16502" y="15863"/>
                    <a:pt x="15965" y="15758"/>
                    <a:pt x="15446" y="15751"/>
                  </a:cubicBezTo>
                  <a:close/>
                  <a:moveTo>
                    <a:pt x="21600" y="21233"/>
                  </a:moveTo>
                  <a:cubicBezTo>
                    <a:pt x="21117" y="21256"/>
                    <a:pt x="16428" y="21294"/>
                    <a:pt x="10312" y="21325"/>
                  </a:cubicBezTo>
                  <a:cubicBezTo>
                    <a:pt x="3775" y="21357"/>
                    <a:pt x="1256" y="21348"/>
                    <a:pt x="0" y="21305"/>
                  </a:cubicBezTo>
                  <a:lnTo>
                    <a:pt x="0" y="21600"/>
                  </a:lnTo>
                  <a:lnTo>
                    <a:pt x="21600" y="21600"/>
                  </a:lnTo>
                  <a:lnTo>
                    <a:pt x="21600" y="21233"/>
                  </a:lnTo>
                  <a:close/>
                </a:path>
              </a:pathLst>
            </a:custGeom>
            <a:ln w="12700" cap="flat">
              <a:noFill/>
              <a:miter lim="400000"/>
            </a:ln>
            <a:effectLst/>
          </p:spPr>
        </p:pic>
        <p:pic>
          <p:nvPicPr>
            <p:cNvPr id="306" name="pasted-movie.png" descr="pasted-movie.png"/>
            <p:cNvPicPr>
              <a:picLocks noChangeAspect="1"/>
            </p:cNvPicPr>
            <p:nvPr/>
          </p:nvPicPr>
          <p:blipFill>
            <a:blip r:embed="rId8"/>
            <a:srcRect l="67495" t="19056" r="6728" b="30988"/>
            <a:stretch>
              <a:fillRect/>
            </a:stretch>
          </p:blipFill>
          <p:spPr>
            <a:xfrm>
              <a:off x="6642101" y="637265"/>
              <a:ext cx="950517" cy="1228100"/>
            </a:xfrm>
            <a:custGeom>
              <a:avLst/>
              <a:gdLst/>
              <a:ahLst/>
              <a:cxnLst>
                <a:cxn ang="0">
                  <a:pos x="wd2" y="hd2"/>
                </a:cxn>
                <a:cxn ang="5400000">
                  <a:pos x="wd2" y="hd2"/>
                </a:cxn>
                <a:cxn ang="10800000">
                  <a:pos x="wd2" y="hd2"/>
                </a:cxn>
                <a:cxn ang="16200000">
                  <a:pos x="wd2" y="hd2"/>
                </a:cxn>
              </a:cxnLst>
              <a:rect l="0" t="0" r="r" b="b"/>
              <a:pathLst>
                <a:path w="21600" h="21591" extrusionOk="0">
                  <a:moveTo>
                    <a:pt x="821" y="3"/>
                  </a:moveTo>
                  <a:cubicBezTo>
                    <a:pt x="550" y="-9"/>
                    <a:pt x="414" y="17"/>
                    <a:pt x="514" y="94"/>
                  </a:cubicBezTo>
                  <a:cubicBezTo>
                    <a:pt x="538" y="112"/>
                    <a:pt x="944" y="207"/>
                    <a:pt x="1425" y="303"/>
                  </a:cubicBezTo>
                  <a:cubicBezTo>
                    <a:pt x="3201" y="660"/>
                    <a:pt x="5192" y="1374"/>
                    <a:pt x="6457" y="2110"/>
                  </a:cubicBezTo>
                  <a:cubicBezTo>
                    <a:pt x="7442" y="2683"/>
                    <a:pt x="8929" y="3811"/>
                    <a:pt x="9740" y="4594"/>
                  </a:cubicBezTo>
                  <a:cubicBezTo>
                    <a:pt x="12435" y="7197"/>
                    <a:pt x="14238" y="10330"/>
                    <a:pt x="15575" y="14746"/>
                  </a:cubicBezTo>
                  <a:cubicBezTo>
                    <a:pt x="15792" y="15463"/>
                    <a:pt x="15990" y="16079"/>
                    <a:pt x="16017" y="16114"/>
                  </a:cubicBezTo>
                  <a:cubicBezTo>
                    <a:pt x="16095" y="16211"/>
                    <a:pt x="16217" y="16183"/>
                    <a:pt x="16279" y="16058"/>
                  </a:cubicBezTo>
                  <a:cubicBezTo>
                    <a:pt x="16391" y="15832"/>
                    <a:pt x="15671" y="13379"/>
                    <a:pt x="15016" y="11746"/>
                  </a:cubicBezTo>
                  <a:cubicBezTo>
                    <a:pt x="13423" y="7775"/>
                    <a:pt x="10848" y="4487"/>
                    <a:pt x="7747" y="2452"/>
                  </a:cubicBezTo>
                  <a:cubicBezTo>
                    <a:pt x="6365" y="1546"/>
                    <a:pt x="4687" y="829"/>
                    <a:pt x="2823" y="345"/>
                  </a:cubicBezTo>
                  <a:cubicBezTo>
                    <a:pt x="2094" y="156"/>
                    <a:pt x="1272" y="24"/>
                    <a:pt x="821" y="3"/>
                  </a:cubicBezTo>
                  <a:close/>
                  <a:moveTo>
                    <a:pt x="12293" y="16316"/>
                  </a:moveTo>
                  <a:cubicBezTo>
                    <a:pt x="12000" y="16316"/>
                    <a:pt x="12030" y="16441"/>
                    <a:pt x="12365" y="16637"/>
                  </a:cubicBezTo>
                  <a:cubicBezTo>
                    <a:pt x="12548" y="16744"/>
                    <a:pt x="12942" y="17012"/>
                    <a:pt x="13240" y="17230"/>
                  </a:cubicBezTo>
                  <a:cubicBezTo>
                    <a:pt x="14054" y="17827"/>
                    <a:pt x="14285" y="17748"/>
                    <a:pt x="13636" y="17098"/>
                  </a:cubicBezTo>
                  <a:cubicBezTo>
                    <a:pt x="13254" y="16714"/>
                    <a:pt x="12565" y="16316"/>
                    <a:pt x="12293" y="16316"/>
                  </a:cubicBezTo>
                  <a:close/>
                  <a:moveTo>
                    <a:pt x="17578" y="16972"/>
                  </a:moveTo>
                  <a:cubicBezTo>
                    <a:pt x="16510" y="16970"/>
                    <a:pt x="15644" y="17312"/>
                    <a:pt x="15115" y="17935"/>
                  </a:cubicBezTo>
                  <a:cubicBezTo>
                    <a:pt x="14307" y="18887"/>
                    <a:pt x="14415" y="20105"/>
                    <a:pt x="15377" y="20928"/>
                  </a:cubicBezTo>
                  <a:cubicBezTo>
                    <a:pt x="15554" y="21080"/>
                    <a:pt x="15670" y="21224"/>
                    <a:pt x="15639" y="21249"/>
                  </a:cubicBezTo>
                  <a:cubicBezTo>
                    <a:pt x="15557" y="21312"/>
                    <a:pt x="365" y="21304"/>
                    <a:pt x="0" y="21242"/>
                  </a:cubicBezTo>
                  <a:lnTo>
                    <a:pt x="0" y="21591"/>
                  </a:lnTo>
                  <a:lnTo>
                    <a:pt x="14232" y="21591"/>
                  </a:lnTo>
                  <a:cubicBezTo>
                    <a:pt x="17447" y="21587"/>
                    <a:pt x="21451" y="21581"/>
                    <a:pt x="21492" y="21577"/>
                  </a:cubicBezTo>
                  <a:cubicBezTo>
                    <a:pt x="21553" y="21572"/>
                    <a:pt x="21600" y="21522"/>
                    <a:pt x="21600" y="21465"/>
                  </a:cubicBezTo>
                  <a:cubicBezTo>
                    <a:pt x="21600" y="21379"/>
                    <a:pt x="21415" y="21361"/>
                    <a:pt x="20455" y="21361"/>
                  </a:cubicBezTo>
                  <a:cubicBezTo>
                    <a:pt x="19823" y="21361"/>
                    <a:pt x="19279" y="21344"/>
                    <a:pt x="19246" y="21319"/>
                  </a:cubicBezTo>
                  <a:cubicBezTo>
                    <a:pt x="19214" y="21294"/>
                    <a:pt x="19347" y="21171"/>
                    <a:pt x="19535" y="21047"/>
                  </a:cubicBezTo>
                  <a:cubicBezTo>
                    <a:pt x="19722" y="20923"/>
                    <a:pt x="20015" y="20625"/>
                    <a:pt x="20184" y="20384"/>
                  </a:cubicBezTo>
                  <a:cubicBezTo>
                    <a:pt x="20472" y="19973"/>
                    <a:pt x="20491" y="19906"/>
                    <a:pt x="20491" y="19289"/>
                  </a:cubicBezTo>
                  <a:cubicBezTo>
                    <a:pt x="20491" y="18709"/>
                    <a:pt x="20459" y="18583"/>
                    <a:pt x="20238" y="18235"/>
                  </a:cubicBezTo>
                  <a:cubicBezTo>
                    <a:pt x="19736" y="17444"/>
                    <a:pt x="18747" y="16975"/>
                    <a:pt x="17578" y="16972"/>
                  </a:cubicBezTo>
                  <a:close/>
                  <a:moveTo>
                    <a:pt x="11905" y="17984"/>
                  </a:moveTo>
                  <a:cubicBezTo>
                    <a:pt x="11773" y="17975"/>
                    <a:pt x="11677" y="17983"/>
                    <a:pt x="11643" y="18026"/>
                  </a:cubicBezTo>
                  <a:cubicBezTo>
                    <a:pt x="11563" y="18127"/>
                    <a:pt x="11715" y="18220"/>
                    <a:pt x="12121" y="18312"/>
                  </a:cubicBezTo>
                  <a:cubicBezTo>
                    <a:pt x="12343" y="18362"/>
                    <a:pt x="12712" y="18474"/>
                    <a:pt x="12933" y="18563"/>
                  </a:cubicBezTo>
                  <a:cubicBezTo>
                    <a:pt x="13551" y="18812"/>
                    <a:pt x="13763" y="18767"/>
                    <a:pt x="13357" y="18472"/>
                  </a:cubicBezTo>
                  <a:cubicBezTo>
                    <a:pt x="13025" y="18232"/>
                    <a:pt x="12301" y="18010"/>
                    <a:pt x="11905" y="17984"/>
                  </a:cubicBezTo>
                  <a:close/>
                  <a:moveTo>
                    <a:pt x="12347" y="19505"/>
                  </a:moveTo>
                  <a:cubicBezTo>
                    <a:pt x="12304" y="19516"/>
                    <a:pt x="12306" y="19549"/>
                    <a:pt x="12320" y="19602"/>
                  </a:cubicBezTo>
                  <a:cubicBezTo>
                    <a:pt x="12339" y="19680"/>
                    <a:pt x="12519" y="19771"/>
                    <a:pt x="12798" y="19847"/>
                  </a:cubicBezTo>
                  <a:cubicBezTo>
                    <a:pt x="13345" y="19996"/>
                    <a:pt x="13555" y="20008"/>
                    <a:pt x="13555" y="19889"/>
                  </a:cubicBezTo>
                  <a:cubicBezTo>
                    <a:pt x="13555" y="19779"/>
                    <a:pt x="13072" y="19592"/>
                    <a:pt x="12617" y="19526"/>
                  </a:cubicBezTo>
                  <a:cubicBezTo>
                    <a:pt x="12473" y="19505"/>
                    <a:pt x="12389" y="19494"/>
                    <a:pt x="12347" y="19505"/>
                  </a:cubicBezTo>
                  <a:close/>
                </a:path>
              </a:pathLst>
            </a:custGeom>
            <a:ln w="12700" cap="flat">
              <a:noFill/>
              <a:miter lim="400000"/>
            </a:ln>
            <a:effectLst/>
          </p:spPr>
        </p:pic>
        <p:pic>
          <p:nvPicPr>
            <p:cNvPr id="307" name="pasted-movie.png" descr="pasted-movie.png"/>
            <p:cNvPicPr>
              <a:picLocks noChangeAspect="1"/>
            </p:cNvPicPr>
            <p:nvPr/>
          </p:nvPicPr>
          <p:blipFill>
            <a:blip r:embed="rId10">
              <a:alphaModFix amt="47617"/>
            </a:blip>
            <a:srcRect l="51928" t="54368" r="40724" b="34555"/>
            <a:stretch>
              <a:fillRect/>
            </a:stretch>
          </p:blipFill>
          <p:spPr>
            <a:xfrm>
              <a:off x="3149882" y="1248193"/>
              <a:ext cx="270954" cy="272289"/>
            </a:xfrm>
            <a:custGeom>
              <a:avLst/>
              <a:gdLst/>
              <a:ahLst/>
              <a:cxnLst>
                <a:cxn ang="0">
                  <a:pos x="wd2" y="hd2"/>
                </a:cxn>
                <a:cxn ang="5400000">
                  <a:pos x="wd2" y="hd2"/>
                </a:cxn>
                <a:cxn ang="10800000">
                  <a:pos x="wd2" y="hd2"/>
                </a:cxn>
                <a:cxn ang="16200000">
                  <a:pos x="wd2" y="hd2"/>
                </a:cxn>
              </a:cxnLst>
              <a:rect l="0" t="0" r="r" b="b"/>
              <a:pathLst>
                <a:path w="21422" h="21507" extrusionOk="0">
                  <a:moveTo>
                    <a:pt x="10929" y="0"/>
                  </a:moveTo>
                  <a:cubicBezTo>
                    <a:pt x="8817" y="15"/>
                    <a:pt x="6321" y="631"/>
                    <a:pt x="5281" y="1505"/>
                  </a:cubicBezTo>
                  <a:cubicBezTo>
                    <a:pt x="4896" y="1828"/>
                    <a:pt x="4590" y="2023"/>
                    <a:pt x="4590" y="1944"/>
                  </a:cubicBezTo>
                  <a:cubicBezTo>
                    <a:pt x="4590" y="1645"/>
                    <a:pt x="1787" y="4568"/>
                    <a:pt x="1735" y="4922"/>
                  </a:cubicBezTo>
                  <a:cubicBezTo>
                    <a:pt x="1705" y="5125"/>
                    <a:pt x="1601" y="5370"/>
                    <a:pt x="1484" y="5455"/>
                  </a:cubicBezTo>
                  <a:cubicBezTo>
                    <a:pt x="1151" y="5694"/>
                    <a:pt x="541" y="6923"/>
                    <a:pt x="574" y="7304"/>
                  </a:cubicBezTo>
                  <a:cubicBezTo>
                    <a:pt x="590" y="7493"/>
                    <a:pt x="505" y="7803"/>
                    <a:pt x="386" y="7963"/>
                  </a:cubicBezTo>
                  <a:cubicBezTo>
                    <a:pt x="-144" y="8669"/>
                    <a:pt x="-123" y="12712"/>
                    <a:pt x="417" y="13605"/>
                  </a:cubicBezTo>
                  <a:cubicBezTo>
                    <a:pt x="493" y="13731"/>
                    <a:pt x="602" y="14038"/>
                    <a:pt x="637" y="14264"/>
                  </a:cubicBezTo>
                  <a:cubicBezTo>
                    <a:pt x="736" y="14900"/>
                    <a:pt x="1631" y="16564"/>
                    <a:pt x="1986" y="16771"/>
                  </a:cubicBezTo>
                  <a:cubicBezTo>
                    <a:pt x="2161" y="16874"/>
                    <a:pt x="2240" y="17042"/>
                    <a:pt x="2174" y="17148"/>
                  </a:cubicBezTo>
                  <a:cubicBezTo>
                    <a:pt x="1757" y="17822"/>
                    <a:pt x="7512" y="21525"/>
                    <a:pt x="8167" y="21003"/>
                  </a:cubicBezTo>
                  <a:cubicBezTo>
                    <a:pt x="8333" y="20872"/>
                    <a:pt x="8487" y="20891"/>
                    <a:pt x="8575" y="21035"/>
                  </a:cubicBezTo>
                  <a:cubicBezTo>
                    <a:pt x="8662" y="21174"/>
                    <a:pt x="9298" y="21211"/>
                    <a:pt x="10176" y="21129"/>
                  </a:cubicBezTo>
                  <a:cubicBezTo>
                    <a:pt x="11144" y="21039"/>
                    <a:pt x="11700" y="21081"/>
                    <a:pt x="11807" y="21254"/>
                  </a:cubicBezTo>
                  <a:cubicBezTo>
                    <a:pt x="12007" y="21577"/>
                    <a:pt x="12306" y="21595"/>
                    <a:pt x="12498" y="21286"/>
                  </a:cubicBezTo>
                  <a:cubicBezTo>
                    <a:pt x="12578" y="21156"/>
                    <a:pt x="12757" y="21069"/>
                    <a:pt x="12905" y="21097"/>
                  </a:cubicBezTo>
                  <a:cubicBezTo>
                    <a:pt x="13313" y="21175"/>
                    <a:pt x="14274" y="20835"/>
                    <a:pt x="14725" y="20439"/>
                  </a:cubicBezTo>
                  <a:cubicBezTo>
                    <a:pt x="14946" y="20246"/>
                    <a:pt x="15133" y="20144"/>
                    <a:pt x="15133" y="20220"/>
                  </a:cubicBezTo>
                  <a:cubicBezTo>
                    <a:pt x="15133" y="20647"/>
                    <a:pt x="16661" y="19694"/>
                    <a:pt x="17957" y="18464"/>
                  </a:cubicBezTo>
                  <a:cubicBezTo>
                    <a:pt x="19372" y="17123"/>
                    <a:pt x="19974" y="16311"/>
                    <a:pt x="20091" y="15612"/>
                  </a:cubicBezTo>
                  <a:cubicBezTo>
                    <a:pt x="20119" y="15443"/>
                    <a:pt x="20288" y="15131"/>
                    <a:pt x="20468" y="14922"/>
                  </a:cubicBezTo>
                  <a:cubicBezTo>
                    <a:pt x="20950" y="14359"/>
                    <a:pt x="21171" y="13722"/>
                    <a:pt x="21252" y="12571"/>
                  </a:cubicBezTo>
                  <a:cubicBezTo>
                    <a:pt x="21292" y="12004"/>
                    <a:pt x="21362" y="11193"/>
                    <a:pt x="21409" y="10753"/>
                  </a:cubicBezTo>
                  <a:cubicBezTo>
                    <a:pt x="21456" y="10312"/>
                    <a:pt x="21372" y="9812"/>
                    <a:pt x="21252" y="9655"/>
                  </a:cubicBezTo>
                  <a:cubicBezTo>
                    <a:pt x="21132" y="9499"/>
                    <a:pt x="21120" y="9169"/>
                    <a:pt x="21189" y="8903"/>
                  </a:cubicBezTo>
                  <a:cubicBezTo>
                    <a:pt x="21259" y="8637"/>
                    <a:pt x="21201" y="8139"/>
                    <a:pt x="21064" y="7806"/>
                  </a:cubicBezTo>
                  <a:cubicBezTo>
                    <a:pt x="20927" y="7473"/>
                    <a:pt x="20765" y="6992"/>
                    <a:pt x="20719" y="6740"/>
                  </a:cubicBezTo>
                  <a:cubicBezTo>
                    <a:pt x="20673" y="6488"/>
                    <a:pt x="20435" y="6015"/>
                    <a:pt x="20185" y="5674"/>
                  </a:cubicBezTo>
                  <a:cubicBezTo>
                    <a:pt x="19935" y="5333"/>
                    <a:pt x="19714" y="4912"/>
                    <a:pt x="19714" y="4765"/>
                  </a:cubicBezTo>
                  <a:cubicBezTo>
                    <a:pt x="19714" y="4493"/>
                    <a:pt x="17625" y="2359"/>
                    <a:pt x="16953" y="1944"/>
                  </a:cubicBezTo>
                  <a:cubicBezTo>
                    <a:pt x="16051" y="1386"/>
                    <a:pt x="14598" y="615"/>
                    <a:pt x="14255" y="533"/>
                  </a:cubicBezTo>
                  <a:cubicBezTo>
                    <a:pt x="14049" y="484"/>
                    <a:pt x="13410" y="360"/>
                    <a:pt x="12843" y="220"/>
                  </a:cubicBezTo>
                  <a:cubicBezTo>
                    <a:pt x="12290" y="83"/>
                    <a:pt x="11632" y="-5"/>
                    <a:pt x="10929" y="0"/>
                  </a:cubicBezTo>
                  <a:close/>
                </a:path>
              </a:pathLst>
            </a:custGeom>
            <a:ln w="12700" cap="flat">
              <a:noFill/>
              <a:miter lim="400000"/>
            </a:ln>
            <a:effectLst/>
          </p:spPr>
        </p:pic>
        <p:pic>
          <p:nvPicPr>
            <p:cNvPr id="308" name="pasted-movie.png" descr="pasted-movie.png"/>
            <p:cNvPicPr>
              <a:picLocks noChangeAspect="1"/>
            </p:cNvPicPr>
            <p:nvPr/>
          </p:nvPicPr>
          <p:blipFill>
            <a:blip r:embed="rId10">
              <a:alphaModFix amt="24309"/>
            </a:blip>
            <a:srcRect l="51928" t="54368" r="40724" b="34555"/>
            <a:stretch>
              <a:fillRect/>
            </a:stretch>
          </p:blipFill>
          <p:spPr>
            <a:xfrm>
              <a:off x="3293083" y="1067080"/>
              <a:ext cx="270955" cy="272289"/>
            </a:xfrm>
            <a:custGeom>
              <a:avLst/>
              <a:gdLst/>
              <a:ahLst/>
              <a:cxnLst>
                <a:cxn ang="0">
                  <a:pos x="wd2" y="hd2"/>
                </a:cxn>
                <a:cxn ang="5400000">
                  <a:pos x="wd2" y="hd2"/>
                </a:cxn>
                <a:cxn ang="10800000">
                  <a:pos x="wd2" y="hd2"/>
                </a:cxn>
                <a:cxn ang="16200000">
                  <a:pos x="wd2" y="hd2"/>
                </a:cxn>
              </a:cxnLst>
              <a:rect l="0" t="0" r="r" b="b"/>
              <a:pathLst>
                <a:path w="21422" h="21507" extrusionOk="0">
                  <a:moveTo>
                    <a:pt x="10929" y="0"/>
                  </a:moveTo>
                  <a:cubicBezTo>
                    <a:pt x="8817" y="15"/>
                    <a:pt x="6321" y="631"/>
                    <a:pt x="5281" y="1505"/>
                  </a:cubicBezTo>
                  <a:cubicBezTo>
                    <a:pt x="4896" y="1828"/>
                    <a:pt x="4590" y="2023"/>
                    <a:pt x="4590" y="1944"/>
                  </a:cubicBezTo>
                  <a:cubicBezTo>
                    <a:pt x="4590" y="1645"/>
                    <a:pt x="1787" y="4568"/>
                    <a:pt x="1735" y="4922"/>
                  </a:cubicBezTo>
                  <a:cubicBezTo>
                    <a:pt x="1705" y="5125"/>
                    <a:pt x="1601" y="5370"/>
                    <a:pt x="1484" y="5455"/>
                  </a:cubicBezTo>
                  <a:cubicBezTo>
                    <a:pt x="1151" y="5694"/>
                    <a:pt x="541" y="6923"/>
                    <a:pt x="574" y="7304"/>
                  </a:cubicBezTo>
                  <a:cubicBezTo>
                    <a:pt x="590" y="7493"/>
                    <a:pt x="505" y="7803"/>
                    <a:pt x="386" y="7963"/>
                  </a:cubicBezTo>
                  <a:cubicBezTo>
                    <a:pt x="-144" y="8669"/>
                    <a:pt x="-123" y="12712"/>
                    <a:pt x="417" y="13605"/>
                  </a:cubicBezTo>
                  <a:cubicBezTo>
                    <a:pt x="493" y="13731"/>
                    <a:pt x="602" y="14038"/>
                    <a:pt x="637" y="14264"/>
                  </a:cubicBezTo>
                  <a:cubicBezTo>
                    <a:pt x="736" y="14900"/>
                    <a:pt x="1631" y="16564"/>
                    <a:pt x="1986" y="16771"/>
                  </a:cubicBezTo>
                  <a:cubicBezTo>
                    <a:pt x="2161" y="16874"/>
                    <a:pt x="2240" y="17042"/>
                    <a:pt x="2174" y="17148"/>
                  </a:cubicBezTo>
                  <a:cubicBezTo>
                    <a:pt x="1757" y="17822"/>
                    <a:pt x="7512" y="21525"/>
                    <a:pt x="8167" y="21003"/>
                  </a:cubicBezTo>
                  <a:cubicBezTo>
                    <a:pt x="8333" y="20872"/>
                    <a:pt x="8487" y="20891"/>
                    <a:pt x="8575" y="21035"/>
                  </a:cubicBezTo>
                  <a:cubicBezTo>
                    <a:pt x="8662" y="21174"/>
                    <a:pt x="9298" y="21211"/>
                    <a:pt x="10176" y="21129"/>
                  </a:cubicBezTo>
                  <a:cubicBezTo>
                    <a:pt x="11144" y="21039"/>
                    <a:pt x="11700" y="21081"/>
                    <a:pt x="11807" y="21254"/>
                  </a:cubicBezTo>
                  <a:cubicBezTo>
                    <a:pt x="12007" y="21577"/>
                    <a:pt x="12306" y="21595"/>
                    <a:pt x="12498" y="21286"/>
                  </a:cubicBezTo>
                  <a:cubicBezTo>
                    <a:pt x="12578" y="21156"/>
                    <a:pt x="12757" y="21069"/>
                    <a:pt x="12905" y="21097"/>
                  </a:cubicBezTo>
                  <a:cubicBezTo>
                    <a:pt x="13313" y="21175"/>
                    <a:pt x="14274" y="20835"/>
                    <a:pt x="14725" y="20439"/>
                  </a:cubicBezTo>
                  <a:cubicBezTo>
                    <a:pt x="14946" y="20246"/>
                    <a:pt x="15133" y="20144"/>
                    <a:pt x="15133" y="20220"/>
                  </a:cubicBezTo>
                  <a:cubicBezTo>
                    <a:pt x="15133" y="20647"/>
                    <a:pt x="16661" y="19694"/>
                    <a:pt x="17957" y="18464"/>
                  </a:cubicBezTo>
                  <a:cubicBezTo>
                    <a:pt x="19372" y="17123"/>
                    <a:pt x="19974" y="16311"/>
                    <a:pt x="20091" y="15612"/>
                  </a:cubicBezTo>
                  <a:cubicBezTo>
                    <a:pt x="20119" y="15443"/>
                    <a:pt x="20288" y="15131"/>
                    <a:pt x="20468" y="14922"/>
                  </a:cubicBezTo>
                  <a:cubicBezTo>
                    <a:pt x="20950" y="14359"/>
                    <a:pt x="21171" y="13722"/>
                    <a:pt x="21252" y="12571"/>
                  </a:cubicBezTo>
                  <a:cubicBezTo>
                    <a:pt x="21292" y="12004"/>
                    <a:pt x="21362" y="11193"/>
                    <a:pt x="21409" y="10753"/>
                  </a:cubicBezTo>
                  <a:cubicBezTo>
                    <a:pt x="21456" y="10312"/>
                    <a:pt x="21372" y="9812"/>
                    <a:pt x="21252" y="9655"/>
                  </a:cubicBezTo>
                  <a:cubicBezTo>
                    <a:pt x="21132" y="9499"/>
                    <a:pt x="21120" y="9169"/>
                    <a:pt x="21189" y="8903"/>
                  </a:cubicBezTo>
                  <a:cubicBezTo>
                    <a:pt x="21259" y="8637"/>
                    <a:pt x="21201" y="8139"/>
                    <a:pt x="21064" y="7806"/>
                  </a:cubicBezTo>
                  <a:cubicBezTo>
                    <a:pt x="20927" y="7473"/>
                    <a:pt x="20765" y="6992"/>
                    <a:pt x="20719" y="6740"/>
                  </a:cubicBezTo>
                  <a:cubicBezTo>
                    <a:pt x="20673" y="6488"/>
                    <a:pt x="20435" y="6015"/>
                    <a:pt x="20185" y="5674"/>
                  </a:cubicBezTo>
                  <a:cubicBezTo>
                    <a:pt x="19935" y="5333"/>
                    <a:pt x="19714" y="4912"/>
                    <a:pt x="19714" y="4765"/>
                  </a:cubicBezTo>
                  <a:cubicBezTo>
                    <a:pt x="19714" y="4493"/>
                    <a:pt x="17625" y="2359"/>
                    <a:pt x="16953" y="1944"/>
                  </a:cubicBezTo>
                  <a:cubicBezTo>
                    <a:pt x="16051" y="1386"/>
                    <a:pt x="14598" y="615"/>
                    <a:pt x="14255" y="533"/>
                  </a:cubicBezTo>
                  <a:cubicBezTo>
                    <a:pt x="14049" y="484"/>
                    <a:pt x="13410" y="360"/>
                    <a:pt x="12843" y="220"/>
                  </a:cubicBezTo>
                  <a:cubicBezTo>
                    <a:pt x="12290" y="83"/>
                    <a:pt x="11632" y="-5"/>
                    <a:pt x="10929" y="0"/>
                  </a:cubicBezTo>
                  <a:close/>
                </a:path>
              </a:pathLst>
            </a:custGeom>
            <a:ln w="12700" cap="flat">
              <a:noFill/>
              <a:miter lim="400000"/>
            </a:ln>
            <a:effectLst/>
          </p:spPr>
        </p:pic>
        <p:pic>
          <p:nvPicPr>
            <p:cNvPr id="309" name="pasted-movie.png" descr="pasted-movie.png"/>
            <p:cNvPicPr>
              <a:picLocks noChangeAspect="1"/>
            </p:cNvPicPr>
            <p:nvPr/>
          </p:nvPicPr>
          <p:blipFill>
            <a:blip r:embed="rId10">
              <a:alphaModFix amt="24171"/>
            </a:blip>
            <a:srcRect l="51928" t="54368" r="40724" b="34555"/>
            <a:stretch>
              <a:fillRect/>
            </a:stretch>
          </p:blipFill>
          <p:spPr>
            <a:xfrm>
              <a:off x="3089128" y="901746"/>
              <a:ext cx="270955" cy="272289"/>
            </a:xfrm>
            <a:custGeom>
              <a:avLst/>
              <a:gdLst/>
              <a:ahLst/>
              <a:cxnLst>
                <a:cxn ang="0">
                  <a:pos x="wd2" y="hd2"/>
                </a:cxn>
                <a:cxn ang="5400000">
                  <a:pos x="wd2" y="hd2"/>
                </a:cxn>
                <a:cxn ang="10800000">
                  <a:pos x="wd2" y="hd2"/>
                </a:cxn>
                <a:cxn ang="16200000">
                  <a:pos x="wd2" y="hd2"/>
                </a:cxn>
              </a:cxnLst>
              <a:rect l="0" t="0" r="r" b="b"/>
              <a:pathLst>
                <a:path w="21422" h="21507" extrusionOk="0">
                  <a:moveTo>
                    <a:pt x="10929" y="0"/>
                  </a:moveTo>
                  <a:cubicBezTo>
                    <a:pt x="8817" y="15"/>
                    <a:pt x="6321" y="631"/>
                    <a:pt x="5281" y="1505"/>
                  </a:cubicBezTo>
                  <a:cubicBezTo>
                    <a:pt x="4896" y="1828"/>
                    <a:pt x="4590" y="2023"/>
                    <a:pt x="4590" y="1944"/>
                  </a:cubicBezTo>
                  <a:cubicBezTo>
                    <a:pt x="4590" y="1645"/>
                    <a:pt x="1787" y="4568"/>
                    <a:pt x="1735" y="4922"/>
                  </a:cubicBezTo>
                  <a:cubicBezTo>
                    <a:pt x="1705" y="5125"/>
                    <a:pt x="1601" y="5370"/>
                    <a:pt x="1484" y="5455"/>
                  </a:cubicBezTo>
                  <a:cubicBezTo>
                    <a:pt x="1151" y="5694"/>
                    <a:pt x="541" y="6923"/>
                    <a:pt x="574" y="7304"/>
                  </a:cubicBezTo>
                  <a:cubicBezTo>
                    <a:pt x="590" y="7493"/>
                    <a:pt x="505" y="7803"/>
                    <a:pt x="386" y="7963"/>
                  </a:cubicBezTo>
                  <a:cubicBezTo>
                    <a:pt x="-144" y="8669"/>
                    <a:pt x="-123" y="12712"/>
                    <a:pt x="417" y="13605"/>
                  </a:cubicBezTo>
                  <a:cubicBezTo>
                    <a:pt x="493" y="13731"/>
                    <a:pt x="602" y="14038"/>
                    <a:pt x="637" y="14264"/>
                  </a:cubicBezTo>
                  <a:cubicBezTo>
                    <a:pt x="736" y="14900"/>
                    <a:pt x="1631" y="16564"/>
                    <a:pt x="1986" y="16771"/>
                  </a:cubicBezTo>
                  <a:cubicBezTo>
                    <a:pt x="2161" y="16874"/>
                    <a:pt x="2240" y="17042"/>
                    <a:pt x="2174" y="17148"/>
                  </a:cubicBezTo>
                  <a:cubicBezTo>
                    <a:pt x="1757" y="17822"/>
                    <a:pt x="7512" y="21525"/>
                    <a:pt x="8167" y="21003"/>
                  </a:cubicBezTo>
                  <a:cubicBezTo>
                    <a:pt x="8333" y="20872"/>
                    <a:pt x="8487" y="20891"/>
                    <a:pt x="8575" y="21035"/>
                  </a:cubicBezTo>
                  <a:cubicBezTo>
                    <a:pt x="8662" y="21174"/>
                    <a:pt x="9298" y="21211"/>
                    <a:pt x="10176" y="21129"/>
                  </a:cubicBezTo>
                  <a:cubicBezTo>
                    <a:pt x="11144" y="21039"/>
                    <a:pt x="11700" y="21081"/>
                    <a:pt x="11807" y="21254"/>
                  </a:cubicBezTo>
                  <a:cubicBezTo>
                    <a:pt x="12007" y="21577"/>
                    <a:pt x="12306" y="21595"/>
                    <a:pt x="12498" y="21286"/>
                  </a:cubicBezTo>
                  <a:cubicBezTo>
                    <a:pt x="12578" y="21156"/>
                    <a:pt x="12757" y="21069"/>
                    <a:pt x="12905" y="21097"/>
                  </a:cubicBezTo>
                  <a:cubicBezTo>
                    <a:pt x="13313" y="21175"/>
                    <a:pt x="14274" y="20835"/>
                    <a:pt x="14725" y="20439"/>
                  </a:cubicBezTo>
                  <a:cubicBezTo>
                    <a:pt x="14946" y="20246"/>
                    <a:pt x="15133" y="20144"/>
                    <a:pt x="15133" y="20220"/>
                  </a:cubicBezTo>
                  <a:cubicBezTo>
                    <a:pt x="15133" y="20647"/>
                    <a:pt x="16661" y="19694"/>
                    <a:pt x="17957" y="18464"/>
                  </a:cubicBezTo>
                  <a:cubicBezTo>
                    <a:pt x="19372" y="17123"/>
                    <a:pt x="19974" y="16311"/>
                    <a:pt x="20091" y="15612"/>
                  </a:cubicBezTo>
                  <a:cubicBezTo>
                    <a:pt x="20119" y="15443"/>
                    <a:pt x="20288" y="15131"/>
                    <a:pt x="20468" y="14922"/>
                  </a:cubicBezTo>
                  <a:cubicBezTo>
                    <a:pt x="20950" y="14359"/>
                    <a:pt x="21171" y="13722"/>
                    <a:pt x="21252" y="12571"/>
                  </a:cubicBezTo>
                  <a:cubicBezTo>
                    <a:pt x="21292" y="12004"/>
                    <a:pt x="21362" y="11193"/>
                    <a:pt x="21409" y="10753"/>
                  </a:cubicBezTo>
                  <a:cubicBezTo>
                    <a:pt x="21456" y="10312"/>
                    <a:pt x="21372" y="9812"/>
                    <a:pt x="21252" y="9655"/>
                  </a:cubicBezTo>
                  <a:cubicBezTo>
                    <a:pt x="21132" y="9499"/>
                    <a:pt x="21120" y="9169"/>
                    <a:pt x="21189" y="8903"/>
                  </a:cubicBezTo>
                  <a:cubicBezTo>
                    <a:pt x="21259" y="8637"/>
                    <a:pt x="21201" y="8139"/>
                    <a:pt x="21064" y="7806"/>
                  </a:cubicBezTo>
                  <a:cubicBezTo>
                    <a:pt x="20927" y="7473"/>
                    <a:pt x="20765" y="6992"/>
                    <a:pt x="20719" y="6740"/>
                  </a:cubicBezTo>
                  <a:cubicBezTo>
                    <a:pt x="20673" y="6488"/>
                    <a:pt x="20435" y="6015"/>
                    <a:pt x="20185" y="5674"/>
                  </a:cubicBezTo>
                  <a:cubicBezTo>
                    <a:pt x="19935" y="5333"/>
                    <a:pt x="19714" y="4912"/>
                    <a:pt x="19714" y="4765"/>
                  </a:cubicBezTo>
                  <a:cubicBezTo>
                    <a:pt x="19714" y="4493"/>
                    <a:pt x="17625" y="2359"/>
                    <a:pt x="16953" y="1944"/>
                  </a:cubicBezTo>
                  <a:cubicBezTo>
                    <a:pt x="16051" y="1386"/>
                    <a:pt x="14598" y="615"/>
                    <a:pt x="14255" y="533"/>
                  </a:cubicBezTo>
                  <a:cubicBezTo>
                    <a:pt x="14049" y="484"/>
                    <a:pt x="13410" y="360"/>
                    <a:pt x="12843" y="220"/>
                  </a:cubicBezTo>
                  <a:cubicBezTo>
                    <a:pt x="12290" y="83"/>
                    <a:pt x="11632" y="-5"/>
                    <a:pt x="10929" y="0"/>
                  </a:cubicBezTo>
                  <a:close/>
                </a:path>
              </a:pathLst>
            </a:custGeom>
            <a:ln w="12700" cap="flat">
              <a:noFill/>
              <a:miter lim="400000"/>
            </a:ln>
            <a:effectLst/>
          </p:spPr>
        </p:pic>
        <p:pic>
          <p:nvPicPr>
            <p:cNvPr id="310" name="pasted-movie.png" descr="pasted-movie.png"/>
            <p:cNvPicPr>
              <a:picLocks noChangeAspect="1"/>
            </p:cNvPicPr>
            <p:nvPr/>
          </p:nvPicPr>
          <p:blipFill>
            <a:blip r:embed="rId10">
              <a:alphaModFix amt="16565"/>
            </a:blip>
            <a:srcRect l="51928" t="54368" r="40724" b="34555"/>
            <a:stretch>
              <a:fillRect/>
            </a:stretch>
          </p:blipFill>
          <p:spPr>
            <a:xfrm>
              <a:off x="2867971" y="637059"/>
              <a:ext cx="270955" cy="272290"/>
            </a:xfrm>
            <a:custGeom>
              <a:avLst/>
              <a:gdLst/>
              <a:ahLst/>
              <a:cxnLst>
                <a:cxn ang="0">
                  <a:pos x="wd2" y="hd2"/>
                </a:cxn>
                <a:cxn ang="5400000">
                  <a:pos x="wd2" y="hd2"/>
                </a:cxn>
                <a:cxn ang="10800000">
                  <a:pos x="wd2" y="hd2"/>
                </a:cxn>
                <a:cxn ang="16200000">
                  <a:pos x="wd2" y="hd2"/>
                </a:cxn>
              </a:cxnLst>
              <a:rect l="0" t="0" r="r" b="b"/>
              <a:pathLst>
                <a:path w="21422" h="21507" extrusionOk="0">
                  <a:moveTo>
                    <a:pt x="10929" y="0"/>
                  </a:moveTo>
                  <a:cubicBezTo>
                    <a:pt x="8817" y="15"/>
                    <a:pt x="6321" y="631"/>
                    <a:pt x="5281" y="1505"/>
                  </a:cubicBezTo>
                  <a:cubicBezTo>
                    <a:pt x="4896" y="1828"/>
                    <a:pt x="4590" y="2023"/>
                    <a:pt x="4590" y="1944"/>
                  </a:cubicBezTo>
                  <a:cubicBezTo>
                    <a:pt x="4590" y="1645"/>
                    <a:pt x="1787" y="4568"/>
                    <a:pt x="1735" y="4922"/>
                  </a:cubicBezTo>
                  <a:cubicBezTo>
                    <a:pt x="1705" y="5125"/>
                    <a:pt x="1601" y="5370"/>
                    <a:pt x="1484" y="5455"/>
                  </a:cubicBezTo>
                  <a:cubicBezTo>
                    <a:pt x="1151" y="5694"/>
                    <a:pt x="541" y="6923"/>
                    <a:pt x="574" y="7304"/>
                  </a:cubicBezTo>
                  <a:cubicBezTo>
                    <a:pt x="590" y="7493"/>
                    <a:pt x="505" y="7803"/>
                    <a:pt x="386" y="7963"/>
                  </a:cubicBezTo>
                  <a:cubicBezTo>
                    <a:pt x="-144" y="8669"/>
                    <a:pt x="-123" y="12712"/>
                    <a:pt x="417" y="13605"/>
                  </a:cubicBezTo>
                  <a:cubicBezTo>
                    <a:pt x="493" y="13731"/>
                    <a:pt x="602" y="14038"/>
                    <a:pt x="637" y="14264"/>
                  </a:cubicBezTo>
                  <a:cubicBezTo>
                    <a:pt x="736" y="14900"/>
                    <a:pt x="1631" y="16564"/>
                    <a:pt x="1986" y="16771"/>
                  </a:cubicBezTo>
                  <a:cubicBezTo>
                    <a:pt x="2161" y="16874"/>
                    <a:pt x="2240" y="17042"/>
                    <a:pt x="2174" y="17148"/>
                  </a:cubicBezTo>
                  <a:cubicBezTo>
                    <a:pt x="1757" y="17822"/>
                    <a:pt x="7512" y="21525"/>
                    <a:pt x="8167" y="21003"/>
                  </a:cubicBezTo>
                  <a:cubicBezTo>
                    <a:pt x="8333" y="20872"/>
                    <a:pt x="8487" y="20891"/>
                    <a:pt x="8575" y="21035"/>
                  </a:cubicBezTo>
                  <a:cubicBezTo>
                    <a:pt x="8662" y="21174"/>
                    <a:pt x="9298" y="21211"/>
                    <a:pt x="10176" y="21129"/>
                  </a:cubicBezTo>
                  <a:cubicBezTo>
                    <a:pt x="11144" y="21039"/>
                    <a:pt x="11700" y="21081"/>
                    <a:pt x="11807" y="21254"/>
                  </a:cubicBezTo>
                  <a:cubicBezTo>
                    <a:pt x="12007" y="21577"/>
                    <a:pt x="12306" y="21595"/>
                    <a:pt x="12498" y="21286"/>
                  </a:cubicBezTo>
                  <a:cubicBezTo>
                    <a:pt x="12578" y="21156"/>
                    <a:pt x="12757" y="21069"/>
                    <a:pt x="12905" y="21097"/>
                  </a:cubicBezTo>
                  <a:cubicBezTo>
                    <a:pt x="13313" y="21175"/>
                    <a:pt x="14274" y="20835"/>
                    <a:pt x="14725" y="20439"/>
                  </a:cubicBezTo>
                  <a:cubicBezTo>
                    <a:pt x="14946" y="20246"/>
                    <a:pt x="15133" y="20144"/>
                    <a:pt x="15133" y="20220"/>
                  </a:cubicBezTo>
                  <a:cubicBezTo>
                    <a:pt x="15133" y="20647"/>
                    <a:pt x="16661" y="19694"/>
                    <a:pt x="17957" y="18464"/>
                  </a:cubicBezTo>
                  <a:cubicBezTo>
                    <a:pt x="19372" y="17123"/>
                    <a:pt x="19974" y="16311"/>
                    <a:pt x="20091" y="15612"/>
                  </a:cubicBezTo>
                  <a:cubicBezTo>
                    <a:pt x="20119" y="15443"/>
                    <a:pt x="20288" y="15131"/>
                    <a:pt x="20468" y="14922"/>
                  </a:cubicBezTo>
                  <a:cubicBezTo>
                    <a:pt x="20950" y="14359"/>
                    <a:pt x="21171" y="13722"/>
                    <a:pt x="21252" y="12571"/>
                  </a:cubicBezTo>
                  <a:cubicBezTo>
                    <a:pt x="21292" y="12004"/>
                    <a:pt x="21362" y="11193"/>
                    <a:pt x="21409" y="10753"/>
                  </a:cubicBezTo>
                  <a:cubicBezTo>
                    <a:pt x="21456" y="10312"/>
                    <a:pt x="21372" y="9812"/>
                    <a:pt x="21252" y="9655"/>
                  </a:cubicBezTo>
                  <a:cubicBezTo>
                    <a:pt x="21132" y="9499"/>
                    <a:pt x="21120" y="9169"/>
                    <a:pt x="21189" y="8903"/>
                  </a:cubicBezTo>
                  <a:cubicBezTo>
                    <a:pt x="21259" y="8637"/>
                    <a:pt x="21201" y="8139"/>
                    <a:pt x="21064" y="7806"/>
                  </a:cubicBezTo>
                  <a:cubicBezTo>
                    <a:pt x="20927" y="7473"/>
                    <a:pt x="20765" y="6992"/>
                    <a:pt x="20719" y="6740"/>
                  </a:cubicBezTo>
                  <a:cubicBezTo>
                    <a:pt x="20673" y="6488"/>
                    <a:pt x="20435" y="6015"/>
                    <a:pt x="20185" y="5674"/>
                  </a:cubicBezTo>
                  <a:cubicBezTo>
                    <a:pt x="19935" y="5333"/>
                    <a:pt x="19714" y="4912"/>
                    <a:pt x="19714" y="4765"/>
                  </a:cubicBezTo>
                  <a:cubicBezTo>
                    <a:pt x="19714" y="4493"/>
                    <a:pt x="17625" y="2359"/>
                    <a:pt x="16953" y="1944"/>
                  </a:cubicBezTo>
                  <a:cubicBezTo>
                    <a:pt x="16051" y="1386"/>
                    <a:pt x="14598" y="615"/>
                    <a:pt x="14255" y="533"/>
                  </a:cubicBezTo>
                  <a:cubicBezTo>
                    <a:pt x="14049" y="484"/>
                    <a:pt x="13410" y="360"/>
                    <a:pt x="12843" y="220"/>
                  </a:cubicBezTo>
                  <a:cubicBezTo>
                    <a:pt x="12290" y="83"/>
                    <a:pt x="11632" y="-5"/>
                    <a:pt x="10929" y="0"/>
                  </a:cubicBezTo>
                  <a:close/>
                </a:path>
              </a:pathLst>
            </a:custGeom>
            <a:ln w="12700" cap="flat">
              <a:noFill/>
              <a:miter lim="400000"/>
            </a:ln>
            <a:effectLst/>
          </p:spPr>
        </p:pic>
        <p:pic>
          <p:nvPicPr>
            <p:cNvPr id="311" name="pasted-movie.png" descr="pasted-movie.png"/>
            <p:cNvPicPr>
              <a:picLocks noChangeAspect="1"/>
            </p:cNvPicPr>
            <p:nvPr/>
          </p:nvPicPr>
          <p:blipFill>
            <a:blip r:embed="rId10">
              <a:alphaModFix amt="47617"/>
            </a:blip>
            <a:srcRect l="51928" t="54368" r="40724" b="34555"/>
            <a:stretch>
              <a:fillRect/>
            </a:stretch>
          </p:blipFill>
          <p:spPr>
            <a:xfrm>
              <a:off x="7158614" y="1213375"/>
              <a:ext cx="270955" cy="272289"/>
            </a:xfrm>
            <a:custGeom>
              <a:avLst/>
              <a:gdLst/>
              <a:ahLst/>
              <a:cxnLst>
                <a:cxn ang="0">
                  <a:pos x="wd2" y="hd2"/>
                </a:cxn>
                <a:cxn ang="5400000">
                  <a:pos x="wd2" y="hd2"/>
                </a:cxn>
                <a:cxn ang="10800000">
                  <a:pos x="wd2" y="hd2"/>
                </a:cxn>
                <a:cxn ang="16200000">
                  <a:pos x="wd2" y="hd2"/>
                </a:cxn>
              </a:cxnLst>
              <a:rect l="0" t="0" r="r" b="b"/>
              <a:pathLst>
                <a:path w="21422" h="21507" extrusionOk="0">
                  <a:moveTo>
                    <a:pt x="10929" y="0"/>
                  </a:moveTo>
                  <a:cubicBezTo>
                    <a:pt x="8817" y="15"/>
                    <a:pt x="6321" y="631"/>
                    <a:pt x="5281" y="1505"/>
                  </a:cubicBezTo>
                  <a:cubicBezTo>
                    <a:pt x="4896" y="1828"/>
                    <a:pt x="4590" y="2023"/>
                    <a:pt x="4590" y="1944"/>
                  </a:cubicBezTo>
                  <a:cubicBezTo>
                    <a:pt x="4590" y="1645"/>
                    <a:pt x="1787" y="4568"/>
                    <a:pt x="1735" y="4922"/>
                  </a:cubicBezTo>
                  <a:cubicBezTo>
                    <a:pt x="1705" y="5125"/>
                    <a:pt x="1601" y="5370"/>
                    <a:pt x="1484" y="5455"/>
                  </a:cubicBezTo>
                  <a:cubicBezTo>
                    <a:pt x="1151" y="5694"/>
                    <a:pt x="541" y="6923"/>
                    <a:pt x="574" y="7304"/>
                  </a:cubicBezTo>
                  <a:cubicBezTo>
                    <a:pt x="590" y="7493"/>
                    <a:pt x="505" y="7803"/>
                    <a:pt x="386" y="7963"/>
                  </a:cubicBezTo>
                  <a:cubicBezTo>
                    <a:pt x="-144" y="8669"/>
                    <a:pt x="-123" y="12712"/>
                    <a:pt x="417" y="13605"/>
                  </a:cubicBezTo>
                  <a:cubicBezTo>
                    <a:pt x="493" y="13731"/>
                    <a:pt x="602" y="14038"/>
                    <a:pt x="637" y="14264"/>
                  </a:cubicBezTo>
                  <a:cubicBezTo>
                    <a:pt x="736" y="14900"/>
                    <a:pt x="1631" y="16564"/>
                    <a:pt x="1986" y="16771"/>
                  </a:cubicBezTo>
                  <a:cubicBezTo>
                    <a:pt x="2161" y="16874"/>
                    <a:pt x="2240" y="17042"/>
                    <a:pt x="2174" y="17148"/>
                  </a:cubicBezTo>
                  <a:cubicBezTo>
                    <a:pt x="1757" y="17822"/>
                    <a:pt x="7512" y="21525"/>
                    <a:pt x="8167" y="21003"/>
                  </a:cubicBezTo>
                  <a:cubicBezTo>
                    <a:pt x="8333" y="20872"/>
                    <a:pt x="8487" y="20891"/>
                    <a:pt x="8575" y="21035"/>
                  </a:cubicBezTo>
                  <a:cubicBezTo>
                    <a:pt x="8662" y="21174"/>
                    <a:pt x="9298" y="21211"/>
                    <a:pt x="10176" y="21129"/>
                  </a:cubicBezTo>
                  <a:cubicBezTo>
                    <a:pt x="11144" y="21039"/>
                    <a:pt x="11700" y="21081"/>
                    <a:pt x="11807" y="21254"/>
                  </a:cubicBezTo>
                  <a:cubicBezTo>
                    <a:pt x="12007" y="21577"/>
                    <a:pt x="12306" y="21595"/>
                    <a:pt x="12498" y="21286"/>
                  </a:cubicBezTo>
                  <a:cubicBezTo>
                    <a:pt x="12578" y="21156"/>
                    <a:pt x="12757" y="21069"/>
                    <a:pt x="12905" y="21097"/>
                  </a:cubicBezTo>
                  <a:cubicBezTo>
                    <a:pt x="13313" y="21175"/>
                    <a:pt x="14274" y="20835"/>
                    <a:pt x="14725" y="20439"/>
                  </a:cubicBezTo>
                  <a:cubicBezTo>
                    <a:pt x="14946" y="20246"/>
                    <a:pt x="15133" y="20144"/>
                    <a:pt x="15133" y="20220"/>
                  </a:cubicBezTo>
                  <a:cubicBezTo>
                    <a:pt x="15133" y="20647"/>
                    <a:pt x="16661" y="19694"/>
                    <a:pt x="17957" y="18464"/>
                  </a:cubicBezTo>
                  <a:cubicBezTo>
                    <a:pt x="19372" y="17123"/>
                    <a:pt x="19974" y="16311"/>
                    <a:pt x="20091" y="15612"/>
                  </a:cubicBezTo>
                  <a:cubicBezTo>
                    <a:pt x="20119" y="15443"/>
                    <a:pt x="20288" y="15131"/>
                    <a:pt x="20468" y="14922"/>
                  </a:cubicBezTo>
                  <a:cubicBezTo>
                    <a:pt x="20950" y="14359"/>
                    <a:pt x="21171" y="13722"/>
                    <a:pt x="21252" y="12571"/>
                  </a:cubicBezTo>
                  <a:cubicBezTo>
                    <a:pt x="21292" y="12004"/>
                    <a:pt x="21362" y="11193"/>
                    <a:pt x="21409" y="10753"/>
                  </a:cubicBezTo>
                  <a:cubicBezTo>
                    <a:pt x="21456" y="10312"/>
                    <a:pt x="21372" y="9812"/>
                    <a:pt x="21252" y="9655"/>
                  </a:cubicBezTo>
                  <a:cubicBezTo>
                    <a:pt x="21132" y="9499"/>
                    <a:pt x="21120" y="9169"/>
                    <a:pt x="21189" y="8903"/>
                  </a:cubicBezTo>
                  <a:cubicBezTo>
                    <a:pt x="21259" y="8637"/>
                    <a:pt x="21201" y="8139"/>
                    <a:pt x="21064" y="7806"/>
                  </a:cubicBezTo>
                  <a:cubicBezTo>
                    <a:pt x="20927" y="7473"/>
                    <a:pt x="20765" y="6992"/>
                    <a:pt x="20719" y="6740"/>
                  </a:cubicBezTo>
                  <a:cubicBezTo>
                    <a:pt x="20673" y="6488"/>
                    <a:pt x="20435" y="6015"/>
                    <a:pt x="20185" y="5674"/>
                  </a:cubicBezTo>
                  <a:cubicBezTo>
                    <a:pt x="19935" y="5333"/>
                    <a:pt x="19714" y="4912"/>
                    <a:pt x="19714" y="4765"/>
                  </a:cubicBezTo>
                  <a:cubicBezTo>
                    <a:pt x="19714" y="4493"/>
                    <a:pt x="17625" y="2359"/>
                    <a:pt x="16953" y="1944"/>
                  </a:cubicBezTo>
                  <a:cubicBezTo>
                    <a:pt x="16051" y="1386"/>
                    <a:pt x="14598" y="615"/>
                    <a:pt x="14255" y="533"/>
                  </a:cubicBezTo>
                  <a:cubicBezTo>
                    <a:pt x="14049" y="484"/>
                    <a:pt x="13410" y="360"/>
                    <a:pt x="12843" y="220"/>
                  </a:cubicBezTo>
                  <a:cubicBezTo>
                    <a:pt x="12290" y="83"/>
                    <a:pt x="11632" y="-5"/>
                    <a:pt x="10929" y="0"/>
                  </a:cubicBezTo>
                  <a:close/>
                </a:path>
              </a:pathLst>
            </a:custGeom>
            <a:ln w="12700" cap="flat">
              <a:noFill/>
              <a:miter lim="400000"/>
            </a:ln>
            <a:effectLst/>
          </p:spPr>
        </p:pic>
        <p:pic>
          <p:nvPicPr>
            <p:cNvPr id="312" name="pasted-movie.png" descr="pasted-movie.png"/>
            <p:cNvPicPr>
              <a:picLocks noChangeAspect="1"/>
            </p:cNvPicPr>
            <p:nvPr/>
          </p:nvPicPr>
          <p:blipFill>
            <a:blip r:embed="rId10">
              <a:alphaModFix amt="24309"/>
            </a:blip>
            <a:srcRect l="51928" t="54368" r="40724" b="34555"/>
            <a:stretch>
              <a:fillRect/>
            </a:stretch>
          </p:blipFill>
          <p:spPr>
            <a:xfrm>
              <a:off x="7039692" y="890140"/>
              <a:ext cx="270954" cy="272290"/>
            </a:xfrm>
            <a:custGeom>
              <a:avLst/>
              <a:gdLst/>
              <a:ahLst/>
              <a:cxnLst>
                <a:cxn ang="0">
                  <a:pos x="wd2" y="hd2"/>
                </a:cxn>
                <a:cxn ang="5400000">
                  <a:pos x="wd2" y="hd2"/>
                </a:cxn>
                <a:cxn ang="10800000">
                  <a:pos x="wd2" y="hd2"/>
                </a:cxn>
                <a:cxn ang="16200000">
                  <a:pos x="wd2" y="hd2"/>
                </a:cxn>
              </a:cxnLst>
              <a:rect l="0" t="0" r="r" b="b"/>
              <a:pathLst>
                <a:path w="21422" h="21507" extrusionOk="0">
                  <a:moveTo>
                    <a:pt x="10929" y="0"/>
                  </a:moveTo>
                  <a:cubicBezTo>
                    <a:pt x="8817" y="15"/>
                    <a:pt x="6321" y="631"/>
                    <a:pt x="5281" y="1505"/>
                  </a:cubicBezTo>
                  <a:cubicBezTo>
                    <a:pt x="4896" y="1828"/>
                    <a:pt x="4590" y="2023"/>
                    <a:pt x="4590" y="1944"/>
                  </a:cubicBezTo>
                  <a:cubicBezTo>
                    <a:pt x="4590" y="1645"/>
                    <a:pt x="1787" y="4568"/>
                    <a:pt x="1735" y="4922"/>
                  </a:cubicBezTo>
                  <a:cubicBezTo>
                    <a:pt x="1705" y="5125"/>
                    <a:pt x="1601" y="5370"/>
                    <a:pt x="1484" y="5455"/>
                  </a:cubicBezTo>
                  <a:cubicBezTo>
                    <a:pt x="1151" y="5694"/>
                    <a:pt x="541" y="6923"/>
                    <a:pt x="574" y="7304"/>
                  </a:cubicBezTo>
                  <a:cubicBezTo>
                    <a:pt x="590" y="7493"/>
                    <a:pt x="505" y="7803"/>
                    <a:pt x="386" y="7963"/>
                  </a:cubicBezTo>
                  <a:cubicBezTo>
                    <a:pt x="-144" y="8669"/>
                    <a:pt x="-123" y="12712"/>
                    <a:pt x="417" y="13605"/>
                  </a:cubicBezTo>
                  <a:cubicBezTo>
                    <a:pt x="493" y="13731"/>
                    <a:pt x="602" y="14038"/>
                    <a:pt x="637" y="14264"/>
                  </a:cubicBezTo>
                  <a:cubicBezTo>
                    <a:pt x="736" y="14900"/>
                    <a:pt x="1631" y="16564"/>
                    <a:pt x="1986" y="16771"/>
                  </a:cubicBezTo>
                  <a:cubicBezTo>
                    <a:pt x="2161" y="16874"/>
                    <a:pt x="2240" y="17042"/>
                    <a:pt x="2174" y="17148"/>
                  </a:cubicBezTo>
                  <a:cubicBezTo>
                    <a:pt x="1757" y="17822"/>
                    <a:pt x="7512" y="21525"/>
                    <a:pt x="8167" y="21003"/>
                  </a:cubicBezTo>
                  <a:cubicBezTo>
                    <a:pt x="8333" y="20872"/>
                    <a:pt x="8487" y="20891"/>
                    <a:pt x="8575" y="21035"/>
                  </a:cubicBezTo>
                  <a:cubicBezTo>
                    <a:pt x="8662" y="21174"/>
                    <a:pt x="9298" y="21211"/>
                    <a:pt x="10176" y="21129"/>
                  </a:cubicBezTo>
                  <a:cubicBezTo>
                    <a:pt x="11144" y="21039"/>
                    <a:pt x="11700" y="21081"/>
                    <a:pt x="11807" y="21254"/>
                  </a:cubicBezTo>
                  <a:cubicBezTo>
                    <a:pt x="12007" y="21577"/>
                    <a:pt x="12306" y="21595"/>
                    <a:pt x="12498" y="21286"/>
                  </a:cubicBezTo>
                  <a:cubicBezTo>
                    <a:pt x="12578" y="21156"/>
                    <a:pt x="12757" y="21069"/>
                    <a:pt x="12905" y="21097"/>
                  </a:cubicBezTo>
                  <a:cubicBezTo>
                    <a:pt x="13313" y="21175"/>
                    <a:pt x="14274" y="20835"/>
                    <a:pt x="14725" y="20439"/>
                  </a:cubicBezTo>
                  <a:cubicBezTo>
                    <a:pt x="14946" y="20246"/>
                    <a:pt x="15133" y="20144"/>
                    <a:pt x="15133" y="20220"/>
                  </a:cubicBezTo>
                  <a:cubicBezTo>
                    <a:pt x="15133" y="20647"/>
                    <a:pt x="16661" y="19694"/>
                    <a:pt x="17957" y="18464"/>
                  </a:cubicBezTo>
                  <a:cubicBezTo>
                    <a:pt x="19372" y="17123"/>
                    <a:pt x="19974" y="16311"/>
                    <a:pt x="20091" y="15612"/>
                  </a:cubicBezTo>
                  <a:cubicBezTo>
                    <a:pt x="20119" y="15443"/>
                    <a:pt x="20288" y="15131"/>
                    <a:pt x="20468" y="14922"/>
                  </a:cubicBezTo>
                  <a:cubicBezTo>
                    <a:pt x="20950" y="14359"/>
                    <a:pt x="21171" y="13722"/>
                    <a:pt x="21252" y="12571"/>
                  </a:cubicBezTo>
                  <a:cubicBezTo>
                    <a:pt x="21292" y="12004"/>
                    <a:pt x="21362" y="11193"/>
                    <a:pt x="21409" y="10753"/>
                  </a:cubicBezTo>
                  <a:cubicBezTo>
                    <a:pt x="21456" y="10312"/>
                    <a:pt x="21372" y="9812"/>
                    <a:pt x="21252" y="9655"/>
                  </a:cubicBezTo>
                  <a:cubicBezTo>
                    <a:pt x="21132" y="9499"/>
                    <a:pt x="21120" y="9169"/>
                    <a:pt x="21189" y="8903"/>
                  </a:cubicBezTo>
                  <a:cubicBezTo>
                    <a:pt x="21259" y="8637"/>
                    <a:pt x="21201" y="8139"/>
                    <a:pt x="21064" y="7806"/>
                  </a:cubicBezTo>
                  <a:cubicBezTo>
                    <a:pt x="20927" y="7473"/>
                    <a:pt x="20765" y="6992"/>
                    <a:pt x="20719" y="6740"/>
                  </a:cubicBezTo>
                  <a:cubicBezTo>
                    <a:pt x="20673" y="6488"/>
                    <a:pt x="20435" y="6015"/>
                    <a:pt x="20185" y="5674"/>
                  </a:cubicBezTo>
                  <a:cubicBezTo>
                    <a:pt x="19935" y="5333"/>
                    <a:pt x="19714" y="4912"/>
                    <a:pt x="19714" y="4765"/>
                  </a:cubicBezTo>
                  <a:cubicBezTo>
                    <a:pt x="19714" y="4493"/>
                    <a:pt x="17625" y="2359"/>
                    <a:pt x="16953" y="1944"/>
                  </a:cubicBezTo>
                  <a:cubicBezTo>
                    <a:pt x="16051" y="1386"/>
                    <a:pt x="14598" y="615"/>
                    <a:pt x="14255" y="533"/>
                  </a:cubicBezTo>
                  <a:cubicBezTo>
                    <a:pt x="14049" y="484"/>
                    <a:pt x="13410" y="360"/>
                    <a:pt x="12843" y="220"/>
                  </a:cubicBezTo>
                  <a:cubicBezTo>
                    <a:pt x="12290" y="83"/>
                    <a:pt x="11632" y="-5"/>
                    <a:pt x="10929" y="0"/>
                  </a:cubicBezTo>
                  <a:close/>
                </a:path>
              </a:pathLst>
            </a:custGeom>
            <a:ln w="12700" cap="flat">
              <a:noFill/>
              <a:miter lim="400000"/>
            </a:ln>
            <a:effectLst/>
          </p:spPr>
        </p:pic>
        <p:pic>
          <p:nvPicPr>
            <p:cNvPr id="313" name="pasted-movie.png" descr="pasted-movie.png"/>
            <p:cNvPicPr>
              <a:picLocks noChangeAspect="1"/>
            </p:cNvPicPr>
            <p:nvPr/>
          </p:nvPicPr>
          <p:blipFill>
            <a:blip r:embed="rId10">
              <a:alphaModFix amt="24171"/>
            </a:blip>
            <a:srcRect l="51928" t="54368" r="40724" b="34555"/>
            <a:stretch>
              <a:fillRect/>
            </a:stretch>
          </p:blipFill>
          <p:spPr>
            <a:xfrm>
              <a:off x="6850227" y="664609"/>
              <a:ext cx="270955" cy="272290"/>
            </a:xfrm>
            <a:custGeom>
              <a:avLst/>
              <a:gdLst/>
              <a:ahLst/>
              <a:cxnLst>
                <a:cxn ang="0">
                  <a:pos x="wd2" y="hd2"/>
                </a:cxn>
                <a:cxn ang="5400000">
                  <a:pos x="wd2" y="hd2"/>
                </a:cxn>
                <a:cxn ang="10800000">
                  <a:pos x="wd2" y="hd2"/>
                </a:cxn>
                <a:cxn ang="16200000">
                  <a:pos x="wd2" y="hd2"/>
                </a:cxn>
              </a:cxnLst>
              <a:rect l="0" t="0" r="r" b="b"/>
              <a:pathLst>
                <a:path w="21422" h="21507" extrusionOk="0">
                  <a:moveTo>
                    <a:pt x="10929" y="0"/>
                  </a:moveTo>
                  <a:cubicBezTo>
                    <a:pt x="8817" y="15"/>
                    <a:pt x="6321" y="631"/>
                    <a:pt x="5281" y="1505"/>
                  </a:cubicBezTo>
                  <a:cubicBezTo>
                    <a:pt x="4896" y="1828"/>
                    <a:pt x="4590" y="2023"/>
                    <a:pt x="4590" y="1944"/>
                  </a:cubicBezTo>
                  <a:cubicBezTo>
                    <a:pt x="4590" y="1645"/>
                    <a:pt x="1787" y="4568"/>
                    <a:pt x="1735" y="4922"/>
                  </a:cubicBezTo>
                  <a:cubicBezTo>
                    <a:pt x="1705" y="5125"/>
                    <a:pt x="1601" y="5370"/>
                    <a:pt x="1484" y="5455"/>
                  </a:cubicBezTo>
                  <a:cubicBezTo>
                    <a:pt x="1151" y="5694"/>
                    <a:pt x="541" y="6923"/>
                    <a:pt x="574" y="7304"/>
                  </a:cubicBezTo>
                  <a:cubicBezTo>
                    <a:pt x="590" y="7493"/>
                    <a:pt x="505" y="7803"/>
                    <a:pt x="386" y="7963"/>
                  </a:cubicBezTo>
                  <a:cubicBezTo>
                    <a:pt x="-144" y="8669"/>
                    <a:pt x="-123" y="12712"/>
                    <a:pt x="417" y="13605"/>
                  </a:cubicBezTo>
                  <a:cubicBezTo>
                    <a:pt x="493" y="13731"/>
                    <a:pt x="602" y="14038"/>
                    <a:pt x="637" y="14264"/>
                  </a:cubicBezTo>
                  <a:cubicBezTo>
                    <a:pt x="736" y="14900"/>
                    <a:pt x="1631" y="16564"/>
                    <a:pt x="1986" y="16771"/>
                  </a:cubicBezTo>
                  <a:cubicBezTo>
                    <a:pt x="2161" y="16874"/>
                    <a:pt x="2240" y="17042"/>
                    <a:pt x="2174" y="17148"/>
                  </a:cubicBezTo>
                  <a:cubicBezTo>
                    <a:pt x="1757" y="17822"/>
                    <a:pt x="7512" y="21525"/>
                    <a:pt x="8167" y="21003"/>
                  </a:cubicBezTo>
                  <a:cubicBezTo>
                    <a:pt x="8333" y="20872"/>
                    <a:pt x="8487" y="20891"/>
                    <a:pt x="8575" y="21035"/>
                  </a:cubicBezTo>
                  <a:cubicBezTo>
                    <a:pt x="8662" y="21174"/>
                    <a:pt x="9298" y="21211"/>
                    <a:pt x="10176" y="21129"/>
                  </a:cubicBezTo>
                  <a:cubicBezTo>
                    <a:pt x="11144" y="21039"/>
                    <a:pt x="11700" y="21081"/>
                    <a:pt x="11807" y="21254"/>
                  </a:cubicBezTo>
                  <a:cubicBezTo>
                    <a:pt x="12007" y="21577"/>
                    <a:pt x="12306" y="21595"/>
                    <a:pt x="12498" y="21286"/>
                  </a:cubicBezTo>
                  <a:cubicBezTo>
                    <a:pt x="12578" y="21156"/>
                    <a:pt x="12757" y="21069"/>
                    <a:pt x="12905" y="21097"/>
                  </a:cubicBezTo>
                  <a:cubicBezTo>
                    <a:pt x="13313" y="21175"/>
                    <a:pt x="14274" y="20835"/>
                    <a:pt x="14725" y="20439"/>
                  </a:cubicBezTo>
                  <a:cubicBezTo>
                    <a:pt x="14946" y="20246"/>
                    <a:pt x="15133" y="20144"/>
                    <a:pt x="15133" y="20220"/>
                  </a:cubicBezTo>
                  <a:cubicBezTo>
                    <a:pt x="15133" y="20647"/>
                    <a:pt x="16661" y="19694"/>
                    <a:pt x="17957" y="18464"/>
                  </a:cubicBezTo>
                  <a:cubicBezTo>
                    <a:pt x="19372" y="17123"/>
                    <a:pt x="19974" y="16311"/>
                    <a:pt x="20091" y="15612"/>
                  </a:cubicBezTo>
                  <a:cubicBezTo>
                    <a:pt x="20119" y="15443"/>
                    <a:pt x="20288" y="15131"/>
                    <a:pt x="20468" y="14922"/>
                  </a:cubicBezTo>
                  <a:cubicBezTo>
                    <a:pt x="20950" y="14359"/>
                    <a:pt x="21171" y="13722"/>
                    <a:pt x="21252" y="12571"/>
                  </a:cubicBezTo>
                  <a:cubicBezTo>
                    <a:pt x="21292" y="12004"/>
                    <a:pt x="21362" y="11193"/>
                    <a:pt x="21409" y="10753"/>
                  </a:cubicBezTo>
                  <a:cubicBezTo>
                    <a:pt x="21456" y="10312"/>
                    <a:pt x="21372" y="9812"/>
                    <a:pt x="21252" y="9655"/>
                  </a:cubicBezTo>
                  <a:cubicBezTo>
                    <a:pt x="21132" y="9499"/>
                    <a:pt x="21120" y="9169"/>
                    <a:pt x="21189" y="8903"/>
                  </a:cubicBezTo>
                  <a:cubicBezTo>
                    <a:pt x="21259" y="8637"/>
                    <a:pt x="21201" y="8139"/>
                    <a:pt x="21064" y="7806"/>
                  </a:cubicBezTo>
                  <a:cubicBezTo>
                    <a:pt x="20927" y="7473"/>
                    <a:pt x="20765" y="6992"/>
                    <a:pt x="20719" y="6740"/>
                  </a:cubicBezTo>
                  <a:cubicBezTo>
                    <a:pt x="20673" y="6488"/>
                    <a:pt x="20435" y="6015"/>
                    <a:pt x="20185" y="5674"/>
                  </a:cubicBezTo>
                  <a:cubicBezTo>
                    <a:pt x="19935" y="5333"/>
                    <a:pt x="19714" y="4912"/>
                    <a:pt x="19714" y="4765"/>
                  </a:cubicBezTo>
                  <a:cubicBezTo>
                    <a:pt x="19714" y="4493"/>
                    <a:pt x="17625" y="2359"/>
                    <a:pt x="16953" y="1944"/>
                  </a:cubicBezTo>
                  <a:cubicBezTo>
                    <a:pt x="16051" y="1386"/>
                    <a:pt x="14598" y="615"/>
                    <a:pt x="14255" y="533"/>
                  </a:cubicBezTo>
                  <a:cubicBezTo>
                    <a:pt x="14049" y="484"/>
                    <a:pt x="13410" y="360"/>
                    <a:pt x="12843" y="220"/>
                  </a:cubicBezTo>
                  <a:cubicBezTo>
                    <a:pt x="12290" y="83"/>
                    <a:pt x="11632" y="-5"/>
                    <a:pt x="10929" y="0"/>
                  </a:cubicBezTo>
                  <a:close/>
                </a:path>
              </a:pathLst>
            </a:custGeom>
            <a:ln w="12700" cap="flat">
              <a:noFill/>
              <a:miter lim="400000"/>
            </a:ln>
            <a:effectLst/>
          </p:spPr>
        </p:pic>
        <p:pic>
          <p:nvPicPr>
            <p:cNvPr id="314" name="pasted-movie.png" descr="pasted-movie.png"/>
            <p:cNvPicPr>
              <a:picLocks noChangeAspect="1"/>
            </p:cNvPicPr>
            <p:nvPr/>
          </p:nvPicPr>
          <p:blipFill>
            <a:blip r:embed="rId10">
              <a:alphaModFix amt="16565"/>
            </a:blip>
            <a:srcRect l="51928" t="54368" r="40724" b="34555"/>
            <a:stretch>
              <a:fillRect/>
            </a:stretch>
          </p:blipFill>
          <p:spPr>
            <a:xfrm>
              <a:off x="6651371" y="543470"/>
              <a:ext cx="270955" cy="272289"/>
            </a:xfrm>
            <a:custGeom>
              <a:avLst/>
              <a:gdLst/>
              <a:ahLst/>
              <a:cxnLst>
                <a:cxn ang="0">
                  <a:pos x="wd2" y="hd2"/>
                </a:cxn>
                <a:cxn ang="5400000">
                  <a:pos x="wd2" y="hd2"/>
                </a:cxn>
                <a:cxn ang="10800000">
                  <a:pos x="wd2" y="hd2"/>
                </a:cxn>
                <a:cxn ang="16200000">
                  <a:pos x="wd2" y="hd2"/>
                </a:cxn>
              </a:cxnLst>
              <a:rect l="0" t="0" r="r" b="b"/>
              <a:pathLst>
                <a:path w="21422" h="21507" extrusionOk="0">
                  <a:moveTo>
                    <a:pt x="10929" y="0"/>
                  </a:moveTo>
                  <a:cubicBezTo>
                    <a:pt x="8817" y="15"/>
                    <a:pt x="6321" y="631"/>
                    <a:pt x="5281" y="1505"/>
                  </a:cubicBezTo>
                  <a:cubicBezTo>
                    <a:pt x="4896" y="1828"/>
                    <a:pt x="4590" y="2023"/>
                    <a:pt x="4590" y="1944"/>
                  </a:cubicBezTo>
                  <a:cubicBezTo>
                    <a:pt x="4590" y="1645"/>
                    <a:pt x="1787" y="4568"/>
                    <a:pt x="1735" y="4922"/>
                  </a:cubicBezTo>
                  <a:cubicBezTo>
                    <a:pt x="1705" y="5125"/>
                    <a:pt x="1601" y="5370"/>
                    <a:pt x="1484" y="5455"/>
                  </a:cubicBezTo>
                  <a:cubicBezTo>
                    <a:pt x="1151" y="5694"/>
                    <a:pt x="541" y="6923"/>
                    <a:pt x="574" y="7304"/>
                  </a:cubicBezTo>
                  <a:cubicBezTo>
                    <a:pt x="590" y="7493"/>
                    <a:pt x="505" y="7803"/>
                    <a:pt x="386" y="7963"/>
                  </a:cubicBezTo>
                  <a:cubicBezTo>
                    <a:pt x="-144" y="8669"/>
                    <a:pt x="-123" y="12712"/>
                    <a:pt x="417" y="13605"/>
                  </a:cubicBezTo>
                  <a:cubicBezTo>
                    <a:pt x="493" y="13731"/>
                    <a:pt x="602" y="14038"/>
                    <a:pt x="637" y="14264"/>
                  </a:cubicBezTo>
                  <a:cubicBezTo>
                    <a:pt x="736" y="14900"/>
                    <a:pt x="1631" y="16564"/>
                    <a:pt x="1986" y="16771"/>
                  </a:cubicBezTo>
                  <a:cubicBezTo>
                    <a:pt x="2161" y="16874"/>
                    <a:pt x="2240" y="17042"/>
                    <a:pt x="2174" y="17148"/>
                  </a:cubicBezTo>
                  <a:cubicBezTo>
                    <a:pt x="1757" y="17822"/>
                    <a:pt x="7512" y="21525"/>
                    <a:pt x="8167" y="21003"/>
                  </a:cubicBezTo>
                  <a:cubicBezTo>
                    <a:pt x="8333" y="20872"/>
                    <a:pt x="8487" y="20891"/>
                    <a:pt x="8575" y="21035"/>
                  </a:cubicBezTo>
                  <a:cubicBezTo>
                    <a:pt x="8662" y="21174"/>
                    <a:pt x="9298" y="21211"/>
                    <a:pt x="10176" y="21129"/>
                  </a:cubicBezTo>
                  <a:cubicBezTo>
                    <a:pt x="11144" y="21039"/>
                    <a:pt x="11700" y="21081"/>
                    <a:pt x="11807" y="21254"/>
                  </a:cubicBezTo>
                  <a:cubicBezTo>
                    <a:pt x="12007" y="21577"/>
                    <a:pt x="12306" y="21595"/>
                    <a:pt x="12498" y="21286"/>
                  </a:cubicBezTo>
                  <a:cubicBezTo>
                    <a:pt x="12578" y="21156"/>
                    <a:pt x="12757" y="21069"/>
                    <a:pt x="12905" y="21097"/>
                  </a:cubicBezTo>
                  <a:cubicBezTo>
                    <a:pt x="13313" y="21175"/>
                    <a:pt x="14274" y="20835"/>
                    <a:pt x="14725" y="20439"/>
                  </a:cubicBezTo>
                  <a:cubicBezTo>
                    <a:pt x="14946" y="20246"/>
                    <a:pt x="15133" y="20144"/>
                    <a:pt x="15133" y="20220"/>
                  </a:cubicBezTo>
                  <a:cubicBezTo>
                    <a:pt x="15133" y="20647"/>
                    <a:pt x="16661" y="19694"/>
                    <a:pt x="17957" y="18464"/>
                  </a:cubicBezTo>
                  <a:cubicBezTo>
                    <a:pt x="19372" y="17123"/>
                    <a:pt x="19974" y="16311"/>
                    <a:pt x="20091" y="15612"/>
                  </a:cubicBezTo>
                  <a:cubicBezTo>
                    <a:pt x="20119" y="15443"/>
                    <a:pt x="20288" y="15131"/>
                    <a:pt x="20468" y="14922"/>
                  </a:cubicBezTo>
                  <a:cubicBezTo>
                    <a:pt x="20950" y="14359"/>
                    <a:pt x="21171" y="13722"/>
                    <a:pt x="21252" y="12571"/>
                  </a:cubicBezTo>
                  <a:cubicBezTo>
                    <a:pt x="21292" y="12004"/>
                    <a:pt x="21362" y="11193"/>
                    <a:pt x="21409" y="10753"/>
                  </a:cubicBezTo>
                  <a:cubicBezTo>
                    <a:pt x="21456" y="10312"/>
                    <a:pt x="21372" y="9812"/>
                    <a:pt x="21252" y="9655"/>
                  </a:cubicBezTo>
                  <a:cubicBezTo>
                    <a:pt x="21132" y="9499"/>
                    <a:pt x="21120" y="9169"/>
                    <a:pt x="21189" y="8903"/>
                  </a:cubicBezTo>
                  <a:cubicBezTo>
                    <a:pt x="21259" y="8637"/>
                    <a:pt x="21201" y="8139"/>
                    <a:pt x="21064" y="7806"/>
                  </a:cubicBezTo>
                  <a:cubicBezTo>
                    <a:pt x="20927" y="7473"/>
                    <a:pt x="20765" y="6992"/>
                    <a:pt x="20719" y="6740"/>
                  </a:cubicBezTo>
                  <a:cubicBezTo>
                    <a:pt x="20673" y="6488"/>
                    <a:pt x="20435" y="6015"/>
                    <a:pt x="20185" y="5674"/>
                  </a:cubicBezTo>
                  <a:cubicBezTo>
                    <a:pt x="19935" y="5333"/>
                    <a:pt x="19714" y="4912"/>
                    <a:pt x="19714" y="4765"/>
                  </a:cubicBezTo>
                  <a:cubicBezTo>
                    <a:pt x="19714" y="4493"/>
                    <a:pt x="17625" y="2359"/>
                    <a:pt x="16953" y="1944"/>
                  </a:cubicBezTo>
                  <a:cubicBezTo>
                    <a:pt x="16051" y="1386"/>
                    <a:pt x="14598" y="615"/>
                    <a:pt x="14255" y="533"/>
                  </a:cubicBezTo>
                  <a:cubicBezTo>
                    <a:pt x="14049" y="484"/>
                    <a:pt x="13410" y="360"/>
                    <a:pt x="12843" y="220"/>
                  </a:cubicBezTo>
                  <a:cubicBezTo>
                    <a:pt x="12290" y="83"/>
                    <a:pt x="11632" y="-5"/>
                    <a:pt x="10929" y="0"/>
                  </a:cubicBezTo>
                  <a:close/>
                </a:path>
              </a:pathLst>
            </a:custGeom>
            <a:ln w="12700" cap="flat">
              <a:noFill/>
              <a:miter lim="400000"/>
            </a:ln>
            <a:effectLst/>
          </p:spPr>
        </p:pic>
        <p:grpSp>
          <p:nvGrpSpPr>
            <p:cNvPr id="317" name="Group"/>
            <p:cNvGrpSpPr/>
            <p:nvPr/>
          </p:nvGrpSpPr>
          <p:grpSpPr>
            <a:xfrm>
              <a:off x="8461464" y="1259079"/>
              <a:ext cx="1612192" cy="789311"/>
              <a:chOff x="0" y="0"/>
              <a:chExt cx="1612190" cy="789309"/>
            </a:xfrm>
          </p:grpSpPr>
          <p:pic>
            <p:nvPicPr>
              <p:cNvPr id="315" name="Image" descr="Image"/>
              <p:cNvPicPr>
                <a:picLocks noChangeAspect="1"/>
              </p:cNvPicPr>
              <p:nvPr/>
            </p:nvPicPr>
            <p:blipFill>
              <a:blip r:embed="rId11"/>
              <a:stretch>
                <a:fillRect/>
              </a:stretch>
            </p:blipFill>
            <p:spPr>
              <a:xfrm>
                <a:off x="4319" y="0"/>
                <a:ext cx="1361192" cy="357192"/>
              </a:xfrm>
              <a:prstGeom prst="rect">
                <a:avLst/>
              </a:prstGeom>
              <a:ln w="12700" cap="flat">
                <a:noFill/>
                <a:miter lim="400000"/>
              </a:ln>
              <a:effectLst/>
            </p:spPr>
          </p:pic>
          <p:pic>
            <p:nvPicPr>
              <p:cNvPr id="316" name="Image" descr="Image"/>
              <p:cNvPicPr>
                <a:picLocks noChangeAspect="1"/>
              </p:cNvPicPr>
              <p:nvPr/>
            </p:nvPicPr>
            <p:blipFill>
              <a:blip r:embed="rId12"/>
              <a:srcRect/>
              <a:stretch>
                <a:fillRect/>
              </a:stretch>
            </p:blipFill>
            <p:spPr>
              <a:xfrm>
                <a:off x="0" y="403156"/>
                <a:ext cx="1612191" cy="386154"/>
              </a:xfrm>
              <a:prstGeom prst="rect">
                <a:avLst/>
              </a:prstGeom>
              <a:ln w="12700" cap="flat">
                <a:noFill/>
                <a:miter lim="400000"/>
              </a:ln>
              <a:effectLst/>
            </p:spPr>
          </p:pic>
        </p:grpSp>
        <p:sp>
          <p:nvSpPr>
            <p:cNvPr id="318" name="(dynamics)"/>
            <p:cNvSpPr txBox="1"/>
            <p:nvPr/>
          </p:nvSpPr>
          <p:spPr>
            <a:xfrm>
              <a:off x="7964655" y="-1"/>
              <a:ext cx="1606621" cy="70332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ctr" defTabSz="355600">
                <a:lnSpc>
                  <a:spcPct val="70000"/>
                </a:lnSpc>
                <a:spcBef>
                  <a:spcPts val="4700"/>
                </a:spcBef>
                <a:defRPr sz="2200">
                  <a:solidFill>
                    <a:srgbClr val="8B5C5D"/>
                  </a:solidFill>
                  <a:latin typeface="Graphik-Medium"/>
                  <a:ea typeface="Graphik-Medium"/>
                  <a:cs typeface="Graphik-Medium"/>
                  <a:sym typeface="Graphik Medium"/>
                </a:defRPr>
              </a:lvl1pPr>
            </a:lstStyle>
            <a:p>
              <a:r>
                <a:t>(dynamics)</a:t>
              </a:r>
            </a:p>
          </p:txBody>
        </p:sp>
        <p:sp>
          <p:nvSpPr>
            <p:cNvPr id="319" name="Rounded Rectangle"/>
            <p:cNvSpPr/>
            <p:nvPr/>
          </p:nvSpPr>
          <p:spPr>
            <a:xfrm>
              <a:off x="4422008" y="1257081"/>
              <a:ext cx="1361983" cy="569775"/>
            </a:xfrm>
            <a:prstGeom prst="roundRect">
              <a:avLst>
                <a:gd name="adj" fmla="val 23708"/>
              </a:avLst>
            </a:prstGeom>
            <a:solidFill>
              <a:srgbClr val="F0BE5E"/>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53585F"/>
                  </a:solidFill>
                  <a:latin typeface="Graphik-Light"/>
                  <a:ea typeface="Graphik-Light"/>
                  <a:cs typeface="Graphik-Light"/>
                  <a:sym typeface="Graphik Light"/>
                </a:defRPr>
              </a:pPr>
              <a:endParaRPr/>
            </a:p>
          </p:txBody>
        </p:sp>
        <p:sp>
          <p:nvSpPr>
            <p:cNvPr id="320" name="constraint enforcement"/>
            <p:cNvSpPr txBox="1"/>
            <p:nvPr/>
          </p:nvSpPr>
          <p:spPr>
            <a:xfrm>
              <a:off x="4469262" y="1251175"/>
              <a:ext cx="1267478" cy="55131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algn="ctr" defTabSz="355600">
                <a:lnSpc>
                  <a:spcPct val="80000"/>
                </a:lnSpc>
                <a:spcBef>
                  <a:spcPts val="4700"/>
                </a:spcBef>
                <a:defRPr sz="1800">
                  <a:latin typeface="Graphik"/>
                  <a:ea typeface="Graphik"/>
                  <a:cs typeface="Graphik"/>
                  <a:sym typeface="Graphik"/>
                </a:defRPr>
              </a:pPr>
              <a:r>
                <a:t>constraint</a:t>
              </a:r>
              <a:br/>
              <a:r>
                <a:t>enforcement</a:t>
              </a:r>
            </a:p>
          </p:txBody>
        </p:sp>
      </p:grpSp>
      <p:sp>
        <p:nvSpPr>
          <p:cNvPr id="322" name="Generative Models"/>
          <p:cNvSpPr txBox="1"/>
          <p:nvPr/>
        </p:nvSpPr>
        <p:spPr>
          <a:xfrm>
            <a:off x="-10724513" y="12255466"/>
            <a:ext cx="4095527" cy="711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ctr">
              <a:lnSpc>
                <a:spcPct val="100000"/>
              </a:lnSpc>
              <a:spcBef>
                <a:spcPts val="0"/>
              </a:spcBef>
              <a:defRPr sz="4200">
                <a:solidFill>
                  <a:schemeClr val="accent5">
                    <a:lumOff val="-29866"/>
                  </a:schemeClr>
                </a:solidFill>
              </a:defRPr>
            </a:lvl1pPr>
          </a:lstStyle>
          <a:p>
            <a:r>
              <a:t>Generative Models</a:t>
            </a:r>
          </a:p>
        </p:txBody>
      </p:sp>
      <p:sp>
        <p:nvSpPr>
          <p:cNvPr id="323" name="Safety in agentic systems"/>
          <p:cNvSpPr txBox="1"/>
          <p:nvPr/>
        </p:nvSpPr>
        <p:spPr>
          <a:xfrm>
            <a:off x="15597993" y="8736996"/>
            <a:ext cx="5786885" cy="749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ctr">
              <a:lnSpc>
                <a:spcPct val="100000"/>
              </a:lnSpc>
              <a:spcBef>
                <a:spcPts val="0"/>
              </a:spcBef>
              <a:defRPr sz="4500">
                <a:solidFill>
                  <a:schemeClr val="accent1">
                    <a:hueOff val="114395"/>
                    <a:lumOff val="-24975"/>
                  </a:schemeClr>
                </a:solidFill>
                <a:latin typeface="Gill Sans"/>
                <a:ea typeface="Gill Sans"/>
                <a:cs typeface="Gill Sans"/>
                <a:sym typeface="Gill Sans"/>
              </a:defRPr>
            </a:lvl1pPr>
          </a:lstStyle>
          <a:p>
            <a:r>
              <a:t>Safety in agentic systems</a:t>
            </a:r>
          </a:p>
        </p:txBody>
      </p:sp>
      <p:sp>
        <p:nvSpPr>
          <p:cNvPr id="324" name="Group"/>
          <p:cNvSpPr/>
          <p:nvPr/>
        </p:nvSpPr>
        <p:spPr>
          <a:xfrm>
            <a:off x="22048269" y="6735072"/>
            <a:ext cx="1270001" cy="1270001"/>
          </a:xfrm>
          <a:prstGeom prst="line">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ctr">
              <a:defRPr sz="3100"/>
            </a:pPr>
            <a:r>
              <a:t>New DP book </a:t>
            </a:r>
            <a:br/>
            <a:r>
              <a:t>[now publisher 2025]</a:t>
            </a:r>
          </a:p>
        </p:txBody>
      </p:sp>
      <p:grpSp>
        <p:nvGrpSpPr>
          <p:cNvPr id="327" name="Group"/>
          <p:cNvGrpSpPr/>
          <p:nvPr/>
        </p:nvGrpSpPr>
        <p:grpSpPr>
          <a:xfrm>
            <a:off x="25351111" y="9002499"/>
            <a:ext cx="3721940" cy="1145164"/>
            <a:chOff x="-4" y="17"/>
            <a:chExt cx="3721938" cy="1145162"/>
          </a:xfrm>
        </p:grpSpPr>
        <p:pic>
          <p:nvPicPr>
            <p:cNvPr id="325" name="award.jpg" descr="award.jpg"/>
            <p:cNvPicPr>
              <a:picLocks noChangeAspect="1"/>
            </p:cNvPicPr>
            <p:nvPr/>
          </p:nvPicPr>
          <p:blipFill>
            <a:blip r:embed="rId13"/>
            <a:srcRect l="8016" t="7275" r="7710" b="11185"/>
            <a:stretch>
              <a:fillRect/>
            </a:stretch>
          </p:blipFill>
          <p:spPr>
            <a:xfrm>
              <a:off x="-5" y="17"/>
              <a:ext cx="744080" cy="1006907"/>
            </a:xfrm>
            <a:custGeom>
              <a:avLst/>
              <a:gdLst/>
              <a:ahLst/>
              <a:cxnLst>
                <a:cxn ang="0">
                  <a:pos x="wd2" y="hd2"/>
                </a:cxn>
                <a:cxn ang="5400000">
                  <a:pos x="wd2" y="hd2"/>
                </a:cxn>
                <a:cxn ang="10800000">
                  <a:pos x="wd2" y="hd2"/>
                </a:cxn>
                <a:cxn ang="16200000">
                  <a:pos x="wd2" y="hd2"/>
                </a:cxn>
              </a:cxnLst>
              <a:rect l="0" t="0" r="r" b="b"/>
              <a:pathLst>
                <a:path w="21586" h="21584" extrusionOk="0">
                  <a:moveTo>
                    <a:pt x="10132" y="8"/>
                  </a:moveTo>
                  <a:cubicBezTo>
                    <a:pt x="10059" y="29"/>
                    <a:pt x="9989" y="86"/>
                    <a:pt x="9936" y="178"/>
                  </a:cubicBezTo>
                  <a:cubicBezTo>
                    <a:pt x="9912" y="222"/>
                    <a:pt x="9871" y="272"/>
                    <a:pt x="9844" y="289"/>
                  </a:cubicBezTo>
                  <a:cubicBezTo>
                    <a:pt x="9817" y="305"/>
                    <a:pt x="9764" y="366"/>
                    <a:pt x="9729" y="416"/>
                  </a:cubicBezTo>
                  <a:cubicBezTo>
                    <a:pt x="9695" y="467"/>
                    <a:pt x="9606" y="568"/>
                    <a:pt x="9533" y="646"/>
                  </a:cubicBezTo>
                  <a:cubicBezTo>
                    <a:pt x="9461" y="725"/>
                    <a:pt x="9409" y="797"/>
                    <a:pt x="9407" y="808"/>
                  </a:cubicBezTo>
                  <a:cubicBezTo>
                    <a:pt x="9405" y="819"/>
                    <a:pt x="9397" y="833"/>
                    <a:pt x="9395" y="842"/>
                  </a:cubicBezTo>
                  <a:cubicBezTo>
                    <a:pt x="9393" y="851"/>
                    <a:pt x="9364" y="897"/>
                    <a:pt x="9326" y="935"/>
                  </a:cubicBezTo>
                  <a:cubicBezTo>
                    <a:pt x="9289" y="974"/>
                    <a:pt x="9257" y="1015"/>
                    <a:pt x="9257" y="1029"/>
                  </a:cubicBezTo>
                  <a:cubicBezTo>
                    <a:pt x="9257" y="1043"/>
                    <a:pt x="9199" y="1114"/>
                    <a:pt x="9130" y="1182"/>
                  </a:cubicBezTo>
                  <a:cubicBezTo>
                    <a:pt x="9062" y="1251"/>
                    <a:pt x="9007" y="1312"/>
                    <a:pt x="9004" y="1327"/>
                  </a:cubicBezTo>
                  <a:cubicBezTo>
                    <a:pt x="8997" y="1363"/>
                    <a:pt x="8849" y="1537"/>
                    <a:pt x="8670" y="1718"/>
                  </a:cubicBezTo>
                  <a:cubicBezTo>
                    <a:pt x="8589" y="1800"/>
                    <a:pt x="8486" y="1907"/>
                    <a:pt x="8451" y="1956"/>
                  </a:cubicBezTo>
                  <a:cubicBezTo>
                    <a:pt x="8417" y="2006"/>
                    <a:pt x="8310" y="2142"/>
                    <a:pt x="8209" y="2254"/>
                  </a:cubicBezTo>
                  <a:cubicBezTo>
                    <a:pt x="7905" y="2594"/>
                    <a:pt x="7697" y="2844"/>
                    <a:pt x="7588" y="3011"/>
                  </a:cubicBezTo>
                  <a:cubicBezTo>
                    <a:pt x="7555" y="3061"/>
                    <a:pt x="7486" y="3143"/>
                    <a:pt x="7427" y="3198"/>
                  </a:cubicBezTo>
                  <a:cubicBezTo>
                    <a:pt x="7367" y="3254"/>
                    <a:pt x="7312" y="3318"/>
                    <a:pt x="7311" y="3335"/>
                  </a:cubicBezTo>
                  <a:cubicBezTo>
                    <a:pt x="7311" y="3351"/>
                    <a:pt x="7284" y="3396"/>
                    <a:pt x="7242" y="3437"/>
                  </a:cubicBezTo>
                  <a:cubicBezTo>
                    <a:pt x="7201" y="3477"/>
                    <a:pt x="7162" y="3524"/>
                    <a:pt x="7162" y="3539"/>
                  </a:cubicBezTo>
                  <a:cubicBezTo>
                    <a:pt x="7162" y="3554"/>
                    <a:pt x="7108" y="3624"/>
                    <a:pt x="7035" y="3700"/>
                  </a:cubicBezTo>
                  <a:cubicBezTo>
                    <a:pt x="6962" y="3776"/>
                    <a:pt x="6883" y="3875"/>
                    <a:pt x="6862" y="3922"/>
                  </a:cubicBezTo>
                  <a:cubicBezTo>
                    <a:pt x="6842" y="3968"/>
                    <a:pt x="6797" y="4041"/>
                    <a:pt x="6759" y="4075"/>
                  </a:cubicBezTo>
                  <a:cubicBezTo>
                    <a:pt x="6720" y="4109"/>
                    <a:pt x="6648" y="4181"/>
                    <a:pt x="6609" y="4236"/>
                  </a:cubicBezTo>
                  <a:cubicBezTo>
                    <a:pt x="6570" y="4291"/>
                    <a:pt x="6474" y="4407"/>
                    <a:pt x="6390" y="4500"/>
                  </a:cubicBezTo>
                  <a:cubicBezTo>
                    <a:pt x="6306" y="4593"/>
                    <a:pt x="6195" y="4727"/>
                    <a:pt x="6137" y="4798"/>
                  </a:cubicBezTo>
                  <a:cubicBezTo>
                    <a:pt x="6079" y="4869"/>
                    <a:pt x="5941" y="5021"/>
                    <a:pt x="5838" y="5138"/>
                  </a:cubicBezTo>
                  <a:cubicBezTo>
                    <a:pt x="5734" y="5255"/>
                    <a:pt x="5642" y="5375"/>
                    <a:pt x="5630" y="5402"/>
                  </a:cubicBezTo>
                  <a:cubicBezTo>
                    <a:pt x="5619" y="5429"/>
                    <a:pt x="5579" y="5482"/>
                    <a:pt x="5538" y="5521"/>
                  </a:cubicBezTo>
                  <a:cubicBezTo>
                    <a:pt x="5498" y="5560"/>
                    <a:pt x="5462" y="5607"/>
                    <a:pt x="5458" y="5623"/>
                  </a:cubicBezTo>
                  <a:cubicBezTo>
                    <a:pt x="5454" y="5639"/>
                    <a:pt x="5413" y="5691"/>
                    <a:pt x="5377" y="5734"/>
                  </a:cubicBezTo>
                  <a:cubicBezTo>
                    <a:pt x="5342" y="5776"/>
                    <a:pt x="5324" y="5819"/>
                    <a:pt x="5331" y="5827"/>
                  </a:cubicBezTo>
                  <a:cubicBezTo>
                    <a:pt x="5338" y="5836"/>
                    <a:pt x="5321" y="5855"/>
                    <a:pt x="5297" y="5870"/>
                  </a:cubicBezTo>
                  <a:cubicBezTo>
                    <a:pt x="5272" y="5885"/>
                    <a:pt x="5251" y="5912"/>
                    <a:pt x="5251" y="5929"/>
                  </a:cubicBezTo>
                  <a:cubicBezTo>
                    <a:pt x="5251" y="5946"/>
                    <a:pt x="5244" y="5976"/>
                    <a:pt x="5227" y="5997"/>
                  </a:cubicBezTo>
                  <a:cubicBezTo>
                    <a:pt x="5211" y="6019"/>
                    <a:pt x="5168" y="6078"/>
                    <a:pt x="5135" y="6134"/>
                  </a:cubicBezTo>
                  <a:cubicBezTo>
                    <a:pt x="5103" y="6189"/>
                    <a:pt x="5037" y="6267"/>
                    <a:pt x="4986" y="6304"/>
                  </a:cubicBezTo>
                  <a:cubicBezTo>
                    <a:pt x="4934" y="6340"/>
                    <a:pt x="4894" y="6379"/>
                    <a:pt x="4894" y="6389"/>
                  </a:cubicBezTo>
                  <a:cubicBezTo>
                    <a:pt x="4894" y="6399"/>
                    <a:pt x="4812" y="6482"/>
                    <a:pt x="4721" y="6576"/>
                  </a:cubicBezTo>
                  <a:cubicBezTo>
                    <a:pt x="4630" y="6670"/>
                    <a:pt x="4547" y="6765"/>
                    <a:pt x="4537" y="6789"/>
                  </a:cubicBezTo>
                  <a:cubicBezTo>
                    <a:pt x="4527" y="6812"/>
                    <a:pt x="4479" y="6879"/>
                    <a:pt x="4422" y="6942"/>
                  </a:cubicBezTo>
                  <a:cubicBezTo>
                    <a:pt x="4364" y="7005"/>
                    <a:pt x="4318" y="7067"/>
                    <a:pt x="4318" y="7078"/>
                  </a:cubicBezTo>
                  <a:cubicBezTo>
                    <a:pt x="4318" y="7089"/>
                    <a:pt x="4198" y="7212"/>
                    <a:pt x="4065" y="7350"/>
                  </a:cubicBezTo>
                  <a:cubicBezTo>
                    <a:pt x="3931" y="7488"/>
                    <a:pt x="3779" y="7671"/>
                    <a:pt x="3719" y="7758"/>
                  </a:cubicBezTo>
                  <a:cubicBezTo>
                    <a:pt x="3660" y="7845"/>
                    <a:pt x="3591" y="7936"/>
                    <a:pt x="3570" y="7954"/>
                  </a:cubicBezTo>
                  <a:cubicBezTo>
                    <a:pt x="3489" y="8023"/>
                    <a:pt x="3316" y="8226"/>
                    <a:pt x="3316" y="8252"/>
                  </a:cubicBezTo>
                  <a:cubicBezTo>
                    <a:pt x="3316" y="8267"/>
                    <a:pt x="3300" y="8290"/>
                    <a:pt x="3282" y="8303"/>
                  </a:cubicBezTo>
                  <a:cubicBezTo>
                    <a:pt x="3264" y="8316"/>
                    <a:pt x="3239" y="8343"/>
                    <a:pt x="3236" y="8362"/>
                  </a:cubicBezTo>
                  <a:cubicBezTo>
                    <a:pt x="3232" y="8382"/>
                    <a:pt x="3204" y="8417"/>
                    <a:pt x="3167" y="8439"/>
                  </a:cubicBezTo>
                  <a:cubicBezTo>
                    <a:pt x="3129" y="8462"/>
                    <a:pt x="3090" y="8488"/>
                    <a:pt x="3086" y="8507"/>
                  </a:cubicBezTo>
                  <a:cubicBezTo>
                    <a:pt x="3082" y="8526"/>
                    <a:pt x="3054" y="8565"/>
                    <a:pt x="3017" y="8592"/>
                  </a:cubicBezTo>
                  <a:cubicBezTo>
                    <a:pt x="2980" y="8620"/>
                    <a:pt x="2948" y="8659"/>
                    <a:pt x="2948" y="8677"/>
                  </a:cubicBezTo>
                  <a:cubicBezTo>
                    <a:pt x="2948" y="8696"/>
                    <a:pt x="2918" y="8750"/>
                    <a:pt x="2879" y="8796"/>
                  </a:cubicBezTo>
                  <a:cubicBezTo>
                    <a:pt x="2840" y="8842"/>
                    <a:pt x="2782" y="8925"/>
                    <a:pt x="2752" y="8984"/>
                  </a:cubicBezTo>
                  <a:cubicBezTo>
                    <a:pt x="2722" y="9043"/>
                    <a:pt x="2654" y="9122"/>
                    <a:pt x="2602" y="9154"/>
                  </a:cubicBezTo>
                  <a:cubicBezTo>
                    <a:pt x="2510" y="9211"/>
                    <a:pt x="2280" y="9448"/>
                    <a:pt x="2280" y="9485"/>
                  </a:cubicBezTo>
                  <a:cubicBezTo>
                    <a:pt x="2280" y="9496"/>
                    <a:pt x="2217" y="9561"/>
                    <a:pt x="2142" y="9639"/>
                  </a:cubicBezTo>
                  <a:cubicBezTo>
                    <a:pt x="2067" y="9716"/>
                    <a:pt x="2004" y="9790"/>
                    <a:pt x="2004" y="9800"/>
                  </a:cubicBezTo>
                  <a:cubicBezTo>
                    <a:pt x="2004" y="9811"/>
                    <a:pt x="1948" y="9885"/>
                    <a:pt x="1877" y="9962"/>
                  </a:cubicBezTo>
                  <a:cubicBezTo>
                    <a:pt x="1747" y="10104"/>
                    <a:pt x="1611" y="10284"/>
                    <a:pt x="1497" y="10447"/>
                  </a:cubicBezTo>
                  <a:cubicBezTo>
                    <a:pt x="1463" y="10496"/>
                    <a:pt x="1357" y="10607"/>
                    <a:pt x="1267" y="10694"/>
                  </a:cubicBezTo>
                  <a:cubicBezTo>
                    <a:pt x="1177" y="10780"/>
                    <a:pt x="1106" y="10866"/>
                    <a:pt x="1106" y="10889"/>
                  </a:cubicBezTo>
                  <a:cubicBezTo>
                    <a:pt x="1105" y="10912"/>
                    <a:pt x="1067" y="10963"/>
                    <a:pt x="1025" y="11000"/>
                  </a:cubicBezTo>
                  <a:cubicBezTo>
                    <a:pt x="983" y="11036"/>
                    <a:pt x="945" y="11077"/>
                    <a:pt x="945" y="11093"/>
                  </a:cubicBezTo>
                  <a:cubicBezTo>
                    <a:pt x="945" y="11130"/>
                    <a:pt x="896" y="11213"/>
                    <a:pt x="806" y="11306"/>
                  </a:cubicBezTo>
                  <a:cubicBezTo>
                    <a:pt x="769" y="11345"/>
                    <a:pt x="737" y="11384"/>
                    <a:pt x="737" y="11400"/>
                  </a:cubicBezTo>
                  <a:cubicBezTo>
                    <a:pt x="737" y="11415"/>
                    <a:pt x="698" y="11461"/>
                    <a:pt x="657" y="11502"/>
                  </a:cubicBezTo>
                  <a:cubicBezTo>
                    <a:pt x="615" y="11542"/>
                    <a:pt x="588" y="11590"/>
                    <a:pt x="588" y="11604"/>
                  </a:cubicBezTo>
                  <a:cubicBezTo>
                    <a:pt x="588" y="11617"/>
                    <a:pt x="531" y="11676"/>
                    <a:pt x="473" y="11740"/>
                  </a:cubicBezTo>
                  <a:cubicBezTo>
                    <a:pt x="414" y="11804"/>
                    <a:pt x="369" y="11870"/>
                    <a:pt x="369" y="11885"/>
                  </a:cubicBezTo>
                  <a:cubicBezTo>
                    <a:pt x="369" y="11899"/>
                    <a:pt x="321" y="11966"/>
                    <a:pt x="254" y="12029"/>
                  </a:cubicBezTo>
                  <a:cubicBezTo>
                    <a:pt x="66" y="12205"/>
                    <a:pt x="-3" y="12327"/>
                    <a:pt x="0" y="12506"/>
                  </a:cubicBezTo>
                  <a:cubicBezTo>
                    <a:pt x="2" y="12589"/>
                    <a:pt x="21" y="12670"/>
                    <a:pt x="35" y="12684"/>
                  </a:cubicBezTo>
                  <a:cubicBezTo>
                    <a:pt x="49" y="12699"/>
                    <a:pt x="86" y="12772"/>
                    <a:pt x="116" y="12846"/>
                  </a:cubicBezTo>
                  <a:cubicBezTo>
                    <a:pt x="237" y="13146"/>
                    <a:pt x="328" y="13346"/>
                    <a:pt x="392" y="13441"/>
                  </a:cubicBezTo>
                  <a:cubicBezTo>
                    <a:pt x="429" y="13497"/>
                    <a:pt x="491" y="13626"/>
                    <a:pt x="542" y="13731"/>
                  </a:cubicBezTo>
                  <a:cubicBezTo>
                    <a:pt x="592" y="13835"/>
                    <a:pt x="694" y="14016"/>
                    <a:pt x="760" y="14139"/>
                  </a:cubicBezTo>
                  <a:cubicBezTo>
                    <a:pt x="827" y="14262"/>
                    <a:pt x="901" y="14415"/>
                    <a:pt x="922" y="14471"/>
                  </a:cubicBezTo>
                  <a:cubicBezTo>
                    <a:pt x="942" y="14526"/>
                    <a:pt x="973" y="14593"/>
                    <a:pt x="991" y="14624"/>
                  </a:cubicBezTo>
                  <a:cubicBezTo>
                    <a:pt x="1008" y="14655"/>
                    <a:pt x="1021" y="14692"/>
                    <a:pt x="1025" y="14709"/>
                  </a:cubicBezTo>
                  <a:cubicBezTo>
                    <a:pt x="1030" y="14726"/>
                    <a:pt x="1053" y="14756"/>
                    <a:pt x="1071" y="14769"/>
                  </a:cubicBezTo>
                  <a:cubicBezTo>
                    <a:pt x="1089" y="14782"/>
                    <a:pt x="1094" y="14805"/>
                    <a:pt x="1094" y="14828"/>
                  </a:cubicBezTo>
                  <a:cubicBezTo>
                    <a:pt x="1094" y="14852"/>
                    <a:pt x="1117" y="14898"/>
                    <a:pt x="1140" y="14930"/>
                  </a:cubicBezTo>
                  <a:cubicBezTo>
                    <a:pt x="1240" y="15071"/>
                    <a:pt x="1312" y="15203"/>
                    <a:pt x="1324" y="15254"/>
                  </a:cubicBezTo>
                  <a:cubicBezTo>
                    <a:pt x="1332" y="15283"/>
                    <a:pt x="1353" y="15318"/>
                    <a:pt x="1371" y="15330"/>
                  </a:cubicBezTo>
                  <a:cubicBezTo>
                    <a:pt x="1388" y="15343"/>
                    <a:pt x="1405" y="15370"/>
                    <a:pt x="1405" y="15398"/>
                  </a:cubicBezTo>
                  <a:cubicBezTo>
                    <a:pt x="1405" y="15427"/>
                    <a:pt x="1413" y="15470"/>
                    <a:pt x="1428" y="15492"/>
                  </a:cubicBezTo>
                  <a:cubicBezTo>
                    <a:pt x="1456" y="15532"/>
                    <a:pt x="1516" y="15634"/>
                    <a:pt x="1520" y="15653"/>
                  </a:cubicBezTo>
                  <a:cubicBezTo>
                    <a:pt x="1526" y="15680"/>
                    <a:pt x="1686" y="15984"/>
                    <a:pt x="1739" y="16070"/>
                  </a:cubicBezTo>
                  <a:cubicBezTo>
                    <a:pt x="1771" y="16123"/>
                    <a:pt x="1796" y="16171"/>
                    <a:pt x="1797" y="16181"/>
                  </a:cubicBezTo>
                  <a:cubicBezTo>
                    <a:pt x="1797" y="16191"/>
                    <a:pt x="1879" y="16356"/>
                    <a:pt x="1981" y="16547"/>
                  </a:cubicBezTo>
                  <a:cubicBezTo>
                    <a:pt x="2225" y="17004"/>
                    <a:pt x="2487" y="17531"/>
                    <a:pt x="2556" y="17712"/>
                  </a:cubicBezTo>
                  <a:cubicBezTo>
                    <a:pt x="2613" y="17860"/>
                    <a:pt x="2717" y="18100"/>
                    <a:pt x="2775" y="18223"/>
                  </a:cubicBezTo>
                  <a:cubicBezTo>
                    <a:pt x="2793" y="18260"/>
                    <a:pt x="2818" y="18329"/>
                    <a:pt x="2844" y="18384"/>
                  </a:cubicBezTo>
                  <a:cubicBezTo>
                    <a:pt x="2870" y="18440"/>
                    <a:pt x="2910" y="18508"/>
                    <a:pt x="2925" y="18529"/>
                  </a:cubicBezTo>
                  <a:cubicBezTo>
                    <a:pt x="2939" y="18550"/>
                    <a:pt x="2948" y="18593"/>
                    <a:pt x="2948" y="18623"/>
                  </a:cubicBezTo>
                  <a:cubicBezTo>
                    <a:pt x="2948" y="18652"/>
                    <a:pt x="2987" y="18705"/>
                    <a:pt x="3028" y="18750"/>
                  </a:cubicBezTo>
                  <a:cubicBezTo>
                    <a:pt x="3070" y="18796"/>
                    <a:pt x="3097" y="18859"/>
                    <a:pt x="3098" y="18886"/>
                  </a:cubicBezTo>
                  <a:cubicBezTo>
                    <a:pt x="3098" y="18913"/>
                    <a:pt x="3137" y="18986"/>
                    <a:pt x="3178" y="19048"/>
                  </a:cubicBezTo>
                  <a:cubicBezTo>
                    <a:pt x="3219" y="19110"/>
                    <a:pt x="3247" y="19180"/>
                    <a:pt x="3247" y="19201"/>
                  </a:cubicBezTo>
                  <a:cubicBezTo>
                    <a:pt x="3247" y="19222"/>
                    <a:pt x="3265" y="19245"/>
                    <a:pt x="3282" y="19252"/>
                  </a:cubicBezTo>
                  <a:cubicBezTo>
                    <a:pt x="3298" y="19260"/>
                    <a:pt x="3316" y="19283"/>
                    <a:pt x="3316" y="19312"/>
                  </a:cubicBezTo>
                  <a:cubicBezTo>
                    <a:pt x="3316" y="19340"/>
                    <a:pt x="3337" y="19381"/>
                    <a:pt x="3362" y="19397"/>
                  </a:cubicBezTo>
                  <a:cubicBezTo>
                    <a:pt x="3387" y="19412"/>
                    <a:pt x="3408" y="19442"/>
                    <a:pt x="3408" y="19465"/>
                  </a:cubicBezTo>
                  <a:cubicBezTo>
                    <a:pt x="3408" y="19487"/>
                    <a:pt x="3415" y="19508"/>
                    <a:pt x="3431" y="19516"/>
                  </a:cubicBezTo>
                  <a:cubicBezTo>
                    <a:pt x="3448" y="19524"/>
                    <a:pt x="3466" y="19561"/>
                    <a:pt x="3466" y="19592"/>
                  </a:cubicBezTo>
                  <a:cubicBezTo>
                    <a:pt x="3466" y="19624"/>
                    <a:pt x="3488" y="19673"/>
                    <a:pt x="3512" y="19712"/>
                  </a:cubicBezTo>
                  <a:cubicBezTo>
                    <a:pt x="3536" y="19750"/>
                    <a:pt x="3578" y="19831"/>
                    <a:pt x="3604" y="19890"/>
                  </a:cubicBezTo>
                  <a:cubicBezTo>
                    <a:pt x="3630" y="19950"/>
                    <a:pt x="3672" y="20034"/>
                    <a:pt x="3696" y="20069"/>
                  </a:cubicBezTo>
                  <a:cubicBezTo>
                    <a:pt x="3721" y="20104"/>
                    <a:pt x="3793" y="20242"/>
                    <a:pt x="3857" y="20375"/>
                  </a:cubicBezTo>
                  <a:cubicBezTo>
                    <a:pt x="3922" y="20508"/>
                    <a:pt x="4009" y="20670"/>
                    <a:pt x="4053" y="20741"/>
                  </a:cubicBezTo>
                  <a:cubicBezTo>
                    <a:pt x="4097" y="20812"/>
                    <a:pt x="4141" y="20919"/>
                    <a:pt x="4157" y="20971"/>
                  </a:cubicBezTo>
                  <a:cubicBezTo>
                    <a:pt x="4203" y="21118"/>
                    <a:pt x="4359" y="21396"/>
                    <a:pt x="4433" y="21473"/>
                  </a:cubicBezTo>
                  <a:lnTo>
                    <a:pt x="4502" y="21541"/>
                  </a:lnTo>
                  <a:lnTo>
                    <a:pt x="7749" y="21541"/>
                  </a:lnTo>
                  <a:cubicBezTo>
                    <a:pt x="9896" y="21541"/>
                    <a:pt x="11018" y="21551"/>
                    <a:pt x="11030" y="21566"/>
                  </a:cubicBezTo>
                  <a:cubicBezTo>
                    <a:pt x="11043" y="21581"/>
                    <a:pt x="12072" y="21587"/>
                    <a:pt x="14081" y="21583"/>
                  </a:cubicBezTo>
                  <a:lnTo>
                    <a:pt x="17121" y="21575"/>
                  </a:lnTo>
                  <a:lnTo>
                    <a:pt x="17247" y="21396"/>
                  </a:lnTo>
                  <a:cubicBezTo>
                    <a:pt x="17319" y="21298"/>
                    <a:pt x="17386" y="21199"/>
                    <a:pt x="17397" y="21175"/>
                  </a:cubicBezTo>
                  <a:cubicBezTo>
                    <a:pt x="17408" y="21150"/>
                    <a:pt x="17489" y="21037"/>
                    <a:pt x="17570" y="20920"/>
                  </a:cubicBezTo>
                  <a:cubicBezTo>
                    <a:pt x="17650" y="20803"/>
                    <a:pt x="17708" y="20692"/>
                    <a:pt x="17708" y="20681"/>
                  </a:cubicBezTo>
                  <a:cubicBezTo>
                    <a:pt x="17708" y="20663"/>
                    <a:pt x="17829" y="20466"/>
                    <a:pt x="17938" y="20307"/>
                  </a:cubicBezTo>
                  <a:cubicBezTo>
                    <a:pt x="17960" y="20275"/>
                    <a:pt x="17971" y="20247"/>
                    <a:pt x="17961" y="20239"/>
                  </a:cubicBezTo>
                  <a:cubicBezTo>
                    <a:pt x="17951" y="20231"/>
                    <a:pt x="17968" y="20221"/>
                    <a:pt x="17996" y="20214"/>
                  </a:cubicBezTo>
                  <a:cubicBezTo>
                    <a:pt x="18023" y="20206"/>
                    <a:pt x="18041" y="20185"/>
                    <a:pt x="18042" y="20171"/>
                  </a:cubicBezTo>
                  <a:cubicBezTo>
                    <a:pt x="18042" y="20157"/>
                    <a:pt x="18067" y="20117"/>
                    <a:pt x="18099" y="20086"/>
                  </a:cubicBezTo>
                  <a:cubicBezTo>
                    <a:pt x="18132" y="20055"/>
                    <a:pt x="18168" y="20018"/>
                    <a:pt x="18168" y="20001"/>
                  </a:cubicBezTo>
                  <a:cubicBezTo>
                    <a:pt x="18169" y="19984"/>
                    <a:pt x="18265" y="19821"/>
                    <a:pt x="18387" y="19635"/>
                  </a:cubicBezTo>
                  <a:cubicBezTo>
                    <a:pt x="18510" y="19449"/>
                    <a:pt x="18652" y="19219"/>
                    <a:pt x="18698" y="19133"/>
                  </a:cubicBezTo>
                  <a:cubicBezTo>
                    <a:pt x="18744" y="19047"/>
                    <a:pt x="18790" y="18964"/>
                    <a:pt x="18802" y="18946"/>
                  </a:cubicBezTo>
                  <a:cubicBezTo>
                    <a:pt x="18834" y="18896"/>
                    <a:pt x="18933" y="18763"/>
                    <a:pt x="18963" y="18725"/>
                  </a:cubicBezTo>
                  <a:cubicBezTo>
                    <a:pt x="18977" y="18706"/>
                    <a:pt x="18994" y="18673"/>
                    <a:pt x="19009" y="18648"/>
                  </a:cubicBezTo>
                  <a:cubicBezTo>
                    <a:pt x="19024" y="18623"/>
                    <a:pt x="19103" y="18499"/>
                    <a:pt x="19182" y="18376"/>
                  </a:cubicBezTo>
                  <a:cubicBezTo>
                    <a:pt x="19260" y="18253"/>
                    <a:pt x="19354" y="18108"/>
                    <a:pt x="19389" y="18053"/>
                  </a:cubicBezTo>
                  <a:cubicBezTo>
                    <a:pt x="19424" y="17997"/>
                    <a:pt x="19500" y="17873"/>
                    <a:pt x="19561" y="17780"/>
                  </a:cubicBezTo>
                  <a:cubicBezTo>
                    <a:pt x="19623" y="17687"/>
                    <a:pt x="19729" y="17525"/>
                    <a:pt x="19792" y="17415"/>
                  </a:cubicBezTo>
                  <a:cubicBezTo>
                    <a:pt x="19855" y="17304"/>
                    <a:pt x="19916" y="17205"/>
                    <a:pt x="19930" y="17193"/>
                  </a:cubicBezTo>
                  <a:cubicBezTo>
                    <a:pt x="19944" y="17182"/>
                    <a:pt x="19953" y="17158"/>
                    <a:pt x="19953" y="17142"/>
                  </a:cubicBezTo>
                  <a:cubicBezTo>
                    <a:pt x="19953" y="17127"/>
                    <a:pt x="20000" y="17037"/>
                    <a:pt x="20057" y="16947"/>
                  </a:cubicBezTo>
                  <a:cubicBezTo>
                    <a:pt x="20113" y="16857"/>
                    <a:pt x="20198" y="16734"/>
                    <a:pt x="20241" y="16666"/>
                  </a:cubicBezTo>
                  <a:cubicBezTo>
                    <a:pt x="20316" y="16547"/>
                    <a:pt x="20352" y="16493"/>
                    <a:pt x="20494" y="16326"/>
                  </a:cubicBezTo>
                  <a:cubicBezTo>
                    <a:pt x="20531" y="16282"/>
                    <a:pt x="20563" y="16228"/>
                    <a:pt x="20563" y="16206"/>
                  </a:cubicBezTo>
                  <a:cubicBezTo>
                    <a:pt x="20563" y="16185"/>
                    <a:pt x="20572" y="16151"/>
                    <a:pt x="20586" y="16130"/>
                  </a:cubicBezTo>
                  <a:cubicBezTo>
                    <a:pt x="20614" y="16087"/>
                    <a:pt x="20718" y="15925"/>
                    <a:pt x="20862" y="15696"/>
                  </a:cubicBezTo>
                  <a:cubicBezTo>
                    <a:pt x="20915" y="15613"/>
                    <a:pt x="20963" y="15541"/>
                    <a:pt x="20978" y="15534"/>
                  </a:cubicBezTo>
                  <a:cubicBezTo>
                    <a:pt x="20992" y="15528"/>
                    <a:pt x="21013" y="15490"/>
                    <a:pt x="21024" y="15458"/>
                  </a:cubicBezTo>
                  <a:cubicBezTo>
                    <a:pt x="21035" y="15425"/>
                    <a:pt x="21095" y="15333"/>
                    <a:pt x="21150" y="15245"/>
                  </a:cubicBezTo>
                  <a:cubicBezTo>
                    <a:pt x="21246" y="15094"/>
                    <a:pt x="21298" y="15011"/>
                    <a:pt x="21381" y="14862"/>
                  </a:cubicBezTo>
                  <a:cubicBezTo>
                    <a:pt x="21489" y="14667"/>
                    <a:pt x="21521" y="14394"/>
                    <a:pt x="21565" y="13459"/>
                  </a:cubicBezTo>
                  <a:cubicBezTo>
                    <a:pt x="21597" y="12773"/>
                    <a:pt x="21595" y="12725"/>
                    <a:pt x="21542" y="12608"/>
                  </a:cubicBezTo>
                  <a:cubicBezTo>
                    <a:pt x="21511" y="12539"/>
                    <a:pt x="21463" y="12444"/>
                    <a:pt x="21427" y="12395"/>
                  </a:cubicBezTo>
                  <a:cubicBezTo>
                    <a:pt x="21175" y="12051"/>
                    <a:pt x="21121" y="11977"/>
                    <a:pt x="21001" y="11800"/>
                  </a:cubicBezTo>
                  <a:cubicBezTo>
                    <a:pt x="20955" y="11732"/>
                    <a:pt x="20879" y="11643"/>
                    <a:pt x="20839" y="11604"/>
                  </a:cubicBezTo>
                  <a:cubicBezTo>
                    <a:pt x="20800" y="11565"/>
                    <a:pt x="20770" y="11528"/>
                    <a:pt x="20770" y="11519"/>
                  </a:cubicBezTo>
                  <a:cubicBezTo>
                    <a:pt x="20770" y="11510"/>
                    <a:pt x="20725" y="11431"/>
                    <a:pt x="20667" y="11340"/>
                  </a:cubicBezTo>
                  <a:cubicBezTo>
                    <a:pt x="20608" y="11249"/>
                    <a:pt x="20563" y="11158"/>
                    <a:pt x="20563" y="11144"/>
                  </a:cubicBezTo>
                  <a:cubicBezTo>
                    <a:pt x="20563" y="11131"/>
                    <a:pt x="20524" y="11091"/>
                    <a:pt x="20483" y="11051"/>
                  </a:cubicBezTo>
                  <a:cubicBezTo>
                    <a:pt x="20441" y="11011"/>
                    <a:pt x="20413" y="10960"/>
                    <a:pt x="20413" y="10940"/>
                  </a:cubicBezTo>
                  <a:cubicBezTo>
                    <a:pt x="20413" y="10921"/>
                    <a:pt x="20381" y="10883"/>
                    <a:pt x="20344" y="10855"/>
                  </a:cubicBezTo>
                  <a:cubicBezTo>
                    <a:pt x="20307" y="10828"/>
                    <a:pt x="20268" y="10789"/>
                    <a:pt x="20264" y="10770"/>
                  </a:cubicBezTo>
                  <a:cubicBezTo>
                    <a:pt x="20260" y="10751"/>
                    <a:pt x="20232" y="10716"/>
                    <a:pt x="20195" y="10694"/>
                  </a:cubicBezTo>
                  <a:cubicBezTo>
                    <a:pt x="20157" y="10671"/>
                    <a:pt x="20117" y="10642"/>
                    <a:pt x="20114" y="10625"/>
                  </a:cubicBezTo>
                  <a:cubicBezTo>
                    <a:pt x="20111" y="10609"/>
                    <a:pt x="20067" y="10547"/>
                    <a:pt x="20010" y="10481"/>
                  </a:cubicBezTo>
                  <a:cubicBezTo>
                    <a:pt x="19954" y="10415"/>
                    <a:pt x="19892" y="10327"/>
                    <a:pt x="19872" y="10294"/>
                  </a:cubicBezTo>
                  <a:cubicBezTo>
                    <a:pt x="19853" y="10260"/>
                    <a:pt x="19770" y="10165"/>
                    <a:pt x="19688" y="10081"/>
                  </a:cubicBezTo>
                  <a:cubicBezTo>
                    <a:pt x="19606" y="9997"/>
                    <a:pt x="19504" y="9879"/>
                    <a:pt x="19458" y="9817"/>
                  </a:cubicBezTo>
                  <a:cubicBezTo>
                    <a:pt x="19412" y="9756"/>
                    <a:pt x="19333" y="9670"/>
                    <a:pt x="19285" y="9622"/>
                  </a:cubicBezTo>
                  <a:cubicBezTo>
                    <a:pt x="19237" y="9573"/>
                    <a:pt x="19193" y="9525"/>
                    <a:pt x="19193" y="9511"/>
                  </a:cubicBezTo>
                  <a:cubicBezTo>
                    <a:pt x="19193" y="9497"/>
                    <a:pt x="19154" y="9436"/>
                    <a:pt x="19101" y="9375"/>
                  </a:cubicBezTo>
                  <a:cubicBezTo>
                    <a:pt x="19048" y="9314"/>
                    <a:pt x="18957" y="9202"/>
                    <a:pt x="18905" y="9128"/>
                  </a:cubicBezTo>
                  <a:cubicBezTo>
                    <a:pt x="18853" y="9054"/>
                    <a:pt x="18757" y="8935"/>
                    <a:pt x="18686" y="8864"/>
                  </a:cubicBezTo>
                  <a:cubicBezTo>
                    <a:pt x="18616" y="8794"/>
                    <a:pt x="18560" y="8729"/>
                    <a:pt x="18560" y="8720"/>
                  </a:cubicBezTo>
                  <a:cubicBezTo>
                    <a:pt x="18560" y="8710"/>
                    <a:pt x="18531" y="8676"/>
                    <a:pt x="18502" y="8652"/>
                  </a:cubicBezTo>
                  <a:cubicBezTo>
                    <a:pt x="18473" y="8627"/>
                    <a:pt x="18440" y="8605"/>
                    <a:pt x="18433" y="8592"/>
                  </a:cubicBezTo>
                  <a:cubicBezTo>
                    <a:pt x="18426" y="8580"/>
                    <a:pt x="18224" y="8355"/>
                    <a:pt x="17973" y="8099"/>
                  </a:cubicBezTo>
                  <a:cubicBezTo>
                    <a:pt x="17722" y="7843"/>
                    <a:pt x="17324" y="7440"/>
                    <a:pt x="17086" y="7197"/>
                  </a:cubicBezTo>
                  <a:cubicBezTo>
                    <a:pt x="16849" y="6954"/>
                    <a:pt x="16630" y="6718"/>
                    <a:pt x="16603" y="6678"/>
                  </a:cubicBezTo>
                  <a:cubicBezTo>
                    <a:pt x="16575" y="6638"/>
                    <a:pt x="16504" y="6573"/>
                    <a:pt x="16453" y="6533"/>
                  </a:cubicBezTo>
                  <a:cubicBezTo>
                    <a:pt x="16402" y="6494"/>
                    <a:pt x="16366" y="6445"/>
                    <a:pt x="16361" y="6423"/>
                  </a:cubicBezTo>
                  <a:cubicBezTo>
                    <a:pt x="16343" y="6345"/>
                    <a:pt x="16247" y="6243"/>
                    <a:pt x="16108" y="6142"/>
                  </a:cubicBezTo>
                  <a:cubicBezTo>
                    <a:pt x="15956" y="6032"/>
                    <a:pt x="15427" y="5490"/>
                    <a:pt x="15325" y="5342"/>
                  </a:cubicBezTo>
                  <a:cubicBezTo>
                    <a:pt x="15290" y="5293"/>
                    <a:pt x="15149" y="5141"/>
                    <a:pt x="15014" y="5002"/>
                  </a:cubicBezTo>
                  <a:cubicBezTo>
                    <a:pt x="14879" y="4863"/>
                    <a:pt x="14772" y="4744"/>
                    <a:pt x="14772" y="4738"/>
                  </a:cubicBezTo>
                  <a:cubicBezTo>
                    <a:pt x="14772" y="4692"/>
                    <a:pt x="14458" y="4383"/>
                    <a:pt x="14242" y="4219"/>
                  </a:cubicBezTo>
                  <a:cubicBezTo>
                    <a:pt x="13939" y="3989"/>
                    <a:pt x="13772" y="3840"/>
                    <a:pt x="13667" y="3683"/>
                  </a:cubicBezTo>
                  <a:cubicBezTo>
                    <a:pt x="13523" y="3471"/>
                    <a:pt x="13435" y="3347"/>
                    <a:pt x="13333" y="3249"/>
                  </a:cubicBezTo>
                  <a:cubicBezTo>
                    <a:pt x="13276" y="3195"/>
                    <a:pt x="13229" y="3141"/>
                    <a:pt x="13229" y="3130"/>
                  </a:cubicBezTo>
                  <a:cubicBezTo>
                    <a:pt x="13229" y="3119"/>
                    <a:pt x="13102" y="2986"/>
                    <a:pt x="12953" y="2833"/>
                  </a:cubicBezTo>
                  <a:cubicBezTo>
                    <a:pt x="12804" y="2679"/>
                    <a:pt x="12676" y="2520"/>
                    <a:pt x="12665" y="2484"/>
                  </a:cubicBezTo>
                  <a:cubicBezTo>
                    <a:pt x="12654" y="2448"/>
                    <a:pt x="12614" y="2401"/>
                    <a:pt x="12573" y="2373"/>
                  </a:cubicBezTo>
                  <a:cubicBezTo>
                    <a:pt x="12532" y="2345"/>
                    <a:pt x="12389" y="2213"/>
                    <a:pt x="12262" y="2084"/>
                  </a:cubicBezTo>
                  <a:cubicBezTo>
                    <a:pt x="12135" y="1955"/>
                    <a:pt x="11970" y="1800"/>
                    <a:pt x="11894" y="1744"/>
                  </a:cubicBezTo>
                  <a:cubicBezTo>
                    <a:pt x="11817" y="1688"/>
                    <a:pt x="11731" y="1606"/>
                    <a:pt x="11698" y="1556"/>
                  </a:cubicBezTo>
                  <a:cubicBezTo>
                    <a:pt x="11665" y="1507"/>
                    <a:pt x="11423" y="1245"/>
                    <a:pt x="11168" y="978"/>
                  </a:cubicBezTo>
                  <a:cubicBezTo>
                    <a:pt x="10914" y="711"/>
                    <a:pt x="10708" y="486"/>
                    <a:pt x="10708" y="476"/>
                  </a:cubicBezTo>
                  <a:cubicBezTo>
                    <a:pt x="10708" y="466"/>
                    <a:pt x="10641" y="397"/>
                    <a:pt x="10558" y="323"/>
                  </a:cubicBezTo>
                  <a:cubicBezTo>
                    <a:pt x="10475" y="249"/>
                    <a:pt x="10409" y="178"/>
                    <a:pt x="10408" y="161"/>
                  </a:cubicBezTo>
                  <a:cubicBezTo>
                    <a:pt x="10408" y="145"/>
                    <a:pt x="10374" y="103"/>
                    <a:pt x="10339" y="68"/>
                  </a:cubicBezTo>
                  <a:cubicBezTo>
                    <a:pt x="10281" y="7"/>
                    <a:pt x="10205" y="-13"/>
                    <a:pt x="10132" y="8"/>
                  </a:cubicBezTo>
                  <a:close/>
                </a:path>
              </a:pathLst>
            </a:custGeom>
            <a:ln w="25400" cap="flat">
              <a:noFill/>
              <a:miter lim="400000"/>
            </a:ln>
            <a:effectLst>
              <a:outerShdw blurRad="177800" dist="101600" dir="5400000" rotWithShape="0">
                <a:srgbClr val="000000">
                  <a:alpha val="70000"/>
                </a:srgbClr>
              </a:outerShdw>
            </a:effectLst>
          </p:spPr>
        </p:pic>
        <p:sp>
          <p:nvSpPr>
            <p:cNvPr id="326" name="Caspar Bowden  PET Award 2022"/>
            <p:cNvSpPr txBox="1"/>
            <p:nvPr/>
          </p:nvSpPr>
          <p:spPr>
            <a:xfrm>
              <a:off x="972458" y="199029"/>
              <a:ext cx="2749477" cy="9461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pPr algn="ctr">
                <a:defRPr sz="3100"/>
              </a:pPr>
              <a:r>
                <a:t>Caspar Bowden </a:t>
              </a:r>
              <a:br/>
              <a:r>
                <a:t>PET Award 2022</a:t>
              </a:r>
            </a:p>
          </p:txBody>
        </p:sp>
      </p:grpSp>
      <p:pic>
        <p:nvPicPr>
          <p:cNvPr id="328" name="40957279-835B-46FA-B163-939B24AC78DE.png" descr="40957279-835B-46FA-B163-939B24AC78DE.png"/>
          <p:cNvPicPr>
            <a:picLocks noChangeAspect="1"/>
          </p:cNvPicPr>
          <p:nvPr/>
        </p:nvPicPr>
        <p:blipFill>
          <a:blip r:embed="rId14"/>
          <a:srcRect l="25204" b="393"/>
          <a:stretch>
            <a:fillRect/>
          </a:stretch>
        </p:blipFill>
        <p:spPr>
          <a:xfrm>
            <a:off x="15012913" y="9220329"/>
            <a:ext cx="5461323" cy="4848623"/>
          </a:xfrm>
          <a:custGeom>
            <a:avLst/>
            <a:gdLst/>
            <a:ahLst/>
            <a:cxnLst>
              <a:cxn ang="0">
                <a:pos x="wd2" y="hd2"/>
              </a:cxn>
              <a:cxn ang="5400000">
                <a:pos x="wd2" y="hd2"/>
              </a:cxn>
              <a:cxn ang="10800000">
                <a:pos x="wd2" y="hd2"/>
              </a:cxn>
              <a:cxn ang="16200000">
                <a:pos x="wd2" y="hd2"/>
              </a:cxn>
            </a:cxnLst>
            <a:rect l="0" t="0" r="r" b="b"/>
            <a:pathLst>
              <a:path w="21597" h="21600" extrusionOk="0">
                <a:moveTo>
                  <a:pt x="21540" y="0"/>
                </a:moveTo>
                <a:cubicBezTo>
                  <a:pt x="21509" y="0"/>
                  <a:pt x="21484" y="38"/>
                  <a:pt x="21484" y="85"/>
                </a:cubicBezTo>
                <a:cubicBezTo>
                  <a:pt x="21484" y="132"/>
                  <a:pt x="21509" y="170"/>
                  <a:pt x="21540" y="170"/>
                </a:cubicBezTo>
                <a:cubicBezTo>
                  <a:pt x="21572" y="170"/>
                  <a:pt x="21597" y="132"/>
                  <a:pt x="21597" y="85"/>
                </a:cubicBezTo>
                <a:cubicBezTo>
                  <a:pt x="21597" y="38"/>
                  <a:pt x="21572" y="0"/>
                  <a:pt x="21540" y="0"/>
                </a:cubicBezTo>
                <a:close/>
                <a:moveTo>
                  <a:pt x="7160" y="3264"/>
                </a:moveTo>
                <a:cubicBezTo>
                  <a:pt x="6960" y="3265"/>
                  <a:pt x="6712" y="3298"/>
                  <a:pt x="6557" y="3343"/>
                </a:cubicBezTo>
                <a:cubicBezTo>
                  <a:pt x="6413" y="3386"/>
                  <a:pt x="6273" y="3411"/>
                  <a:pt x="6248" y="3400"/>
                </a:cubicBezTo>
                <a:cubicBezTo>
                  <a:pt x="6223" y="3389"/>
                  <a:pt x="6165" y="3411"/>
                  <a:pt x="6118" y="3448"/>
                </a:cubicBezTo>
                <a:cubicBezTo>
                  <a:pt x="6071" y="3485"/>
                  <a:pt x="6046" y="3515"/>
                  <a:pt x="6063" y="3515"/>
                </a:cubicBezTo>
                <a:cubicBezTo>
                  <a:pt x="6080" y="3515"/>
                  <a:pt x="5999" y="3621"/>
                  <a:pt x="5882" y="3750"/>
                </a:cubicBezTo>
                <a:cubicBezTo>
                  <a:pt x="5766" y="3879"/>
                  <a:pt x="5678" y="4001"/>
                  <a:pt x="5688" y="4019"/>
                </a:cubicBezTo>
                <a:cubicBezTo>
                  <a:pt x="5698" y="4037"/>
                  <a:pt x="5674" y="4081"/>
                  <a:pt x="5636" y="4118"/>
                </a:cubicBezTo>
                <a:cubicBezTo>
                  <a:pt x="5597" y="4155"/>
                  <a:pt x="5545" y="4291"/>
                  <a:pt x="5520" y="4420"/>
                </a:cubicBezTo>
                <a:cubicBezTo>
                  <a:pt x="5463" y="4705"/>
                  <a:pt x="5516" y="5080"/>
                  <a:pt x="5641" y="5270"/>
                </a:cubicBezTo>
                <a:cubicBezTo>
                  <a:pt x="5714" y="5383"/>
                  <a:pt x="5718" y="5409"/>
                  <a:pt x="5675" y="5566"/>
                </a:cubicBezTo>
                <a:cubicBezTo>
                  <a:pt x="5587" y="5889"/>
                  <a:pt x="5582" y="6047"/>
                  <a:pt x="5659" y="6068"/>
                </a:cubicBezTo>
                <a:cubicBezTo>
                  <a:pt x="5700" y="6079"/>
                  <a:pt x="5743" y="6081"/>
                  <a:pt x="5815" y="6068"/>
                </a:cubicBezTo>
                <a:cubicBezTo>
                  <a:pt x="5887" y="6055"/>
                  <a:pt x="5987" y="6028"/>
                  <a:pt x="6143" y="5983"/>
                </a:cubicBezTo>
                <a:cubicBezTo>
                  <a:pt x="6267" y="5947"/>
                  <a:pt x="6403" y="5918"/>
                  <a:pt x="6444" y="5921"/>
                </a:cubicBezTo>
                <a:cubicBezTo>
                  <a:pt x="7299" y="5977"/>
                  <a:pt x="7629" y="5975"/>
                  <a:pt x="7866" y="5912"/>
                </a:cubicBezTo>
                <a:cubicBezTo>
                  <a:pt x="8193" y="5826"/>
                  <a:pt x="8385" y="5715"/>
                  <a:pt x="8575" y="5500"/>
                </a:cubicBezTo>
                <a:cubicBezTo>
                  <a:pt x="8769" y="5282"/>
                  <a:pt x="8868" y="5035"/>
                  <a:pt x="8875" y="4742"/>
                </a:cubicBezTo>
                <a:cubicBezTo>
                  <a:pt x="8884" y="4398"/>
                  <a:pt x="8878" y="4368"/>
                  <a:pt x="8798" y="4291"/>
                </a:cubicBezTo>
                <a:cubicBezTo>
                  <a:pt x="8758" y="4252"/>
                  <a:pt x="8731" y="4210"/>
                  <a:pt x="8739" y="4196"/>
                </a:cubicBezTo>
                <a:cubicBezTo>
                  <a:pt x="8746" y="4181"/>
                  <a:pt x="8665" y="4036"/>
                  <a:pt x="8558" y="3874"/>
                </a:cubicBezTo>
                <a:cubicBezTo>
                  <a:pt x="8252" y="3409"/>
                  <a:pt x="7907" y="3259"/>
                  <a:pt x="7160" y="3264"/>
                </a:cubicBezTo>
                <a:close/>
                <a:moveTo>
                  <a:pt x="5054" y="4758"/>
                </a:moveTo>
                <a:cubicBezTo>
                  <a:pt x="5025" y="4757"/>
                  <a:pt x="4983" y="4768"/>
                  <a:pt x="4916" y="4790"/>
                </a:cubicBezTo>
                <a:cubicBezTo>
                  <a:pt x="4723" y="4851"/>
                  <a:pt x="4635" y="4926"/>
                  <a:pt x="4674" y="4996"/>
                </a:cubicBezTo>
                <a:cubicBezTo>
                  <a:pt x="4689" y="5025"/>
                  <a:pt x="4737" y="5036"/>
                  <a:pt x="4782" y="5021"/>
                </a:cubicBezTo>
                <a:cubicBezTo>
                  <a:pt x="4826" y="5007"/>
                  <a:pt x="4909" y="4984"/>
                  <a:pt x="4966" y="4970"/>
                </a:cubicBezTo>
                <a:cubicBezTo>
                  <a:pt x="5091" y="4939"/>
                  <a:pt x="5151" y="4865"/>
                  <a:pt x="5110" y="4791"/>
                </a:cubicBezTo>
                <a:cubicBezTo>
                  <a:pt x="5098" y="4769"/>
                  <a:pt x="5083" y="4758"/>
                  <a:pt x="5054" y="4758"/>
                </a:cubicBezTo>
                <a:close/>
                <a:moveTo>
                  <a:pt x="9304" y="4760"/>
                </a:moveTo>
                <a:cubicBezTo>
                  <a:pt x="9272" y="4758"/>
                  <a:pt x="9251" y="4766"/>
                  <a:pt x="9236" y="4783"/>
                </a:cubicBezTo>
                <a:cubicBezTo>
                  <a:pt x="9180" y="4845"/>
                  <a:pt x="9253" y="4921"/>
                  <a:pt x="9429" y="4982"/>
                </a:cubicBezTo>
                <a:cubicBezTo>
                  <a:pt x="9614" y="5047"/>
                  <a:pt x="9616" y="5048"/>
                  <a:pt x="9644" y="4996"/>
                </a:cubicBezTo>
                <a:cubicBezTo>
                  <a:pt x="9683" y="4927"/>
                  <a:pt x="9601" y="4847"/>
                  <a:pt x="9432" y="4790"/>
                </a:cubicBezTo>
                <a:cubicBezTo>
                  <a:pt x="9377" y="4771"/>
                  <a:pt x="9335" y="4761"/>
                  <a:pt x="9304" y="4760"/>
                </a:cubicBezTo>
                <a:close/>
                <a:moveTo>
                  <a:pt x="9897" y="4973"/>
                </a:moveTo>
                <a:cubicBezTo>
                  <a:pt x="9820" y="4962"/>
                  <a:pt x="9786" y="4993"/>
                  <a:pt x="9768" y="5076"/>
                </a:cubicBezTo>
                <a:cubicBezTo>
                  <a:pt x="9761" y="5110"/>
                  <a:pt x="9795" y="5142"/>
                  <a:pt x="9850" y="5152"/>
                </a:cubicBezTo>
                <a:cubicBezTo>
                  <a:pt x="9901" y="5162"/>
                  <a:pt x="9960" y="5188"/>
                  <a:pt x="9980" y="5210"/>
                </a:cubicBezTo>
                <a:cubicBezTo>
                  <a:pt x="10000" y="5233"/>
                  <a:pt x="10063" y="5253"/>
                  <a:pt x="10121" y="5253"/>
                </a:cubicBezTo>
                <a:cubicBezTo>
                  <a:pt x="10202" y="5253"/>
                  <a:pt x="10228" y="5232"/>
                  <a:pt x="10228" y="5166"/>
                </a:cubicBezTo>
                <a:cubicBezTo>
                  <a:pt x="10228" y="5119"/>
                  <a:pt x="10207" y="5073"/>
                  <a:pt x="10181" y="5065"/>
                </a:cubicBezTo>
                <a:cubicBezTo>
                  <a:pt x="10155" y="5058"/>
                  <a:pt x="10068" y="5029"/>
                  <a:pt x="9988" y="5000"/>
                </a:cubicBezTo>
                <a:cubicBezTo>
                  <a:pt x="9952" y="4987"/>
                  <a:pt x="9922" y="4977"/>
                  <a:pt x="9897" y="4973"/>
                </a:cubicBezTo>
                <a:close/>
                <a:moveTo>
                  <a:pt x="4460" y="4979"/>
                </a:moveTo>
                <a:cubicBezTo>
                  <a:pt x="4392" y="4979"/>
                  <a:pt x="4197" y="5077"/>
                  <a:pt x="4120" y="5156"/>
                </a:cubicBezTo>
                <a:cubicBezTo>
                  <a:pt x="4067" y="5209"/>
                  <a:pt x="4062" y="5232"/>
                  <a:pt x="4099" y="5258"/>
                </a:cubicBezTo>
                <a:cubicBezTo>
                  <a:pt x="4160" y="5301"/>
                  <a:pt x="4132" y="5307"/>
                  <a:pt x="4332" y="5210"/>
                </a:cubicBezTo>
                <a:cubicBezTo>
                  <a:pt x="4489" y="5134"/>
                  <a:pt x="4542" y="5055"/>
                  <a:pt x="4481" y="4986"/>
                </a:cubicBezTo>
                <a:cubicBezTo>
                  <a:pt x="4477" y="4982"/>
                  <a:pt x="4470" y="4979"/>
                  <a:pt x="4460" y="4979"/>
                </a:cubicBezTo>
                <a:close/>
                <a:moveTo>
                  <a:pt x="21577" y="5187"/>
                </a:moveTo>
                <a:cubicBezTo>
                  <a:pt x="21574" y="5186"/>
                  <a:pt x="21572" y="5188"/>
                  <a:pt x="21570" y="5193"/>
                </a:cubicBezTo>
                <a:cubicBezTo>
                  <a:pt x="21567" y="5202"/>
                  <a:pt x="21564" y="5224"/>
                  <a:pt x="21564" y="5253"/>
                </a:cubicBezTo>
                <a:cubicBezTo>
                  <a:pt x="21564" y="5311"/>
                  <a:pt x="21572" y="5333"/>
                  <a:pt x="21583" y="5304"/>
                </a:cubicBezTo>
                <a:cubicBezTo>
                  <a:pt x="21593" y="5275"/>
                  <a:pt x="21593" y="5229"/>
                  <a:pt x="21583" y="5200"/>
                </a:cubicBezTo>
                <a:cubicBezTo>
                  <a:pt x="21580" y="5192"/>
                  <a:pt x="21579" y="5188"/>
                  <a:pt x="21577" y="5187"/>
                </a:cubicBezTo>
                <a:close/>
                <a:moveTo>
                  <a:pt x="10377" y="5253"/>
                </a:moveTo>
                <a:cubicBezTo>
                  <a:pt x="10312" y="5253"/>
                  <a:pt x="10306" y="5266"/>
                  <a:pt x="10338" y="5332"/>
                </a:cubicBezTo>
                <a:cubicBezTo>
                  <a:pt x="10395" y="5453"/>
                  <a:pt x="10640" y="5600"/>
                  <a:pt x="10737" y="5573"/>
                </a:cubicBezTo>
                <a:cubicBezTo>
                  <a:pt x="10819" y="5550"/>
                  <a:pt x="10928" y="5637"/>
                  <a:pt x="10881" y="5690"/>
                </a:cubicBezTo>
                <a:cubicBezTo>
                  <a:pt x="10844" y="5731"/>
                  <a:pt x="10975" y="5929"/>
                  <a:pt x="11066" y="5971"/>
                </a:cubicBezTo>
                <a:cubicBezTo>
                  <a:pt x="11191" y="6027"/>
                  <a:pt x="11244" y="6021"/>
                  <a:pt x="11270" y="5944"/>
                </a:cubicBezTo>
                <a:cubicBezTo>
                  <a:pt x="11299" y="5860"/>
                  <a:pt x="11091" y="5633"/>
                  <a:pt x="10986" y="5633"/>
                </a:cubicBezTo>
                <a:cubicBezTo>
                  <a:pt x="10949" y="5633"/>
                  <a:pt x="10876" y="5584"/>
                  <a:pt x="10826" y="5523"/>
                </a:cubicBezTo>
                <a:cubicBezTo>
                  <a:pt x="10717" y="5392"/>
                  <a:pt x="10486" y="5253"/>
                  <a:pt x="10377" y="5253"/>
                </a:cubicBezTo>
                <a:close/>
                <a:moveTo>
                  <a:pt x="3897" y="5255"/>
                </a:moveTo>
                <a:cubicBezTo>
                  <a:pt x="3870" y="5253"/>
                  <a:pt x="3832" y="5269"/>
                  <a:pt x="3778" y="5302"/>
                </a:cubicBezTo>
                <a:cubicBezTo>
                  <a:pt x="3733" y="5330"/>
                  <a:pt x="3679" y="5357"/>
                  <a:pt x="3658" y="5361"/>
                </a:cubicBezTo>
                <a:cubicBezTo>
                  <a:pt x="3638" y="5364"/>
                  <a:pt x="3601" y="5369"/>
                  <a:pt x="3577" y="5373"/>
                </a:cubicBezTo>
                <a:cubicBezTo>
                  <a:pt x="3553" y="5377"/>
                  <a:pt x="3515" y="5436"/>
                  <a:pt x="3494" y="5506"/>
                </a:cubicBezTo>
                <a:cubicBezTo>
                  <a:pt x="3461" y="5612"/>
                  <a:pt x="3434" y="5632"/>
                  <a:pt x="3330" y="5633"/>
                </a:cubicBezTo>
                <a:cubicBezTo>
                  <a:pt x="3150" y="5634"/>
                  <a:pt x="3019" y="5760"/>
                  <a:pt x="3051" y="5902"/>
                </a:cubicBezTo>
                <a:cubicBezTo>
                  <a:pt x="3065" y="5963"/>
                  <a:pt x="3094" y="6015"/>
                  <a:pt x="3115" y="6015"/>
                </a:cubicBezTo>
                <a:cubicBezTo>
                  <a:pt x="3178" y="6015"/>
                  <a:pt x="3443" y="5759"/>
                  <a:pt x="3461" y="5681"/>
                </a:cubicBezTo>
                <a:cubicBezTo>
                  <a:pt x="3470" y="5640"/>
                  <a:pt x="3520" y="5606"/>
                  <a:pt x="3577" y="5601"/>
                </a:cubicBezTo>
                <a:cubicBezTo>
                  <a:pt x="3725" y="5587"/>
                  <a:pt x="3980" y="5393"/>
                  <a:pt x="3954" y="5315"/>
                </a:cubicBezTo>
                <a:cubicBezTo>
                  <a:pt x="3940" y="5276"/>
                  <a:pt x="3924" y="5257"/>
                  <a:pt x="3897" y="5255"/>
                </a:cubicBezTo>
                <a:close/>
                <a:moveTo>
                  <a:pt x="12414" y="6109"/>
                </a:moveTo>
                <a:cubicBezTo>
                  <a:pt x="12035" y="6111"/>
                  <a:pt x="11662" y="6179"/>
                  <a:pt x="11430" y="6312"/>
                </a:cubicBezTo>
                <a:cubicBezTo>
                  <a:pt x="11350" y="6358"/>
                  <a:pt x="11268" y="6395"/>
                  <a:pt x="11247" y="6395"/>
                </a:cubicBezTo>
                <a:cubicBezTo>
                  <a:pt x="11226" y="6395"/>
                  <a:pt x="11136" y="6485"/>
                  <a:pt x="11047" y="6595"/>
                </a:cubicBezTo>
                <a:cubicBezTo>
                  <a:pt x="10959" y="6705"/>
                  <a:pt x="10852" y="6836"/>
                  <a:pt x="10810" y="6886"/>
                </a:cubicBezTo>
                <a:cubicBezTo>
                  <a:pt x="10728" y="6986"/>
                  <a:pt x="10730" y="6981"/>
                  <a:pt x="10647" y="7344"/>
                </a:cubicBezTo>
                <a:cubicBezTo>
                  <a:pt x="10600" y="7553"/>
                  <a:pt x="10597" y="7634"/>
                  <a:pt x="10636" y="7832"/>
                </a:cubicBezTo>
                <a:cubicBezTo>
                  <a:pt x="10662" y="7963"/>
                  <a:pt x="10692" y="8114"/>
                  <a:pt x="10702" y="8170"/>
                </a:cubicBezTo>
                <a:cubicBezTo>
                  <a:pt x="10712" y="8226"/>
                  <a:pt x="10761" y="8309"/>
                  <a:pt x="10812" y="8354"/>
                </a:cubicBezTo>
                <a:cubicBezTo>
                  <a:pt x="10891" y="8424"/>
                  <a:pt x="10898" y="8448"/>
                  <a:pt x="10861" y="8527"/>
                </a:cubicBezTo>
                <a:cubicBezTo>
                  <a:pt x="10841" y="8568"/>
                  <a:pt x="10833" y="8589"/>
                  <a:pt x="10835" y="8594"/>
                </a:cubicBezTo>
                <a:cubicBezTo>
                  <a:pt x="10838" y="8600"/>
                  <a:pt x="10850" y="8589"/>
                  <a:pt x="10876" y="8564"/>
                </a:cubicBezTo>
                <a:cubicBezTo>
                  <a:pt x="10926" y="8518"/>
                  <a:pt x="10944" y="8521"/>
                  <a:pt x="10986" y="8587"/>
                </a:cubicBezTo>
                <a:cubicBezTo>
                  <a:pt x="11014" y="8631"/>
                  <a:pt x="11064" y="8679"/>
                  <a:pt x="11098" y="8693"/>
                </a:cubicBezTo>
                <a:cubicBezTo>
                  <a:pt x="11156" y="8718"/>
                  <a:pt x="11205" y="8925"/>
                  <a:pt x="11206" y="9151"/>
                </a:cubicBezTo>
                <a:cubicBezTo>
                  <a:pt x="11206" y="9211"/>
                  <a:pt x="11227" y="9281"/>
                  <a:pt x="11251" y="9309"/>
                </a:cubicBezTo>
                <a:cubicBezTo>
                  <a:pt x="11320" y="9385"/>
                  <a:pt x="11440" y="9370"/>
                  <a:pt x="11722" y="9250"/>
                </a:cubicBezTo>
                <a:cubicBezTo>
                  <a:pt x="11863" y="9190"/>
                  <a:pt x="11995" y="9143"/>
                  <a:pt x="12016" y="9144"/>
                </a:cubicBezTo>
                <a:cubicBezTo>
                  <a:pt x="12336" y="9158"/>
                  <a:pt x="12643" y="9194"/>
                  <a:pt x="12744" y="9229"/>
                </a:cubicBezTo>
                <a:cubicBezTo>
                  <a:pt x="12839" y="9262"/>
                  <a:pt x="12896" y="9259"/>
                  <a:pt x="12970" y="9217"/>
                </a:cubicBezTo>
                <a:cubicBezTo>
                  <a:pt x="13024" y="9186"/>
                  <a:pt x="13141" y="9150"/>
                  <a:pt x="13227" y="9137"/>
                </a:cubicBezTo>
                <a:cubicBezTo>
                  <a:pt x="13437" y="9107"/>
                  <a:pt x="13755" y="8939"/>
                  <a:pt x="13930" y="8766"/>
                </a:cubicBezTo>
                <a:cubicBezTo>
                  <a:pt x="14110" y="8589"/>
                  <a:pt x="14279" y="8217"/>
                  <a:pt x="14304" y="7942"/>
                </a:cubicBezTo>
                <a:cubicBezTo>
                  <a:pt x="14332" y="7631"/>
                  <a:pt x="14273" y="7287"/>
                  <a:pt x="14180" y="7214"/>
                </a:cubicBezTo>
                <a:cubicBezTo>
                  <a:pt x="14138" y="7180"/>
                  <a:pt x="14112" y="7135"/>
                  <a:pt x="14123" y="7115"/>
                </a:cubicBezTo>
                <a:cubicBezTo>
                  <a:pt x="14157" y="7053"/>
                  <a:pt x="13978" y="6692"/>
                  <a:pt x="13924" y="6713"/>
                </a:cubicBezTo>
                <a:cubicBezTo>
                  <a:pt x="13897" y="6724"/>
                  <a:pt x="13865" y="6701"/>
                  <a:pt x="13852" y="6660"/>
                </a:cubicBezTo>
                <a:cubicBezTo>
                  <a:pt x="13812" y="6537"/>
                  <a:pt x="13678" y="6419"/>
                  <a:pt x="13438" y="6298"/>
                </a:cubicBezTo>
                <a:cubicBezTo>
                  <a:pt x="13181" y="6168"/>
                  <a:pt x="12794" y="6106"/>
                  <a:pt x="12414" y="6109"/>
                </a:cubicBezTo>
                <a:close/>
                <a:moveTo>
                  <a:pt x="2108" y="6117"/>
                </a:moveTo>
                <a:cubicBezTo>
                  <a:pt x="1990" y="6112"/>
                  <a:pt x="1861" y="6114"/>
                  <a:pt x="1720" y="6123"/>
                </a:cubicBezTo>
                <a:cubicBezTo>
                  <a:pt x="1561" y="6132"/>
                  <a:pt x="1427" y="6145"/>
                  <a:pt x="1311" y="6163"/>
                </a:cubicBezTo>
                <a:cubicBezTo>
                  <a:pt x="1309" y="6164"/>
                  <a:pt x="1309" y="6163"/>
                  <a:pt x="1307" y="6163"/>
                </a:cubicBezTo>
                <a:cubicBezTo>
                  <a:pt x="1306" y="6164"/>
                  <a:pt x="1305" y="6163"/>
                  <a:pt x="1303" y="6163"/>
                </a:cubicBezTo>
                <a:cubicBezTo>
                  <a:pt x="1149" y="6188"/>
                  <a:pt x="1028" y="6225"/>
                  <a:pt x="920" y="6276"/>
                </a:cubicBezTo>
                <a:cubicBezTo>
                  <a:pt x="900" y="6286"/>
                  <a:pt x="880" y="6294"/>
                  <a:pt x="862" y="6305"/>
                </a:cubicBezTo>
                <a:cubicBezTo>
                  <a:pt x="845" y="6314"/>
                  <a:pt x="828" y="6326"/>
                  <a:pt x="812" y="6337"/>
                </a:cubicBezTo>
                <a:cubicBezTo>
                  <a:pt x="788" y="6352"/>
                  <a:pt x="765" y="6368"/>
                  <a:pt x="742" y="6384"/>
                </a:cubicBezTo>
                <a:cubicBezTo>
                  <a:pt x="724" y="6398"/>
                  <a:pt x="704" y="6412"/>
                  <a:pt x="686" y="6427"/>
                </a:cubicBezTo>
                <a:cubicBezTo>
                  <a:pt x="662" y="6447"/>
                  <a:pt x="637" y="6468"/>
                  <a:pt x="614" y="6490"/>
                </a:cubicBezTo>
                <a:cubicBezTo>
                  <a:pt x="608" y="6496"/>
                  <a:pt x="604" y="6503"/>
                  <a:pt x="598" y="6508"/>
                </a:cubicBezTo>
                <a:cubicBezTo>
                  <a:pt x="494" y="6613"/>
                  <a:pt x="401" y="6743"/>
                  <a:pt x="312" y="6902"/>
                </a:cubicBezTo>
                <a:cubicBezTo>
                  <a:pt x="304" y="6917"/>
                  <a:pt x="295" y="6931"/>
                  <a:pt x="287" y="6947"/>
                </a:cubicBezTo>
                <a:cubicBezTo>
                  <a:pt x="258" y="7002"/>
                  <a:pt x="231" y="7058"/>
                  <a:pt x="204" y="7116"/>
                </a:cubicBezTo>
                <a:cubicBezTo>
                  <a:pt x="203" y="7119"/>
                  <a:pt x="202" y="7121"/>
                  <a:pt x="201" y="7123"/>
                </a:cubicBezTo>
                <a:cubicBezTo>
                  <a:pt x="199" y="7129"/>
                  <a:pt x="197" y="7132"/>
                  <a:pt x="195" y="7138"/>
                </a:cubicBezTo>
                <a:cubicBezTo>
                  <a:pt x="151" y="7236"/>
                  <a:pt x="117" y="7320"/>
                  <a:pt x="88" y="7399"/>
                </a:cubicBezTo>
                <a:cubicBezTo>
                  <a:pt x="63" y="7467"/>
                  <a:pt x="42" y="7533"/>
                  <a:pt x="27" y="7592"/>
                </a:cubicBezTo>
                <a:cubicBezTo>
                  <a:pt x="12" y="7656"/>
                  <a:pt x="4" y="7716"/>
                  <a:pt x="0" y="7776"/>
                </a:cubicBezTo>
                <a:cubicBezTo>
                  <a:pt x="-3" y="7879"/>
                  <a:pt x="12" y="8009"/>
                  <a:pt x="41" y="8144"/>
                </a:cubicBezTo>
                <a:cubicBezTo>
                  <a:pt x="47" y="8168"/>
                  <a:pt x="52" y="8191"/>
                  <a:pt x="60" y="8216"/>
                </a:cubicBezTo>
                <a:cubicBezTo>
                  <a:pt x="109" y="8385"/>
                  <a:pt x="148" y="8503"/>
                  <a:pt x="179" y="8575"/>
                </a:cubicBezTo>
                <a:cubicBezTo>
                  <a:pt x="179" y="8575"/>
                  <a:pt x="181" y="8575"/>
                  <a:pt x="181" y="8575"/>
                </a:cubicBezTo>
                <a:cubicBezTo>
                  <a:pt x="181" y="8576"/>
                  <a:pt x="182" y="8577"/>
                  <a:pt x="182" y="8578"/>
                </a:cubicBezTo>
                <a:cubicBezTo>
                  <a:pt x="200" y="8614"/>
                  <a:pt x="218" y="8642"/>
                  <a:pt x="236" y="8660"/>
                </a:cubicBezTo>
                <a:cubicBezTo>
                  <a:pt x="242" y="8663"/>
                  <a:pt x="249" y="8664"/>
                  <a:pt x="254" y="8660"/>
                </a:cubicBezTo>
                <a:cubicBezTo>
                  <a:pt x="266" y="8652"/>
                  <a:pt x="292" y="8675"/>
                  <a:pt x="322" y="8708"/>
                </a:cubicBezTo>
                <a:cubicBezTo>
                  <a:pt x="329" y="8713"/>
                  <a:pt x="335" y="8721"/>
                  <a:pt x="342" y="8729"/>
                </a:cubicBezTo>
                <a:cubicBezTo>
                  <a:pt x="348" y="8737"/>
                  <a:pt x="353" y="8741"/>
                  <a:pt x="360" y="8750"/>
                </a:cubicBezTo>
                <a:cubicBezTo>
                  <a:pt x="416" y="8831"/>
                  <a:pt x="519" y="8907"/>
                  <a:pt x="655" y="8978"/>
                </a:cubicBezTo>
                <a:cubicBezTo>
                  <a:pt x="674" y="8988"/>
                  <a:pt x="689" y="8998"/>
                  <a:pt x="710" y="9008"/>
                </a:cubicBezTo>
                <a:cubicBezTo>
                  <a:pt x="764" y="9034"/>
                  <a:pt x="823" y="9059"/>
                  <a:pt x="887" y="9082"/>
                </a:cubicBezTo>
                <a:cubicBezTo>
                  <a:pt x="1095" y="9160"/>
                  <a:pt x="1755" y="9231"/>
                  <a:pt x="1783" y="9180"/>
                </a:cubicBezTo>
                <a:cubicBezTo>
                  <a:pt x="1794" y="9159"/>
                  <a:pt x="1824" y="9152"/>
                  <a:pt x="1852" y="9164"/>
                </a:cubicBezTo>
                <a:cubicBezTo>
                  <a:pt x="1880" y="9176"/>
                  <a:pt x="1993" y="9170"/>
                  <a:pt x="2103" y="9150"/>
                </a:cubicBezTo>
                <a:cubicBezTo>
                  <a:pt x="2247" y="9123"/>
                  <a:pt x="2313" y="9127"/>
                  <a:pt x="2340" y="9164"/>
                </a:cubicBezTo>
                <a:cubicBezTo>
                  <a:pt x="2361" y="9191"/>
                  <a:pt x="2480" y="9244"/>
                  <a:pt x="2604" y="9282"/>
                </a:cubicBezTo>
                <a:cubicBezTo>
                  <a:pt x="3044" y="9417"/>
                  <a:pt x="3112" y="9382"/>
                  <a:pt x="3112" y="9017"/>
                </a:cubicBezTo>
                <a:cubicBezTo>
                  <a:pt x="3112" y="8788"/>
                  <a:pt x="3120" y="8769"/>
                  <a:pt x="3254" y="8651"/>
                </a:cubicBezTo>
                <a:cubicBezTo>
                  <a:pt x="3331" y="8583"/>
                  <a:pt x="3420" y="8534"/>
                  <a:pt x="3451" y="8545"/>
                </a:cubicBezTo>
                <a:cubicBezTo>
                  <a:pt x="3495" y="8560"/>
                  <a:pt x="3497" y="8555"/>
                  <a:pt x="3464" y="8515"/>
                </a:cubicBezTo>
                <a:cubicBezTo>
                  <a:pt x="3431" y="8475"/>
                  <a:pt x="3442" y="8426"/>
                  <a:pt x="3511" y="8311"/>
                </a:cubicBezTo>
                <a:cubicBezTo>
                  <a:pt x="3657" y="8070"/>
                  <a:pt x="3761" y="7604"/>
                  <a:pt x="3687" y="7521"/>
                </a:cubicBezTo>
                <a:cubicBezTo>
                  <a:pt x="3671" y="7504"/>
                  <a:pt x="3656" y="7438"/>
                  <a:pt x="3652" y="7376"/>
                </a:cubicBezTo>
                <a:cubicBezTo>
                  <a:pt x="3633" y="7035"/>
                  <a:pt x="3591" y="6860"/>
                  <a:pt x="3531" y="6871"/>
                </a:cubicBezTo>
                <a:cubicBezTo>
                  <a:pt x="3493" y="6878"/>
                  <a:pt x="3465" y="6848"/>
                  <a:pt x="3458" y="6787"/>
                </a:cubicBezTo>
                <a:cubicBezTo>
                  <a:pt x="3451" y="6735"/>
                  <a:pt x="3432" y="6700"/>
                  <a:pt x="3415" y="6711"/>
                </a:cubicBezTo>
                <a:cubicBezTo>
                  <a:pt x="3399" y="6723"/>
                  <a:pt x="3355" y="6694"/>
                  <a:pt x="3318" y="6648"/>
                </a:cubicBezTo>
                <a:cubicBezTo>
                  <a:pt x="3281" y="6602"/>
                  <a:pt x="3265" y="6565"/>
                  <a:pt x="3282" y="6565"/>
                </a:cubicBezTo>
                <a:cubicBezTo>
                  <a:pt x="3299" y="6565"/>
                  <a:pt x="3182" y="6488"/>
                  <a:pt x="3023" y="6393"/>
                </a:cubicBezTo>
                <a:cubicBezTo>
                  <a:pt x="2729" y="6219"/>
                  <a:pt x="2462" y="6135"/>
                  <a:pt x="2108" y="6117"/>
                </a:cubicBezTo>
                <a:close/>
                <a:moveTo>
                  <a:pt x="7278" y="6807"/>
                </a:moveTo>
                <a:cubicBezTo>
                  <a:pt x="7152" y="6800"/>
                  <a:pt x="7030" y="6814"/>
                  <a:pt x="6965" y="6853"/>
                </a:cubicBezTo>
                <a:cubicBezTo>
                  <a:pt x="6945" y="6865"/>
                  <a:pt x="6928" y="6874"/>
                  <a:pt x="6907" y="6881"/>
                </a:cubicBezTo>
                <a:cubicBezTo>
                  <a:pt x="6887" y="6888"/>
                  <a:pt x="6861" y="6894"/>
                  <a:pt x="6826" y="6897"/>
                </a:cubicBezTo>
                <a:cubicBezTo>
                  <a:pt x="6755" y="6904"/>
                  <a:pt x="6642" y="6905"/>
                  <a:pt x="6427" y="6906"/>
                </a:cubicBezTo>
                <a:cubicBezTo>
                  <a:pt x="6360" y="6906"/>
                  <a:pt x="6294" y="6915"/>
                  <a:pt x="6232" y="6925"/>
                </a:cubicBezTo>
                <a:cubicBezTo>
                  <a:pt x="6156" y="6940"/>
                  <a:pt x="6084" y="6961"/>
                  <a:pt x="6019" y="6989"/>
                </a:cubicBezTo>
                <a:cubicBezTo>
                  <a:pt x="6010" y="6993"/>
                  <a:pt x="6007" y="6994"/>
                  <a:pt x="5998" y="6998"/>
                </a:cubicBezTo>
                <a:cubicBezTo>
                  <a:pt x="5884" y="7051"/>
                  <a:pt x="5797" y="7122"/>
                  <a:pt x="5757" y="7201"/>
                </a:cubicBezTo>
                <a:cubicBezTo>
                  <a:pt x="5756" y="7204"/>
                  <a:pt x="5753" y="7206"/>
                  <a:pt x="5752" y="7208"/>
                </a:cubicBezTo>
                <a:cubicBezTo>
                  <a:pt x="5736" y="7243"/>
                  <a:pt x="5724" y="7268"/>
                  <a:pt x="5711" y="7288"/>
                </a:cubicBezTo>
                <a:cubicBezTo>
                  <a:pt x="5708" y="7292"/>
                  <a:pt x="5704" y="7295"/>
                  <a:pt x="5700" y="7298"/>
                </a:cubicBezTo>
                <a:cubicBezTo>
                  <a:pt x="5691" y="7309"/>
                  <a:pt x="5682" y="7319"/>
                  <a:pt x="5670" y="7325"/>
                </a:cubicBezTo>
                <a:cubicBezTo>
                  <a:pt x="5658" y="7331"/>
                  <a:pt x="5640" y="7332"/>
                  <a:pt x="5622" y="7334"/>
                </a:cubicBezTo>
                <a:cubicBezTo>
                  <a:pt x="5616" y="7334"/>
                  <a:pt x="5613" y="7337"/>
                  <a:pt x="5606" y="7337"/>
                </a:cubicBezTo>
                <a:cubicBezTo>
                  <a:pt x="5576" y="7339"/>
                  <a:pt x="5537" y="7336"/>
                  <a:pt x="5485" y="7334"/>
                </a:cubicBezTo>
                <a:cubicBezTo>
                  <a:pt x="5485" y="7334"/>
                  <a:pt x="5484" y="7334"/>
                  <a:pt x="5484" y="7334"/>
                </a:cubicBezTo>
                <a:cubicBezTo>
                  <a:pt x="5389" y="7330"/>
                  <a:pt x="5273" y="7352"/>
                  <a:pt x="5171" y="7389"/>
                </a:cubicBezTo>
                <a:cubicBezTo>
                  <a:pt x="5138" y="7404"/>
                  <a:pt x="5101" y="7422"/>
                  <a:pt x="5060" y="7445"/>
                </a:cubicBezTo>
                <a:cubicBezTo>
                  <a:pt x="5022" y="7466"/>
                  <a:pt x="4997" y="7484"/>
                  <a:pt x="4967" y="7504"/>
                </a:cubicBezTo>
                <a:cubicBezTo>
                  <a:pt x="4957" y="7514"/>
                  <a:pt x="4947" y="7525"/>
                  <a:pt x="4941" y="7535"/>
                </a:cubicBezTo>
                <a:cubicBezTo>
                  <a:pt x="4929" y="7556"/>
                  <a:pt x="4908" y="7561"/>
                  <a:pt x="4889" y="7557"/>
                </a:cubicBezTo>
                <a:cubicBezTo>
                  <a:pt x="4871" y="7572"/>
                  <a:pt x="4860" y="7585"/>
                  <a:pt x="4864" y="7590"/>
                </a:cubicBezTo>
                <a:cubicBezTo>
                  <a:pt x="4876" y="7603"/>
                  <a:pt x="4846" y="7651"/>
                  <a:pt x="4796" y="7694"/>
                </a:cubicBezTo>
                <a:cubicBezTo>
                  <a:pt x="4772" y="7716"/>
                  <a:pt x="4749" y="7743"/>
                  <a:pt x="4732" y="7769"/>
                </a:cubicBezTo>
                <a:cubicBezTo>
                  <a:pt x="4715" y="7795"/>
                  <a:pt x="4703" y="7818"/>
                  <a:pt x="4702" y="7836"/>
                </a:cubicBezTo>
                <a:cubicBezTo>
                  <a:pt x="4701" y="7853"/>
                  <a:pt x="4694" y="7888"/>
                  <a:pt x="4683" y="7930"/>
                </a:cubicBezTo>
                <a:cubicBezTo>
                  <a:pt x="4673" y="7971"/>
                  <a:pt x="4659" y="8019"/>
                  <a:pt x="4644" y="8064"/>
                </a:cubicBezTo>
                <a:cubicBezTo>
                  <a:pt x="4644" y="8064"/>
                  <a:pt x="4644" y="8065"/>
                  <a:pt x="4644" y="8066"/>
                </a:cubicBezTo>
                <a:cubicBezTo>
                  <a:pt x="4633" y="8100"/>
                  <a:pt x="4623" y="8127"/>
                  <a:pt x="4611" y="8151"/>
                </a:cubicBezTo>
                <a:cubicBezTo>
                  <a:pt x="4589" y="8195"/>
                  <a:pt x="4561" y="8222"/>
                  <a:pt x="4520" y="8246"/>
                </a:cubicBezTo>
                <a:cubicBezTo>
                  <a:pt x="4517" y="8248"/>
                  <a:pt x="4516" y="8251"/>
                  <a:pt x="4512" y="8253"/>
                </a:cubicBezTo>
                <a:cubicBezTo>
                  <a:pt x="4512" y="8253"/>
                  <a:pt x="4511" y="8253"/>
                  <a:pt x="4511" y="8253"/>
                </a:cubicBezTo>
                <a:cubicBezTo>
                  <a:pt x="4495" y="8261"/>
                  <a:pt x="4473" y="8270"/>
                  <a:pt x="4453" y="8278"/>
                </a:cubicBezTo>
                <a:cubicBezTo>
                  <a:pt x="4443" y="8282"/>
                  <a:pt x="4437" y="8286"/>
                  <a:pt x="4426" y="8290"/>
                </a:cubicBezTo>
                <a:cubicBezTo>
                  <a:pt x="4415" y="8294"/>
                  <a:pt x="4400" y="8302"/>
                  <a:pt x="4388" y="8308"/>
                </a:cubicBezTo>
                <a:cubicBezTo>
                  <a:pt x="4370" y="8315"/>
                  <a:pt x="4353" y="8327"/>
                  <a:pt x="4335" y="8336"/>
                </a:cubicBezTo>
                <a:cubicBezTo>
                  <a:pt x="4260" y="8380"/>
                  <a:pt x="4178" y="8441"/>
                  <a:pt x="4126" y="8497"/>
                </a:cubicBezTo>
                <a:cubicBezTo>
                  <a:pt x="4052" y="8577"/>
                  <a:pt x="3980" y="8630"/>
                  <a:pt x="3966" y="8614"/>
                </a:cubicBezTo>
                <a:cubicBezTo>
                  <a:pt x="3965" y="8612"/>
                  <a:pt x="3964" y="8611"/>
                  <a:pt x="3963" y="8610"/>
                </a:cubicBezTo>
                <a:cubicBezTo>
                  <a:pt x="3950" y="8621"/>
                  <a:pt x="3941" y="8636"/>
                  <a:pt x="3941" y="8656"/>
                </a:cubicBezTo>
                <a:cubicBezTo>
                  <a:pt x="3941" y="8688"/>
                  <a:pt x="3906" y="8741"/>
                  <a:pt x="3864" y="8773"/>
                </a:cubicBezTo>
                <a:cubicBezTo>
                  <a:pt x="3750" y="8859"/>
                  <a:pt x="3705" y="9321"/>
                  <a:pt x="3767" y="9763"/>
                </a:cubicBezTo>
                <a:cubicBezTo>
                  <a:pt x="3819" y="10136"/>
                  <a:pt x="3817" y="10269"/>
                  <a:pt x="3762" y="10371"/>
                </a:cubicBezTo>
                <a:cubicBezTo>
                  <a:pt x="3724" y="10442"/>
                  <a:pt x="3715" y="10528"/>
                  <a:pt x="3732" y="10667"/>
                </a:cubicBezTo>
                <a:cubicBezTo>
                  <a:pt x="3769" y="10959"/>
                  <a:pt x="3837" y="11198"/>
                  <a:pt x="3892" y="11236"/>
                </a:cubicBezTo>
                <a:cubicBezTo>
                  <a:pt x="3919" y="11254"/>
                  <a:pt x="3940" y="11293"/>
                  <a:pt x="3941" y="11321"/>
                </a:cubicBezTo>
                <a:cubicBezTo>
                  <a:pt x="3942" y="11349"/>
                  <a:pt x="4007" y="11407"/>
                  <a:pt x="4087" y="11448"/>
                </a:cubicBezTo>
                <a:cubicBezTo>
                  <a:pt x="4167" y="11489"/>
                  <a:pt x="4275" y="11567"/>
                  <a:pt x="4327" y="11621"/>
                </a:cubicBezTo>
                <a:cubicBezTo>
                  <a:pt x="4379" y="11675"/>
                  <a:pt x="4451" y="11732"/>
                  <a:pt x="4486" y="11747"/>
                </a:cubicBezTo>
                <a:cubicBezTo>
                  <a:pt x="4527" y="11765"/>
                  <a:pt x="4540" y="11801"/>
                  <a:pt x="4525" y="11855"/>
                </a:cubicBezTo>
                <a:cubicBezTo>
                  <a:pt x="4500" y="11944"/>
                  <a:pt x="4533" y="11978"/>
                  <a:pt x="4732" y="12065"/>
                </a:cubicBezTo>
                <a:cubicBezTo>
                  <a:pt x="5021" y="12191"/>
                  <a:pt x="5199" y="12228"/>
                  <a:pt x="5339" y="12192"/>
                </a:cubicBezTo>
                <a:cubicBezTo>
                  <a:pt x="5457" y="12163"/>
                  <a:pt x="5516" y="12178"/>
                  <a:pt x="5716" y="12284"/>
                </a:cubicBezTo>
                <a:cubicBezTo>
                  <a:pt x="5986" y="12428"/>
                  <a:pt x="6243" y="12448"/>
                  <a:pt x="6494" y="12348"/>
                </a:cubicBezTo>
                <a:cubicBezTo>
                  <a:pt x="6585" y="12312"/>
                  <a:pt x="6657" y="12303"/>
                  <a:pt x="6670" y="12327"/>
                </a:cubicBezTo>
                <a:cubicBezTo>
                  <a:pt x="6682" y="12348"/>
                  <a:pt x="6772" y="12394"/>
                  <a:pt x="6870" y="12427"/>
                </a:cubicBezTo>
                <a:cubicBezTo>
                  <a:pt x="7110" y="12511"/>
                  <a:pt x="7309" y="12506"/>
                  <a:pt x="7548" y="12413"/>
                </a:cubicBezTo>
                <a:cubicBezTo>
                  <a:pt x="7727" y="12343"/>
                  <a:pt x="7771" y="12343"/>
                  <a:pt x="7987" y="12394"/>
                </a:cubicBezTo>
                <a:cubicBezTo>
                  <a:pt x="8192" y="12442"/>
                  <a:pt x="8253" y="12440"/>
                  <a:pt x="8412" y="12387"/>
                </a:cubicBezTo>
                <a:cubicBezTo>
                  <a:pt x="8515" y="12353"/>
                  <a:pt x="8643" y="12285"/>
                  <a:pt x="8698" y="12237"/>
                </a:cubicBezTo>
                <a:cubicBezTo>
                  <a:pt x="8785" y="12160"/>
                  <a:pt x="8819" y="12155"/>
                  <a:pt x="8968" y="12191"/>
                </a:cubicBezTo>
                <a:cubicBezTo>
                  <a:pt x="9062" y="12213"/>
                  <a:pt x="9196" y="12215"/>
                  <a:pt x="9266" y="12198"/>
                </a:cubicBezTo>
                <a:cubicBezTo>
                  <a:pt x="9405" y="12162"/>
                  <a:pt x="9784" y="11932"/>
                  <a:pt x="9778" y="11886"/>
                </a:cubicBezTo>
                <a:cubicBezTo>
                  <a:pt x="9775" y="11871"/>
                  <a:pt x="9801" y="11801"/>
                  <a:pt x="9833" y="11731"/>
                </a:cubicBezTo>
                <a:cubicBezTo>
                  <a:pt x="9871" y="11648"/>
                  <a:pt x="9919" y="11606"/>
                  <a:pt x="9974" y="11605"/>
                </a:cubicBezTo>
                <a:cubicBezTo>
                  <a:pt x="10089" y="11605"/>
                  <a:pt x="10401" y="11295"/>
                  <a:pt x="10500" y="11082"/>
                </a:cubicBezTo>
                <a:cubicBezTo>
                  <a:pt x="10562" y="10949"/>
                  <a:pt x="10579" y="10846"/>
                  <a:pt x="10572" y="10652"/>
                </a:cubicBezTo>
                <a:cubicBezTo>
                  <a:pt x="10552" y="10125"/>
                  <a:pt x="10552" y="10008"/>
                  <a:pt x="10581" y="9657"/>
                </a:cubicBezTo>
                <a:cubicBezTo>
                  <a:pt x="10622" y="9164"/>
                  <a:pt x="10550" y="8883"/>
                  <a:pt x="10316" y="8619"/>
                </a:cubicBezTo>
                <a:cubicBezTo>
                  <a:pt x="10223" y="8514"/>
                  <a:pt x="10126" y="8428"/>
                  <a:pt x="10101" y="8428"/>
                </a:cubicBezTo>
                <a:cubicBezTo>
                  <a:pt x="10024" y="8428"/>
                  <a:pt x="9889" y="8301"/>
                  <a:pt x="9889" y="8228"/>
                </a:cubicBezTo>
                <a:cubicBezTo>
                  <a:pt x="9889" y="8133"/>
                  <a:pt x="9736" y="7783"/>
                  <a:pt x="9665" y="7716"/>
                </a:cubicBezTo>
                <a:cubicBezTo>
                  <a:pt x="9519" y="7578"/>
                  <a:pt x="9222" y="7456"/>
                  <a:pt x="9038" y="7456"/>
                </a:cubicBezTo>
                <a:cubicBezTo>
                  <a:pt x="8860" y="7455"/>
                  <a:pt x="8839" y="7443"/>
                  <a:pt x="8723" y="7281"/>
                </a:cubicBezTo>
                <a:cubicBezTo>
                  <a:pt x="8551" y="7040"/>
                  <a:pt x="8126" y="6824"/>
                  <a:pt x="8031" y="6931"/>
                </a:cubicBezTo>
                <a:cubicBezTo>
                  <a:pt x="7978" y="6990"/>
                  <a:pt x="7754" y="6968"/>
                  <a:pt x="7615" y="6888"/>
                </a:cubicBezTo>
                <a:cubicBezTo>
                  <a:pt x="7533" y="6841"/>
                  <a:pt x="7403" y="6814"/>
                  <a:pt x="7278" y="6807"/>
                </a:cubicBezTo>
                <a:close/>
                <a:moveTo>
                  <a:pt x="1863" y="9473"/>
                </a:moveTo>
                <a:cubicBezTo>
                  <a:pt x="1844" y="9477"/>
                  <a:pt x="1823" y="9497"/>
                  <a:pt x="1789" y="9535"/>
                </a:cubicBezTo>
                <a:lnTo>
                  <a:pt x="1712" y="9622"/>
                </a:lnTo>
                <a:lnTo>
                  <a:pt x="1791" y="9683"/>
                </a:lnTo>
                <a:cubicBezTo>
                  <a:pt x="1834" y="9718"/>
                  <a:pt x="1869" y="9775"/>
                  <a:pt x="1869" y="9811"/>
                </a:cubicBezTo>
                <a:cubicBezTo>
                  <a:pt x="1869" y="9847"/>
                  <a:pt x="1912" y="9915"/>
                  <a:pt x="1963" y="9961"/>
                </a:cubicBezTo>
                <a:cubicBezTo>
                  <a:pt x="2015" y="10007"/>
                  <a:pt x="2058" y="10065"/>
                  <a:pt x="2058" y="10092"/>
                </a:cubicBezTo>
                <a:cubicBezTo>
                  <a:pt x="2058" y="10118"/>
                  <a:pt x="2120" y="10211"/>
                  <a:pt x="2196" y="10299"/>
                </a:cubicBezTo>
                <a:cubicBezTo>
                  <a:pt x="2329" y="10452"/>
                  <a:pt x="2397" y="10473"/>
                  <a:pt x="2397" y="10361"/>
                </a:cubicBezTo>
                <a:cubicBezTo>
                  <a:pt x="2397" y="10293"/>
                  <a:pt x="2132" y="9941"/>
                  <a:pt x="2105" y="9972"/>
                </a:cubicBezTo>
                <a:cubicBezTo>
                  <a:pt x="2073" y="10007"/>
                  <a:pt x="1980" y="9906"/>
                  <a:pt x="2004" y="9862"/>
                </a:cubicBezTo>
                <a:cubicBezTo>
                  <a:pt x="2036" y="9804"/>
                  <a:pt x="1985" y="9580"/>
                  <a:pt x="1923" y="9510"/>
                </a:cubicBezTo>
                <a:cubicBezTo>
                  <a:pt x="1899" y="9483"/>
                  <a:pt x="1882" y="9470"/>
                  <a:pt x="1863" y="9473"/>
                </a:cubicBezTo>
                <a:close/>
                <a:moveTo>
                  <a:pt x="12483" y="9498"/>
                </a:moveTo>
                <a:cubicBezTo>
                  <a:pt x="12428" y="9486"/>
                  <a:pt x="12298" y="9704"/>
                  <a:pt x="12298" y="9809"/>
                </a:cubicBezTo>
                <a:cubicBezTo>
                  <a:pt x="12298" y="9918"/>
                  <a:pt x="12411" y="9871"/>
                  <a:pt x="12486" y="9731"/>
                </a:cubicBezTo>
                <a:cubicBezTo>
                  <a:pt x="12567" y="9582"/>
                  <a:pt x="12567" y="9515"/>
                  <a:pt x="12483" y="9498"/>
                </a:cubicBezTo>
                <a:close/>
                <a:moveTo>
                  <a:pt x="12179" y="9958"/>
                </a:moveTo>
                <a:cubicBezTo>
                  <a:pt x="12133" y="9955"/>
                  <a:pt x="12079" y="10001"/>
                  <a:pt x="12000" y="10103"/>
                </a:cubicBezTo>
                <a:cubicBezTo>
                  <a:pt x="11885" y="10249"/>
                  <a:pt x="11859" y="10335"/>
                  <a:pt x="11909" y="10391"/>
                </a:cubicBezTo>
                <a:cubicBezTo>
                  <a:pt x="11963" y="10451"/>
                  <a:pt x="12032" y="10412"/>
                  <a:pt x="12165" y="10246"/>
                </a:cubicBezTo>
                <a:cubicBezTo>
                  <a:pt x="12276" y="10107"/>
                  <a:pt x="12293" y="10063"/>
                  <a:pt x="12257" y="10014"/>
                </a:cubicBezTo>
                <a:cubicBezTo>
                  <a:pt x="12231" y="9979"/>
                  <a:pt x="12207" y="9959"/>
                  <a:pt x="12179" y="9958"/>
                </a:cubicBezTo>
                <a:close/>
                <a:moveTo>
                  <a:pt x="11763" y="10520"/>
                </a:moveTo>
                <a:cubicBezTo>
                  <a:pt x="11746" y="10520"/>
                  <a:pt x="11727" y="10524"/>
                  <a:pt x="11705" y="10530"/>
                </a:cubicBezTo>
                <a:cubicBezTo>
                  <a:pt x="11594" y="10560"/>
                  <a:pt x="11457" y="10672"/>
                  <a:pt x="11488" y="10707"/>
                </a:cubicBezTo>
                <a:cubicBezTo>
                  <a:pt x="11499" y="10719"/>
                  <a:pt x="11489" y="10753"/>
                  <a:pt x="11466" y="10783"/>
                </a:cubicBezTo>
                <a:cubicBezTo>
                  <a:pt x="11444" y="10813"/>
                  <a:pt x="11437" y="10858"/>
                  <a:pt x="11451" y="10882"/>
                </a:cubicBezTo>
                <a:cubicBezTo>
                  <a:pt x="11491" y="10956"/>
                  <a:pt x="11557" y="10932"/>
                  <a:pt x="11711" y="10783"/>
                </a:cubicBezTo>
                <a:cubicBezTo>
                  <a:pt x="11863" y="10637"/>
                  <a:pt x="11879" y="10516"/>
                  <a:pt x="11763" y="10520"/>
                </a:cubicBezTo>
                <a:close/>
                <a:moveTo>
                  <a:pt x="2572" y="10553"/>
                </a:moveTo>
                <a:cubicBezTo>
                  <a:pt x="2550" y="10559"/>
                  <a:pt x="2532" y="10585"/>
                  <a:pt x="2513" y="10626"/>
                </a:cubicBezTo>
                <a:cubicBezTo>
                  <a:pt x="2482" y="10691"/>
                  <a:pt x="2502" y="10725"/>
                  <a:pt x="2634" y="10834"/>
                </a:cubicBezTo>
                <a:cubicBezTo>
                  <a:pt x="2820" y="10989"/>
                  <a:pt x="2833" y="10994"/>
                  <a:pt x="2866" y="10896"/>
                </a:cubicBezTo>
                <a:cubicBezTo>
                  <a:pt x="2884" y="10844"/>
                  <a:pt x="2852" y="10782"/>
                  <a:pt x="2758" y="10684"/>
                </a:cubicBezTo>
                <a:cubicBezTo>
                  <a:pt x="2662" y="10585"/>
                  <a:pt x="2610" y="10544"/>
                  <a:pt x="2572" y="10553"/>
                </a:cubicBezTo>
                <a:close/>
                <a:moveTo>
                  <a:pt x="2985" y="10930"/>
                </a:moveTo>
                <a:cubicBezTo>
                  <a:pt x="2952" y="10967"/>
                  <a:pt x="3056" y="11267"/>
                  <a:pt x="3095" y="11250"/>
                </a:cubicBezTo>
                <a:cubicBezTo>
                  <a:pt x="3117" y="11241"/>
                  <a:pt x="3166" y="11260"/>
                  <a:pt x="3205" y="11292"/>
                </a:cubicBezTo>
                <a:cubicBezTo>
                  <a:pt x="3301" y="11372"/>
                  <a:pt x="3320" y="11367"/>
                  <a:pt x="3389" y="11250"/>
                </a:cubicBezTo>
                <a:cubicBezTo>
                  <a:pt x="3437" y="11166"/>
                  <a:pt x="3438" y="11137"/>
                  <a:pt x="3398" y="11075"/>
                </a:cubicBezTo>
                <a:cubicBezTo>
                  <a:pt x="3369" y="11031"/>
                  <a:pt x="3331" y="11012"/>
                  <a:pt x="3304" y="11031"/>
                </a:cubicBezTo>
                <a:cubicBezTo>
                  <a:pt x="3278" y="11049"/>
                  <a:pt x="3200" y="11029"/>
                  <a:pt x="3130" y="10987"/>
                </a:cubicBezTo>
                <a:cubicBezTo>
                  <a:pt x="3060" y="10944"/>
                  <a:pt x="2995" y="10919"/>
                  <a:pt x="2985" y="10930"/>
                </a:cubicBezTo>
                <a:close/>
                <a:moveTo>
                  <a:pt x="11280" y="10976"/>
                </a:moveTo>
                <a:cubicBezTo>
                  <a:pt x="11263" y="10975"/>
                  <a:pt x="11242" y="10977"/>
                  <a:pt x="11218" y="10983"/>
                </a:cubicBezTo>
                <a:cubicBezTo>
                  <a:pt x="11172" y="10999"/>
                  <a:pt x="11117" y="11033"/>
                  <a:pt x="11055" y="11091"/>
                </a:cubicBezTo>
                <a:cubicBezTo>
                  <a:pt x="11014" y="11130"/>
                  <a:pt x="10990" y="11156"/>
                  <a:pt x="10974" y="11179"/>
                </a:cubicBezTo>
                <a:cubicBezTo>
                  <a:pt x="10960" y="11217"/>
                  <a:pt x="10959" y="11254"/>
                  <a:pt x="10980" y="11285"/>
                </a:cubicBezTo>
                <a:cubicBezTo>
                  <a:pt x="10989" y="11297"/>
                  <a:pt x="10997" y="11309"/>
                  <a:pt x="11005" y="11315"/>
                </a:cubicBezTo>
                <a:cubicBezTo>
                  <a:pt x="11014" y="11323"/>
                  <a:pt x="11024" y="11327"/>
                  <a:pt x="11035" y="11328"/>
                </a:cubicBezTo>
                <a:cubicBezTo>
                  <a:pt x="11045" y="11328"/>
                  <a:pt x="11056" y="11325"/>
                  <a:pt x="11071" y="11319"/>
                </a:cubicBezTo>
                <a:cubicBezTo>
                  <a:pt x="11086" y="11313"/>
                  <a:pt x="11104" y="11303"/>
                  <a:pt x="11126" y="11291"/>
                </a:cubicBezTo>
                <a:cubicBezTo>
                  <a:pt x="11193" y="11252"/>
                  <a:pt x="11253" y="11196"/>
                  <a:pt x="11294" y="11144"/>
                </a:cubicBezTo>
                <a:cubicBezTo>
                  <a:pt x="11310" y="11123"/>
                  <a:pt x="11321" y="11104"/>
                  <a:pt x="11330" y="11086"/>
                </a:cubicBezTo>
                <a:cubicBezTo>
                  <a:pt x="11343" y="11051"/>
                  <a:pt x="11343" y="11022"/>
                  <a:pt x="11330" y="11002"/>
                </a:cubicBezTo>
                <a:cubicBezTo>
                  <a:pt x="11327" y="10999"/>
                  <a:pt x="11325" y="10995"/>
                  <a:pt x="11322" y="10992"/>
                </a:cubicBezTo>
                <a:cubicBezTo>
                  <a:pt x="11313" y="10984"/>
                  <a:pt x="11302" y="10978"/>
                  <a:pt x="11287" y="10976"/>
                </a:cubicBezTo>
                <a:cubicBezTo>
                  <a:pt x="11285" y="10975"/>
                  <a:pt x="11282" y="10976"/>
                  <a:pt x="11280" y="10976"/>
                </a:cubicBezTo>
                <a:close/>
                <a:moveTo>
                  <a:pt x="4354" y="13184"/>
                </a:moveTo>
                <a:cubicBezTo>
                  <a:pt x="4337" y="13185"/>
                  <a:pt x="4319" y="13196"/>
                  <a:pt x="4297" y="13216"/>
                </a:cubicBezTo>
                <a:cubicBezTo>
                  <a:pt x="4249" y="13261"/>
                  <a:pt x="4242" y="13394"/>
                  <a:pt x="4250" y="14058"/>
                </a:cubicBezTo>
                <a:lnTo>
                  <a:pt x="4261" y="14844"/>
                </a:lnTo>
                <a:lnTo>
                  <a:pt x="4404" y="14859"/>
                </a:lnTo>
                <a:cubicBezTo>
                  <a:pt x="4634" y="14880"/>
                  <a:pt x="4665" y="14821"/>
                  <a:pt x="4636" y="14424"/>
                </a:cubicBezTo>
                <a:cubicBezTo>
                  <a:pt x="4617" y="14162"/>
                  <a:pt x="4625" y="14064"/>
                  <a:pt x="4666" y="14003"/>
                </a:cubicBezTo>
                <a:cubicBezTo>
                  <a:pt x="4717" y="13926"/>
                  <a:pt x="4722" y="13927"/>
                  <a:pt x="4818" y="13997"/>
                </a:cubicBezTo>
                <a:cubicBezTo>
                  <a:pt x="4906" y="14062"/>
                  <a:pt x="4919" y="14100"/>
                  <a:pt x="4919" y="14298"/>
                </a:cubicBezTo>
                <a:cubicBezTo>
                  <a:pt x="4919" y="14422"/>
                  <a:pt x="4935" y="14534"/>
                  <a:pt x="4955" y="14547"/>
                </a:cubicBezTo>
                <a:cubicBezTo>
                  <a:pt x="4975" y="14561"/>
                  <a:pt x="4984" y="14595"/>
                  <a:pt x="4975" y="14623"/>
                </a:cubicBezTo>
                <a:cubicBezTo>
                  <a:pt x="4952" y="14696"/>
                  <a:pt x="4995" y="14758"/>
                  <a:pt x="5126" y="14837"/>
                </a:cubicBezTo>
                <a:cubicBezTo>
                  <a:pt x="5188" y="14875"/>
                  <a:pt x="5262" y="14898"/>
                  <a:pt x="5289" y="14887"/>
                </a:cubicBezTo>
                <a:cubicBezTo>
                  <a:pt x="5317" y="14876"/>
                  <a:pt x="5376" y="14866"/>
                  <a:pt x="5421" y="14866"/>
                </a:cubicBezTo>
                <a:cubicBezTo>
                  <a:pt x="5561" y="14864"/>
                  <a:pt x="5607" y="14805"/>
                  <a:pt x="5579" y="14662"/>
                </a:cubicBezTo>
                <a:cubicBezTo>
                  <a:pt x="5558" y="14555"/>
                  <a:pt x="5534" y="14530"/>
                  <a:pt x="5435" y="14519"/>
                </a:cubicBezTo>
                <a:cubicBezTo>
                  <a:pt x="5326" y="14507"/>
                  <a:pt x="5314" y="14491"/>
                  <a:pt x="5303" y="14348"/>
                </a:cubicBezTo>
                <a:cubicBezTo>
                  <a:pt x="5288" y="14140"/>
                  <a:pt x="5340" y="14044"/>
                  <a:pt x="5471" y="14036"/>
                </a:cubicBezTo>
                <a:cubicBezTo>
                  <a:pt x="5530" y="14033"/>
                  <a:pt x="5588" y="14027"/>
                  <a:pt x="5600" y="14024"/>
                </a:cubicBezTo>
                <a:cubicBezTo>
                  <a:pt x="5612" y="14021"/>
                  <a:pt x="5612" y="13947"/>
                  <a:pt x="5600" y="13860"/>
                </a:cubicBezTo>
                <a:cubicBezTo>
                  <a:pt x="5579" y="13717"/>
                  <a:pt x="5564" y="13700"/>
                  <a:pt x="5446" y="13681"/>
                </a:cubicBezTo>
                <a:cubicBezTo>
                  <a:pt x="5345" y="13665"/>
                  <a:pt x="5311" y="13636"/>
                  <a:pt x="5302" y="13561"/>
                </a:cubicBezTo>
                <a:cubicBezTo>
                  <a:pt x="5295" y="13507"/>
                  <a:pt x="5308" y="13438"/>
                  <a:pt x="5331" y="13407"/>
                </a:cubicBezTo>
                <a:cubicBezTo>
                  <a:pt x="5366" y="13360"/>
                  <a:pt x="5333" y="13346"/>
                  <a:pt x="5146" y="13334"/>
                </a:cubicBezTo>
                <a:lnTo>
                  <a:pt x="4919" y="13320"/>
                </a:lnTo>
                <a:lnTo>
                  <a:pt x="4919" y="13481"/>
                </a:lnTo>
                <a:cubicBezTo>
                  <a:pt x="4919" y="13608"/>
                  <a:pt x="4901" y="13648"/>
                  <a:pt x="4834" y="13677"/>
                </a:cubicBezTo>
                <a:cubicBezTo>
                  <a:pt x="4724" y="13725"/>
                  <a:pt x="4641" y="13637"/>
                  <a:pt x="4633" y="13469"/>
                </a:cubicBezTo>
                <a:cubicBezTo>
                  <a:pt x="4625" y="13277"/>
                  <a:pt x="4587" y="13202"/>
                  <a:pt x="4519" y="13232"/>
                </a:cubicBezTo>
                <a:cubicBezTo>
                  <a:pt x="4485" y="13246"/>
                  <a:pt x="4436" y="13237"/>
                  <a:pt x="4407" y="13211"/>
                </a:cubicBezTo>
                <a:cubicBezTo>
                  <a:pt x="4388" y="13193"/>
                  <a:pt x="4371" y="13183"/>
                  <a:pt x="4354" y="13184"/>
                </a:cubicBezTo>
                <a:close/>
                <a:moveTo>
                  <a:pt x="5871" y="13184"/>
                </a:moveTo>
                <a:cubicBezTo>
                  <a:pt x="5734" y="13196"/>
                  <a:pt x="5728" y="13202"/>
                  <a:pt x="5736" y="13343"/>
                </a:cubicBezTo>
                <a:cubicBezTo>
                  <a:pt x="5753" y="13621"/>
                  <a:pt x="5744" y="13812"/>
                  <a:pt x="5710" y="13914"/>
                </a:cubicBezTo>
                <a:cubicBezTo>
                  <a:pt x="5688" y="13978"/>
                  <a:pt x="5689" y="14026"/>
                  <a:pt x="5711" y="14042"/>
                </a:cubicBezTo>
                <a:cubicBezTo>
                  <a:pt x="5731" y="14056"/>
                  <a:pt x="5747" y="14233"/>
                  <a:pt x="5747" y="14438"/>
                </a:cubicBezTo>
                <a:cubicBezTo>
                  <a:pt x="5747" y="14642"/>
                  <a:pt x="5759" y="14822"/>
                  <a:pt x="5772" y="14837"/>
                </a:cubicBezTo>
                <a:cubicBezTo>
                  <a:pt x="5786" y="14853"/>
                  <a:pt x="5859" y="14866"/>
                  <a:pt x="5934" y="14866"/>
                </a:cubicBezTo>
                <a:cubicBezTo>
                  <a:pt x="6074" y="14866"/>
                  <a:pt x="6170" y="14779"/>
                  <a:pt x="6328" y="14507"/>
                </a:cubicBezTo>
                <a:cubicBezTo>
                  <a:pt x="6379" y="14418"/>
                  <a:pt x="6413" y="14400"/>
                  <a:pt x="6476" y="14422"/>
                </a:cubicBezTo>
                <a:cubicBezTo>
                  <a:pt x="6696" y="14499"/>
                  <a:pt x="7045" y="14367"/>
                  <a:pt x="7047" y="14206"/>
                </a:cubicBezTo>
                <a:cubicBezTo>
                  <a:pt x="7048" y="14048"/>
                  <a:pt x="6991" y="14019"/>
                  <a:pt x="6678" y="14019"/>
                </a:cubicBezTo>
                <a:lnTo>
                  <a:pt x="6375" y="14019"/>
                </a:lnTo>
                <a:lnTo>
                  <a:pt x="6192" y="13807"/>
                </a:lnTo>
                <a:cubicBezTo>
                  <a:pt x="6050" y="13643"/>
                  <a:pt x="6021" y="13589"/>
                  <a:pt x="6066" y="13570"/>
                </a:cubicBezTo>
                <a:cubicBezTo>
                  <a:pt x="6098" y="13556"/>
                  <a:pt x="6114" y="13529"/>
                  <a:pt x="6104" y="13510"/>
                </a:cubicBezTo>
                <a:cubicBezTo>
                  <a:pt x="6093" y="13490"/>
                  <a:pt x="6103" y="13462"/>
                  <a:pt x="6124" y="13448"/>
                </a:cubicBezTo>
                <a:cubicBezTo>
                  <a:pt x="6188" y="13403"/>
                  <a:pt x="6166" y="13263"/>
                  <a:pt x="6088" y="13216"/>
                </a:cubicBezTo>
                <a:cubicBezTo>
                  <a:pt x="6047" y="13191"/>
                  <a:pt x="5950" y="13177"/>
                  <a:pt x="5871" y="13184"/>
                </a:cubicBezTo>
                <a:close/>
                <a:moveTo>
                  <a:pt x="8064" y="13260"/>
                </a:moveTo>
                <a:cubicBezTo>
                  <a:pt x="8034" y="13259"/>
                  <a:pt x="7996" y="13262"/>
                  <a:pt x="7946" y="13266"/>
                </a:cubicBezTo>
                <a:lnTo>
                  <a:pt x="7741" y="13278"/>
                </a:lnTo>
                <a:lnTo>
                  <a:pt x="7474" y="13934"/>
                </a:lnTo>
                <a:cubicBezTo>
                  <a:pt x="7327" y="14295"/>
                  <a:pt x="7182" y="14624"/>
                  <a:pt x="7150" y="14664"/>
                </a:cubicBezTo>
                <a:cubicBezTo>
                  <a:pt x="7104" y="14724"/>
                  <a:pt x="7101" y="14750"/>
                  <a:pt x="7139" y="14802"/>
                </a:cubicBezTo>
                <a:cubicBezTo>
                  <a:pt x="7154" y="14822"/>
                  <a:pt x="7181" y="14839"/>
                  <a:pt x="7218" y="14850"/>
                </a:cubicBezTo>
                <a:cubicBezTo>
                  <a:pt x="7255" y="14861"/>
                  <a:pt x="7301" y="14866"/>
                  <a:pt x="7351" y="14866"/>
                </a:cubicBezTo>
                <a:cubicBezTo>
                  <a:pt x="7504" y="14866"/>
                  <a:pt x="7520" y="14855"/>
                  <a:pt x="7571" y="14717"/>
                </a:cubicBezTo>
                <a:cubicBezTo>
                  <a:pt x="7640" y="14532"/>
                  <a:pt x="7686" y="14512"/>
                  <a:pt x="7896" y="14572"/>
                </a:cubicBezTo>
                <a:cubicBezTo>
                  <a:pt x="7987" y="14598"/>
                  <a:pt x="8098" y="14617"/>
                  <a:pt x="8141" y="14616"/>
                </a:cubicBezTo>
                <a:cubicBezTo>
                  <a:pt x="8185" y="14615"/>
                  <a:pt x="8255" y="14668"/>
                  <a:pt x="8302" y="14740"/>
                </a:cubicBezTo>
                <a:cubicBezTo>
                  <a:pt x="8339" y="14795"/>
                  <a:pt x="8365" y="14827"/>
                  <a:pt x="8403" y="14844"/>
                </a:cubicBezTo>
                <a:cubicBezTo>
                  <a:pt x="8441" y="14862"/>
                  <a:pt x="8488" y="14866"/>
                  <a:pt x="8569" y="14866"/>
                </a:cubicBezTo>
                <a:cubicBezTo>
                  <a:pt x="8671" y="14866"/>
                  <a:pt x="8764" y="14849"/>
                  <a:pt x="8775" y="14828"/>
                </a:cubicBezTo>
                <a:cubicBezTo>
                  <a:pt x="8786" y="14808"/>
                  <a:pt x="8745" y="14675"/>
                  <a:pt x="8682" y="14530"/>
                </a:cubicBezTo>
                <a:cubicBezTo>
                  <a:pt x="8533" y="14183"/>
                  <a:pt x="8451" y="13934"/>
                  <a:pt x="8453" y="13830"/>
                </a:cubicBezTo>
                <a:cubicBezTo>
                  <a:pt x="8454" y="13783"/>
                  <a:pt x="8415" y="13697"/>
                  <a:pt x="8367" y="13639"/>
                </a:cubicBezTo>
                <a:cubicBezTo>
                  <a:pt x="8318" y="13580"/>
                  <a:pt x="8251" y="13470"/>
                  <a:pt x="8216" y="13393"/>
                </a:cubicBezTo>
                <a:cubicBezTo>
                  <a:pt x="8171" y="13291"/>
                  <a:pt x="8153" y="13262"/>
                  <a:pt x="8064" y="13260"/>
                </a:cubicBezTo>
                <a:close/>
                <a:moveTo>
                  <a:pt x="2557" y="13262"/>
                </a:moveTo>
                <a:cubicBezTo>
                  <a:pt x="2527" y="13262"/>
                  <a:pt x="2490" y="13263"/>
                  <a:pt x="2445" y="13266"/>
                </a:cubicBezTo>
                <a:lnTo>
                  <a:pt x="2229" y="13278"/>
                </a:lnTo>
                <a:lnTo>
                  <a:pt x="2040" y="13624"/>
                </a:lnTo>
                <a:cubicBezTo>
                  <a:pt x="1936" y="13815"/>
                  <a:pt x="1839" y="13983"/>
                  <a:pt x="1825" y="13999"/>
                </a:cubicBezTo>
                <a:cubicBezTo>
                  <a:pt x="1792" y="14037"/>
                  <a:pt x="1542" y="13608"/>
                  <a:pt x="1510" y="13456"/>
                </a:cubicBezTo>
                <a:cubicBezTo>
                  <a:pt x="1476" y="13298"/>
                  <a:pt x="1381" y="13250"/>
                  <a:pt x="1133" y="13266"/>
                </a:cubicBezTo>
                <a:lnTo>
                  <a:pt x="926" y="13278"/>
                </a:lnTo>
                <a:lnTo>
                  <a:pt x="925" y="14035"/>
                </a:lnTo>
                <a:cubicBezTo>
                  <a:pt x="923" y="14464"/>
                  <a:pt x="937" y="14809"/>
                  <a:pt x="957" y="14832"/>
                </a:cubicBezTo>
                <a:cubicBezTo>
                  <a:pt x="977" y="14854"/>
                  <a:pt x="1059" y="14866"/>
                  <a:pt x="1140" y="14859"/>
                </a:cubicBezTo>
                <a:lnTo>
                  <a:pt x="1287" y="14844"/>
                </a:lnTo>
                <a:lnTo>
                  <a:pt x="1298" y="14464"/>
                </a:lnTo>
                <a:cubicBezTo>
                  <a:pt x="1304" y="14255"/>
                  <a:pt x="1322" y="14067"/>
                  <a:pt x="1340" y="14047"/>
                </a:cubicBezTo>
                <a:cubicBezTo>
                  <a:pt x="1359" y="14026"/>
                  <a:pt x="1443" y="14130"/>
                  <a:pt x="1532" y="14289"/>
                </a:cubicBezTo>
                <a:cubicBezTo>
                  <a:pt x="1618" y="14443"/>
                  <a:pt x="1700" y="14573"/>
                  <a:pt x="1714" y="14576"/>
                </a:cubicBezTo>
                <a:cubicBezTo>
                  <a:pt x="1804" y="14595"/>
                  <a:pt x="1938" y="14591"/>
                  <a:pt x="1926" y="14569"/>
                </a:cubicBezTo>
                <a:cubicBezTo>
                  <a:pt x="1894" y="14511"/>
                  <a:pt x="2024" y="14362"/>
                  <a:pt x="2084" y="14388"/>
                </a:cubicBezTo>
                <a:cubicBezTo>
                  <a:pt x="2134" y="14409"/>
                  <a:pt x="2141" y="14392"/>
                  <a:pt x="2125" y="14302"/>
                </a:cubicBezTo>
                <a:cubicBezTo>
                  <a:pt x="2104" y="14179"/>
                  <a:pt x="2186" y="14061"/>
                  <a:pt x="2246" y="14128"/>
                </a:cubicBezTo>
                <a:cubicBezTo>
                  <a:pt x="2265" y="14150"/>
                  <a:pt x="2285" y="14320"/>
                  <a:pt x="2291" y="14507"/>
                </a:cubicBezTo>
                <a:lnTo>
                  <a:pt x="2302" y="14844"/>
                </a:lnTo>
                <a:lnTo>
                  <a:pt x="2472" y="14844"/>
                </a:lnTo>
                <a:cubicBezTo>
                  <a:pt x="2507" y="14844"/>
                  <a:pt x="2535" y="14844"/>
                  <a:pt x="2558" y="14841"/>
                </a:cubicBezTo>
                <a:cubicBezTo>
                  <a:pt x="2629" y="14832"/>
                  <a:pt x="2656" y="14807"/>
                  <a:pt x="2684" y="14744"/>
                </a:cubicBezTo>
                <a:cubicBezTo>
                  <a:pt x="2739" y="14619"/>
                  <a:pt x="2964" y="14588"/>
                  <a:pt x="2990" y="14701"/>
                </a:cubicBezTo>
                <a:cubicBezTo>
                  <a:pt x="3003" y="14758"/>
                  <a:pt x="3135" y="14825"/>
                  <a:pt x="3357" y="14887"/>
                </a:cubicBezTo>
                <a:cubicBezTo>
                  <a:pt x="3378" y="14893"/>
                  <a:pt x="3447" y="14874"/>
                  <a:pt x="3513" y="14844"/>
                </a:cubicBezTo>
                <a:cubicBezTo>
                  <a:pt x="3589" y="14809"/>
                  <a:pt x="3644" y="14803"/>
                  <a:pt x="3668" y="14830"/>
                </a:cubicBezTo>
                <a:cubicBezTo>
                  <a:pt x="3688" y="14853"/>
                  <a:pt x="3770" y="14866"/>
                  <a:pt x="3850" y="14859"/>
                </a:cubicBezTo>
                <a:lnTo>
                  <a:pt x="3997" y="14844"/>
                </a:lnTo>
                <a:lnTo>
                  <a:pt x="4007" y="14296"/>
                </a:lnTo>
                <a:cubicBezTo>
                  <a:pt x="4013" y="13995"/>
                  <a:pt x="4011" y="13727"/>
                  <a:pt x="4002" y="13702"/>
                </a:cubicBezTo>
                <a:cubicBezTo>
                  <a:pt x="3993" y="13676"/>
                  <a:pt x="3915" y="13665"/>
                  <a:pt x="3814" y="13674"/>
                </a:cubicBezTo>
                <a:lnTo>
                  <a:pt x="3640" y="13690"/>
                </a:lnTo>
                <a:lnTo>
                  <a:pt x="3640" y="14058"/>
                </a:lnTo>
                <a:cubicBezTo>
                  <a:pt x="3640" y="14448"/>
                  <a:pt x="3610" y="14528"/>
                  <a:pt x="3467" y="14528"/>
                </a:cubicBezTo>
                <a:cubicBezTo>
                  <a:pt x="3327" y="14528"/>
                  <a:pt x="3296" y="14435"/>
                  <a:pt x="3308" y="14056"/>
                </a:cubicBezTo>
                <a:lnTo>
                  <a:pt x="3319" y="13702"/>
                </a:lnTo>
                <a:lnTo>
                  <a:pt x="3112" y="13693"/>
                </a:lnTo>
                <a:cubicBezTo>
                  <a:pt x="2998" y="13689"/>
                  <a:pt x="2885" y="13684"/>
                  <a:pt x="2860" y="13683"/>
                </a:cubicBezTo>
                <a:cubicBezTo>
                  <a:pt x="2818" y="13680"/>
                  <a:pt x="2741" y="13525"/>
                  <a:pt x="2684" y="13329"/>
                </a:cubicBezTo>
                <a:cubicBezTo>
                  <a:pt x="2670" y="13281"/>
                  <a:pt x="2645" y="13263"/>
                  <a:pt x="2557" y="13262"/>
                </a:cubicBezTo>
                <a:close/>
                <a:moveTo>
                  <a:pt x="12863" y="13342"/>
                </a:moveTo>
                <a:lnTo>
                  <a:pt x="12863" y="13492"/>
                </a:lnTo>
                <a:cubicBezTo>
                  <a:pt x="12863" y="13612"/>
                  <a:pt x="12843" y="13649"/>
                  <a:pt x="12767" y="13681"/>
                </a:cubicBezTo>
                <a:cubicBezTo>
                  <a:pt x="12670" y="13723"/>
                  <a:pt x="12634" y="13903"/>
                  <a:pt x="12712" y="13957"/>
                </a:cubicBezTo>
                <a:cubicBezTo>
                  <a:pt x="12762" y="13991"/>
                  <a:pt x="12722" y="14061"/>
                  <a:pt x="12653" y="14061"/>
                </a:cubicBezTo>
                <a:cubicBezTo>
                  <a:pt x="12623" y="14061"/>
                  <a:pt x="12576" y="13996"/>
                  <a:pt x="12546" y="13916"/>
                </a:cubicBezTo>
                <a:cubicBezTo>
                  <a:pt x="12474" y="13723"/>
                  <a:pt x="12300" y="13623"/>
                  <a:pt x="12096" y="13656"/>
                </a:cubicBezTo>
                <a:cubicBezTo>
                  <a:pt x="12010" y="13670"/>
                  <a:pt x="11834" y="13679"/>
                  <a:pt x="11705" y="13677"/>
                </a:cubicBezTo>
                <a:lnTo>
                  <a:pt x="11469" y="13676"/>
                </a:lnTo>
                <a:lnTo>
                  <a:pt x="11466" y="13858"/>
                </a:lnTo>
                <a:cubicBezTo>
                  <a:pt x="11461" y="14270"/>
                  <a:pt x="11476" y="14800"/>
                  <a:pt x="11493" y="14832"/>
                </a:cubicBezTo>
                <a:cubicBezTo>
                  <a:pt x="11503" y="14851"/>
                  <a:pt x="11586" y="14866"/>
                  <a:pt x="11678" y="14866"/>
                </a:cubicBezTo>
                <a:lnTo>
                  <a:pt x="11846" y="14866"/>
                </a:lnTo>
                <a:lnTo>
                  <a:pt x="11846" y="14507"/>
                </a:lnTo>
                <a:cubicBezTo>
                  <a:pt x="11846" y="14208"/>
                  <a:pt x="11858" y="14132"/>
                  <a:pt x="11918" y="14065"/>
                </a:cubicBezTo>
                <a:cubicBezTo>
                  <a:pt x="11993" y="13980"/>
                  <a:pt x="12123" y="13986"/>
                  <a:pt x="12176" y="14077"/>
                </a:cubicBezTo>
                <a:cubicBezTo>
                  <a:pt x="12191" y="14103"/>
                  <a:pt x="12212" y="14287"/>
                  <a:pt x="12223" y="14485"/>
                </a:cubicBezTo>
                <a:lnTo>
                  <a:pt x="12242" y="14844"/>
                </a:lnTo>
                <a:lnTo>
                  <a:pt x="12366" y="14859"/>
                </a:lnTo>
                <a:cubicBezTo>
                  <a:pt x="12527" y="14876"/>
                  <a:pt x="12606" y="14801"/>
                  <a:pt x="12596" y="14638"/>
                </a:cubicBezTo>
                <a:cubicBezTo>
                  <a:pt x="12593" y="14578"/>
                  <a:pt x="12591" y="14527"/>
                  <a:pt x="12592" y="14485"/>
                </a:cubicBezTo>
                <a:cubicBezTo>
                  <a:pt x="12592" y="14444"/>
                  <a:pt x="12594" y="14408"/>
                  <a:pt x="12599" y="14381"/>
                </a:cubicBezTo>
                <a:cubicBezTo>
                  <a:pt x="12610" y="14327"/>
                  <a:pt x="12632" y="14300"/>
                  <a:pt x="12665" y="14286"/>
                </a:cubicBezTo>
                <a:cubicBezTo>
                  <a:pt x="12702" y="14270"/>
                  <a:pt x="12751" y="14228"/>
                  <a:pt x="12775" y="14192"/>
                </a:cubicBezTo>
                <a:cubicBezTo>
                  <a:pt x="12815" y="14133"/>
                  <a:pt x="12821" y="14132"/>
                  <a:pt x="12844" y="14199"/>
                </a:cubicBezTo>
                <a:cubicBezTo>
                  <a:pt x="12858" y="14240"/>
                  <a:pt x="12860" y="14341"/>
                  <a:pt x="12846" y="14424"/>
                </a:cubicBezTo>
                <a:cubicBezTo>
                  <a:pt x="12824" y="14556"/>
                  <a:pt x="12836" y="14591"/>
                  <a:pt x="12951" y="14721"/>
                </a:cubicBezTo>
                <a:cubicBezTo>
                  <a:pt x="13036" y="14816"/>
                  <a:pt x="13080" y="14851"/>
                  <a:pt x="13166" y="14862"/>
                </a:cubicBezTo>
                <a:cubicBezTo>
                  <a:pt x="13195" y="14866"/>
                  <a:pt x="13227" y="14866"/>
                  <a:pt x="13268" y="14866"/>
                </a:cubicBezTo>
                <a:cubicBezTo>
                  <a:pt x="13476" y="14866"/>
                  <a:pt x="13553" y="14802"/>
                  <a:pt x="13533" y="14646"/>
                </a:cubicBezTo>
                <a:cubicBezTo>
                  <a:pt x="13525" y="14579"/>
                  <a:pt x="13491" y="14545"/>
                  <a:pt x="13427" y="14535"/>
                </a:cubicBezTo>
                <a:cubicBezTo>
                  <a:pt x="13216" y="14502"/>
                  <a:pt x="13185" y="14361"/>
                  <a:pt x="13343" y="14162"/>
                </a:cubicBezTo>
                <a:cubicBezTo>
                  <a:pt x="13500" y="13965"/>
                  <a:pt x="13637" y="13677"/>
                  <a:pt x="13543" y="13743"/>
                </a:cubicBezTo>
                <a:cubicBezTo>
                  <a:pt x="13523" y="13756"/>
                  <a:pt x="13494" y="13741"/>
                  <a:pt x="13477" y="13708"/>
                </a:cubicBezTo>
                <a:cubicBezTo>
                  <a:pt x="13460" y="13674"/>
                  <a:pt x="13405" y="13640"/>
                  <a:pt x="13353" y="13631"/>
                </a:cubicBezTo>
                <a:cubicBezTo>
                  <a:pt x="13301" y="13623"/>
                  <a:pt x="13257" y="13593"/>
                  <a:pt x="13254" y="13564"/>
                </a:cubicBezTo>
                <a:cubicBezTo>
                  <a:pt x="13251" y="13535"/>
                  <a:pt x="13246" y="13473"/>
                  <a:pt x="13243" y="13426"/>
                </a:cubicBezTo>
                <a:cubicBezTo>
                  <a:pt x="13239" y="13354"/>
                  <a:pt x="13211" y="13342"/>
                  <a:pt x="13050" y="13342"/>
                </a:cubicBezTo>
                <a:lnTo>
                  <a:pt x="12863" y="13342"/>
                </a:lnTo>
                <a:close/>
                <a:moveTo>
                  <a:pt x="21578" y="13547"/>
                </a:moveTo>
                <a:cubicBezTo>
                  <a:pt x="21572" y="13543"/>
                  <a:pt x="21567" y="13577"/>
                  <a:pt x="21567" y="13639"/>
                </a:cubicBezTo>
                <a:cubicBezTo>
                  <a:pt x="21567" y="13720"/>
                  <a:pt x="21575" y="13754"/>
                  <a:pt x="21584" y="13713"/>
                </a:cubicBezTo>
                <a:cubicBezTo>
                  <a:pt x="21594" y="13672"/>
                  <a:pt x="21594" y="13605"/>
                  <a:pt x="21584" y="13564"/>
                </a:cubicBezTo>
                <a:cubicBezTo>
                  <a:pt x="21582" y="13554"/>
                  <a:pt x="21580" y="13548"/>
                  <a:pt x="21578" y="13547"/>
                </a:cubicBezTo>
                <a:close/>
                <a:moveTo>
                  <a:pt x="9395" y="13639"/>
                </a:moveTo>
                <a:cubicBezTo>
                  <a:pt x="9222" y="13632"/>
                  <a:pt x="9023" y="13736"/>
                  <a:pt x="8918" y="13909"/>
                </a:cubicBezTo>
                <a:cubicBezTo>
                  <a:pt x="8820" y="14070"/>
                  <a:pt x="8805" y="14363"/>
                  <a:pt x="8891" y="14443"/>
                </a:cubicBezTo>
                <a:cubicBezTo>
                  <a:pt x="8922" y="14472"/>
                  <a:pt x="8938" y="14509"/>
                  <a:pt x="8929" y="14526"/>
                </a:cubicBezTo>
                <a:cubicBezTo>
                  <a:pt x="8919" y="14544"/>
                  <a:pt x="8946" y="14592"/>
                  <a:pt x="8987" y="14634"/>
                </a:cubicBezTo>
                <a:cubicBezTo>
                  <a:pt x="9084" y="14733"/>
                  <a:pt x="9079" y="14817"/>
                  <a:pt x="8969" y="14972"/>
                </a:cubicBezTo>
                <a:lnTo>
                  <a:pt x="8880" y="15099"/>
                </a:lnTo>
                <a:lnTo>
                  <a:pt x="8998" y="15214"/>
                </a:lnTo>
                <a:cubicBezTo>
                  <a:pt x="9108" y="15319"/>
                  <a:pt x="9139" y="15327"/>
                  <a:pt x="9418" y="15318"/>
                </a:cubicBezTo>
                <a:cubicBezTo>
                  <a:pt x="9759" y="15307"/>
                  <a:pt x="9845" y="15249"/>
                  <a:pt x="10015" y="14913"/>
                </a:cubicBezTo>
                <a:cubicBezTo>
                  <a:pt x="10126" y="14693"/>
                  <a:pt x="10275" y="14588"/>
                  <a:pt x="10344" y="14682"/>
                </a:cubicBezTo>
                <a:cubicBezTo>
                  <a:pt x="10514" y="14912"/>
                  <a:pt x="10930" y="14946"/>
                  <a:pt x="11195" y="14751"/>
                </a:cubicBezTo>
                <a:lnTo>
                  <a:pt x="11284" y="14685"/>
                </a:lnTo>
                <a:lnTo>
                  <a:pt x="11207" y="14593"/>
                </a:lnTo>
                <a:cubicBezTo>
                  <a:pt x="11108" y="14475"/>
                  <a:pt x="11111" y="14449"/>
                  <a:pt x="11225" y="14401"/>
                </a:cubicBezTo>
                <a:cubicBezTo>
                  <a:pt x="11302" y="14367"/>
                  <a:pt x="11319" y="14331"/>
                  <a:pt x="11319" y="14197"/>
                </a:cubicBezTo>
                <a:cubicBezTo>
                  <a:pt x="11319" y="13951"/>
                  <a:pt x="11246" y="13824"/>
                  <a:pt x="11049" y="13720"/>
                </a:cubicBezTo>
                <a:cubicBezTo>
                  <a:pt x="10733" y="13553"/>
                  <a:pt x="10400" y="13662"/>
                  <a:pt x="10256" y="13980"/>
                </a:cubicBezTo>
                <a:cubicBezTo>
                  <a:pt x="10163" y="14185"/>
                  <a:pt x="10102" y="14163"/>
                  <a:pt x="10062" y="13907"/>
                </a:cubicBezTo>
                <a:cubicBezTo>
                  <a:pt x="10028" y="13695"/>
                  <a:pt x="10023" y="13689"/>
                  <a:pt x="9878" y="13663"/>
                </a:cubicBezTo>
                <a:cubicBezTo>
                  <a:pt x="9790" y="13647"/>
                  <a:pt x="9710" y="13655"/>
                  <a:pt x="9680" y="13683"/>
                </a:cubicBezTo>
                <a:cubicBezTo>
                  <a:pt x="9645" y="13716"/>
                  <a:pt x="9609" y="13715"/>
                  <a:pt x="9555" y="13683"/>
                </a:cubicBezTo>
                <a:cubicBezTo>
                  <a:pt x="9508" y="13654"/>
                  <a:pt x="9452" y="13641"/>
                  <a:pt x="9395" y="13639"/>
                </a:cubicBezTo>
                <a:close/>
                <a:moveTo>
                  <a:pt x="6185" y="15490"/>
                </a:moveTo>
                <a:cubicBezTo>
                  <a:pt x="5936" y="15486"/>
                  <a:pt x="5741" y="15509"/>
                  <a:pt x="5766" y="15537"/>
                </a:cubicBezTo>
                <a:cubicBezTo>
                  <a:pt x="5777" y="15550"/>
                  <a:pt x="5754" y="15599"/>
                  <a:pt x="5716" y="15647"/>
                </a:cubicBezTo>
                <a:cubicBezTo>
                  <a:pt x="5628" y="15757"/>
                  <a:pt x="5590" y="15874"/>
                  <a:pt x="5633" y="15903"/>
                </a:cubicBezTo>
                <a:cubicBezTo>
                  <a:pt x="5651" y="15916"/>
                  <a:pt x="5656" y="15960"/>
                  <a:pt x="5647" y="16001"/>
                </a:cubicBezTo>
                <a:cubicBezTo>
                  <a:pt x="5619" y="16121"/>
                  <a:pt x="5817" y="16287"/>
                  <a:pt x="6053" y="16344"/>
                </a:cubicBezTo>
                <a:cubicBezTo>
                  <a:pt x="6326" y="16409"/>
                  <a:pt x="6422" y="16485"/>
                  <a:pt x="6366" y="16589"/>
                </a:cubicBezTo>
                <a:cubicBezTo>
                  <a:pt x="6307" y="16698"/>
                  <a:pt x="6014" y="16715"/>
                  <a:pt x="5853" y="16618"/>
                </a:cubicBezTo>
                <a:cubicBezTo>
                  <a:pt x="5728" y="16543"/>
                  <a:pt x="5626" y="16517"/>
                  <a:pt x="5644" y="16565"/>
                </a:cubicBezTo>
                <a:cubicBezTo>
                  <a:pt x="5649" y="16579"/>
                  <a:pt x="5632" y="16618"/>
                  <a:pt x="5606" y="16653"/>
                </a:cubicBezTo>
                <a:cubicBezTo>
                  <a:pt x="5556" y="16721"/>
                  <a:pt x="5590" y="16771"/>
                  <a:pt x="5779" y="16902"/>
                </a:cubicBezTo>
                <a:cubicBezTo>
                  <a:pt x="5827" y="16936"/>
                  <a:pt x="5943" y="16969"/>
                  <a:pt x="6036" y="16975"/>
                </a:cubicBezTo>
                <a:cubicBezTo>
                  <a:pt x="6082" y="16978"/>
                  <a:pt x="6126" y="16978"/>
                  <a:pt x="6168" y="16975"/>
                </a:cubicBezTo>
                <a:cubicBezTo>
                  <a:pt x="6210" y="16972"/>
                  <a:pt x="6252" y="16964"/>
                  <a:pt x="6290" y="16955"/>
                </a:cubicBezTo>
                <a:cubicBezTo>
                  <a:pt x="6519" y="16902"/>
                  <a:pt x="6667" y="16749"/>
                  <a:pt x="6667" y="16540"/>
                </a:cubicBezTo>
                <a:cubicBezTo>
                  <a:pt x="6667" y="16340"/>
                  <a:pt x="6543" y="16205"/>
                  <a:pt x="6281" y="16117"/>
                </a:cubicBezTo>
                <a:cubicBezTo>
                  <a:pt x="5886" y="15986"/>
                  <a:pt x="5830" y="15934"/>
                  <a:pt x="5944" y="15806"/>
                </a:cubicBezTo>
                <a:cubicBezTo>
                  <a:pt x="6004" y="15738"/>
                  <a:pt x="6271" y="15744"/>
                  <a:pt x="6388" y="15817"/>
                </a:cubicBezTo>
                <a:cubicBezTo>
                  <a:pt x="6469" y="15868"/>
                  <a:pt x="6491" y="15868"/>
                  <a:pt x="6548" y="15810"/>
                </a:cubicBezTo>
                <a:cubicBezTo>
                  <a:pt x="6584" y="15773"/>
                  <a:pt x="6614" y="15718"/>
                  <a:pt x="6614" y="15688"/>
                </a:cubicBezTo>
                <a:cubicBezTo>
                  <a:pt x="6614" y="15596"/>
                  <a:pt x="6391" y="15493"/>
                  <a:pt x="6185" y="15490"/>
                </a:cubicBezTo>
                <a:close/>
                <a:moveTo>
                  <a:pt x="1042" y="15502"/>
                </a:moveTo>
                <a:lnTo>
                  <a:pt x="1042" y="16220"/>
                </a:lnTo>
                <a:lnTo>
                  <a:pt x="1042" y="16936"/>
                </a:lnTo>
                <a:lnTo>
                  <a:pt x="1165" y="16954"/>
                </a:lnTo>
                <a:cubicBezTo>
                  <a:pt x="1377" y="16983"/>
                  <a:pt x="1581" y="16985"/>
                  <a:pt x="1785" y="16957"/>
                </a:cubicBezTo>
                <a:cubicBezTo>
                  <a:pt x="1971" y="16932"/>
                  <a:pt x="1984" y="16923"/>
                  <a:pt x="1984" y="16810"/>
                </a:cubicBezTo>
                <a:lnTo>
                  <a:pt x="1984" y="16690"/>
                </a:lnTo>
                <a:lnTo>
                  <a:pt x="1654" y="16678"/>
                </a:lnTo>
                <a:cubicBezTo>
                  <a:pt x="1342" y="16666"/>
                  <a:pt x="1324" y="16661"/>
                  <a:pt x="1312" y="16568"/>
                </a:cubicBezTo>
                <a:cubicBezTo>
                  <a:pt x="1305" y="16514"/>
                  <a:pt x="1309" y="16440"/>
                  <a:pt x="1322" y="16404"/>
                </a:cubicBezTo>
                <a:cubicBezTo>
                  <a:pt x="1340" y="16351"/>
                  <a:pt x="1355" y="16349"/>
                  <a:pt x="1400" y="16391"/>
                </a:cubicBezTo>
                <a:cubicBezTo>
                  <a:pt x="1476" y="16462"/>
                  <a:pt x="1471" y="16396"/>
                  <a:pt x="1394" y="16299"/>
                </a:cubicBezTo>
                <a:cubicBezTo>
                  <a:pt x="1338" y="16231"/>
                  <a:pt x="1317" y="16050"/>
                  <a:pt x="1306" y="15534"/>
                </a:cubicBezTo>
                <a:cubicBezTo>
                  <a:pt x="1306" y="15516"/>
                  <a:pt x="1247" y="15502"/>
                  <a:pt x="1174" y="15502"/>
                </a:cubicBezTo>
                <a:lnTo>
                  <a:pt x="1042" y="15502"/>
                </a:lnTo>
                <a:close/>
                <a:moveTo>
                  <a:pt x="3338" y="15502"/>
                </a:moveTo>
                <a:lnTo>
                  <a:pt x="3338" y="16192"/>
                </a:lnTo>
                <a:cubicBezTo>
                  <a:pt x="3338" y="16672"/>
                  <a:pt x="3352" y="16897"/>
                  <a:pt x="3384" y="16932"/>
                </a:cubicBezTo>
                <a:cubicBezTo>
                  <a:pt x="3409" y="16960"/>
                  <a:pt x="3456" y="16984"/>
                  <a:pt x="3489" y="16984"/>
                </a:cubicBezTo>
                <a:cubicBezTo>
                  <a:pt x="3602" y="16984"/>
                  <a:pt x="3640" y="16887"/>
                  <a:pt x="3640" y="16593"/>
                </a:cubicBezTo>
                <a:cubicBezTo>
                  <a:pt x="3640" y="16216"/>
                  <a:pt x="3703" y="16178"/>
                  <a:pt x="3900" y="16436"/>
                </a:cubicBezTo>
                <a:cubicBezTo>
                  <a:pt x="3987" y="16549"/>
                  <a:pt x="4056" y="16605"/>
                  <a:pt x="4084" y="16586"/>
                </a:cubicBezTo>
                <a:cubicBezTo>
                  <a:pt x="4096" y="16577"/>
                  <a:pt x="4106" y="16566"/>
                  <a:pt x="4110" y="16554"/>
                </a:cubicBezTo>
                <a:cubicBezTo>
                  <a:pt x="4115" y="16542"/>
                  <a:pt x="4116" y="16529"/>
                  <a:pt x="4110" y="16519"/>
                </a:cubicBezTo>
                <a:cubicBezTo>
                  <a:pt x="4099" y="16498"/>
                  <a:pt x="4111" y="16465"/>
                  <a:pt x="4139" y="16446"/>
                </a:cubicBezTo>
                <a:cubicBezTo>
                  <a:pt x="4166" y="16427"/>
                  <a:pt x="4236" y="16341"/>
                  <a:pt x="4294" y="16253"/>
                </a:cubicBezTo>
                <a:cubicBezTo>
                  <a:pt x="4352" y="16166"/>
                  <a:pt x="4415" y="16106"/>
                  <a:pt x="4434" y="16119"/>
                </a:cubicBezTo>
                <a:cubicBezTo>
                  <a:pt x="4452" y="16132"/>
                  <a:pt x="4467" y="16321"/>
                  <a:pt x="4467" y="16538"/>
                </a:cubicBezTo>
                <a:lnTo>
                  <a:pt x="4467" y="16932"/>
                </a:lnTo>
                <a:lnTo>
                  <a:pt x="4577" y="16950"/>
                </a:lnTo>
                <a:cubicBezTo>
                  <a:pt x="4637" y="16960"/>
                  <a:pt x="4717" y="16943"/>
                  <a:pt x="4755" y="16911"/>
                </a:cubicBezTo>
                <a:cubicBezTo>
                  <a:pt x="4818" y="16859"/>
                  <a:pt x="4824" y="16788"/>
                  <a:pt x="4823" y="16188"/>
                </a:cubicBezTo>
                <a:lnTo>
                  <a:pt x="4821" y="15523"/>
                </a:lnTo>
                <a:lnTo>
                  <a:pt x="4603" y="15509"/>
                </a:lnTo>
                <a:cubicBezTo>
                  <a:pt x="4471" y="15501"/>
                  <a:pt x="4392" y="15510"/>
                  <a:pt x="4406" y="15534"/>
                </a:cubicBezTo>
                <a:cubicBezTo>
                  <a:pt x="4418" y="15556"/>
                  <a:pt x="4395" y="15609"/>
                  <a:pt x="4354" y="15651"/>
                </a:cubicBezTo>
                <a:cubicBezTo>
                  <a:pt x="4313" y="15692"/>
                  <a:pt x="4279" y="15747"/>
                  <a:pt x="4278" y="15773"/>
                </a:cubicBezTo>
                <a:cubicBezTo>
                  <a:pt x="4278" y="15798"/>
                  <a:pt x="4222" y="15895"/>
                  <a:pt x="4153" y="15987"/>
                </a:cubicBezTo>
                <a:lnTo>
                  <a:pt x="4029" y="16153"/>
                </a:lnTo>
                <a:lnTo>
                  <a:pt x="3870" y="15891"/>
                </a:lnTo>
                <a:cubicBezTo>
                  <a:pt x="3783" y="15747"/>
                  <a:pt x="3725" y="15628"/>
                  <a:pt x="3742" y="15628"/>
                </a:cubicBezTo>
                <a:cubicBezTo>
                  <a:pt x="3758" y="15627"/>
                  <a:pt x="3738" y="15598"/>
                  <a:pt x="3698" y="15564"/>
                </a:cubicBezTo>
                <a:cubicBezTo>
                  <a:pt x="3658" y="15530"/>
                  <a:pt x="3560" y="15502"/>
                  <a:pt x="3481" y="15502"/>
                </a:cubicBezTo>
                <a:lnTo>
                  <a:pt x="3338" y="15502"/>
                </a:lnTo>
                <a:close/>
                <a:moveTo>
                  <a:pt x="2321" y="15506"/>
                </a:moveTo>
                <a:cubicBezTo>
                  <a:pt x="2275" y="15514"/>
                  <a:pt x="2234" y="15539"/>
                  <a:pt x="2219" y="15576"/>
                </a:cubicBezTo>
                <a:cubicBezTo>
                  <a:pt x="2203" y="15617"/>
                  <a:pt x="2198" y="15936"/>
                  <a:pt x="2208" y="16285"/>
                </a:cubicBezTo>
                <a:lnTo>
                  <a:pt x="2227" y="16920"/>
                </a:lnTo>
                <a:lnTo>
                  <a:pt x="2404" y="16943"/>
                </a:lnTo>
                <a:cubicBezTo>
                  <a:pt x="2502" y="16956"/>
                  <a:pt x="2595" y="16979"/>
                  <a:pt x="2610" y="16996"/>
                </a:cubicBezTo>
                <a:cubicBezTo>
                  <a:pt x="2625" y="17013"/>
                  <a:pt x="2689" y="17019"/>
                  <a:pt x="2753" y="17008"/>
                </a:cubicBezTo>
                <a:cubicBezTo>
                  <a:pt x="3170" y="16937"/>
                  <a:pt x="3150" y="16946"/>
                  <a:pt x="3150" y="16814"/>
                </a:cubicBezTo>
                <a:lnTo>
                  <a:pt x="3150" y="16690"/>
                </a:lnTo>
                <a:lnTo>
                  <a:pt x="2820" y="16678"/>
                </a:lnTo>
                <a:lnTo>
                  <a:pt x="2491" y="16667"/>
                </a:lnTo>
                <a:lnTo>
                  <a:pt x="2496" y="16116"/>
                </a:lnTo>
                <a:cubicBezTo>
                  <a:pt x="2499" y="15750"/>
                  <a:pt x="2486" y="15555"/>
                  <a:pt x="2458" y="15534"/>
                </a:cubicBezTo>
                <a:cubicBezTo>
                  <a:pt x="2419" y="15506"/>
                  <a:pt x="2368" y="15498"/>
                  <a:pt x="2321" y="15506"/>
                </a:cubicBezTo>
                <a:close/>
                <a:moveTo>
                  <a:pt x="8954" y="15552"/>
                </a:moveTo>
                <a:cubicBezTo>
                  <a:pt x="8921" y="15549"/>
                  <a:pt x="8910" y="15565"/>
                  <a:pt x="8910" y="15605"/>
                </a:cubicBezTo>
                <a:cubicBezTo>
                  <a:pt x="8910" y="15726"/>
                  <a:pt x="8803" y="15913"/>
                  <a:pt x="8720" y="15937"/>
                </a:cubicBezTo>
                <a:cubicBezTo>
                  <a:pt x="8676" y="15950"/>
                  <a:pt x="8579" y="15932"/>
                  <a:pt x="8503" y="15896"/>
                </a:cubicBezTo>
                <a:cubicBezTo>
                  <a:pt x="8220" y="15763"/>
                  <a:pt x="7896" y="15914"/>
                  <a:pt x="7896" y="16179"/>
                </a:cubicBezTo>
                <a:cubicBezTo>
                  <a:pt x="7896" y="16340"/>
                  <a:pt x="7977" y="16428"/>
                  <a:pt x="8199" y="16508"/>
                </a:cubicBezTo>
                <a:cubicBezTo>
                  <a:pt x="8325" y="16553"/>
                  <a:pt x="8401" y="16606"/>
                  <a:pt x="8401" y="16646"/>
                </a:cubicBezTo>
                <a:cubicBezTo>
                  <a:pt x="8401" y="16735"/>
                  <a:pt x="8223" y="16749"/>
                  <a:pt x="8089" y="16671"/>
                </a:cubicBezTo>
                <a:cubicBezTo>
                  <a:pt x="7986" y="16611"/>
                  <a:pt x="7973" y="16612"/>
                  <a:pt x="7910" y="16690"/>
                </a:cubicBezTo>
                <a:cubicBezTo>
                  <a:pt x="7830" y="16790"/>
                  <a:pt x="7866" y="16849"/>
                  <a:pt x="8054" y="16927"/>
                </a:cubicBezTo>
                <a:cubicBezTo>
                  <a:pt x="8209" y="16991"/>
                  <a:pt x="8293" y="16994"/>
                  <a:pt x="8467" y="16939"/>
                </a:cubicBezTo>
                <a:cubicBezTo>
                  <a:pt x="8608" y="16895"/>
                  <a:pt x="8708" y="16766"/>
                  <a:pt x="8663" y="16685"/>
                </a:cubicBezTo>
                <a:cubicBezTo>
                  <a:pt x="8650" y="16661"/>
                  <a:pt x="8658" y="16618"/>
                  <a:pt x="8681" y="16588"/>
                </a:cubicBezTo>
                <a:cubicBezTo>
                  <a:pt x="8742" y="16505"/>
                  <a:pt x="8577" y="16353"/>
                  <a:pt x="8359" y="16291"/>
                </a:cubicBezTo>
                <a:cubicBezTo>
                  <a:pt x="8126" y="16224"/>
                  <a:pt x="8103" y="16111"/>
                  <a:pt x="8326" y="16126"/>
                </a:cubicBezTo>
                <a:cubicBezTo>
                  <a:pt x="8539" y="16140"/>
                  <a:pt x="8642" y="16160"/>
                  <a:pt x="8671" y="16193"/>
                </a:cubicBezTo>
                <a:cubicBezTo>
                  <a:pt x="8685" y="16209"/>
                  <a:pt x="8735" y="16222"/>
                  <a:pt x="8783" y="16222"/>
                </a:cubicBezTo>
                <a:cubicBezTo>
                  <a:pt x="8890" y="16222"/>
                  <a:pt x="8946" y="16334"/>
                  <a:pt x="8940" y="16531"/>
                </a:cubicBezTo>
                <a:cubicBezTo>
                  <a:pt x="8930" y="16820"/>
                  <a:pt x="9148" y="17029"/>
                  <a:pt x="9381" y="16954"/>
                </a:cubicBezTo>
                <a:cubicBezTo>
                  <a:pt x="9467" y="16926"/>
                  <a:pt x="9494" y="16894"/>
                  <a:pt x="9494" y="16814"/>
                </a:cubicBezTo>
                <a:cubicBezTo>
                  <a:pt x="9494" y="16727"/>
                  <a:pt x="9477" y="16711"/>
                  <a:pt x="9395" y="16720"/>
                </a:cubicBezTo>
                <a:cubicBezTo>
                  <a:pt x="9253" y="16736"/>
                  <a:pt x="9206" y="16645"/>
                  <a:pt x="9219" y="16384"/>
                </a:cubicBezTo>
                <a:cubicBezTo>
                  <a:pt x="9230" y="16162"/>
                  <a:pt x="9232" y="16158"/>
                  <a:pt x="9362" y="16137"/>
                </a:cubicBezTo>
                <a:cubicBezTo>
                  <a:pt x="9472" y="16119"/>
                  <a:pt x="9495" y="16096"/>
                  <a:pt x="9505" y="15999"/>
                </a:cubicBezTo>
                <a:cubicBezTo>
                  <a:pt x="9514" y="15903"/>
                  <a:pt x="9501" y="15882"/>
                  <a:pt x="9429" y="15877"/>
                </a:cubicBezTo>
                <a:cubicBezTo>
                  <a:pt x="9381" y="15873"/>
                  <a:pt x="9317" y="15869"/>
                  <a:pt x="9286" y="15866"/>
                </a:cubicBezTo>
                <a:cubicBezTo>
                  <a:pt x="9251" y="15864"/>
                  <a:pt x="9226" y="15811"/>
                  <a:pt x="9219" y="15725"/>
                </a:cubicBezTo>
                <a:cubicBezTo>
                  <a:pt x="9211" y="15629"/>
                  <a:pt x="9186" y="15586"/>
                  <a:pt x="9142" y="15585"/>
                </a:cubicBezTo>
                <a:cubicBezTo>
                  <a:pt x="9107" y="15585"/>
                  <a:pt x="9041" y="15574"/>
                  <a:pt x="8995" y="15560"/>
                </a:cubicBezTo>
                <a:cubicBezTo>
                  <a:pt x="8979" y="15556"/>
                  <a:pt x="8965" y="15552"/>
                  <a:pt x="8954" y="15552"/>
                </a:cubicBezTo>
                <a:close/>
                <a:moveTo>
                  <a:pt x="12976" y="15843"/>
                </a:moveTo>
                <a:cubicBezTo>
                  <a:pt x="12849" y="15839"/>
                  <a:pt x="12618" y="15973"/>
                  <a:pt x="12617" y="16052"/>
                </a:cubicBezTo>
                <a:cubicBezTo>
                  <a:pt x="12616" y="16087"/>
                  <a:pt x="12604" y="16137"/>
                  <a:pt x="12590" y="16162"/>
                </a:cubicBezTo>
                <a:cubicBezTo>
                  <a:pt x="12532" y="16266"/>
                  <a:pt x="12659" y="16414"/>
                  <a:pt x="12882" y="16503"/>
                </a:cubicBezTo>
                <a:cubicBezTo>
                  <a:pt x="13009" y="16554"/>
                  <a:pt x="13106" y="16618"/>
                  <a:pt x="13106" y="16651"/>
                </a:cubicBezTo>
                <a:cubicBezTo>
                  <a:pt x="13106" y="16736"/>
                  <a:pt x="12919" y="16746"/>
                  <a:pt x="12782" y="16669"/>
                </a:cubicBezTo>
                <a:cubicBezTo>
                  <a:pt x="12632" y="16585"/>
                  <a:pt x="12642" y="16583"/>
                  <a:pt x="12598" y="16715"/>
                </a:cubicBezTo>
                <a:cubicBezTo>
                  <a:pt x="12553" y="16847"/>
                  <a:pt x="12553" y="16849"/>
                  <a:pt x="12738" y="16925"/>
                </a:cubicBezTo>
                <a:cubicBezTo>
                  <a:pt x="13007" y="17037"/>
                  <a:pt x="13325" y="16926"/>
                  <a:pt x="13375" y="16704"/>
                </a:cubicBezTo>
                <a:cubicBezTo>
                  <a:pt x="13385" y="16660"/>
                  <a:pt x="13387" y="16620"/>
                  <a:pt x="13383" y="16582"/>
                </a:cubicBezTo>
                <a:cubicBezTo>
                  <a:pt x="13380" y="16564"/>
                  <a:pt x="13376" y="16546"/>
                  <a:pt x="13370" y="16529"/>
                </a:cubicBezTo>
                <a:cubicBezTo>
                  <a:pt x="13340" y="16444"/>
                  <a:pt x="13263" y="16377"/>
                  <a:pt x="13138" y="16328"/>
                </a:cubicBezTo>
                <a:cubicBezTo>
                  <a:pt x="12904" y="16235"/>
                  <a:pt x="12844" y="16199"/>
                  <a:pt x="12844" y="16153"/>
                </a:cubicBezTo>
                <a:cubicBezTo>
                  <a:pt x="12844" y="16093"/>
                  <a:pt x="13075" y="16085"/>
                  <a:pt x="13168" y="16140"/>
                </a:cubicBezTo>
                <a:cubicBezTo>
                  <a:pt x="13238" y="16182"/>
                  <a:pt x="13260" y="16177"/>
                  <a:pt x="13303" y="16112"/>
                </a:cubicBezTo>
                <a:cubicBezTo>
                  <a:pt x="13330" y="16069"/>
                  <a:pt x="13347" y="16016"/>
                  <a:pt x="13340" y="15994"/>
                </a:cubicBezTo>
                <a:cubicBezTo>
                  <a:pt x="13325" y="15941"/>
                  <a:pt x="13099" y="15847"/>
                  <a:pt x="12976" y="15843"/>
                </a:cubicBezTo>
                <a:close/>
                <a:moveTo>
                  <a:pt x="11950" y="15845"/>
                </a:moveTo>
                <a:cubicBezTo>
                  <a:pt x="11896" y="15851"/>
                  <a:pt x="11843" y="15876"/>
                  <a:pt x="11765" y="15923"/>
                </a:cubicBezTo>
                <a:cubicBezTo>
                  <a:pt x="11647" y="15994"/>
                  <a:pt x="11621" y="15998"/>
                  <a:pt x="11582" y="15946"/>
                </a:cubicBezTo>
                <a:cubicBezTo>
                  <a:pt x="11510" y="15848"/>
                  <a:pt x="11304" y="15824"/>
                  <a:pt x="11174" y="15900"/>
                </a:cubicBezTo>
                <a:cubicBezTo>
                  <a:pt x="11138" y="15921"/>
                  <a:pt x="11107" y="15934"/>
                  <a:pt x="11083" y="15939"/>
                </a:cubicBezTo>
                <a:cubicBezTo>
                  <a:pt x="11060" y="15943"/>
                  <a:pt x="11044" y="15938"/>
                  <a:pt x="11036" y="15925"/>
                </a:cubicBezTo>
                <a:cubicBezTo>
                  <a:pt x="11024" y="15901"/>
                  <a:pt x="10972" y="15882"/>
                  <a:pt x="10922" y="15882"/>
                </a:cubicBezTo>
                <a:lnTo>
                  <a:pt x="10829" y="15882"/>
                </a:lnTo>
                <a:lnTo>
                  <a:pt x="10829" y="16413"/>
                </a:lnTo>
                <a:lnTo>
                  <a:pt x="10829" y="16941"/>
                </a:lnTo>
                <a:lnTo>
                  <a:pt x="10961" y="16941"/>
                </a:lnTo>
                <a:cubicBezTo>
                  <a:pt x="10998" y="16941"/>
                  <a:pt x="11026" y="16943"/>
                  <a:pt x="11046" y="16938"/>
                </a:cubicBezTo>
                <a:cubicBezTo>
                  <a:pt x="11106" y="16922"/>
                  <a:pt x="11099" y="16849"/>
                  <a:pt x="11093" y="16512"/>
                </a:cubicBezTo>
                <a:cubicBezTo>
                  <a:pt x="11088" y="16263"/>
                  <a:pt x="11098" y="16221"/>
                  <a:pt x="11174" y="16162"/>
                </a:cubicBezTo>
                <a:cubicBezTo>
                  <a:pt x="11285" y="16075"/>
                  <a:pt x="11303" y="16077"/>
                  <a:pt x="11394" y="16179"/>
                </a:cubicBezTo>
                <a:cubicBezTo>
                  <a:pt x="11457" y="16250"/>
                  <a:pt x="11469" y="16321"/>
                  <a:pt x="11469" y="16600"/>
                </a:cubicBezTo>
                <a:cubicBezTo>
                  <a:pt x="11469" y="16829"/>
                  <a:pt x="11484" y="16943"/>
                  <a:pt x="11517" y="16957"/>
                </a:cubicBezTo>
                <a:cubicBezTo>
                  <a:pt x="11600" y="16995"/>
                  <a:pt x="11618" y="16985"/>
                  <a:pt x="11677" y="16885"/>
                </a:cubicBezTo>
                <a:cubicBezTo>
                  <a:pt x="11718" y="16813"/>
                  <a:pt x="11727" y="16720"/>
                  <a:pt x="11713" y="16545"/>
                </a:cubicBezTo>
                <a:cubicBezTo>
                  <a:pt x="11695" y="16329"/>
                  <a:pt x="11703" y="16295"/>
                  <a:pt x="11787" y="16200"/>
                </a:cubicBezTo>
                <a:cubicBezTo>
                  <a:pt x="11989" y="15973"/>
                  <a:pt x="12102" y="16110"/>
                  <a:pt x="12118" y="16604"/>
                </a:cubicBezTo>
                <a:cubicBezTo>
                  <a:pt x="12127" y="16909"/>
                  <a:pt x="12138" y="16964"/>
                  <a:pt x="12196" y="16977"/>
                </a:cubicBezTo>
                <a:cubicBezTo>
                  <a:pt x="12334" y="17006"/>
                  <a:pt x="12373" y="16907"/>
                  <a:pt x="12373" y="16529"/>
                </a:cubicBezTo>
                <a:cubicBezTo>
                  <a:pt x="12373" y="16117"/>
                  <a:pt x="12313" y="15954"/>
                  <a:pt x="12135" y="15884"/>
                </a:cubicBezTo>
                <a:cubicBezTo>
                  <a:pt x="12057" y="15853"/>
                  <a:pt x="12003" y="15839"/>
                  <a:pt x="11950" y="15845"/>
                </a:cubicBezTo>
                <a:close/>
                <a:moveTo>
                  <a:pt x="10137" y="15850"/>
                </a:moveTo>
                <a:cubicBezTo>
                  <a:pt x="10068" y="15849"/>
                  <a:pt x="9999" y="15868"/>
                  <a:pt x="9919" y="15909"/>
                </a:cubicBezTo>
                <a:cubicBezTo>
                  <a:pt x="9895" y="15921"/>
                  <a:pt x="9871" y="15934"/>
                  <a:pt x="9850" y="15949"/>
                </a:cubicBezTo>
                <a:cubicBezTo>
                  <a:pt x="9829" y="15965"/>
                  <a:pt x="9809" y="15981"/>
                  <a:pt x="9790" y="15999"/>
                </a:cubicBezTo>
                <a:cubicBezTo>
                  <a:pt x="9534" y="16249"/>
                  <a:pt x="9568" y="16733"/>
                  <a:pt x="9900" y="16902"/>
                </a:cubicBezTo>
                <a:cubicBezTo>
                  <a:pt x="10075" y="16992"/>
                  <a:pt x="10174" y="17004"/>
                  <a:pt x="10208" y="16943"/>
                </a:cubicBezTo>
                <a:cubicBezTo>
                  <a:pt x="10220" y="16921"/>
                  <a:pt x="10253" y="16913"/>
                  <a:pt x="10281" y="16925"/>
                </a:cubicBezTo>
                <a:cubicBezTo>
                  <a:pt x="10335" y="16948"/>
                  <a:pt x="10567" y="16834"/>
                  <a:pt x="10567" y="16784"/>
                </a:cubicBezTo>
                <a:cubicBezTo>
                  <a:pt x="10567" y="16769"/>
                  <a:pt x="10530" y="16713"/>
                  <a:pt x="10485" y="16660"/>
                </a:cubicBezTo>
                <a:lnTo>
                  <a:pt x="10405" y="16563"/>
                </a:lnTo>
                <a:lnTo>
                  <a:pt x="10504" y="16520"/>
                </a:lnTo>
                <a:cubicBezTo>
                  <a:pt x="10575" y="16490"/>
                  <a:pt x="10605" y="16448"/>
                  <a:pt x="10605" y="16374"/>
                </a:cubicBezTo>
                <a:cubicBezTo>
                  <a:pt x="10605" y="16316"/>
                  <a:pt x="10587" y="16258"/>
                  <a:pt x="10567" y="16245"/>
                </a:cubicBezTo>
                <a:cubicBezTo>
                  <a:pt x="10547" y="16231"/>
                  <a:pt x="10541" y="16194"/>
                  <a:pt x="10551" y="16163"/>
                </a:cubicBezTo>
                <a:cubicBezTo>
                  <a:pt x="10579" y="16083"/>
                  <a:pt x="10361" y="15892"/>
                  <a:pt x="10205" y="15859"/>
                </a:cubicBezTo>
                <a:cubicBezTo>
                  <a:pt x="10181" y="15854"/>
                  <a:pt x="10160" y="15851"/>
                  <a:pt x="10137" y="15850"/>
                </a:cubicBezTo>
                <a:close/>
                <a:moveTo>
                  <a:pt x="7733" y="15868"/>
                </a:moveTo>
                <a:cubicBezTo>
                  <a:pt x="7612" y="15865"/>
                  <a:pt x="7405" y="16053"/>
                  <a:pt x="7405" y="16188"/>
                </a:cubicBezTo>
                <a:cubicBezTo>
                  <a:pt x="7405" y="16308"/>
                  <a:pt x="7317" y="16456"/>
                  <a:pt x="7268" y="16421"/>
                </a:cubicBezTo>
                <a:cubicBezTo>
                  <a:pt x="7232" y="16395"/>
                  <a:pt x="7083" y="16078"/>
                  <a:pt x="7050" y="15956"/>
                </a:cubicBezTo>
                <a:cubicBezTo>
                  <a:pt x="7025" y="15865"/>
                  <a:pt x="6764" y="15849"/>
                  <a:pt x="6764" y="15939"/>
                </a:cubicBezTo>
                <a:cubicBezTo>
                  <a:pt x="6764" y="15970"/>
                  <a:pt x="6841" y="16171"/>
                  <a:pt x="6934" y="16386"/>
                </a:cubicBezTo>
                <a:cubicBezTo>
                  <a:pt x="7122" y="16821"/>
                  <a:pt x="7138" y="16946"/>
                  <a:pt x="7028" y="17132"/>
                </a:cubicBezTo>
                <a:cubicBezTo>
                  <a:pt x="6936" y="17288"/>
                  <a:pt x="6935" y="17311"/>
                  <a:pt x="7019" y="17336"/>
                </a:cubicBezTo>
                <a:cubicBezTo>
                  <a:pt x="7055" y="17346"/>
                  <a:pt x="7093" y="17358"/>
                  <a:pt x="7105" y="17360"/>
                </a:cubicBezTo>
                <a:cubicBezTo>
                  <a:pt x="7175" y="17377"/>
                  <a:pt x="7279" y="17193"/>
                  <a:pt x="7497" y="16667"/>
                </a:cubicBezTo>
                <a:cubicBezTo>
                  <a:pt x="7633" y="16341"/>
                  <a:pt x="7762" y="16037"/>
                  <a:pt x="7784" y="15994"/>
                </a:cubicBezTo>
                <a:cubicBezTo>
                  <a:pt x="7815" y="15934"/>
                  <a:pt x="7813" y="15905"/>
                  <a:pt x="7778" y="15880"/>
                </a:cubicBezTo>
                <a:cubicBezTo>
                  <a:pt x="7765" y="15872"/>
                  <a:pt x="7750" y="15868"/>
                  <a:pt x="7733" y="15868"/>
                </a:cubicBezTo>
                <a:close/>
                <a:moveTo>
                  <a:pt x="21573" y="21450"/>
                </a:moveTo>
                <a:cubicBezTo>
                  <a:pt x="21569" y="21448"/>
                  <a:pt x="21565" y="21450"/>
                  <a:pt x="21559" y="21453"/>
                </a:cubicBezTo>
                <a:cubicBezTo>
                  <a:pt x="21539" y="21468"/>
                  <a:pt x="21522" y="21506"/>
                  <a:pt x="21522" y="21540"/>
                </a:cubicBezTo>
                <a:cubicBezTo>
                  <a:pt x="21522" y="21573"/>
                  <a:pt x="21539" y="21600"/>
                  <a:pt x="21559" y="21600"/>
                </a:cubicBezTo>
                <a:cubicBezTo>
                  <a:pt x="21580" y="21600"/>
                  <a:pt x="21597" y="21561"/>
                  <a:pt x="21597" y="21513"/>
                </a:cubicBezTo>
                <a:cubicBezTo>
                  <a:pt x="21597" y="21477"/>
                  <a:pt x="21587" y="21454"/>
                  <a:pt x="21573" y="21450"/>
                </a:cubicBezTo>
                <a:close/>
              </a:path>
            </a:pathLst>
          </a:custGeom>
          <a:ln w="12700">
            <a:miter lim="400000"/>
          </a:ln>
        </p:spPr>
      </p:pic>
      <p:pic>
        <p:nvPicPr>
          <p:cNvPr id="329" name="8FDDBF0D-6F8D-4845-B7EF-A40677CD9061.png" descr="8FDDBF0D-6F8D-4845-B7EF-A40677CD9061.png"/>
          <p:cNvPicPr>
            <a:picLocks noChangeAspect="1"/>
          </p:cNvPicPr>
          <p:nvPr/>
        </p:nvPicPr>
        <p:blipFill>
          <a:blip r:embed="rId15"/>
          <a:srcRect l="29673" t="88" r="276" b="17411"/>
          <a:stretch>
            <a:fillRect/>
          </a:stretch>
        </p:blipFill>
        <p:spPr>
          <a:xfrm>
            <a:off x="19508161" y="9626582"/>
            <a:ext cx="4522603" cy="3550912"/>
          </a:xfrm>
          <a:custGeom>
            <a:avLst/>
            <a:gdLst/>
            <a:ahLst/>
            <a:cxnLst>
              <a:cxn ang="0">
                <a:pos x="wd2" y="hd2"/>
              </a:cxn>
              <a:cxn ang="5400000">
                <a:pos x="wd2" y="hd2"/>
              </a:cxn>
              <a:cxn ang="10800000">
                <a:pos x="wd2" y="hd2"/>
              </a:cxn>
              <a:cxn ang="16200000">
                <a:pos x="wd2" y="hd2"/>
              </a:cxn>
            </a:cxnLst>
            <a:rect l="0" t="0" r="r" b="b"/>
            <a:pathLst>
              <a:path w="21595" h="21593" extrusionOk="0">
                <a:moveTo>
                  <a:pt x="21579" y="0"/>
                </a:moveTo>
                <a:cubicBezTo>
                  <a:pt x="21572" y="-3"/>
                  <a:pt x="21566" y="27"/>
                  <a:pt x="21566" y="80"/>
                </a:cubicBezTo>
                <a:cubicBezTo>
                  <a:pt x="21566" y="150"/>
                  <a:pt x="21576" y="178"/>
                  <a:pt x="21587" y="143"/>
                </a:cubicBezTo>
                <a:cubicBezTo>
                  <a:pt x="21598" y="108"/>
                  <a:pt x="21598" y="50"/>
                  <a:pt x="21587" y="15"/>
                </a:cubicBezTo>
                <a:cubicBezTo>
                  <a:pt x="21584" y="6"/>
                  <a:pt x="21582" y="2"/>
                  <a:pt x="21579" y="0"/>
                </a:cubicBezTo>
                <a:close/>
                <a:moveTo>
                  <a:pt x="6320" y="2846"/>
                </a:moveTo>
                <a:cubicBezTo>
                  <a:pt x="6309" y="2844"/>
                  <a:pt x="6294" y="2845"/>
                  <a:pt x="6277" y="2848"/>
                </a:cubicBezTo>
                <a:cubicBezTo>
                  <a:pt x="6201" y="2862"/>
                  <a:pt x="6185" y="2903"/>
                  <a:pt x="6175" y="3087"/>
                </a:cubicBezTo>
                <a:cubicBezTo>
                  <a:pt x="6168" y="3209"/>
                  <a:pt x="6183" y="3340"/>
                  <a:pt x="6211" y="3382"/>
                </a:cubicBezTo>
                <a:cubicBezTo>
                  <a:pt x="6239" y="3426"/>
                  <a:pt x="6243" y="3475"/>
                  <a:pt x="6222" y="3500"/>
                </a:cubicBezTo>
                <a:cubicBezTo>
                  <a:pt x="6159" y="3573"/>
                  <a:pt x="5971" y="3609"/>
                  <a:pt x="5943" y="3553"/>
                </a:cubicBezTo>
                <a:cubicBezTo>
                  <a:pt x="5929" y="3524"/>
                  <a:pt x="5887" y="3513"/>
                  <a:pt x="5849" y="3529"/>
                </a:cubicBezTo>
                <a:cubicBezTo>
                  <a:pt x="5805" y="3547"/>
                  <a:pt x="5737" y="3501"/>
                  <a:pt x="5663" y="3403"/>
                </a:cubicBezTo>
                <a:cubicBezTo>
                  <a:pt x="5532" y="3229"/>
                  <a:pt x="5475" y="3213"/>
                  <a:pt x="5398" y="3331"/>
                </a:cubicBezTo>
                <a:cubicBezTo>
                  <a:pt x="5351" y="3402"/>
                  <a:pt x="5364" y="3436"/>
                  <a:pt x="5487" y="3575"/>
                </a:cubicBezTo>
                <a:cubicBezTo>
                  <a:pt x="5565" y="3663"/>
                  <a:pt x="5663" y="3759"/>
                  <a:pt x="5705" y="3789"/>
                </a:cubicBezTo>
                <a:cubicBezTo>
                  <a:pt x="5777" y="3842"/>
                  <a:pt x="5776" y="3849"/>
                  <a:pt x="5689" y="4004"/>
                </a:cubicBezTo>
                <a:cubicBezTo>
                  <a:pt x="5602" y="4161"/>
                  <a:pt x="5369" y="4291"/>
                  <a:pt x="5267" y="4241"/>
                </a:cubicBezTo>
                <a:cubicBezTo>
                  <a:pt x="5189" y="4203"/>
                  <a:pt x="5064" y="4349"/>
                  <a:pt x="5092" y="4443"/>
                </a:cubicBezTo>
                <a:cubicBezTo>
                  <a:pt x="5111" y="4504"/>
                  <a:pt x="5168" y="4528"/>
                  <a:pt x="5299" y="4528"/>
                </a:cubicBezTo>
                <a:cubicBezTo>
                  <a:pt x="5439" y="4528"/>
                  <a:pt x="5489" y="4550"/>
                  <a:pt x="5523" y="4629"/>
                </a:cubicBezTo>
                <a:cubicBezTo>
                  <a:pt x="5546" y="4686"/>
                  <a:pt x="5589" y="4731"/>
                  <a:pt x="5617" y="4731"/>
                </a:cubicBezTo>
                <a:cubicBezTo>
                  <a:pt x="5646" y="4731"/>
                  <a:pt x="5720" y="4800"/>
                  <a:pt x="5784" y="4885"/>
                </a:cubicBezTo>
                <a:cubicBezTo>
                  <a:pt x="5883" y="5016"/>
                  <a:pt x="5900" y="5073"/>
                  <a:pt x="5890" y="5274"/>
                </a:cubicBezTo>
                <a:cubicBezTo>
                  <a:pt x="5880" y="5480"/>
                  <a:pt x="5894" y="5530"/>
                  <a:pt x="6010" y="5682"/>
                </a:cubicBezTo>
                <a:cubicBezTo>
                  <a:pt x="6178" y="5902"/>
                  <a:pt x="6333" y="5910"/>
                  <a:pt x="6523" y="5703"/>
                </a:cubicBezTo>
                <a:cubicBezTo>
                  <a:pt x="6644" y="5572"/>
                  <a:pt x="6662" y="5522"/>
                  <a:pt x="6669" y="5283"/>
                </a:cubicBezTo>
                <a:cubicBezTo>
                  <a:pt x="6676" y="5069"/>
                  <a:pt x="6689" y="5016"/>
                  <a:pt x="6739" y="5027"/>
                </a:cubicBezTo>
                <a:cubicBezTo>
                  <a:pt x="6816" y="5045"/>
                  <a:pt x="6868" y="4956"/>
                  <a:pt x="6807" y="4909"/>
                </a:cubicBezTo>
                <a:cubicBezTo>
                  <a:pt x="6778" y="4886"/>
                  <a:pt x="6782" y="4848"/>
                  <a:pt x="6823" y="4791"/>
                </a:cubicBezTo>
                <a:cubicBezTo>
                  <a:pt x="6855" y="4745"/>
                  <a:pt x="6888" y="4649"/>
                  <a:pt x="6897" y="4579"/>
                </a:cubicBezTo>
                <a:cubicBezTo>
                  <a:pt x="6906" y="4494"/>
                  <a:pt x="6931" y="4457"/>
                  <a:pt x="6970" y="4472"/>
                </a:cubicBezTo>
                <a:cubicBezTo>
                  <a:pt x="7003" y="4485"/>
                  <a:pt x="7121" y="4498"/>
                  <a:pt x="7232" y="4499"/>
                </a:cubicBezTo>
                <a:cubicBezTo>
                  <a:pt x="7420" y="4501"/>
                  <a:pt x="7431" y="4493"/>
                  <a:pt x="7431" y="4373"/>
                </a:cubicBezTo>
                <a:cubicBezTo>
                  <a:pt x="7431" y="4265"/>
                  <a:pt x="7410" y="4241"/>
                  <a:pt x="7285" y="4219"/>
                </a:cubicBezTo>
                <a:cubicBezTo>
                  <a:pt x="7174" y="4200"/>
                  <a:pt x="7105" y="4145"/>
                  <a:pt x="7010" y="3992"/>
                </a:cubicBezTo>
                <a:lnTo>
                  <a:pt x="6885" y="3789"/>
                </a:lnTo>
                <a:lnTo>
                  <a:pt x="7027" y="3621"/>
                </a:lnTo>
                <a:cubicBezTo>
                  <a:pt x="7151" y="3472"/>
                  <a:pt x="7163" y="3435"/>
                  <a:pt x="7120" y="3348"/>
                </a:cubicBezTo>
                <a:cubicBezTo>
                  <a:pt x="7060" y="3225"/>
                  <a:pt x="7062" y="3225"/>
                  <a:pt x="6859" y="3350"/>
                </a:cubicBezTo>
                <a:cubicBezTo>
                  <a:pt x="6767" y="3406"/>
                  <a:pt x="6665" y="3454"/>
                  <a:pt x="6631" y="3454"/>
                </a:cubicBezTo>
                <a:cubicBezTo>
                  <a:pt x="6556" y="3454"/>
                  <a:pt x="6366" y="3087"/>
                  <a:pt x="6366" y="2940"/>
                </a:cubicBezTo>
                <a:cubicBezTo>
                  <a:pt x="6366" y="2879"/>
                  <a:pt x="6356" y="2850"/>
                  <a:pt x="6320" y="2846"/>
                </a:cubicBezTo>
                <a:close/>
                <a:moveTo>
                  <a:pt x="4437" y="5754"/>
                </a:moveTo>
                <a:cubicBezTo>
                  <a:pt x="4039" y="5754"/>
                  <a:pt x="3714" y="5771"/>
                  <a:pt x="3715" y="5793"/>
                </a:cubicBezTo>
                <a:cubicBezTo>
                  <a:pt x="3715" y="5814"/>
                  <a:pt x="3743" y="5876"/>
                  <a:pt x="3775" y="5930"/>
                </a:cubicBezTo>
                <a:cubicBezTo>
                  <a:pt x="3808" y="5985"/>
                  <a:pt x="3834" y="6044"/>
                  <a:pt x="3834" y="6063"/>
                </a:cubicBezTo>
                <a:cubicBezTo>
                  <a:pt x="3834" y="6082"/>
                  <a:pt x="3733" y="6183"/>
                  <a:pt x="3609" y="6287"/>
                </a:cubicBezTo>
                <a:cubicBezTo>
                  <a:pt x="3219" y="6616"/>
                  <a:pt x="2721" y="7270"/>
                  <a:pt x="2422" y="7844"/>
                </a:cubicBezTo>
                <a:cubicBezTo>
                  <a:pt x="2270" y="8136"/>
                  <a:pt x="2146" y="8404"/>
                  <a:pt x="2146" y="8438"/>
                </a:cubicBezTo>
                <a:cubicBezTo>
                  <a:pt x="2146" y="8471"/>
                  <a:pt x="2290" y="8582"/>
                  <a:pt x="2464" y="8681"/>
                </a:cubicBezTo>
                <a:cubicBezTo>
                  <a:pt x="2734" y="8836"/>
                  <a:pt x="2778" y="8881"/>
                  <a:pt x="2773" y="8983"/>
                </a:cubicBezTo>
                <a:cubicBezTo>
                  <a:pt x="2766" y="9130"/>
                  <a:pt x="2730" y="9124"/>
                  <a:pt x="2347" y="8923"/>
                </a:cubicBezTo>
                <a:cubicBezTo>
                  <a:pt x="2188" y="8839"/>
                  <a:pt x="2042" y="8783"/>
                  <a:pt x="2024" y="8797"/>
                </a:cubicBezTo>
                <a:cubicBezTo>
                  <a:pt x="1977" y="8835"/>
                  <a:pt x="1797" y="9565"/>
                  <a:pt x="1748" y="9917"/>
                </a:cubicBezTo>
                <a:cubicBezTo>
                  <a:pt x="1652" y="10604"/>
                  <a:pt x="1734" y="12039"/>
                  <a:pt x="1877" y="12154"/>
                </a:cubicBezTo>
                <a:cubicBezTo>
                  <a:pt x="1904" y="12176"/>
                  <a:pt x="1936" y="12192"/>
                  <a:pt x="1947" y="12193"/>
                </a:cubicBezTo>
                <a:cubicBezTo>
                  <a:pt x="1981" y="12194"/>
                  <a:pt x="2702" y="11901"/>
                  <a:pt x="2743" y="11869"/>
                </a:cubicBezTo>
                <a:cubicBezTo>
                  <a:pt x="2765" y="11852"/>
                  <a:pt x="2755" y="11709"/>
                  <a:pt x="2720" y="11517"/>
                </a:cubicBezTo>
                <a:cubicBezTo>
                  <a:pt x="2636" y="11058"/>
                  <a:pt x="2670" y="10084"/>
                  <a:pt x="2786" y="9625"/>
                </a:cubicBezTo>
                <a:cubicBezTo>
                  <a:pt x="2853" y="9363"/>
                  <a:pt x="2864" y="9258"/>
                  <a:pt x="2832" y="9181"/>
                </a:cubicBezTo>
                <a:cubicBezTo>
                  <a:pt x="2789" y="9078"/>
                  <a:pt x="2847" y="8956"/>
                  <a:pt x="2998" y="8838"/>
                </a:cubicBezTo>
                <a:cubicBezTo>
                  <a:pt x="3030" y="8814"/>
                  <a:pt x="3104" y="8688"/>
                  <a:pt x="3163" y="8558"/>
                </a:cubicBezTo>
                <a:cubicBezTo>
                  <a:pt x="3338" y="8174"/>
                  <a:pt x="3658" y="7719"/>
                  <a:pt x="4009" y="7361"/>
                </a:cubicBezTo>
                <a:lnTo>
                  <a:pt x="4336" y="7026"/>
                </a:lnTo>
                <a:lnTo>
                  <a:pt x="4446" y="7192"/>
                </a:lnTo>
                <a:cubicBezTo>
                  <a:pt x="4507" y="7283"/>
                  <a:pt x="4565" y="7347"/>
                  <a:pt x="4575" y="7335"/>
                </a:cubicBezTo>
                <a:cubicBezTo>
                  <a:pt x="4597" y="7307"/>
                  <a:pt x="5161" y="5803"/>
                  <a:pt x="5161" y="5773"/>
                </a:cubicBezTo>
                <a:cubicBezTo>
                  <a:pt x="5161" y="5762"/>
                  <a:pt x="4835" y="5754"/>
                  <a:pt x="4437" y="5754"/>
                </a:cubicBezTo>
                <a:close/>
                <a:moveTo>
                  <a:pt x="8750" y="6010"/>
                </a:moveTo>
                <a:cubicBezTo>
                  <a:pt x="8539" y="6013"/>
                  <a:pt x="8331" y="6029"/>
                  <a:pt x="8318" y="6056"/>
                </a:cubicBezTo>
                <a:cubicBezTo>
                  <a:pt x="8305" y="6082"/>
                  <a:pt x="8323" y="6317"/>
                  <a:pt x="8356" y="6579"/>
                </a:cubicBezTo>
                <a:cubicBezTo>
                  <a:pt x="8452" y="7342"/>
                  <a:pt x="8451" y="7385"/>
                  <a:pt x="8360" y="7612"/>
                </a:cubicBezTo>
                <a:cubicBezTo>
                  <a:pt x="8313" y="7728"/>
                  <a:pt x="8269" y="7928"/>
                  <a:pt x="8263" y="8054"/>
                </a:cubicBezTo>
                <a:cubicBezTo>
                  <a:pt x="8257" y="8180"/>
                  <a:pt x="8236" y="8306"/>
                  <a:pt x="8215" y="8331"/>
                </a:cubicBezTo>
                <a:cubicBezTo>
                  <a:pt x="8173" y="8385"/>
                  <a:pt x="8054" y="8280"/>
                  <a:pt x="8054" y="8189"/>
                </a:cubicBezTo>
                <a:cubicBezTo>
                  <a:pt x="8054" y="8157"/>
                  <a:pt x="8017" y="8100"/>
                  <a:pt x="7971" y="8064"/>
                </a:cubicBezTo>
                <a:cubicBezTo>
                  <a:pt x="7922" y="8025"/>
                  <a:pt x="7897" y="7965"/>
                  <a:pt x="7910" y="7921"/>
                </a:cubicBezTo>
                <a:cubicBezTo>
                  <a:pt x="7924" y="7877"/>
                  <a:pt x="7913" y="7852"/>
                  <a:pt x="7884" y="7861"/>
                </a:cubicBezTo>
                <a:cubicBezTo>
                  <a:pt x="7856" y="7869"/>
                  <a:pt x="7719" y="7808"/>
                  <a:pt x="7579" y="7728"/>
                </a:cubicBezTo>
                <a:cubicBezTo>
                  <a:pt x="7392" y="7621"/>
                  <a:pt x="7235" y="7576"/>
                  <a:pt x="6995" y="7557"/>
                </a:cubicBezTo>
                <a:cubicBezTo>
                  <a:pt x="6803" y="7541"/>
                  <a:pt x="6642" y="7501"/>
                  <a:pt x="6605" y="7460"/>
                </a:cubicBezTo>
                <a:cubicBezTo>
                  <a:pt x="6529" y="7376"/>
                  <a:pt x="6525" y="6962"/>
                  <a:pt x="6599" y="6792"/>
                </a:cubicBezTo>
                <a:cubicBezTo>
                  <a:pt x="6626" y="6730"/>
                  <a:pt x="6647" y="6580"/>
                  <a:pt x="6646" y="6459"/>
                </a:cubicBezTo>
                <a:cubicBezTo>
                  <a:pt x="6646" y="6258"/>
                  <a:pt x="6633" y="6231"/>
                  <a:pt x="6504" y="6150"/>
                </a:cubicBezTo>
                <a:cubicBezTo>
                  <a:pt x="6427" y="6101"/>
                  <a:pt x="6327" y="6060"/>
                  <a:pt x="6283" y="6060"/>
                </a:cubicBezTo>
                <a:cubicBezTo>
                  <a:pt x="6145" y="6060"/>
                  <a:pt x="5979" y="6203"/>
                  <a:pt x="5926" y="6365"/>
                </a:cubicBezTo>
                <a:cubicBezTo>
                  <a:pt x="5864" y="6555"/>
                  <a:pt x="5893" y="6721"/>
                  <a:pt x="6025" y="6920"/>
                </a:cubicBezTo>
                <a:cubicBezTo>
                  <a:pt x="6151" y="7110"/>
                  <a:pt x="6151" y="7149"/>
                  <a:pt x="6021" y="7366"/>
                </a:cubicBezTo>
                <a:cubicBezTo>
                  <a:pt x="5923" y="7530"/>
                  <a:pt x="5900" y="7542"/>
                  <a:pt x="5688" y="7542"/>
                </a:cubicBezTo>
                <a:cubicBezTo>
                  <a:pt x="5138" y="7542"/>
                  <a:pt x="4647" y="7853"/>
                  <a:pt x="4433" y="8336"/>
                </a:cubicBezTo>
                <a:cubicBezTo>
                  <a:pt x="4289" y="8661"/>
                  <a:pt x="4215" y="8657"/>
                  <a:pt x="4251" y="8324"/>
                </a:cubicBezTo>
                <a:cubicBezTo>
                  <a:pt x="4285" y="8009"/>
                  <a:pt x="4248" y="7849"/>
                  <a:pt x="4141" y="7849"/>
                </a:cubicBezTo>
                <a:cubicBezTo>
                  <a:pt x="4002" y="7849"/>
                  <a:pt x="3948" y="8019"/>
                  <a:pt x="3978" y="8360"/>
                </a:cubicBezTo>
                <a:cubicBezTo>
                  <a:pt x="4001" y="8622"/>
                  <a:pt x="3994" y="8681"/>
                  <a:pt x="3916" y="8821"/>
                </a:cubicBezTo>
                <a:cubicBezTo>
                  <a:pt x="3837" y="8962"/>
                  <a:pt x="3824" y="9049"/>
                  <a:pt x="3821" y="9502"/>
                </a:cubicBezTo>
                <a:cubicBezTo>
                  <a:pt x="3818" y="10047"/>
                  <a:pt x="3870" y="10252"/>
                  <a:pt x="4027" y="10325"/>
                </a:cubicBezTo>
                <a:cubicBezTo>
                  <a:pt x="4216" y="10412"/>
                  <a:pt x="4507" y="10760"/>
                  <a:pt x="4450" y="10832"/>
                </a:cubicBezTo>
                <a:cubicBezTo>
                  <a:pt x="4436" y="10850"/>
                  <a:pt x="4454" y="10865"/>
                  <a:pt x="4490" y="10865"/>
                </a:cubicBezTo>
                <a:cubicBezTo>
                  <a:pt x="4526" y="10865"/>
                  <a:pt x="4586" y="10924"/>
                  <a:pt x="4623" y="10996"/>
                </a:cubicBezTo>
                <a:cubicBezTo>
                  <a:pt x="4659" y="11067"/>
                  <a:pt x="4720" y="11120"/>
                  <a:pt x="4755" y="11114"/>
                </a:cubicBezTo>
                <a:cubicBezTo>
                  <a:pt x="4830" y="11102"/>
                  <a:pt x="5017" y="11157"/>
                  <a:pt x="5157" y="11230"/>
                </a:cubicBezTo>
                <a:cubicBezTo>
                  <a:pt x="5277" y="11292"/>
                  <a:pt x="5241" y="11340"/>
                  <a:pt x="4977" y="11466"/>
                </a:cubicBezTo>
                <a:cubicBezTo>
                  <a:pt x="4798" y="11552"/>
                  <a:pt x="4761" y="11557"/>
                  <a:pt x="4695" y="11493"/>
                </a:cubicBezTo>
                <a:cubicBezTo>
                  <a:pt x="4503" y="11310"/>
                  <a:pt x="4077" y="11562"/>
                  <a:pt x="3925" y="11949"/>
                </a:cubicBezTo>
                <a:cubicBezTo>
                  <a:pt x="3805" y="12256"/>
                  <a:pt x="3810" y="12456"/>
                  <a:pt x="3942" y="12656"/>
                </a:cubicBezTo>
                <a:lnTo>
                  <a:pt x="4050" y="12818"/>
                </a:lnTo>
                <a:lnTo>
                  <a:pt x="3959" y="13182"/>
                </a:lnTo>
                <a:cubicBezTo>
                  <a:pt x="3910" y="13384"/>
                  <a:pt x="3841" y="13630"/>
                  <a:pt x="3806" y="13728"/>
                </a:cubicBezTo>
                <a:lnTo>
                  <a:pt x="3743" y="13904"/>
                </a:lnTo>
                <a:lnTo>
                  <a:pt x="3561" y="13650"/>
                </a:lnTo>
                <a:cubicBezTo>
                  <a:pt x="3333" y="13331"/>
                  <a:pt x="3004" y="12698"/>
                  <a:pt x="2972" y="12514"/>
                </a:cubicBezTo>
                <a:cubicBezTo>
                  <a:pt x="2958" y="12437"/>
                  <a:pt x="2917" y="12321"/>
                  <a:pt x="2879" y="12258"/>
                </a:cubicBezTo>
                <a:lnTo>
                  <a:pt x="2809" y="12142"/>
                </a:lnTo>
                <a:lnTo>
                  <a:pt x="2377" y="12326"/>
                </a:lnTo>
                <a:cubicBezTo>
                  <a:pt x="2139" y="12427"/>
                  <a:pt x="1947" y="12530"/>
                  <a:pt x="1947" y="12555"/>
                </a:cubicBezTo>
                <a:cubicBezTo>
                  <a:pt x="1947" y="12656"/>
                  <a:pt x="2153" y="13185"/>
                  <a:pt x="2326" y="13525"/>
                </a:cubicBezTo>
                <a:cubicBezTo>
                  <a:pt x="2797" y="14451"/>
                  <a:pt x="3479" y="15076"/>
                  <a:pt x="4497" y="15511"/>
                </a:cubicBezTo>
                <a:cubicBezTo>
                  <a:pt x="5117" y="15776"/>
                  <a:pt x="5716" y="15937"/>
                  <a:pt x="6247" y="15982"/>
                </a:cubicBezTo>
                <a:cubicBezTo>
                  <a:pt x="7233" y="16065"/>
                  <a:pt x="7875" y="15955"/>
                  <a:pt x="8594" y="15576"/>
                </a:cubicBezTo>
                <a:cubicBezTo>
                  <a:pt x="9531" y="15084"/>
                  <a:pt x="10139" y="14421"/>
                  <a:pt x="10554" y="13441"/>
                </a:cubicBezTo>
                <a:cubicBezTo>
                  <a:pt x="10657" y="13198"/>
                  <a:pt x="10757" y="12985"/>
                  <a:pt x="10776" y="12967"/>
                </a:cubicBezTo>
                <a:cubicBezTo>
                  <a:pt x="10795" y="12950"/>
                  <a:pt x="10812" y="12870"/>
                  <a:pt x="10815" y="12791"/>
                </a:cubicBezTo>
                <a:cubicBezTo>
                  <a:pt x="10818" y="12712"/>
                  <a:pt x="10851" y="12604"/>
                  <a:pt x="10889" y="12550"/>
                </a:cubicBezTo>
                <a:cubicBezTo>
                  <a:pt x="10937" y="12483"/>
                  <a:pt x="10971" y="12305"/>
                  <a:pt x="10996" y="11978"/>
                </a:cubicBezTo>
                <a:cubicBezTo>
                  <a:pt x="11015" y="11717"/>
                  <a:pt x="11046" y="11445"/>
                  <a:pt x="11066" y="11372"/>
                </a:cubicBezTo>
                <a:cubicBezTo>
                  <a:pt x="11085" y="11299"/>
                  <a:pt x="11092" y="11131"/>
                  <a:pt x="11081" y="11001"/>
                </a:cubicBezTo>
                <a:cubicBezTo>
                  <a:pt x="11063" y="10796"/>
                  <a:pt x="11047" y="10764"/>
                  <a:pt x="10969" y="10764"/>
                </a:cubicBezTo>
                <a:cubicBezTo>
                  <a:pt x="10778" y="10764"/>
                  <a:pt x="10744" y="10497"/>
                  <a:pt x="10929" y="10455"/>
                </a:cubicBezTo>
                <a:cubicBezTo>
                  <a:pt x="11064" y="10425"/>
                  <a:pt x="11060" y="10465"/>
                  <a:pt x="11014" y="9671"/>
                </a:cubicBezTo>
                <a:cubicBezTo>
                  <a:pt x="11000" y="9415"/>
                  <a:pt x="10971" y="9246"/>
                  <a:pt x="10935" y="9210"/>
                </a:cubicBezTo>
                <a:cubicBezTo>
                  <a:pt x="10872" y="9146"/>
                  <a:pt x="10767" y="8779"/>
                  <a:pt x="10800" y="8737"/>
                </a:cubicBezTo>
                <a:cubicBezTo>
                  <a:pt x="10812" y="8722"/>
                  <a:pt x="10788" y="8665"/>
                  <a:pt x="10745" y="8611"/>
                </a:cubicBezTo>
                <a:cubicBezTo>
                  <a:pt x="10703" y="8557"/>
                  <a:pt x="10666" y="8475"/>
                  <a:pt x="10666" y="8426"/>
                </a:cubicBezTo>
                <a:cubicBezTo>
                  <a:pt x="10665" y="8376"/>
                  <a:pt x="10594" y="8198"/>
                  <a:pt x="10507" y="8030"/>
                </a:cubicBezTo>
                <a:cubicBezTo>
                  <a:pt x="10419" y="7862"/>
                  <a:pt x="10346" y="7671"/>
                  <a:pt x="10346" y="7607"/>
                </a:cubicBezTo>
                <a:cubicBezTo>
                  <a:pt x="10346" y="7544"/>
                  <a:pt x="10323" y="7492"/>
                  <a:pt x="10294" y="7492"/>
                </a:cubicBezTo>
                <a:cubicBezTo>
                  <a:pt x="10224" y="7492"/>
                  <a:pt x="9977" y="7078"/>
                  <a:pt x="10001" y="6999"/>
                </a:cubicBezTo>
                <a:cubicBezTo>
                  <a:pt x="10011" y="6964"/>
                  <a:pt x="9998" y="6945"/>
                  <a:pt x="9970" y="6958"/>
                </a:cubicBezTo>
                <a:cubicBezTo>
                  <a:pt x="9943" y="6972"/>
                  <a:pt x="9873" y="6920"/>
                  <a:pt x="9815" y="6842"/>
                </a:cubicBezTo>
                <a:lnTo>
                  <a:pt x="9709" y="6700"/>
                </a:lnTo>
                <a:lnTo>
                  <a:pt x="9925" y="6422"/>
                </a:lnTo>
                <a:cubicBezTo>
                  <a:pt x="10043" y="6269"/>
                  <a:pt x="10130" y="6124"/>
                  <a:pt x="10118" y="6099"/>
                </a:cubicBezTo>
                <a:cubicBezTo>
                  <a:pt x="10106" y="6074"/>
                  <a:pt x="9900" y="6058"/>
                  <a:pt x="9660" y="6065"/>
                </a:cubicBezTo>
                <a:cubicBezTo>
                  <a:pt x="9419" y="6072"/>
                  <a:pt x="9208" y="6063"/>
                  <a:pt x="9193" y="6044"/>
                </a:cubicBezTo>
                <a:cubicBezTo>
                  <a:pt x="9173" y="6017"/>
                  <a:pt x="8960" y="6007"/>
                  <a:pt x="8750" y="6010"/>
                </a:cubicBezTo>
                <a:close/>
                <a:moveTo>
                  <a:pt x="8939" y="7646"/>
                </a:moveTo>
                <a:cubicBezTo>
                  <a:pt x="9049" y="7636"/>
                  <a:pt x="9239" y="7790"/>
                  <a:pt x="9239" y="7943"/>
                </a:cubicBezTo>
                <a:cubicBezTo>
                  <a:pt x="9239" y="7987"/>
                  <a:pt x="9260" y="8022"/>
                  <a:pt x="9286" y="8022"/>
                </a:cubicBezTo>
                <a:cubicBezTo>
                  <a:pt x="9346" y="8022"/>
                  <a:pt x="9461" y="8241"/>
                  <a:pt x="9455" y="8341"/>
                </a:cubicBezTo>
                <a:cubicBezTo>
                  <a:pt x="9452" y="8382"/>
                  <a:pt x="9505" y="8484"/>
                  <a:pt x="9570" y="8570"/>
                </a:cubicBezTo>
                <a:cubicBezTo>
                  <a:pt x="9636" y="8656"/>
                  <a:pt x="9690" y="8756"/>
                  <a:pt x="9690" y="8792"/>
                </a:cubicBezTo>
                <a:cubicBezTo>
                  <a:pt x="9690" y="8829"/>
                  <a:pt x="9701" y="8867"/>
                  <a:pt x="9716" y="8879"/>
                </a:cubicBezTo>
                <a:cubicBezTo>
                  <a:pt x="9731" y="8891"/>
                  <a:pt x="9749" y="8977"/>
                  <a:pt x="9754" y="9070"/>
                </a:cubicBezTo>
                <a:cubicBezTo>
                  <a:pt x="9759" y="9162"/>
                  <a:pt x="9785" y="9255"/>
                  <a:pt x="9813" y="9275"/>
                </a:cubicBezTo>
                <a:cubicBezTo>
                  <a:pt x="9841" y="9295"/>
                  <a:pt x="9864" y="9340"/>
                  <a:pt x="9864" y="9376"/>
                </a:cubicBezTo>
                <a:cubicBezTo>
                  <a:pt x="9864" y="9413"/>
                  <a:pt x="9887" y="9490"/>
                  <a:pt x="9917" y="9548"/>
                </a:cubicBezTo>
                <a:cubicBezTo>
                  <a:pt x="9947" y="9606"/>
                  <a:pt x="9976" y="9699"/>
                  <a:pt x="9982" y="9755"/>
                </a:cubicBezTo>
                <a:cubicBezTo>
                  <a:pt x="9987" y="9812"/>
                  <a:pt x="10011" y="9939"/>
                  <a:pt x="10033" y="10040"/>
                </a:cubicBezTo>
                <a:cubicBezTo>
                  <a:pt x="10055" y="10141"/>
                  <a:pt x="10068" y="10272"/>
                  <a:pt x="10063" y="10330"/>
                </a:cubicBezTo>
                <a:cubicBezTo>
                  <a:pt x="10055" y="10426"/>
                  <a:pt x="10069" y="10433"/>
                  <a:pt x="10234" y="10446"/>
                </a:cubicBezTo>
                <a:cubicBezTo>
                  <a:pt x="10354" y="10454"/>
                  <a:pt x="10431" y="10486"/>
                  <a:pt x="10471" y="10542"/>
                </a:cubicBezTo>
                <a:cubicBezTo>
                  <a:pt x="10526" y="10620"/>
                  <a:pt x="10527" y="10627"/>
                  <a:pt x="10467" y="10668"/>
                </a:cubicBezTo>
                <a:cubicBezTo>
                  <a:pt x="10432" y="10691"/>
                  <a:pt x="10338" y="10723"/>
                  <a:pt x="10258" y="10740"/>
                </a:cubicBezTo>
                <a:cubicBezTo>
                  <a:pt x="10096" y="10774"/>
                  <a:pt x="10073" y="10827"/>
                  <a:pt x="10073" y="11172"/>
                </a:cubicBezTo>
                <a:cubicBezTo>
                  <a:pt x="10072" y="11408"/>
                  <a:pt x="10010" y="11824"/>
                  <a:pt x="9965" y="11896"/>
                </a:cubicBezTo>
                <a:cubicBezTo>
                  <a:pt x="9948" y="11923"/>
                  <a:pt x="9941" y="11953"/>
                  <a:pt x="9951" y="11966"/>
                </a:cubicBezTo>
                <a:cubicBezTo>
                  <a:pt x="9973" y="11993"/>
                  <a:pt x="9824" y="12531"/>
                  <a:pt x="9733" y="12755"/>
                </a:cubicBezTo>
                <a:cubicBezTo>
                  <a:pt x="9622" y="13031"/>
                  <a:pt x="9407" y="13416"/>
                  <a:pt x="9313" y="13510"/>
                </a:cubicBezTo>
                <a:cubicBezTo>
                  <a:pt x="9262" y="13561"/>
                  <a:pt x="9220" y="13617"/>
                  <a:pt x="9220" y="13636"/>
                </a:cubicBezTo>
                <a:cubicBezTo>
                  <a:pt x="9220" y="13655"/>
                  <a:pt x="9140" y="13763"/>
                  <a:pt x="9042" y="13875"/>
                </a:cubicBezTo>
                <a:cubicBezTo>
                  <a:pt x="8885" y="14054"/>
                  <a:pt x="8859" y="14070"/>
                  <a:pt x="8820" y="14010"/>
                </a:cubicBezTo>
                <a:cubicBezTo>
                  <a:pt x="8795" y="13972"/>
                  <a:pt x="8765" y="13808"/>
                  <a:pt x="8754" y="13646"/>
                </a:cubicBezTo>
                <a:cubicBezTo>
                  <a:pt x="8741" y="13464"/>
                  <a:pt x="8718" y="13351"/>
                  <a:pt x="8693" y="13351"/>
                </a:cubicBezTo>
                <a:cubicBezTo>
                  <a:pt x="8635" y="13351"/>
                  <a:pt x="8619" y="13320"/>
                  <a:pt x="8598" y="13173"/>
                </a:cubicBezTo>
                <a:cubicBezTo>
                  <a:pt x="8588" y="13100"/>
                  <a:pt x="8570" y="12988"/>
                  <a:pt x="8558" y="12922"/>
                </a:cubicBezTo>
                <a:cubicBezTo>
                  <a:pt x="8543" y="12832"/>
                  <a:pt x="8565" y="12753"/>
                  <a:pt x="8644" y="12608"/>
                </a:cubicBezTo>
                <a:cubicBezTo>
                  <a:pt x="8746" y="12418"/>
                  <a:pt x="8770" y="12254"/>
                  <a:pt x="8710" y="12152"/>
                </a:cubicBezTo>
                <a:cubicBezTo>
                  <a:pt x="8694" y="12124"/>
                  <a:pt x="8684" y="12080"/>
                  <a:pt x="8689" y="12055"/>
                </a:cubicBezTo>
                <a:cubicBezTo>
                  <a:pt x="8695" y="12031"/>
                  <a:pt x="8628" y="11904"/>
                  <a:pt x="8540" y="11773"/>
                </a:cubicBezTo>
                <a:cubicBezTo>
                  <a:pt x="8408" y="11578"/>
                  <a:pt x="8349" y="11526"/>
                  <a:pt x="8210" y="11483"/>
                </a:cubicBezTo>
                <a:cubicBezTo>
                  <a:pt x="8017" y="11424"/>
                  <a:pt x="7861" y="11429"/>
                  <a:pt x="7764" y="11500"/>
                </a:cubicBezTo>
                <a:cubicBezTo>
                  <a:pt x="7694" y="11551"/>
                  <a:pt x="7496" y="11479"/>
                  <a:pt x="7404" y="11367"/>
                </a:cubicBezTo>
                <a:cubicBezTo>
                  <a:pt x="7322" y="11267"/>
                  <a:pt x="7432" y="11157"/>
                  <a:pt x="7624" y="11145"/>
                </a:cubicBezTo>
                <a:cubicBezTo>
                  <a:pt x="7781" y="11136"/>
                  <a:pt x="7813" y="11113"/>
                  <a:pt x="7990" y="10894"/>
                </a:cubicBezTo>
                <a:cubicBezTo>
                  <a:pt x="8097" y="10762"/>
                  <a:pt x="8211" y="10592"/>
                  <a:pt x="8242" y="10516"/>
                </a:cubicBezTo>
                <a:cubicBezTo>
                  <a:pt x="8275" y="10434"/>
                  <a:pt x="8335" y="10366"/>
                  <a:pt x="8388" y="10349"/>
                </a:cubicBezTo>
                <a:cubicBezTo>
                  <a:pt x="8438" y="10333"/>
                  <a:pt x="8539" y="10269"/>
                  <a:pt x="8613" y="10207"/>
                </a:cubicBezTo>
                <a:lnTo>
                  <a:pt x="8748" y="10093"/>
                </a:lnTo>
                <a:lnTo>
                  <a:pt x="8739" y="9531"/>
                </a:lnTo>
                <a:cubicBezTo>
                  <a:pt x="8728" y="8963"/>
                  <a:pt x="8688" y="8778"/>
                  <a:pt x="8564" y="8718"/>
                </a:cubicBezTo>
                <a:cubicBezTo>
                  <a:pt x="8530" y="8701"/>
                  <a:pt x="8526" y="8637"/>
                  <a:pt x="8551" y="8438"/>
                </a:cubicBezTo>
                <a:cubicBezTo>
                  <a:pt x="8568" y="8296"/>
                  <a:pt x="8586" y="8145"/>
                  <a:pt x="8591" y="8102"/>
                </a:cubicBezTo>
                <a:cubicBezTo>
                  <a:pt x="8601" y="8009"/>
                  <a:pt x="8786" y="7753"/>
                  <a:pt x="8822" y="7781"/>
                </a:cubicBezTo>
                <a:cubicBezTo>
                  <a:pt x="8836" y="7792"/>
                  <a:pt x="8856" y="7763"/>
                  <a:pt x="8865" y="7716"/>
                </a:cubicBezTo>
                <a:cubicBezTo>
                  <a:pt x="8875" y="7671"/>
                  <a:pt x="8903" y="7649"/>
                  <a:pt x="8939" y="7646"/>
                </a:cubicBezTo>
                <a:close/>
                <a:moveTo>
                  <a:pt x="2591" y="16489"/>
                </a:moveTo>
                <a:lnTo>
                  <a:pt x="2580" y="17152"/>
                </a:lnTo>
                <a:cubicBezTo>
                  <a:pt x="2573" y="17550"/>
                  <a:pt x="2553" y="17817"/>
                  <a:pt x="2528" y="17818"/>
                </a:cubicBezTo>
                <a:cubicBezTo>
                  <a:pt x="2506" y="17819"/>
                  <a:pt x="2479" y="17745"/>
                  <a:pt x="2468" y="17652"/>
                </a:cubicBezTo>
                <a:cubicBezTo>
                  <a:pt x="2445" y="17458"/>
                  <a:pt x="2330" y="17251"/>
                  <a:pt x="2193" y="17157"/>
                </a:cubicBezTo>
                <a:cubicBezTo>
                  <a:pt x="2064" y="17069"/>
                  <a:pt x="1778" y="17078"/>
                  <a:pt x="1632" y="17174"/>
                </a:cubicBezTo>
                <a:cubicBezTo>
                  <a:pt x="1489" y="17268"/>
                  <a:pt x="1342" y="17488"/>
                  <a:pt x="1342" y="17611"/>
                </a:cubicBezTo>
                <a:cubicBezTo>
                  <a:pt x="1342" y="17773"/>
                  <a:pt x="1291" y="17764"/>
                  <a:pt x="1166" y="17582"/>
                </a:cubicBezTo>
                <a:cubicBezTo>
                  <a:pt x="1070" y="17441"/>
                  <a:pt x="983" y="17379"/>
                  <a:pt x="781" y="17309"/>
                </a:cubicBezTo>
                <a:cubicBezTo>
                  <a:pt x="491" y="17209"/>
                  <a:pt x="434" y="17109"/>
                  <a:pt x="594" y="16976"/>
                </a:cubicBezTo>
                <a:cubicBezTo>
                  <a:pt x="684" y="16901"/>
                  <a:pt x="706" y="16899"/>
                  <a:pt x="842" y="16971"/>
                </a:cubicBezTo>
                <a:cubicBezTo>
                  <a:pt x="1041" y="17077"/>
                  <a:pt x="1050" y="17074"/>
                  <a:pt x="1124" y="16892"/>
                </a:cubicBezTo>
                <a:cubicBezTo>
                  <a:pt x="1184" y="16744"/>
                  <a:pt x="1183" y="16732"/>
                  <a:pt x="1115" y="16667"/>
                </a:cubicBezTo>
                <a:cubicBezTo>
                  <a:pt x="1000" y="16558"/>
                  <a:pt x="677" y="16476"/>
                  <a:pt x="506" y="16513"/>
                </a:cubicBezTo>
                <a:cubicBezTo>
                  <a:pt x="171" y="16585"/>
                  <a:pt x="0" y="16831"/>
                  <a:pt x="25" y="17203"/>
                </a:cubicBezTo>
                <a:cubicBezTo>
                  <a:pt x="40" y="17430"/>
                  <a:pt x="191" y="17574"/>
                  <a:pt x="561" y="17719"/>
                </a:cubicBezTo>
                <a:cubicBezTo>
                  <a:pt x="827" y="17824"/>
                  <a:pt x="911" y="17927"/>
                  <a:pt x="823" y="18038"/>
                </a:cubicBezTo>
                <a:cubicBezTo>
                  <a:pt x="751" y="18129"/>
                  <a:pt x="450" y="18103"/>
                  <a:pt x="302" y="17992"/>
                </a:cubicBezTo>
                <a:lnTo>
                  <a:pt x="171" y="17896"/>
                </a:lnTo>
                <a:lnTo>
                  <a:pt x="74" y="18048"/>
                </a:lnTo>
                <a:cubicBezTo>
                  <a:pt x="27" y="18123"/>
                  <a:pt x="3" y="18161"/>
                  <a:pt x="1" y="18192"/>
                </a:cubicBezTo>
                <a:cubicBezTo>
                  <a:pt x="-2" y="18224"/>
                  <a:pt x="16" y="18249"/>
                  <a:pt x="54" y="18296"/>
                </a:cubicBezTo>
                <a:cubicBezTo>
                  <a:pt x="95" y="18349"/>
                  <a:pt x="218" y="18425"/>
                  <a:pt x="325" y="18463"/>
                </a:cubicBezTo>
                <a:cubicBezTo>
                  <a:pt x="690" y="18593"/>
                  <a:pt x="1147" y="18434"/>
                  <a:pt x="1210" y="18156"/>
                </a:cubicBezTo>
                <a:cubicBezTo>
                  <a:pt x="1258" y="17942"/>
                  <a:pt x="1321" y="17938"/>
                  <a:pt x="1416" y="18144"/>
                </a:cubicBezTo>
                <a:cubicBezTo>
                  <a:pt x="1462" y="18242"/>
                  <a:pt x="1556" y="18361"/>
                  <a:pt x="1626" y="18407"/>
                </a:cubicBezTo>
                <a:cubicBezTo>
                  <a:pt x="1788" y="18513"/>
                  <a:pt x="2104" y="18513"/>
                  <a:pt x="2265" y="18407"/>
                </a:cubicBezTo>
                <a:cubicBezTo>
                  <a:pt x="2333" y="18363"/>
                  <a:pt x="2395" y="18334"/>
                  <a:pt x="2405" y="18342"/>
                </a:cubicBezTo>
                <a:cubicBezTo>
                  <a:pt x="2416" y="18350"/>
                  <a:pt x="2450" y="18309"/>
                  <a:pt x="2483" y="18253"/>
                </a:cubicBezTo>
                <a:cubicBezTo>
                  <a:pt x="2547" y="18143"/>
                  <a:pt x="2541" y="18133"/>
                  <a:pt x="2608" y="18405"/>
                </a:cubicBezTo>
                <a:cubicBezTo>
                  <a:pt x="2620" y="18452"/>
                  <a:pt x="2676" y="18482"/>
                  <a:pt x="2754" y="18482"/>
                </a:cubicBezTo>
                <a:cubicBezTo>
                  <a:pt x="2918" y="18482"/>
                  <a:pt x="3071" y="18281"/>
                  <a:pt x="3076" y="18057"/>
                </a:cubicBezTo>
                <a:cubicBezTo>
                  <a:pt x="3089" y="17538"/>
                  <a:pt x="3205" y="17540"/>
                  <a:pt x="3232" y="18060"/>
                </a:cubicBezTo>
                <a:lnTo>
                  <a:pt x="3252" y="18458"/>
                </a:lnTo>
                <a:lnTo>
                  <a:pt x="3413" y="18458"/>
                </a:lnTo>
                <a:lnTo>
                  <a:pt x="3573" y="18458"/>
                </a:lnTo>
                <a:lnTo>
                  <a:pt x="3586" y="17982"/>
                </a:lnTo>
                <a:cubicBezTo>
                  <a:pt x="3594" y="17666"/>
                  <a:pt x="3612" y="17501"/>
                  <a:pt x="3645" y="17488"/>
                </a:cubicBezTo>
                <a:cubicBezTo>
                  <a:pt x="3671" y="17477"/>
                  <a:pt x="3763" y="17453"/>
                  <a:pt x="3847" y="17435"/>
                </a:cubicBezTo>
                <a:cubicBezTo>
                  <a:pt x="3973" y="17408"/>
                  <a:pt x="3994" y="17389"/>
                  <a:pt x="3955" y="17331"/>
                </a:cubicBezTo>
                <a:cubicBezTo>
                  <a:pt x="3930" y="17292"/>
                  <a:pt x="3919" y="17236"/>
                  <a:pt x="3933" y="17208"/>
                </a:cubicBezTo>
                <a:cubicBezTo>
                  <a:pt x="3956" y="17160"/>
                  <a:pt x="3894" y="17130"/>
                  <a:pt x="3694" y="17092"/>
                </a:cubicBezTo>
                <a:cubicBezTo>
                  <a:pt x="3645" y="17082"/>
                  <a:pt x="3614" y="17036"/>
                  <a:pt x="3614" y="16974"/>
                </a:cubicBezTo>
                <a:cubicBezTo>
                  <a:pt x="3614" y="16892"/>
                  <a:pt x="3641" y="16872"/>
                  <a:pt x="3755" y="16872"/>
                </a:cubicBezTo>
                <a:cubicBezTo>
                  <a:pt x="3889" y="16872"/>
                  <a:pt x="3895" y="16864"/>
                  <a:pt x="3895" y="16694"/>
                </a:cubicBezTo>
                <a:lnTo>
                  <a:pt x="3895" y="16515"/>
                </a:lnTo>
                <a:lnTo>
                  <a:pt x="3692" y="16498"/>
                </a:lnTo>
                <a:cubicBezTo>
                  <a:pt x="3517" y="16485"/>
                  <a:pt x="3473" y="16504"/>
                  <a:pt x="3383" y="16619"/>
                </a:cubicBezTo>
                <a:cubicBezTo>
                  <a:pt x="3325" y="16693"/>
                  <a:pt x="3267" y="16819"/>
                  <a:pt x="3252" y="16901"/>
                </a:cubicBezTo>
                <a:cubicBezTo>
                  <a:pt x="3218" y="17100"/>
                  <a:pt x="3165" y="17130"/>
                  <a:pt x="3106" y="16988"/>
                </a:cubicBezTo>
                <a:cubicBezTo>
                  <a:pt x="3080" y="16924"/>
                  <a:pt x="3036" y="16854"/>
                  <a:pt x="3006" y="16831"/>
                </a:cubicBezTo>
                <a:cubicBezTo>
                  <a:pt x="2976" y="16809"/>
                  <a:pt x="2951" y="16724"/>
                  <a:pt x="2951" y="16641"/>
                </a:cubicBezTo>
                <a:cubicBezTo>
                  <a:pt x="2951" y="16496"/>
                  <a:pt x="2943" y="16489"/>
                  <a:pt x="2771" y="16489"/>
                </a:cubicBezTo>
                <a:lnTo>
                  <a:pt x="2591" y="16489"/>
                </a:lnTo>
                <a:close/>
                <a:moveTo>
                  <a:pt x="8358" y="16489"/>
                </a:moveTo>
                <a:cubicBezTo>
                  <a:pt x="8206" y="16489"/>
                  <a:pt x="8176" y="16505"/>
                  <a:pt x="8176" y="16585"/>
                </a:cubicBezTo>
                <a:cubicBezTo>
                  <a:pt x="8176" y="16638"/>
                  <a:pt x="8150" y="16761"/>
                  <a:pt x="8117" y="16860"/>
                </a:cubicBezTo>
                <a:cubicBezTo>
                  <a:pt x="8063" y="17023"/>
                  <a:pt x="8039" y="17043"/>
                  <a:pt x="7865" y="17068"/>
                </a:cubicBezTo>
                <a:cubicBezTo>
                  <a:pt x="7759" y="17083"/>
                  <a:pt x="7593" y="17095"/>
                  <a:pt x="7493" y="17094"/>
                </a:cubicBezTo>
                <a:cubicBezTo>
                  <a:pt x="7248" y="17092"/>
                  <a:pt x="7204" y="17108"/>
                  <a:pt x="7116" y="17244"/>
                </a:cubicBezTo>
                <a:cubicBezTo>
                  <a:pt x="7030" y="17378"/>
                  <a:pt x="6950" y="17369"/>
                  <a:pt x="6950" y="17225"/>
                </a:cubicBezTo>
                <a:cubicBezTo>
                  <a:pt x="6950" y="17147"/>
                  <a:pt x="6916" y="17126"/>
                  <a:pt x="6787" y="17114"/>
                </a:cubicBezTo>
                <a:lnTo>
                  <a:pt x="6624" y="17097"/>
                </a:lnTo>
                <a:lnTo>
                  <a:pt x="6525" y="17413"/>
                </a:lnTo>
                <a:cubicBezTo>
                  <a:pt x="6471" y="17586"/>
                  <a:pt x="6412" y="17730"/>
                  <a:pt x="6392" y="17734"/>
                </a:cubicBezTo>
                <a:cubicBezTo>
                  <a:pt x="6367" y="17739"/>
                  <a:pt x="6215" y="17328"/>
                  <a:pt x="6146" y="17068"/>
                </a:cubicBezTo>
                <a:cubicBezTo>
                  <a:pt x="6145" y="17063"/>
                  <a:pt x="6068" y="17071"/>
                  <a:pt x="5976" y="17087"/>
                </a:cubicBezTo>
                <a:cubicBezTo>
                  <a:pt x="5835" y="17111"/>
                  <a:pt x="5809" y="17132"/>
                  <a:pt x="5816" y="17220"/>
                </a:cubicBezTo>
                <a:cubicBezTo>
                  <a:pt x="5824" y="17315"/>
                  <a:pt x="5805" y="17324"/>
                  <a:pt x="5623" y="17312"/>
                </a:cubicBezTo>
                <a:cubicBezTo>
                  <a:pt x="5364" y="17294"/>
                  <a:pt x="5328" y="17243"/>
                  <a:pt x="5456" y="17080"/>
                </a:cubicBezTo>
                <a:cubicBezTo>
                  <a:pt x="5529" y="16988"/>
                  <a:pt x="5603" y="16950"/>
                  <a:pt x="5703" y="16950"/>
                </a:cubicBezTo>
                <a:cubicBezTo>
                  <a:pt x="5842" y="16950"/>
                  <a:pt x="5845" y="16945"/>
                  <a:pt x="5845" y="16744"/>
                </a:cubicBezTo>
                <a:lnTo>
                  <a:pt x="5845" y="16539"/>
                </a:lnTo>
                <a:lnTo>
                  <a:pt x="5322" y="16539"/>
                </a:lnTo>
                <a:lnTo>
                  <a:pt x="4799" y="16539"/>
                </a:lnTo>
                <a:lnTo>
                  <a:pt x="4799" y="16735"/>
                </a:lnTo>
                <a:cubicBezTo>
                  <a:pt x="4799" y="16842"/>
                  <a:pt x="4780" y="16951"/>
                  <a:pt x="4757" y="16981"/>
                </a:cubicBezTo>
                <a:cubicBezTo>
                  <a:pt x="4734" y="17010"/>
                  <a:pt x="4711" y="17120"/>
                  <a:pt x="4706" y="17222"/>
                </a:cubicBezTo>
                <a:cubicBezTo>
                  <a:pt x="4701" y="17324"/>
                  <a:pt x="4680" y="17429"/>
                  <a:pt x="4659" y="17456"/>
                </a:cubicBezTo>
                <a:cubicBezTo>
                  <a:pt x="4637" y="17483"/>
                  <a:pt x="4478" y="17516"/>
                  <a:pt x="4304" y="17529"/>
                </a:cubicBezTo>
                <a:cubicBezTo>
                  <a:pt x="3953" y="17554"/>
                  <a:pt x="3820" y="17644"/>
                  <a:pt x="3900" y="17806"/>
                </a:cubicBezTo>
                <a:cubicBezTo>
                  <a:pt x="3935" y="17875"/>
                  <a:pt x="4012" y="17898"/>
                  <a:pt x="4257" y="17910"/>
                </a:cubicBezTo>
                <a:cubicBezTo>
                  <a:pt x="4435" y="17919"/>
                  <a:pt x="4588" y="17901"/>
                  <a:pt x="4611" y="17871"/>
                </a:cubicBezTo>
                <a:cubicBezTo>
                  <a:pt x="4688" y="17773"/>
                  <a:pt x="4799" y="17966"/>
                  <a:pt x="4799" y="18200"/>
                </a:cubicBezTo>
                <a:cubicBezTo>
                  <a:pt x="4799" y="18317"/>
                  <a:pt x="4812" y="18430"/>
                  <a:pt x="4827" y="18448"/>
                </a:cubicBezTo>
                <a:cubicBezTo>
                  <a:pt x="4872" y="18506"/>
                  <a:pt x="5785" y="18488"/>
                  <a:pt x="5832" y="18429"/>
                </a:cubicBezTo>
                <a:cubicBezTo>
                  <a:pt x="5856" y="18398"/>
                  <a:pt x="5862" y="18305"/>
                  <a:pt x="5847" y="18212"/>
                </a:cubicBezTo>
                <a:lnTo>
                  <a:pt x="5822" y="18048"/>
                </a:lnTo>
                <a:lnTo>
                  <a:pt x="5521" y="18033"/>
                </a:lnTo>
                <a:cubicBezTo>
                  <a:pt x="5356" y="18025"/>
                  <a:pt x="5208" y="17999"/>
                  <a:pt x="5191" y="17978"/>
                </a:cubicBezTo>
                <a:cubicBezTo>
                  <a:pt x="5174" y="17956"/>
                  <a:pt x="5202" y="17891"/>
                  <a:pt x="5252" y="17833"/>
                </a:cubicBezTo>
                <a:cubicBezTo>
                  <a:pt x="5322" y="17751"/>
                  <a:pt x="5412" y="17721"/>
                  <a:pt x="5657" y="17703"/>
                </a:cubicBezTo>
                <a:cubicBezTo>
                  <a:pt x="5967" y="17679"/>
                  <a:pt x="5972" y="17680"/>
                  <a:pt x="6013" y="17811"/>
                </a:cubicBezTo>
                <a:cubicBezTo>
                  <a:pt x="6210" y="18432"/>
                  <a:pt x="6239" y="18482"/>
                  <a:pt x="6389" y="18482"/>
                </a:cubicBezTo>
                <a:cubicBezTo>
                  <a:pt x="6525" y="18482"/>
                  <a:pt x="6537" y="18467"/>
                  <a:pt x="6631" y="18188"/>
                </a:cubicBezTo>
                <a:cubicBezTo>
                  <a:pt x="6686" y="18026"/>
                  <a:pt x="6745" y="17861"/>
                  <a:pt x="6764" y="17818"/>
                </a:cubicBezTo>
                <a:cubicBezTo>
                  <a:pt x="6821" y="17689"/>
                  <a:pt x="6905" y="17732"/>
                  <a:pt x="6933" y="17905"/>
                </a:cubicBezTo>
                <a:cubicBezTo>
                  <a:pt x="6998" y="18311"/>
                  <a:pt x="7218" y="18507"/>
                  <a:pt x="7567" y="18470"/>
                </a:cubicBezTo>
                <a:cubicBezTo>
                  <a:pt x="7769" y="18449"/>
                  <a:pt x="7804" y="18427"/>
                  <a:pt x="7941" y="18231"/>
                </a:cubicBezTo>
                <a:cubicBezTo>
                  <a:pt x="8103" y="17998"/>
                  <a:pt x="8176" y="17995"/>
                  <a:pt x="8176" y="18224"/>
                </a:cubicBezTo>
                <a:cubicBezTo>
                  <a:pt x="8176" y="18405"/>
                  <a:pt x="8259" y="18494"/>
                  <a:pt x="8405" y="18472"/>
                </a:cubicBezTo>
                <a:cubicBezTo>
                  <a:pt x="8506" y="18458"/>
                  <a:pt x="8518" y="18435"/>
                  <a:pt x="8528" y="18253"/>
                </a:cubicBezTo>
                <a:cubicBezTo>
                  <a:pt x="8534" y="18140"/>
                  <a:pt x="8552" y="18013"/>
                  <a:pt x="8566" y="17970"/>
                </a:cubicBezTo>
                <a:cubicBezTo>
                  <a:pt x="8580" y="17928"/>
                  <a:pt x="8593" y="17807"/>
                  <a:pt x="8594" y="17703"/>
                </a:cubicBezTo>
                <a:cubicBezTo>
                  <a:pt x="8598" y="17507"/>
                  <a:pt x="8651" y="17442"/>
                  <a:pt x="8704" y="17567"/>
                </a:cubicBezTo>
                <a:cubicBezTo>
                  <a:pt x="8721" y="17606"/>
                  <a:pt x="8795" y="17823"/>
                  <a:pt x="8869" y="18048"/>
                </a:cubicBezTo>
                <a:lnTo>
                  <a:pt x="9004" y="18458"/>
                </a:lnTo>
                <a:lnTo>
                  <a:pt x="9159" y="18458"/>
                </a:lnTo>
                <a:cubicBezTo>
                  <a:pt x="9313" y="18458"/>
                  <a:pt x="9314" y="18454"/>
                  <a:pt x="9428" y="18098"/>
                </a:cubicBezTo>
                <a:cubicBezTo>
                  <a:pt x="9492" y="17902"/>
                  <a:pt x="9568" y="17671"/>
                  <a:pt x="9599" y="17587"/>
                </a:cubicBezTo>
                <a:cubicBezTo>
                  <a:pt x="9629" y="17502"/>
                  <a:pt x="9666" y="17390"/>
                  <a:pt x="9680" y="17336"/>
                </a:cubicBezTo>
                <a:cubicBezTo>
                  <a:pt x="9735" y="17124"/>
                  <a:pt x="9781" y="17356"/>
                  <a:pt x="9792" y="17896"/>
                </a:cubicBezTo>
                <a:lnTo>
                  <a:pt x="9804" y="18458"/>
                </a:lnTo>
                <a:lnTo>
                  <a:pt x="9917" y="18472"/>
                </a:lnTo>
                <a:cubicBezTo>
                  <a:pt x="10109" y="18500"/>
                  <a:pt x="10184" y="18364"/>
                  <a:pt x="10184" y="17987"/>
                </a:cubicBezTo>
                <a:cubicBezTo>
                  <a:pt x="10184" y="17809"/>
                  <a:pt x="10163" y="17618"/>
                  <a:pt x="10135" y="17563"/>
                </a:cubicBezTo>
                <a:cubicBezTo>
                  <a:pt x="10095" y="17481"/>
                  <a:pt x="10097" y="17438"/>
                  <a:pt x="10141" y="17348"/>
                </a:cubicBezTo>
                <a:cubicBezTo>
                  <a:pt x="10191" y="17246"/>
                  <a:pt x="10185" y="17225"/>
                  <a:pt x="10090" y="17128"/>
                </a:cubicBezTo>
                <a:lnTo>
                  <a:pt x="9984" y="17022"/>
                </a:lnTo>
                <a:lnTo>
                  <a:pt x="10067" y="16933"/>
                </a:lnTo>
                <a:cubicBezTo>
                  <a:pt x="10185" y="16804"/>
                  <a:pt x="10158" y="16583"/>
                  <a:pt x="10016" y="16520"/>
                </a:cubicBezTo>
                <a:cubicBezTo>
                  <a:pt x="9870" y="16455"/>
                  <a:pt x="9728" y="16603"/>
                  <a:pt x="9756" y="16793"/>
                </a:cubicBezTo>
                <a:cubicBezTo>
                  <a:pt x="9788" y="17002"/>
                  <a:pt x="9721" y="17102"/>
                  <a:pt x="9546" y="17102"/>
                </a:cubicBezTo>
                <a:cubicBezTo>
                  <a:pt x="9391" y="17102"/>
                  <a:pt x="9390" y="17103"/>
                  <a:pt x="9290" y="17447"/>
                </a:cubicBezTo>
                <a:cubicBezTo>
                  <a:pt x="9235" y="17636"/>
                  <a:pt x="9175" y="17792"/>
                  <a:pt x="9155" y="17792"/>
                </a:cubicBezTo>
                <a:cubicBezTo>
                  <a:pt x="9136" y="17792"/>
                  <a:pt x="9106" y="17699"/>
                  <a:pt x="9087" y="17587"/>
                </a:cubicBezTo>
                <a:cubicBezTo>
                  <a:pt x="9030" y="17237"/>
                  <a:pt x="8971" y="17130"/>
                  <a:pt x="8820" y="17102"/>
                </a:cubicBezTo>
                <a:cubicBezTo>
                  <a:pt x="8706" y="17081"/>
                  <a:pt x="8677" y="17050"/>
                  <a:pt x="8655" y="16923"/>
                </a:cubicBezTo>
                <a:cubicBezTo>
                  <a:pt x="8589" y="16540"/>
                  <a:pt x="8553" y="16489"/>
                  <a:pt x="8358" y="16489"/>
                </a:cubicBezTo>
                <a:close/>
                <a:moveTo>
                  <a:pt x="12157" y="17087"/>
                </a:moveTo>
                <a:cubicBezTo>
                  <a:pt x="11976" y="17092"/>
                  <a:pt x="11790" y="17114"/>
                  <a:pt x="11729" y="17147"/>
                </a:cubicBezTo>
                <a:cubicBezTo>
                  <a:pt x="11665" y="17182"/>
                  <a:pt x="11577" y="17268"/>
                  <a:pt x="11536" y="17341"/>
                </a:cubicBezTo>
                <a:cubicBezTo>
                  <a:pt x="11443" y="17501"/>
                  <a:pt x="11406" y="17866"/>
                  <a:pt x="11467" y="18011"/>
                </a:cubicBezTo>
                <a:cubicBezTo>
                  <a:pt x="11499" y="18086"/>
                  <a:pt x="11499" y="18128"/>
                  <a:pt x="11469" y="18151"/>
                </a:cubicBezTo>
                <a:cubicBezTo>
                  <a:pt x="11446" y="18170"/>
                  <a:pt x="11505" y="18239"/>
                  <a:pt x="11600" y="18303"/>
                </a:cubicBezTo>
                <a:cubicBezTo>
                  <a:pt x="11785" y="18429"/>
                  <a:pt x="11835" y="18571"/>
                  <a:pt x="11685" y="18545"/>
                </a:cubicBezTo>
                <a:cubicBezTo>
                  <a:pt x="11630" y="18535"/>
                  <a:pt x="11581" y="18565"/>
                  <a:pt x="11555" y="18629"/>
                </a:cubicBezTo>
                <a:cubicBezTo>
                  <a:pt x="11490" y="18783"/>
                  <a:pt x="11500" y="18822"/>
                  <a:pt x="11642" y="18933"/>
                </a:cubicBezTo>
                <a:cubicBezTo>
                  <a:pt x="11961" y="19184"/>
                  <a:pt x="12433" y="18963"/>
                  <a:pt x="12635" y="18468"/>
                </a:cubicBezTo>
                <a:cubicBezTo>
                  <a:pt x="12679" y="18359"/>
                  <a:pt x="12681" y="18314"/>
                  <a:pt x="12644" y="18267"/>
                </a:cubicBezTo>
                <a:cubicBezTo>
                  <a:pt x="12614" y="18229"/>
                  <a:pt x="12597" y="18017"/>
                  <a:pt x="12597" y="17683"/>
                </a:cubicBezTo>
                <a:cubicBezTo>
                  <a:pt x="12597" y="17350"/>
                  <a:pt x="12580" y="17146"/>
                  <a:pt x="12551" y="17123"/>
                </a:cubicBezTo>
                <a:cubicBezTo>
                  <a:pt x="12513" y="17093"/>
                  <a:pt x="12338" y="17082"/>
                  <a:pt x="12157" y="17087"/>
                </a:cubicBezTo>
                <a:close/>
                <a:moveTo>
                  <a:pt x="10306" y="17102"/>
                </a:moveTo>
                <a:lnTo>
                  <a:pt x="10306" y="17758"/>
                </a:lnTo>
                <a:cubicBezTo>
                  <a:pt x="10306" y="18119"/>
                  <a:pt x="10318" y="18430"/>
                  <a:pt x="10332" y="18448"/>
                </a:cubicBezTo>
                <a:cubicBezTo>
                  <a:pt x="10395" y="18528"/>
                  <a:pt x="10579" y="18476"/>
                  <a:pt x="10671" y="18352"/>
                </a:cubicBezTo>
                <a:cubicBezTo>
                  <a:pt x="10754" y="18240"/>
                  <a:pt x="10766" y="18177"/>
                  <a:pt x="10755" y="17951"/>
                </a:cubicBezTo>
                <a:cubicBezTo>
                  <a:pt x="10741" y="17682"/>
                  <a:pt x="10776" y="17590"/>
                  <a:pt x="10908" y="17553"/>
                </a:cubicBezTo>
                <a:cubicBezTo>
                  <a:pt x="10957" y="17539"/>
                  <a:pt x="10973" y="17623"/>
                  <a:pt x="10990" y="17997"/>
                </a:cubicBezTo>
                <a:lnTo>
                  <a:pt x="11009" y="18458"/>
                </a:lnTo>
                <a:lnTo>
                  <a:pt x="11149" y="18458"/>
                </a:lnTo>
                <a:lnTo>
                  <a:pt x="11291" y="18458"/>
                </a:lnTo>
                <a:lnTo>
                  <a:pt x="11302" y="17912"/>
                </a:lnTo>
                <a:cubicBezTo>
                  <a:pt x="11313" y="17407"/>
                  <a:pt x="11306" y="17358"/>
                  <a:pt x="11221" y="17234"/>
                </a:cubicBezTo>
                <a:cubicBezTo>
                  <a:pt x="11125" y="17095"/>
                  <a:pt x="11131" y="17098"/>
                  <a:pt x="10577" y="17102"/>
                </a:cubicBezTo>
                <a:lnTo>
                  <a:pt x="10306" y="17102"/>
                </a:lnTo>
                <a:close/>
                <a:moveTo>
                  <a:pt x="3264" y="19204"/>
                </a:moveTo>
                <a:cubicBezTo>
                  <a:pt x="3136" y="19200"/>
                  <a:pt x="3103" y="19221"/>
                  <a:pt x="3050" y="19353"/>
                </a:cubicBezTo>
                <a:cubicBezTo>
                  <a:pt x="3015" y="19438"/>
                  <a:pt x="2998" y="19528"/>
                  <a:pt x="3010" y="19554"/>
                </a:cubicBezTo>
                <a:cubicBezTo>
                  <a:pt x="3022" y="19579"/>
                  <a:pt x="3014" y="19615"/>
                  <a:pt x="2991" y="19633"/>
                </a:cubicBezTo>
                <a:cubicBezTo>
                  <a:pt x="2953" y="19663"/>
                  <a:pt x="2759" y="20113"/>
                  <a:pt x="2743" y="20208"/>
                </a:cubicBezTo>
                <a:cubicBezTo>
                  <a:pt x="2739" y="20229"/>
                  <a:pt x="2678" y="20407"/>
                  <a:pt x="2606" y="20603"/>
                </a:cubicBezTo>
                <a:cubicBezTo>
                  <a:pt x="2535" y="20800"/>
                  <a:pt x="2484" y="20978"/>
                  <a:pt x="2494" y="20999"/>
                </a:cubicBezTo>
                <a:cubicBezTo>
                  <a:pt x="2505" y="21021"/>
                  <a:pt x="2564" y="21038"/>
                  <a:pt x="2625" y="21038"/>
                </a:cubicBezTo>
                <a:cubicBezTo>
                  <a:pt x="2736" y="21038"/>
                  <a:pt x="2838" y="20936"/>
                  <a:pt x="2881" y="20780"/>
                </a:cubicBezTo>
                <a:cubicBezTo>
                  <a:pt x="2897" y="20723"/>
                  <a:pt x="2966" y="20694"/>
                  <a:pt x="3118" y="20683"/>
                </a:cubicBezTo>
                <a:cubicBezTo>
                  <a:pt x="3603" y="20649"/>
                  <a:pt x="3567" y="20640"/>
                  <a:pt x="3647" y="20847"/>
                </a:cubicBezTo>
                <a:cubicBezTo>
                  <a:pt x="3710" y="21012"/>
                  <a:pt x="3739" y="21038"/>
                  <a:pt x="3855" y="21038"/>
                </a:cubicBezTo>
                <a:cubicBezTo>
                  <a:pt x="4025" y="21038"/>
                  <a:pt x="4056" y="20978"/>
                  <a:pt x="3978" y="20787"/>
                </a:cubicBezTo>
                <a:cubicBezTo>
                  <a:pt x="3902" y="20599"/>
                  <a:pt x="3973" y="20509"/>
                  <a:pt x="4071" y="20669"/>
                </a:cubicBezTo>
                <a:cubicBezTo>
                  <a:pt x="4190" y="20861"/>
                  <a:pt x="4463" y="21004"/>
                  <a:pt x="4662" y="20975"/>
                </a:cubicBezTo>
                <a:cubicBezTo>
                  <a:pt x="4855" y="20947"/>
                  <a:pt x="4917" y="20997"/>
                  <a:pt x="4839" y="21117"/>
                </a:cubicBezTo>
                <a:cubicBezTo>
                  <a:pt x="4782" y="21205"/>
                  <a:pt x="4470" y="21219"/>
                  <a:pt x="4353" y="21139"/>
                </a:cubicBezTo>
                <a:cubicBezTo>
                  <a:pt x="4296" y="21100"/>
                  <a:pt x="4256" y="21103"/>
                  <a:pt x="4206" y="21151"/>
                </a:cubicBezTo>
                <a:cubicBezTo>
                  <a:pt x="4019" y="21329"/>
                  <a:pt x="4180" y="21506"/>
                  <a:pt x="4569" y="21552"/>
                </a:cubicBezTo>
                <a:cubicBezTo>
                  <a:pt x="4729" y="21571"/>
                  <a:pt x="4869" y="21589"/>
                  <a:pt x="4880" y="21593"/>
                </a:cubicBezTo>
                <a:cubicBezTo>
                  <a:pt x="4891" y="21597"/>
                  <a:pt x="4953" y="21521"/>
                  <a:pt x="5017" y="21424"/>
                </a:cubicBezTo>
                <a:cubicBezTo>
                  <a:pt x="5081" y="21326"/>
                  <a:pt x="5147" y="21258"/>
                  <a:pt x="5164" y="21272"/>
                </a:cubicBezTo>
                <a:cubicBezTo>
                  <a:pt x="5182" y="21286"/>
                  <a:pt x="5197" y="21254"/>
                  <a:pt x="5199" y="21204"/>
                </a:cubicBezTo>
                <a:cubicBezTo>
                  <a:pt x="5200" y="21155"/>
                  <a:pt x="5213" y="20832"/>
                  <a:pt x="5227" y="20488"/>
                </a:cubicBezTo>
                <a:cubicBezTo>
                  <a:pt x="5245" y="20033"/>
                  <a:pt x="5238" y="19842"/>
                  <a:pt x="5202" y="19788"/>
                </a:cubicBezTo>
                <a:cubicBezTo>
                  <a:pt x="5157" y="19718"/>
                  <a:pt x="5031" y="19703"/>
                  <a:pt x="4518" y="19708"/>
                </a:cubicBezTo>
                <a:cubicBezTo>
                  <a:pt x="4301" y="19710"/>
                  <a:pt x="4191" y="19839"/>
                  <a:pt x="4037" y="20268"/>
                </a:cubicBezTo>
                <a:cubicBezTo>
                  <a:pt x="4004" y="20360"/>
                  <a:pt x="3833" y="20378"/>
                  <a:pt x="3808" y="20292"/>
                </a:cubicBezTo>
                <a:cubicBezTo>
                  <a:pt x="3782" y="20208"/>
                  <a:pt x="3762" y="20065"/>
                  <a:pt x="3758" y="19949"/>
                </a:cubicBezTo>
                <a:cubicBezTo>
                  <a:pt x="3757" y="19899"/>
                  <a:pt x="3737" y="19870"/>
                  <a:pt x="3717" y="19887"/>
                </a:cubicBezTo>
                <a:cubicBezTo>
                  <a:pt x="3655" y="19935"/>
                  <a:pt x="3622" y="19813"/>
                  <a:pt x="3675" y="19732"/>
                </a:cubicBezTo>
                <a:cubicBezTo>
                  <a:pt x="3715" y="19671"/>
                  <a:pt x="3696" y="19617"/>
                  <a:pt x="3569" y="19433"/>
                </a:cubicBezTo>
                <a:cubicBezTo>
                  <a:pt x="3440" y="19246"/>
                  <a:pt x="3388" y="19208"/>
                  <a:pt x="3264" y="19204"/>
                </a:cubicBezTo>
                <a:close/>
                <a:moveTo>
                  <a:pt x="8255" y="19377"/>
                </a:moveTo>
                <a:cubicBezTo>
                  <a:pt x="8131" y="19377"/>
                  <a:pt x="8115" y="19394"/>
                  <a:pt x="8096" y="19529"/>
                </a:cubicBezTo>
                <a:lnTo>
                  <a:pt x="8073" y="19684"/>
                </a:lnTo>
                <a:lnTo>
                  <a:pt x="7632" y="19696"/>
                </a:lnTo>
                <a:cubicBezTo>
                  <a:pt x="7389" y="19702"/>
                  <a:pt x="7078" y="19706"/>
                  <a:pt x="6940" y="19706"/>
                </a:cubicBezTo>
                <a:lnTo>
                  <a:pt x="6688" y="19706"/>
                </a:lnTo>
                <a:lnTo>
                  <a:pt x="6686" y="19952"/>
                </a:lnTo>
                <a:cubicBezTo>
                  <a:pt x="6680" y="20433"/>
                  <a:pt x="6696" y="20959"/>
                  <a:pt x="6717" y="21002"/>
                </a:cubicBezTo>
                <a:cubicBezTo>
                  <a:pt x="6728" y="21025"/>
                  <a:pt x="6793" y="21037"/>
                  <a:pt x="6862" y="21028"/>
                </a:cubicBezTo>
                <a:lnTo>
                  <a:pt x="6989" y="21014"/>
                </a:lnTo>
                <a:lnTo>
                  <a:pt x="7001" y="20606"/>
                </a:lnTo>
                <a:cubicBezTo>
                  <a:pt x="7007" y="20382"/>
                  <a:pt x="7035" y="20168"/>
                  <a:pt x="7060" y="20130"/>
                </a:cubicBezTo>
                <a:cubicBezTo>
                  <a:pt x="7087" y="20088"/>
                  <a:pt x="7166" y="20068"/>
                  <a:pt x="7268" y="20077"/>
                </a:cubicBezTo>
                <a:lnTo>
                  <a:pt x="7431" y="20092"/>
                </a:lnTo>
                <a:lnTo>
                  <a:pt x="7452" y="20553"/>
                </a:lnTo>
                <a:lnTo>
                  <a:pt x="7473" y="21014"/>
                </a:lnTo>
                <a:lnTo>
                  <a:pt x="7613" y="21014"/>
                </a:lnTo>
                <a:cubicBezTo>
                  <a:pt x="7740" y="21014"/>
                  <a:pt x="7755" y="20997"/>
                  <a:pt x="7766" y="20859"/>
                </a:cubicBezTo>
                <a:cubicBezTo>
                  <a:pt x="7773" y="20775"/>
                  <a:pt x="7801" y="20682"/>
                  <a:pt x="7829" y="20654"/>
                </a:cubicBezTo>
                <a:cubicBezTo>
                  <a:pt x="7857" y="20626"/>
                  <a:pt x="7892" y="20536"/>
                  <a:pt x="7905" y="20451"/>
                </a:cubicBezTo>
                <a:cubicBezTo>
                  <a:pt x="7945" y="20193"/>
                  <a:pt x="8012" y="20008"/>
                  <a:pt x="8054" y="20041"/>
                </a:cubicBezTo>
                <a:cubicBezTo>
                  <a:pt x="8077" y="20058"/>
                  <a:pt x="8096" y="20237"/>
                  <a:pt x="8096" y="20437"/>
                </a:cubicBezTo>
                <a:cubicBezTo>
                  <a:pt x="8096" y="20741"/>
                  <a:pt x="8110" y="20821"/>
                  <a:pt x="8183" y="20920"/>
                </a:cubicBezTo>
                <a:cubicBezTo>
                  <a:pt x="8297" y="21074"/>
                  <a:pt x="8611" y="21088"/>
                  <a:pt x="8714" y="20944"/>
                </a:cubicBezTo>
                <a:cubicBezTo>
                  <a:pt x="8777" y="20855"/>
                  <a:pt x="8775" y="20844"/>
                  <a:pt x="8712" y="20777"/>
                </a:cubicBezTo>
                <a:cubicBezTo>
                  <a:pt x="8675" y="20738"/>
                  <a:pt x="8599" y="20707"/>
                  <a:pt x="8541" y="20707"/>
                </a:cubicBezTo>
                <a:cubicBezTo>
                  <a:pt x="8444" y="20707"/>
                  <a:pt x="8437" y="20691"/>
                  <a:pt x="8437" y="20463"/>
                </a:cubicBezTo>
                <a:cubicBezTo>
                  <a:pt x="8437" y="20330"/>
                  <a:pt x="8455" y="20219"/>
                  <a:pt x="8477" y="20217"/>
                </a:cubicBezTo>
                <a:cubicBezTo>
                  <a:pt x="8499" y="20216"/>
                  <a:pt x="8531" y="20170"/>
                  <a:pt x="8547" y="20116"/>
                </a:cubicBezTo>
                <a:cubicBezTo>
                  <a:pt x="8563" y="20061"/>
                  <a:pt x="8602" y="20017"/>
                  <a:pt x="8636" y="20017"/>
                </a:cubicBezTo>
                <a:cubicBezTo>
                  <a:pt x="8678" y="20017"/>
                  <a:pt x="8699" y="19966"/>
                  <a:pt x="8699" y="19865"/>
                </a:cubicBezTo>
                <a:cubicBezTo>
                  <a:pt x="8699" y="19733"/>
                  <a:pt x="8683" y="19715"/>
                  <a:pt x="8568" y="19701"/>
                </a:cubicBezTo>
                <a:cubicBezTo>
                  <a:pt x="8458" y="19687"/>
                  <a:pt x="8434" y="19658"/>
                  <a:pt x="8416" y="19529"/>
                </a:cubicBezTo>
                <a:cubicBezTo>
                  <a:pt x="8398" y="19393"/>
                  <a:pt x="8379" y="19377"/>
                  <a:pt x="8255" y="19377"/>
                </a:cubicBezTo>
                <a:close/>
                <a:moveTo>
                  <a:pt x="9392" y="19684"/>
                </a:moveTo>
                <a:cubicBezTo>
                  <a:pt x="9105" y="19660"/>
                  <a:pt x="8858" y="19843"/>
                  <a:pt x="8858" y="20106"/>
                </a:cubicBezTo>
                <a:cubicBezTo>
                  <a:pt x="8858" y="20186"/>
                  <a:pt x="8880" y="20279"/>
                  <a:pt x="8905" y="20311"/>
                </a:cubicBezTo>
                <a:cubicBezTo>
                  <a:pt x="8965" y="20387"/>
                  <a:pt x="8985" y="20618"/>
                  <a:pt x="8936" y="20656"/>
                </a:cubicBezTo>
                <a:cubicBezTo>
                  <a:pt x="8915" y="20673"/>
                  <a:pt x="8881" y="20731"/>
                  <a:pt x="8858" y="20787"/>
                </a:cubicBezTo>
                <a:cubicBezTo>
                  <a:pt x="8821" y="20874"/>
                  <a:pt x="8832" y="20897"/>
                  <a:pt x="8947" y="20961"/>
                </a:cubicBezTo>
                <a:cubicBezTo>
                  <a:pt x="9108" y="21050"/>
                  <a:pt x="9475" y="21061"/>
                  <a:pt x="9595" y="20980"/>
                </a:cubicBezTo>
                <a:cubicBezTo>
                  <a:pt x="9692" y="20914"/>
                  <a:pt x="9796" y="20745"/>
                  <a:pt x="9809" y="20635"/>
                </a:cubicBezTo>
                <a:cubicBezTo>
                  <a:pt x="9830" y="20458"/>
                  <a:pt x="9606" y="20220"/>
                  <a:pt x="9419" y="20220"/>
                </a:cubicBezTo>
                <a:cubicBezTo>
                  <a:pt x="9325" y="20220"/>
                  <a:pt x="9271" y="20085"/>
                  <a:pt x="9334" y="20005"/>
                </a:cubicBezTo>
                <a:cubicBezTo>
                  <a:pt x="9363" y="19967"/>
                  <a:pt x="9395" y="19965"/>
                  <a:pt x="9430" y="20000"/>
                </a:cubicBezTo>
                <a:cubicBezTo>
                  <a:pt x="9551" y="20119"/>
                  <a:pt x="9622" y="20114"/>
                  <a:pt x="9688" y="19986"/>
                </a:cubicBezTo>
                <a:cubicBezTo>
                  <a:pt x="9769" y="19829"/>
                  <a:pt x="9734" y="19768"/>
                  <a:pt x="9517" y="19706"/>
                </a:cubicBezTo>
                <a:cubicBezTo>
                  <a:pt x="9475" y="19693"/>
                  <a:pt x="9433" y="19687"/>
                  <a:pt x="9392" y="19684"/>
                </a:cubicBezTo>
                <a:close/>
                <a:moveTo>
                  <a:pt x="5996" y="19686"/>
                </a:moveTo>
                <a:cubicBezTo>
                  <a:pt x="5694" y="19675"/>
                  <a:pt x="5401" y="19964"/>
                  <a:pt x="5401" y="20319"/>
                </a:cubicBezTo>
                <a:cubicBezTo>
                  <a:pt x="5401" y="20430"/>
                  <a:pt x="5420" y="20534"/>
                  <a:pt x="5441" y="20550"/>
                </a:cubicBezTo>
                <a:cubicBezTo>
                  <a:pt x="5462" y="20567"/>
                  <a:pt x="5472" y="20610"/>
                  <a:pt x="5462" y="20644"/>
                </a:cubicBezTo>
                <a:cubicBezTo>
                  <a:pt x="5432" y="20751"/>
                  <a:pt x="5575" y="20924"/>
                  <a:pt x="5763" y="21006"/>
                </a:cubicBezTo>
                <a:cubicBezTo>
                  <a:pt x="5959" y="21092"/>
                  <a:pt x="6099" y="21085"/>
                  <a:pt x="6250" y="20985"/>
                </a:cubicBezTo>
                <a:cubicBezTo>
                  <a:pt x="6444" y="20857"/>
                  <a:pt x="6457" y="20828"/>
                  <a:pt x="6364" y="20702"/>
                </a:cubicBezTo>
                <a:lnTo>
                  <a:pt x="6279" y="20587"/>
                </a:lnTo>
                <a:lnTo>
                  <a:pt x="6404" y="20504"/>
                </a:lnTo>
                <a:cubicBezTo>
                  <a:pt x="6508" y="20436"/>
                  <a:pt x="6529" y="20392"/>
                  <a:pt x="6529" y="20241"/>
                </a:cubicBezTo>
                <a:cubicBezTo>
                  <a:pt x="6529" y="20025"/>
                  <a:pt x="6346" y="19785"/>
                  <a:pt x="6125" y="19710"/>
                </a:cubicBezTo>
                <a:cubicBezTo>
                  <a:pt x="6082" y="19696"/>
                  <a:pt x="6040" y="19688"/>
                  <a:pt x="5996" y="19686"/>
                </a:cubicBezTo>
                <a:close/>
              </a:path>
            </a:pathLst>
          </a:custGeom>
          <a:ln w="12700">
            <a:miter lim="400000"/>
          </a:ln>
        </p:spPr>
      </p:pic>
      <p:pic>
        <p:nvPicPr>
          <p:cNvPr id="330" name="E1BAC5C3-4081-4285-B7C1-BF17CB40099F.png" descr="E1BAC5C3-4081-4285-B7C1-BF17CB40099F.png"/>
          <p:cNvPicPr>
            <a:picLocks noChangeAspect="1"/>
          </p:cNvPicPr>
          <p:nvPr/>
        </p:nvPicPr>
        <p:blipFill>
          <a:blip r:embed="rId16"/>
          <a:srcRect l="25456" t="15627" r="25190" b="33853"/>
          <a:stretch>
            <a:fillRect/>
          </a:stretch>
        </p:blipFill>
        <p:spPr>
          <a:xfrm>
            <a:off x="14019149" y="3856675"/>
            <a:ext cx="3989608" cy="2722563"/>
          </a:xfrm>
          <a:custGeom>
            <a:avLst/>
            <a:gdLst/>
            <a:ahLst/>
            <a:cxnLst>
              <a:cxn ang="0">
                <a:pos x="wd2" y="hd2"/>
              </a:cxn>
              <a:cxn ang="5400000">
                <a:pos x="wd2" y="hd2"/>
              </a:cxn>
              <a:cxn ang="10800000">
                <a:pos x="wd2" y="hd2"/>
              </a:cxn>
              <a:cxn ang="16200000">
                <a:pos x="wd2" y="hd2"/>
              </a:cxn>
            </a:cxnLst>
            <a:rect l="0" t="0" r="r" b="b"/>
            <a:pathLst>
              <a:path w="21530" h="21600" extrusionOk="0">
                <a:moveTo>
                  <a:pt x="10707" y="0"/>
                </a:moveTo>
                <a:cubicBezTo>
                  <a:pt x="10230" y="0"/>
                  <a:pt x="9961" y="810"/>
                  <a:pt x="10255" y="1360"/>
                </a:cubicBezTo>
                <a:lnTo>
                  <a:pt x="10368" y="1574"/>
                </a:lnTo>
                <a:lnTo>
                  <a:pt x="10197" y="1864"/>
                </a:lnTo>
                <a:lnTo>
                  <a:pt x="10026" y="2151"/>
                </a:lnTo>
                <a:lnTo>
                  <a:pt x="9788" y="2031"/>
                </a:lnTo>
                <a:cubicBezTo>
                  <a:pt x="9657" y="1965"/>
                  <a:pt x="9485" y="1918"/>
                  <a:pt x="9405" y="1927"/>
                </a:cubicBezTo>
                <a:cubicBezTo>
                  <a:pt x="9324" y="1936"/>
                  <a:pt x="9211" y="1913"/>
                  <a:pt x="9154" y="1877"/>
                </a:cubicBezTo>
                <a:cubicBezTo>
                  <a:pt x="8994" y="1776"/>
                  <a:pt x="8246" y="1888"/>
                  <a:pt x="7509" y="2122"/>
                </a:cubicBezTo>
                <a:cubicBezTo>
                  <a:pt x="7137" y="2240"/>
                  <a:pt x="6536" y="2359"/>
                  <a:pt x="6145" y="2390"/>
                </a:cubicBezTo>
                <a:lnTo>
                  <a:pt x="5447" y="2443"/>
                </a:lnTo>
                <a:lnTo>
                  <a:pt x="5273" y="2119"/>
                </a:lnTo>
                <a:cubicBezTo>
                  <a:pt x="5178" y="1940"/>
                  <a:pt x="5109" y="1753"/>
                  <a:pt x="5121" y="1703"/>
                </a:cubicBezTo>
                <a:cubicBezTo>
                  <a:pt x="5156" y="1556"/>
                  <a:pt x="4631" y="1564"/>
                  <a:pt x="4476" y="1713"/>
                </a:cubicBezTo>
                <a:cubicBezTo>
                  <a:pt x="4402" y="1784"/>
                  <a:pt x="4356" y="1877"/>
                  <a:pt x="4374" y="1918"/>
                </a:cubicBezTo>
                <a:cubicBezTo>
                  <a:pt x="4391" y="1958"/>
                  <a:pt x="4377" y="2015"/>
                  <a:pt x="4346" y="2043"/>
                </a:cubicBezTo>
                <a:cubicBezTo>
                  <a:pt x="4247" y="2133"/>
                  <a:pt x="4282" y="2555"/>
                  <a:pt x="4408" y="2790"/>
                </a:cubicBezTo>
                <a:lnTo>
                  <a:pt x="4528" y="3013"/>
                </a:lnTo>
                <a:lnTo>
                  <a:pt x="4082" y="4484"/>
                </a:lnTo>
                <a:cubicBezTo>
                  <a:pt x="3838" y="5293"/>
                  <a:pt x="3599" y="6020"/>
                  <a:pt x="3551" y="6099"/>
                </a:cubicBezTo>
                <a:cubicBezTo>
                  <a:pt x="3503" y="6178"/>
                  <a:pt x="3298" y="6289"/>
                  <a:pt x="3095" y="6348"/>
                </a:cubicBezTo>
                <a:cubicBezTo>
                  <a:pt x="2892" y="6406"/>
                  <a:pt x="2695" y="6489"/>
                  <a:pt x="2656" y="6534"/>
                </a:cubicBezTo>
                <a:cubicBezTo>
                  <a:pt x="2561" y="6642"/>
                  <a:pt x="2560" y="8705"/>
                  <a:pt x="2654" y="9374"/>
                </a:cubicBezTo>
                <a:cubicBezTo>
                  <a:pt x="2703" y="9724"/>
                  <a:pt x="2706" y="9902"/>
                  <a:pt x="2662" y="10003"/>
                </a:cubicBezTo>
                <a:cubicBezTo>
                  <a:pt x="2564" y="10232"/>
                  <a:pt x="2420" y="10223"/>
                  <a:pt x="2358" y="9984"/>
                </a:cubicBezTo>
                <a:cubicBezTo>
                  <a:pt x="2307" y="9786"/>
                  <a:pt x="2277" y="9770"/>
                  <a:pt x="1960" y="9770"/>
                </a:cubicBezTo>
                <a:cubicBezTo>
                  <a:pt x="1706" y="9770"/>
                  <a:pt x="1607" y="9737"/>
                  <a:pt x="1583" y="9644"/>
                </a:cubicBezTo>
                <a:cubicBezTo>
                  <a:pt x="1546" y="9505"/>
                  <a:pt x="1406" y="9483"/>
                  <a:pt x="1283" y="9597"/>
                </a:cubicBezTo>
                <a:cubicBezTo>
                  <a:pt x="1238" y="9639"/>
                  <a:pt x="1193" y="9809"/>
                  <a:pt x="1184" y="9975"/>
                </a:cubicBezTo>
                <a:cubicBezTo>
                  <a:pt x="1171" y="10228"/>
                  <a:pt x="1191" y="10293"/>
                  <a:pt x="1309" y="10372"/>
                </a:cubicBezTo>
                <a:cubicBezTo>
                  <a:pt x="1427" y="10451"/>
                  <a:pt x="1477" y="10436"/>
                  <a:pt x="1617" y="10284"/>
                </a:cubicBezTo>
                <a:cubicBezTo>
                  <a:pt x="1789" y="10097"/>
                  <a:pt x="2315" y="10024"/>
                  <a:pt x="2380" y="10177"/>
                </a:cubicBezTo>
                <a:cubicBezTo>
                  <a:pt x="2396" y="10216"/>
                  <a:pt x="2306" y="10607"/>
                  <a:pt x="2178" y="11046"/>
                </a:cubicBezTo>
                <a:lnTo>
                  <a:pt x="1945" y="11842"/>
                </a:lnTo>
                <a:lnTo>
                  <a:pt x="2365" y="12469"/>
                </a:lnTo>
                <a:cubicBezTo>
                  <a:pt x="3059" y="13507"/>
                  <a:pt x="3735" y="13832"/>
                  <a:pt x="5042" y="13757"/>
                </a:cubicBezTo>
                <a:cubicBezTo>
                  <a:pt x="6147" y="13693"/>
                  <a:pt x="6641" y="13405"/>
                  <a:pt x="7301" y="12434"/>
                </a:cubicBezTo>
                <a:cubicBezTo>
                  <a:pt x="7698" y="11850"/>
                  <a:pt x="7704" y="11836"/>
                  <a:pt x="7638" y="11578"/>
                </a:cubicBezTo>
                <a:cubicBezTo>
                  <a:pt x="7504" y="11062"/>
                  <a:pt x="7269" y="10394"/>
                  <a:pt x="7199" y="10328"/>
                </a:cubicBezTo>
                <a:cubicBezTo>
                  <a:pt x="7159" y="10290"/>
                  <a:pt x="7140" y="10226"/>
                  <a:pt x="7158" y="10183"/>
                </a:cubicBezTo>
                <a:cubicBezTo>
                  <a:pt x="7176" y="10140"/>
                  <a:pt x="7164" y="10104"/>
                  <a:pt x="7130" y="10104"/>
                </a:cubicBezTo>
                <a:cubicBezTo>
                  <a:pt x="7013" y="10104"/>
                  <a:pt x="7008" y="10338"/>
                  <a:pt x="7117" y="10658"/>
                </a:cubicBezTo>
                <a:cubicBezTo>
                  <a:pt x="7177" y="10835"/>
                  <a:pt x="7213" y="11029"/>
                  <a:pt x="7199" y="11090"/>
                </a:cubicBezTo>
                <a:cubicBezTo>
                  <a:pt x="7184" y="11150"/>
                  <a:pt x="7220" y="11251"/>
                  <a:pt x="7278" y="11313"/>
                </a:cubicBezTo>
                <a:cubicBezTo>
                  <a:pt x="7379" y="11423"/>
                  <a:pt x="7381" y="11430"/>
                  <a:pt x="7282" y="11486"/>
                </a:cubicBezTo>
                <a:cubicBezTo>
                  <a:pt x="7177" y="11546"/>
                  <a:pt x="6234" y="11462"/>
                  <a:pt x="6149" y="11386"/>
                </a:cubicBezTo>
                <a:cubicBezTo>
                  <a:pt x="6123" y="11362"/>
                  <a:pt x="6218" y="11154"/>
                  <a:pt x="6359" y="10923"/>
                </a:cubicBezTo>
                <a:cubicBezTo>
                  <a:pt x="6500" y="10692"/>
                  <a:pt x="6698" y="10252"/>
                  <a:pt x="6798" y="9947"/>
                </a:cubicBezTo>
                <a:cubicBezTo>
                  <a:pt x="6976" y="9405"/>
                  <a:pt x="6981" y="9363"/>
                  <a:pt x="6999" y="8057"/>
                </a:cubicBezTo>
                <a:cubicBezTo>
                  <a:pt x="7014" y="7056"/>
                  <a:pt x="7001" y="6688"/>
                  <a:pt x="6946" y="6593"/>
                </a:cubicBezTo>
                <a:cubicBezTo>
                  <a:pt x="6906" y="6524"/>
                  <a:pt x="6658" y="6402"/>
                  <a:pt x="6395" y="6323"/>
                </a:cubicBezTo>
                <a:cubicBezTo>
                  <a:pt x="5871" y="6163"/>
                  <a:pt x="5727" y="6052"/>
                  <a:pt x="5824" y="5882"/>
                </a:cubicBezTo>
                <a:cubicBezTo>
                  <a:pt x="5887" y="5769"/>
                  <a:pt x="5712" y="5103"/>
                  <a:pt x="5573" y="4934"/>
                </a:cubicBezTo>
                <a:cubicBezTo>
                  <a:pt x="5535" y="4887"/>
                  <a:pt x="5509" y="4733"/>
                  <a:pt x="5515" y="4594"/>
                </a:cubicBezTo>
                <a:cubicBezTo>
                  <a:pt x="5522" y="4455"/>
                  <a:pt x="5503" y="4342"/>
                  <a:pt x="5474" y="4342"/>
                </a:cubicBezTo>
                <a:cubicBezTo>
                  <a:pt x="5411" y="4342"/>
                  <a:pt x="5127" y="3417"/>
                  <a:pt x="5170" y="3353"/>
                </a:cubicBezTo>
                <a:cubicBezTo>
                  <a:pt x="5232" y="3263"/>
                  <a:pt x="5426" y="3251"/>
                  <a:pt x="7241" y="3234"/>
                </a:cubicBezTo>
                <a:cubicBezTo>
                  <a:pt x="9228" y="3215"/>
                  <a:pt x="9646" y="3274"/>
                  <a:pt x="9880" y="3618"/>
                </a:cubicBezTo>
                <a:cubicBezTo>
                  <a:pt x="9947" y="3717"/>
                  <a:pt x="10071" y="3844"/>
                  <a:pt x="10156" y="3901"/>
                </a:cubicBezTo>
                <a:lnTo>
                  <a:pt x="10311" y="4005"/>
                </a:lnTo>
                <a:lnTo>
                  <a:pt x="10296" y="6074"/>
                </a:lnTo>
                <a:cubicBezTo>
                  <a:pt x="10281" y="8079"/>
                  <a:pt x="10277" y="8143"/>
                  <a:pt x="10167" y="8143"/>
                </a:cubicBezTo>
                <a:cubicBezTo>
                  <a:pt x="10080" y="8143"/>
                  <a:pt x="10047" y="8072"/>
                  <a:pt x="10026" y="7850"/>
                </a:cubicBezTo>
                <a:lnTo>
                  <a:pt x="9998" y="7557"/>
                </a:lnTo>
                <a:lnTo>
                  <a:pt x="9627" y="7516"/>
                </a:lnTo>
                <a:lnTo>
                  <a:pt x="9259" y="7472"/>
                </a:lnTo>
                <a:lnTo>
                  <a:pt x="9242" y="7066"/>
                </a:lnTo>
                <a:cubicBezTo>
                  <a:pt x="9232" y="6841"/>
                  <a:pt x="9249" y="6617"/>
                  <a:pt x="9282" y="6568"/>
                </a:cubicBezTo>
                <a:cubicBezTo>
                  <a:pt x="9381" y="6423"/>
                  <a:pt x="9353" y="6107"/>
                  <a:pt x="9231" y="6011"/>
                </a:cubicBezTo>
                <a:cubicBezTo>
                  <a:pt x="9169" y="5962"/>
                  <a:pt x="9115" y="5950"/>
                  <a:pt x="9115" y="5983"/>
                </a:cubicBezTo>
                <a:cubicBezTo>
                  <a:pt x="9115" y="6015"/>
                  <a:pt x="9052" y="5952"/>
                  <a:pt x="8974" y="5844"/>
                </a:cubicBezTo>
                <a:cubicBezTo>
                  <a:pt x="8896" y="5736"/>
                  <a:pt x="8833" y="5679"/>
                  <a:pt x="8833" y="5715"/>
                </a:cubicBezTo>
                <a:cubicBezTo>
                  <a:pt x="8833" y="5751"/>
                  <a:pt x="8755" y="5658"/>
                  <a:pt x="8661" y="5510"/>
                </a:cubicBezTo>
                <a:cubicBezTo>
                  <a:pt x="8568" y="5363"/>
                  <a:pt x="8456" y="5262"/>
                  <a:pt x="8413" y="5287"/>
                </a:cubicBezTo>
                <a:cubicBezTo>
                  <a:pt x="8370" y="5311"/>
                  <a:pt x="8285" y="5229"/>
                  <a:pt x="8222" y="5104"/>
                </a:cubicBezTo>
                <a:cubicBezTo>
                  <a:pt x="8076" y="4814"/>
                  <a:pt x="7786" y="4762"/>
                  <a:pt x="7695" y="5010"/>
                </a:cubicBezTo>
                <a:cubicBezTo>
                  <a:pt x="7661" y="5103"/>
                  <a:pt x="7654" y="5227"/>
                  <a:pt x="7678" y="5283"/>
                </a:cubicBezTo>
                <a:cubicBezTo>
                  <a:pt x="7703" y="5340"/>
                  <a:pt x="7723" y="5423"/>
                  <a:pt x="7723" y="5469"/>
                </a:cubicBezTo>
                <a:cubicBezTo>
                  <a:pt x="7725" y="5618"/>
                  <a:pt x="8052" y="5621"/>
                  <a:pt x="8109" y="5472"/>
                </a:cubicBezTo>
                <a:cubicBezTo>
                  <a:pt x="8150" y="5364"/>
                  <a:pt x="8176" y="5355"/>
                  <a:pt x="8242" y="5435"/>
                </a:cubicBezTo>
                <a:cubicBezTo>
                  <a:pt x="8287" y="5490"/>
                  <a:pt x="8341" y="5509"/>
                  <a:pt x="8362" y="5479"/>
                </a:cubicBezTo>
                <a:cubicBezTo>
                  <a:pt x="8417" y="5397"/>
                  <a:pt x="8941" y="6182"/>
                  <a:pt x="8910" y="6301"/>
                </a:cubicBezTo>
                <a:cubicBezTo>
                  <a:pt x="8895" y="6356"/>
                  <a:pt x="8924" y="6453"/>
                  <a:pt x="8972" y="6511"/>
                </a:cubicBezTo>
                <a:cubicBezTo>
                  <a:pt x="9095" y="6661"/>
                  <a:pt x="9093" y="7418"/>
                  <a:pt x="8970" y="7488"/>
                </a:cubicBezTo>
                <a:cubicBezTo>
                  <a:pt x="8863" y="7548"/>
                  <a:pt x="8379" y="6882"/>
                  <a:pt x="8379" y="6675"/>
                </a:cubicBezTo>
                <a:cubicBezTo>
                  <a:pt x="8379" y="6601"/>
                  <a:pt x="8315" y="6491"/>
                  <a:pt x="8237" y="6430"/>
                </a:cubicBezTo>
                <a:cubicBezTo>
                  <a:pt x="8108" y="6328"/>
                  <a:pt x="8082" y="6340"/>
                  <a:pt x="7948" y="6552"/>
                </a:cubicBezTo>
                <a:cubicBezTo>
                  <a:pt x="7839" y="6725"/>
                  <a:pt x="7786" y="6761"/>
                  <a:pt x="7738" y="6691"/>
                </a:cubicBezTo>
                <a:cubicBezTo>
                  <a:pt x="7636" y="6541"/>
                  <a:pt x="7499" y="6579"/>
                  <a:pt x="7357" y="6801"/>
                </a:cubicBezTo>
                <a:cubicBezTo>
                  <a:pt x="7231" y="6998"/>
                  <a:pt x="7230" y="7018"/>
                  <a:pt x="7321" y="7220"/>
                </a:cubicBezTo>
                <a:cubicBezTo>
                  <a:pt x="7444" y="7496"/>
                  <a:pt x="7611" y="7486"/>
                  <a:pt x="7800" y="7195"/>
                </a:cubicBezTo>
                <a:cubicBezTo>
                  <a:pt x="7995" y="6896"/>
                  <a:pt x="8314" y="6883"/>
                  <a:pt x="8413" y="7170"/>
                </a:cubicBezTo>
                <a:cubicBezTo>
                  <a:pt x="8448" y="7270"/>
                  <a:pt x="8534" y="7445"/>
                  <a:pt x="8606" y="7557"/>
                </a:cubicBezTo>
                <a:cubicBezTo>
                  <a:pt x="8723" y="7740"/>
                  <a:pt x="8787" y="7762"/>
                  <a:pt x="9280" y="7784"/>
                </a:cubicBezTo>
                <a:lnTo>
                  <a:pt x="9827" y="7806"/>
                </a:lnTo>
                <a:lnTo>
                  <a:pt x="9827" y="8265"/>
                </a:lnTo>
                <a:lnTo>
                  <a:pt x="9827" y="8725"/>
                </a:lnTo>
                <a:lnTo>
                  <a:pt x="9287" y="8750"/>
                </a:lnTo>
                <a:lnTo>
                  <a:pt x="8747" y="8775"/>
                </a:lnTo>
                <a:lnTo>
                  <a:pt x="8426" y="9241"/>
                </a:lnTo>
                <a:cubicBezTo>
                  <a:pt x="8214" y="9549"/>
                  <a:pt x="8072" y="9693"/>
                  <a:pt x="8015" y="9660"/>
                </a:cubicBezTo>
                <a:cubicBezTo>
                  <a:pt x="7966" y="9633"/>
                  <a:pt x="7911" y="9647"/>
                  <a:pt x="7892" y="9692"/>
                </a:cubicBezTo>
                <a:cubicBezTo>
                  <a:pt x="7874" y="9736"/>
                  <a:pt x="7840" y="9755"/>
                  <a:pt x="7815" y="9733"/>
                </a:cubicBezTo>
                <a:cubicBezTo>
                  <a:pt x="7791" y="9710"/>
                  <a:pt x="7742" y="9785"/>
                  <a:pt x="7706" y="9899"/>
                </a:cubicBezTo>
                <a:cubicBezTo>
                  <a:pt x="7652" y="10074"/>
                  <a:pt x="7658" y="10129"/>
                  <a:pt x="7751" y="10246"/>
                </a:cubicBezTo>
                <a:cubicBezTo>
                  <a:pt x="7955" y="10503"/>
                  <a:pt x="8207" y="10427"/>
                  <a:pt x="8207" y="10110"/>
                </a:cubicBezTo>
                <a:cubicBezTo>
                  <a:pt x="8207" y="9927"/>
                  <a:pt x="8914" y="8905"/>
                  <a:pt x="9008" y="8952"/>
                </a:cubicBezTo>
                <a:cubicBezTo>
                  <a:pt x="9109" y="9001"/>
                  <a:pt x="9078" y="9820"/>
                  <a:pt x="8966" y="10073"/>
                </a:cubicBezTo>
                <a:cubicBezTo>
                  <a:pt x="8919" y="10178"/>
                  <a:pt x="8893" y="10296"/>
                  <a:pt x="8910" y="10337"/>
                </a:cubicBezTo>
                <a:cubicBezTo>
                  <a:pt x="8956" y="10447"/>
                  <a:pt x="8600" y="10908"/>
                  <a:pt x="8421" y="10970"/>
                </a:cubicBezTo>
                <a:cubicBezTo>
                  <a:pt x="8319" y="11005"/>
                  <a:pt x="8254" y="11095"/>
                  <a:pt x="8231" y="11231"/>
                </a:cubicBezTo>
                <a:cubicBezTo>
                  <a:pt x="8181" y="11524"/>
                  <a:pt x="8235" y="11676"/>
                  <a:pt x="8413" y="11741"/>
                </a:cubicBezTo>
                <a:cubicBezTo>
                  <a:pt x="8534" y="11786"/>
                  <a:pt x="8591" y="11758"/>
                  <a:pt x="8674" y="11606"/>
                </a:cubicBezTo>
                <a:cubicBezTo>
                  <a:pt x="8733" y="11500"/>
                  <a:pt x="8767" y="11357"/>
                  <a:pt x="8749" y="11288"/>
                </a:cubicBezTo>
                <a:cubicBezTo>
                  <a:pt x="8731" y="11220"/>
                  <a:pt x="8765" y="11085"/>
                  <a:pt x="8826" y="10989"/>
                </a:cubicBezTo>
                <a:cubicBezTo>
                  <a:pt x="8888" y="10893"/>
                  <a:pt x="8935" y="10777"/>
                  <a:pt x="8929" y="10731"/>
                </a:cubicBezTo>
                <a:cubicBezTo>
                  <a:pt x="8923" y="10685"/>
                  <a:pt x="8987" y="10635"/>
                  <a:pt x="9070" y="10621"/>
                </a:cubicBezTo>
                <a:cubicBezTo>
                  <a:pt x="9315" y="10579"/>
                  <a:pt x="9377" y="10398"/>
                  <a:pt x="9261" y="10079"/>
                </a:cubicBezTo>
                <a:cubicBezTo>
                  <a:pt x="9196" y="9899"/>
                  <a:pt x="9172" y="9672"/>
                  <a:pt x="9184" y="9393"/>
                </a:cubicBezTo>
                <a:lnTo>
                  <a:pt x="9201" y="8977"/>
                </a:lnTo>
                <a:lnTo>
                  <a:pt x="9599" y="8977"/>
                </a:lnTo>
                <a:cubicBezTo>
                  <a:pt x="9877" y="8977"/>
                  <a:pt x="10016" y="8941"/>
                  <a:pt x="10060" y="8857"/>
                </a:cubicBezTo>
                <a:cubicBezTo>
                  <a:pt x="10113" y="8757"/>
                  <a:pt x="10134" y="8765"/>
                  <a:pt x="10188" y="8914"/>
                </a:cubicBezTo>
                <a:cubicBezTo>
                  <a:pt x="10273" y="9147"/>
                  <a:pt x="10269" y="9616"/>
                  <a:pt x="10167" y="11272"/>
                </a:cubicBezTo>
                <a:cubicBezTo>
                  <a:pt x="10027" y="13552"/>
                  <a:pt x="10008" y="13694"/>
                  <a:pt x="9827" y="13694"/>
                </a:cubicBezTo>
                <a:cubicBezTo>
                  <a:pt x="9642" y="13694"/>
                  <a:pt x="9491" y="14009"/>
                  <a:pt x="9460" y="14456"/>
                </a:cubicBezTo>
                <a:lnTo>
                  <a:pt x="9428" y="14906"/>
                </a:lnTo>
                <a:lnTo>
                  <a:pt x="9032" y="14953"/>
                </a:lnTo>
                <a:cubicBezTo>
                  <a:pt x="8813" y="14979"/>
                  <a:pt x="8578" y="15041"/>
                  <a:pt x="8511" y="15095"/>
                </a:cubicBezTo>
                <a:cubicBezTo>
                  <a:pt x="8352" y="15223"/>
                  <a:pt x="8094" y="15678"/>
                  <a:pt x="8094" y="15832"/>
                </a:cubicBezTo>
                <a:cubicBezTo>
                  <a:pt x="8094" y="15898"/>
                  <a:pt x="8031" y="15997"/>
                  <a:pt x="7952" y="16049"/>
                </a:cubicBezTo>
                <a:cubicBezTo>
                  <a:pt x="7814" y="16142"/>
                  <a:pt x="7770" y="16282"/>
                  <a:pt x="7847" y="16395"/>
                </a:cubicBezTo>
                <a:cubicBezTo>
                  <a:pt x="7869" y="16426"/>
                  <a:pt x="9166" y="16442"/>
                  <a:pt x="10730" y="16430"/>
                </a:cubicBezTo>
                <a:cubicBezTo>
                  <a:pt x="13263" y="16411"/>
                  <a:pt x="13576" y="16392"/>
                  <a:pt x="13592" y="16276"/>
                </a:cubicBezTo>
                <a:cubicBezTo>
                  <a:pt x="13602" y="16201"/>
                  <a:pt x="13546" y="16104"/>
                  <a:pt x="13463" y="16049"/>
                </a:cubicBezTo>
                <a:cubicBezTo>
                  <a:pt x="13384" y="15996"/>
                  <a:pt x="13320" y="15898"/>
                  <a:pt x="13320" y="15832"/>
                </a:cubicBezTo>
                <a:cubicBezTo>
                  <a:pt x="13320" y="15660"/>
                  <a:pt x="13051" y="15214"/>
                  <a:pt x="12861" y="15070"/>
                </a:cubicBezTo>
                <a:cubicBezTo>
                  <a:pt x="12773" y="15002"/>
                  <a:pt x="12576" y="14947"/>
                  <a:pt x="12424" y="14947"/>
                </a:cubicBezTo>
                <a:cubicBezTo>
                  <a:pt x="12057" y="14947"/>
                  <a:pt x="11965" y="14830"/>
                  <a:pt x="11945" y="14336"/>
                </a:cubicBezTo>
                <a:cubicBezTo>
                  <a:pt x="11928" y="13921"/>
                  <a:pt x="11914" y="13900"/>
                  <a:pt x="11501" y="13609"/>
                </a:cubicBezTo>
                <a:cubicBezTo>
                  <a:pt x="11446" y="13570"/>
                  <a:pt x="11423" y="13455"/>
                  <a:pt x="11433" y="13278"/>
                </a:cubicBezTo>
                <a:cubicBezTo>
                  <a:pt x="11441" y="13128"/>
                  <a:pt x="11423" y="12964"/>
                  <a:pt x="11394" y="12913"/>
                </a:cubicBezTo>
                <a:cubicBezTo>
                  <a:pt x="11343" y="12820"/>
                  <a:pt x="11289" y="12194"/>
                  <a:pt x="11249" y="11231"/>
                </a:cubicBezTo>
                <a:cubicBezTo>
                  <a:pt x="11237" y="10956"/>
                  <a:pt x="11209" y="10312"/>
                  <a:pt x="11187" y="9802"/>
                </a:cubicBezTo>
                <a:cubicBezTo>
                  <a:pt x="11155" y="9083"/>
                  <a:pt x="11162" y="8859"/>
                  <a:pt x="11219" y="8807"/>
                </a:cubicBezTo>
                <a:cubicBezTo>
                  <a:pt x="11263" y="8766"/>
                  <a:pt x="11319" y="8793"/>
                  <a:pt x="11360" y="8876"/>
                </a:cubicBezTo>
                <a:cubicBezTo>
                  <a:pt x="11413" y="8982"/>
                  <a:pt x="11489" y="9004"/>
                  <a:pt x="11707" y="8967"/>
                </a:cubicBezTo>
                <a:cubicBezTo>
                  <a:pt x="12097" y="8903"/>
                  <a:pt x="12185" y="9020"/>
                  <a:pt x="12187" y="9603"/>
                </a:cubicBezTo>
                <a:cubicBezTo>
                  <a:pt x="12188" y="9856"/>
                  <a:pt x="12180" y="10174"/>
                  <a:pt x="12172" y="10312"/>
                </a:cubicBezTo>
                <a:cubicBezTo>
                  <a:pt x="12158" y="10523"/>
                  <a:pt x="12176" y="10562"/>
                  <a:pt x="12285" y="10564"/>
                </a:cubicBezTo>
                <a:cubicBezTo>
                  <a:pt x="12368" y="10565"/>
                  <a:pt x="12452" y="10662"/>
                  <a:pt x="12521" y="10828"/>
                </a:cubicBezTo>
                <a:cubicBezTo>
                  <a:pt x="12580" y="10971"/>
                  <a:pt x="12654" y="11110"/>
                  <a:pt x="12684" y="11137"/>
                </a:cubicBezTo>
                <a:cubicBezTo>
                  <a:pt x="12713" y="11164"/>
                  <a:pt x="12729" y="11279"/>
                  <a:pt x="12720" y="11395"/>
                </a:cubicBezTo>
                <a:cubicBezTo>
                  <a:pt x="12702" y="11640"/>
                  <a:pt x="12883" y="11842"/>
                  <a:pt x="12996" y="11704"/>
                </a:cubicBezTo>
                <a:cubicBezTo>
                  <a:pt x="13033" y="11658"/>
                  <a:pt x="13089" y="11618"/>
                  <a:pt x="13121" y="11612"/>
                </a:cubicBezTo>
                <a:cubicBezTo>
                  <a:pt x="13212" y="11597"/>
                  <a:pt x="13208" y="11202"/>
                  <a:pt x="13114" y="11064"/>
                </a:cubicBezTo>
                <a:cubicBezTo>
                  <a:pt x="13067" y="10995"/>
                  <a:pt x="12987" y="10939"/>
                  <a:pt x="12936" y="10939"/>
                </a:cubicBezTo>
                <a:cubicBezTo>
                  <a:pt x="12800" y="10939"/>
                  <a:pt x="12525" y="10516"/>
                  <a:pt x="12525" y="10306"/>
                </a:cubicBezTo>
                <a:cubicBezTo>
                  <a:pt x="12525" y="10205"/>
                  <a:pt x="12486" y="10076"/>
                  <a:pt x="12439" y="10019"/>
                </a:cubicBezTo>
                <a:cubicBezTo>
                  <a:pt x="12338" y="9896"/>
                  <a:pt x="12319" y="9058"/>
                  <a:pt x="12416" y="8971"/>
                </a:cubicBezTo>
                <a:cubicBezTo>
                  <a:pt x="12497" y="8897"/>
                  <a:pt x="13206" y="9928"/>
                  <a:pt x="13206" y="10120"/>
                </a:cubicBezTo>
                <a:cubicBezTo>
                  <a:pt x="13206" y="10315"/>
                  <a:pt x="13410" y="10462"/>
                  <a:pt x="13587" y="10397"/>
                </a:cubicBezTo>
                <a:cubicBezTo>
                  <a:pt x="13666" y="10368"/>
                  <a:pt x="13716" y="10324"/>
                  <a:pt x="13697" y="10296"/>
                </a:cubicBezTo>
                <a:cubicBezTo>
                  <a:pt x="13678" y="10268"/>
                  <a:pt x="13689" y="10195"/>
                  <a:pt x="13722" y="10136"/>
                </a:cubicBezTo>
                <a:cubicBezTo>
                  <a:pt x="13825" y="9954"/>
                  <a:pt x="13611" y="9590"/>
                  <a:pt x="13429" y="9638"/>
                </a:cubicBezTo>
                <a:cubicBezTo>
                  <a:pt x="13309" y="9670"/>
                  <a:pt x="13226" y="9593"/>
                  <a:pt x="12979" y="9226"/>
                </a:cubicBezTo>
                <a:lnTo>
                  <a:pt x="12675" y="8772"/>
                </a:lnTo>
                <a:lnTo>
                  <a:pt x="12131" y="8750"/>
                </a:lnTo>
                <a:lnTo>
                  <a:pt x="11587" y="8725"/>
                </a:lnTo>
                <a:lnTo>
                  <a:pt x="11587" y="8265"/>
                </a:lnTo>
                <a:lnTo>
                  <a:pt x="11587" y="7806"/>
                </a:lnTo>
                <a:lnTo>
                  <a:pt x="12127" y="7784"/>
                </a:lnTo>
                <a:cubicBezTo>
                  <a:pt x="12585" y="7763"/>
                  <a:pt x="12683" y="7730"/>
                  <a:pt x="12793" y="7579"/>
                </a:cubicBezTo>
                <a:cubicBezTo>
                  <a:pt x="12864" y="7481"/>
                  <a:pt x="12921" y="7354"/>
                  <a:pt x="12921" y="7296"/>
                </a:cubicBezTo>
                <a:cubicBezTo>
                  <a:pt x="12921" y="7159"/>
                  <a:pt x="13001" y="7090"/>
                  <a:pt x="13256" y="7006"/>
                </a:cubicBezTo>
                <a:cubicBezTo>
                  <a:pt x="13439" y="6945"/>
                  <a:pt x="13475" y="6962"/>
                  <a:pt x="13585" y="7163"/>
                </a:cubicBezTo>
                <a:cubicBezTo>
                  <a:pt x="13693" y="7360"/>
                  <a:pt x="13724" y="7376"/>
                  <a:pt x="13825" y="7286"/>
                </a:cubicBezTo>
                <a:cubicBezTo>
                  <a:pt x="13924" y="7198"/>
                  <a:pt x="13951" y="7206"/>
                  <a:pt x="14001" y="7343"/>
                </a:cubicBezTo>
                <a:cubicBezTo>
                  <a:pt x="14033" y="7431"/>
                  <a:pt x="14059" y="7619"/>
                  <a:pt x="14059" y="7758"/>
                </a:cubicBezTo>
                <a:cubicBezTo>
                  <a:pt x="14059" y="7898"/>
                  <a:pt x="14139" y="8449"/>
                  <a:pt x="14239" y="8983"/>
                </a:cubicBezTo>
                <a:lnTo>
                  <a:pt x="14421" y="9953"/>
                </a:lnTo>
                <a:lnTo>
                  <a:pt x="14301" y="10092"/>
                </a:lnTo>
                <a:cubicBezTo>
                  <a:pt x="14190" y="10220"/>
                  <a:pt x="13845" y="11235"/>
                  <a:pt x="13815" y="11521"/>
                </a:cubicBezTo>
                <a:cubicBezTo>
                  <a:pt x="13807" y="11591"/>
                  <a:pt x="13780" y="11693"/>
                  <a:pt x="13757" y="11748"/>
                </a:cubicBezTo>
                <a:cubicBezTo>
                  <a:pt x="13733" y="11803"/>
                  <a:pt x="13756" y="11895"/>
                  <a:pt x="13806" y="11956"/>
                </a:cubicBezTo>
                <a:cubicBezTo>
                  <a:pt x="13855" y="12016"/>
                  <a:pt x="14065" y="12319"/>
                  <a:pt x="14271" y="12629"/>
                </a:cubicBezTo>
                <a:cubicBezTo>
                  <a:pt x="14476" y="12939"/>
                  <a:pt x="14690" y="13193"/>
                  <a:pt x="14746" y="13193"/>
                </a:cubicBezTo>
                <a:cubicBezTo>
                  <a:pt x="14802" y="13193"/>
                  <a:pt x="14862" y="13228"/>
                  <a:pt x="14879" y="13269"/>
                </a:cubicBezTo>
                <a:cubicBezTo>
                  <a:pt x="14896" y="13309"/>
                  <a:pt x="15120" y="13428"/>
                  <a:pt x="15378" y="13533"/>
                </a:cubicBezTo>
                <a:cubicBezTo>
                  <a:pt x="15757" y="13688"/>
                  <a:pt x="15989" y="13723"/>
                  <a:pt x="16586" y="13722"/>
                </a:cubicBezTo>
                <a:cubicBezTo>
                  <a:pt x="17409" y="13721"/>
                  <a:pt x="17838" y="13594"/>
                  <a:pt x="18370" y="13193"/>
                </a:cubicBezTo>
                <a:cubicBezTo>
                  <a:pt x="18705" y="12940"/>
                  <a:pt x="19454" y="11937"/>
                  <a:pt x="19454" y="11741"/>
                </a:cubicBezTo>
                <a:cubicBezTo>
                  <a:pt x="19454" y="11678"/>
                  <a:pt x="19389" y="11407"/>
                  <a:pt x="19308" y="11137"/>
                </a:cubicBezTo>
                <a:cubicBezTo>
                  <a:pt x="19228" y="10867"/>
                  <a:pt x="19083" y="10385"/>
                  <a:pt x="18987" y="10063"/>
                </a:cubicBezTo>
                <a:cubicBezTo>
                  <a:pt x="18891" y="9742"/>
                  <a:pt x="18779" y="9418"/>
                  <a:pt x="18736" y="9345"/>
                </a:cubicBezTo>
                <a:cubicBezTo>
                  <a:pt x="18694" y="9273"/>
                  <a:pt x="18673" y="9193"/>
                  <a:pt x="18689" y="9169"/>
                </a:cubicBezTo>
                <a:cubicBezTo>
                  <a:pt x="18717" y="9129"/>
                  <a:pt x="18623" y="8775"/>
                  <a:pt x="18370" y="7954"/>
                </a:cubicBezTo>
                <a:cubicBezTo>
                  <a:pt x="18310" y="7759"/>
                  <a:pt x="18263" y="7572"/>
                  <a:pt x="18263" y="7538"/>
                </a:cubicBezTo>
                <a:cubicBezTo>
                  <a:pt x="18263" y="7504"/>
                  <a:pt x="18198" y="7287"/>
                  <a:pt x="18122" y="7056"/>
                </a:cubicBezTo>
                <a:cubicBezTo>
                  <a:pt x="17934" y="6493"/>
                  <a:pt x="17645" y="5535"/>
                  <a:pt x="17552" y="5176"/>
                </a:cubicBezTo>
                <a:cubicBezTo>
                  <a:pt x="17510" y="5016"/>
                  <a:pt x="17347" y="4461"/>
                  <a:pt x="17190" y="3942"/>
                </a:cubicBezTo>
                <a:lnTo>
                  <a:pt x="16905" y="2998"/>
                </a:lnTo>
                <a:lnTo>
                  <a:pt x="17044" y="2698"/>
                </a:lnTo>
                <a:cubicBezTo>
                  <a:pt x="17196" y="2370"/>
                  <a:pt x="17209" y="2288"/>
                  <a:pt x="17128" y="2214"/>
                </a:cubicBezTo>
                <a:cubicBezTo>
                  <a:pt x="17098" y="2186"/>
                  <a:pt x="17088" y="2115"/>
                  <a:pt x="17104" y="2053"/>
                </a:cubicBezTo>
                <a:cubicBezTo>
                  <a:pt x="17142" y="1909"/>
                  <a:pt x="16866" y="1587"/>
                  <a:pt x="16706" y="1587"/>
                </a:cubicBezTo>
                <a:cubicBezTo>
                  <a:pt x="16542" y="1587"/>
                  <a:pt x="16335" y="1809"/>
                  <a:pt x="16271" y="2056"/>
                </a:cubicBezTo>
                <a:cubicBezTo>
                  <a:pt x="16242" y="2167"/>
                  <a:pt x="16153" y="2294"/>
                  <a:pt x="16072" y="2339"/>
                </a:cubicBezTo>
                <a:cubicBezTo>
                  <a:pt x="15823" y="2478"/>
                  <a:pt x="14922" y="2430"/>
                  <a:pt x="14344" y="2248"/>
                </a:cubicBezTo>
                <a:cubicBezTo>
                  <a:pt x="12955" y="1811"/>
                  <a:pt x="12453" y="1752"/>
                  <a:pt x="11872" y="1958"/>
                </a:cubicBezTo>
                <a:cubicBezTo>
                  <a:pt x="11684" y="2025"/>
                  <a:pt x="11488" y="2083"/>
                  <a:pt x="11437" y="2084"/>
                </a:cubicBezTo>
                <a:cubicBezTo>
                  <a:pt x="11315" y="2088"/>
                  <a:pt x="11138" y="1689"/>
                  <a:pt x="11204" y="1559"/>
                </a:cubicBezTo>
                <a:cubicBezTo>
                  <a:pt x="11231" y="1504"/>
                  <a:pt x="11260" y="1244"/>
                  <a:pt x="11268" y="979"/>
                </a:cubicBezTo>
                <a:cubicBezTo>
                  <a:pt x="11281" y="542"/>
                  <a:pt x="11265" y="475"/>
                  <a:pt x="11112" y="249"/>
                </a:cubicBezTo>
                <a:cubicBezTo>
                  <a:pt x="10978" y="52"/>
                  <a:pt x="10893" y="0"/>
                  <a:pt x="10707" y="0"/>
                </a:cubicBezTo>
                <a:close/>
                <a:moveTo>
                  <a:pt x="16233" y="3013"/>
                </a:moveTo>
                <a:cubicBezTo>
                  <a:pt x="16295" y="3020"/>
                  <a:pt x="16355" y="3050"/>
                  <a:pt x="16368" y="3098"/>
                </a:cubicBezTo>
                <a:cubicBezTo>
                  <a:pt x="16380" y="3146"/>
                  <a:pt x="16360" y="3252"/>
                  <a:pt x="16325" y="3331"/>
                </a:cubicBezTo>
                <a:cubicBezTo>
                  <a:pt x="16289" y="3410"/>
                  <a:pt x="16274" y="3473"/>
                  <a:pt x="16288" y="3473"/>
                </a:cubicBezTo>
                <a:cubicBezTo>
                  <a:pt x="16303" y="3473"/>
                  <a:pt x="16284" y="3521"/>
                  <a:pt x="16248" y="3580"/>
                </a:cubicBezTo>
                <a:cubicBezTo>
                  <a:pt x="16211" y="3639"/>
                  <a:pt x="16175" y="3741"/>
                  <a:pt x="16166" y="3807"/>
                </a:cubicBezTo>
                <a:cubicBezTo>
                  <a:pt x="16158" y="3872"/>
                  <a:pt x="16123" y="3991"/>
                  <a:pt x="16087" y="4071"/>
                </a:cubicBezTo>
                <a:cubicBezTo>
                  <a:pt x="16051" y="4151"/>
                  <a:pt x="16021" y="4238"/>
                  <a:pt x="16021" y="4263"/>
                </a:cubicBezTo>
                <a:cubicBezTo>
                  <a:pt x="16018" y="4337"/>
                  <a:pt x="15952" y="4571"/>
                  <a:pt x="15828" y="4953"/>
                </a:cubicBezTo>
                <a:cubicBezTo>
                  <a:pt x="15764" y="5148"/>
                  <a:pt x="15725" y="5350"/>
                  <a:pt x="15738" y="5400"/>
                </a:cubicBezTo>
                <a:cubicBezTo>
                  <a:pt x="15768" y="5514"/>
                  <a:pt x="15768" y="5514"/>
                  <a:pt x="15145" y="5636"/>
                </a:cubicBezTo>
                <a:cubicBezTo>
                  <a:pt x="14864" y="5691"/>
                  <a:pt x="14617" y="5753"/>
                  <a:pt x="14596" y="5772"/>
                </a:cubicBezTo>
                <a:cubicBezTo>
                  <a:pt x="14575" y="5790"/>
                  <a:pt x="14520" y="5812"/>
                  <a:pt x="14476" y="5822"/>
                </a:cubicBezTo>
                <a:cubicBezTo>
                  <a:pt x="14308" y="5858"/>
                  <a:pt x="14279" y="5870"/>
                  <a:pt x="14206" y="5932"/>
                </a:cubicBezTo>
                <a:cubicBezTo>
                  <a:pt x="14153" y="5978"/>
                  <a:pt x="14122" y="6101"/>
                  <a:pt x="14097" y="6363"/>
                </a:cubicBezTo>
                <a:cubicBezTo>
                  <a:pt x="14060" y="6767"/>
                  <a:pt x="13997" y="6929"/>
                  <a:pt x="13960" y="6719"/>
                </a:cubicBezTo>
                <a:cubicBezTo>
                  <a:pt x="13947" y="6643"/>
                  <a:pt x="13920" y="6607"/>
                  <a:pt x="13894" y="6631"/>
                </a:cubicBezTo>
                <a:cubicBezTo>
                  <a:pt x="13869" y="6653"/>
                  <a:pt x="13787" y="6674"/>
                  <a:pt x="13712" y="6678"/>
                </a:cubicBezTo>
                <a:cubicBezTo>
                  <a:pt x="13636" y="6683"/>
                  <a:pt x="13547" y="6697"/>
                  <a:pt x="13515" y="6710"/>
                </a:cubicBezTo>
                <a:cubicBezTo>
                  <a:pt x="13479" y="6724"/>
                  <a:pt x="13452" y="6687"/>
                  <a:pt x="13444" y="6609"/>
                </a:cubicBezTo>
                <a:cubicBezTo>
                  <a:pt x="13413" y="6311"/>
                  <a:pt x="13193" y="6281"/>
                  <a:pt x="13093" y="6562"/>
                </a:cubicBezTo>
                <a:cubicBezTo>
                  <a:pt x="13059" y="6657"/>
                  <a:pt x="13022" y="6763"/>
                  <a:pt x="13009" y="6798"/>
                </a:cubicBezTo>
                <a:cubicBezTo>
                  <a:pt x="12996" y="6833"/>
                  <a:pt x="12905" y="7008"/>
                  <a:pt x="12808" y="7188"/>
                </a:cubicBezTo>
                <a:cubicBezTo>
                  <a:pt x="12647" y="7487"/>
                  <a:pt x="12618" y="7515"/>
                  <a:pt x="12493" y="7500"/>
                </a:cubicBezTo>
                <a:lnTo>
                  <a:pt x="12356" y="7484"/>
                </a:lnTo>
                <a:lnTo>
                  <a:pt x="12345" y="7047"/>
                </a:lnTo>
                <a:cubicBezTo>
                  <a:pt x="12335" y="6669"/>
                  <a:pt x="12344" y="6597"/>
                  <a:pt x="12414" y="6505"/>
                </a:cubicBezTo>
                <a:cubicBezTo>
                  <a:pt x="12458" y="6447"/>
                  <a:pt x="12493" y="6347"/>
                  <a:pt x="12493" y="6285"/>
                </a:cubicBezTo>
                <a:cubicBezTo>
                  <a:pt x="12493" y="6165"/>
                  <a:pt x="12699" y="5784"/>
                  <a:pt x="12804" y="5709"/>
                </a:cubicBezTo>
                <a:cubicBezTo>
                  <a:pt x="12838" y="5684"/>
                  <a:pt x="12938" y="5604"/>
                  <a:pt x="13024" y="5532"/>
                </a:cubicBezTo>
                <a:cubicBezTo>
                  <a:pt x="13178" y="5404"/>
                  <a:pt x="13183" y="5403"/>
                  <a:pt x="13298" y="5504"/>
                </a:cubicBezTo>
                <a:cubicBezTo>
                  <a:pt x="13457" y="5643"/>
                  <a:pt x="13539" y="5634"/>
                  <a:pt x="13654" y="5466"/>
                </a:cubicBezTo>
                <a:cubicBezTo>
                  <a:pt x="13777" y="5285"/>
                  <a:pt x="13776" y="5109"/>
                  <a:pt x="13650" y="4937"/>
                </a:cubicBezTo>
                <a:cubicBezTo>
                  <a:pt x="13512" y="4750"/>
                  <a:pt x="13409" y="4765"/>
                  <a:pt x="13264" y="4997"/>
                </a:cubicBezTo>
                <a:cubicBezTo>
                  <a:pt x="13196" y="5105"/>
                  <a:pt x="13065" y="5239"/>
                  <a:pt x="12973" y="5293"/>
                </a:cubicBezTo>
                <a:cubicBezTo>
                  <a:pt x="12880" y="5347"/>
                  <a:pt x="12789" y="5441"/>
                  <a:pt x="12767" y="5501"/>
                </a:cubicBezTo>
                <a:cubicBezTo>
                  <a:pt x="12745" y="5560"/>
                  <a:pt x="12705" y="5608"/>
                  <a:pt x="12677" y="5608"/>
                </a:cubicBezTo>
                <a:cubicBezTo>
                  <a:pt x="12650" y="5608"/>
                  <a:pt x="12569" y="5698"/>
                  <a:pt x="12497" y="5806"/>
                </a:cubicBezTo>
                <a:cubicBezTo>
                  <a:pt x="12426" y="5915"/>
                  <a:pt x="12345" y="5991"/>
                  <a:pt x="12317" y="5976"/>
                </a:cubicBezTo>
                <a:cubicBezTo>
                  <a:pt x="12290" y="5961"/>
                  <a:pt x="12219" y="6010"/>
                  <a:pt x="12159" y="6086"/>
                </a:cubicBezTo>
                <a:cubicBezTo>
                  <a:pt x="12075" y="6192"/>
                  <a:pt x="12057" y="6251"/>
                  <a:pt x="12082" y="6335"/>
                </a:cubicBezTo>
                <a:cubicBezTo>
                  <a:pt x="12100" y="6396"/>
                  <a:pt x="12110" y="6462"/>
                  <a:pt x="12108" y="6483"/>
                </a:cubicBezTo>
                <a:cubicBezTo>
                  <a:pt x="12105" y="6504"/>
                  <a:pt x="12129" y="6552"/>
                  <a:pt x="12161" y="6590"/>
                </a:cubicBezTo>
                <a:cubicBezTo>
                  <a:pt x="12221" y="6663"/>
                  <a:pt x="12231" y="6988"/>
                  <a:pt x="12185" y="7311"/>
                </a:cubicBezTo>
                <a:lnTo>
                  <a:pt x="12159" y="7484"/>
                </a:lnTo>
                <a:lnTo>
                  <a:pt x="11786" y="7513"/>
                </a:lnTo>
                <a:lnTo>
                  <a:pt x="11414" y="7541"/>
                </a:lnTo>
                <a:lnTo>
                  <a:pt x="11394" y="7859"/>
                </a:lnTo>
                <a:cubicBezTo>
                  <a:pt x="11376" y="8151"/>
                  <a:pt x="11366" y="8180"/>
                  <a:pt x="11270" y="8196"/>
                </a:cubicBezTo>
                <a:cubicBezTo>
                  <a:pt x="11213" y="8206"/>
                  <a:pt x="11152" y="8182"/>
                  <a:pt x="11135" y="8143"/>
                </a:cubicBezTo>
                <a:cubicBezTo>
                  <a:pt x="11099" y="8056"/>
                  <a:pt x="11061" y="4345"/>
                  <a:pt x="11094" y="4150"/>
                </a:cubicBezTo>
                <a:cubicBezTo>
                  <a:pt x="11133" y="3924"/>
                  <a:pt x="11513" y="3525"/>
                  <a:pt x="11829" y="3379"/>
                </a:cubicBezTo>
                <a:cubicBezTo>
                  <a:pt x="11984" y="3307"/>
                  <a:pt x="12122" y="3250"/>
                  <a:pt x="12135" y="3253"/>
                </a:cubicBezTo>
                <a:cubicBezTo>
                  <a:pt x="12149" y="3255"/>
                  <a:pt x="12170" y="3251"/>
                  <a:pt x="12180" y="3243"/>
                </a:cubicBezTo>
                <a:cubicBezTo>
                  <a:pt x="12246" y="3196"/>
                  <a:pt x="13125" y="3179"/>
                  <a:pt x="14457" y="3202"/>
                </a:cubicBezTo>
                <a:cubicBezTo>
                  <a:pt x="15157" y="3215"/>
                  <a:pt x="15910" y="3171"/>
                  <a:pt x="15933" y="3117"/>
                </a:cubicBezTo>
                <a:cubicBezTo>
                  <a:pt x="15946" y="3086"/>
                  <a:pt x="15982" y="3075"/>
                  <a:pt x="16012" y="3092"/>
                </a:cubicBezTo>
                <a:cubicBezTo>
                  <a:pt x="16042" y="3109"/>
                  <a:pt x="16074" y="3097"/>
                  <a:pt x="16087" y="3067"/>
                </a:cubicBezTo>
                <a:cubicBezTo>
                  <a:pt x="16106" y="3022"/>
                  <a:pt x="16171" y="3006"/>
                  <a:pt x="16233" y="3013"/>
                </a:cubicBezTo>
                <a:close/>
                <a:moveTo>
                  <a:pt x="19096" y="4374"/>
                </a:moveTo>
                <a:cubicBezTo>
                  <a:pt x="19037" y="4375"/>
                  <a:pt x="18971" y="4410"/>
                  <a:pt x="18903" y="4481"/>
                </a:cubicBezTo>
                <a:cubicBezTo>
                  <a:pt x="18610" y="4785"/>
                  <a:pt x="18460" y="4900"/>
                  <a:pt x="18400" y="4868"/>
                </a:cubicBezTo>
                <a:cubicBezTo>
                  <a:pt x="18366" y="4850"/>
                  <a:pt x="18264" y="4882"/>
                  <a:pt x="18173" y="4937"/>
                </a:cubicBezTo>
                <a:cubicBezTo>
                  <a:pt x="18082" y="4993"/>
                  <a:pt x="17983" y="5040"/>
                  <a:pt x="17955" y="5044"/>
                </a:cubicBezTo>
                <a:cubicBezTo>
                  <a:pt x="17926" y="5048"/>
                  <a:pt x="17891" y="5100"/>
                  <a:pt x="17877" y="5158"/>
                </a:cubicBezTo>
                <a:cubicBezTo>
                  <a:pt x="17860" y="5235"/>
                  <a:pt x="17911" y="5248"/>
                  <a:pt x="18072" y="5211"/>
                </a:cubicBezTo>
                <a:cubicBezTo>
                  <a:pt x="18192" y="5184"/>
                  <a:pt x="18313" y="5130"/>
                  <a:pt x="18340" y="5091"/>
                </a:cubicBezTo>
                <a:cubicBezTo>
                  <a:pt x="18367" y="5053"/>
                  <a:pt x="18425" y="5042"/>
                  <a:pt x="18469" y="5066"/>
                </a:cubicBezTo>
                <a:cubicBezTo>
                  <a:pt x="18512" y="5091"/>
                  <a:pt x="18580" y="5074"/>
                  <a:pt x="18619" y="5028"/>
                </a:cubicBezTo>
                <a:cubicBezTo>
                  <a:pt x="18700" y="4932"/>
                  <a:pt x="18944" y="5041"/>
                  <a:pt x="18944" y="5173"/>
                </a:cubicBezTo>
                <a:cubicBezTo>
                  <a:pt x="18944" y="5346"/>
                  <a:pt x="19226" y="5262"/>
                  <a:pt x="19315" y="5063"/>
                </a:cubicBezTo>
                <a:cubicBezTo>
                  <a:pt x="19387" y="4901"/>
                  <a:pt x="19389" y="4821"/>
                  <a:pt x="19334" y="4644"/>
                </a:cubicBezTo>
                <a:cubicBezTo>
                  <a:pt x="19277" y="4462"/>
                  <a:pt x="19195" y="4371"/>
                  <a:pt x="19096" y="4374"/>
                </a:cubicBezTo>
                <a:close/>
                <a:moveTo>
                  <a:pt x="2300" y="4396"/>
                </a:moveTo>
                <a:cubicBezTo>
                  <a:pt x="2202" y="4415"/>
                  <a:pt x="2103" y="4603"/>
                  <a:pt x="2095" y="4840"/>
                </a:cubicBezTo>
                <a:cubicBezTo>
                  <a:pt x="2082" y="5198"/>
                  <a:pt x="2275" y="5342"/>
                  <a:pt x="2489" y="5136"/>
                </a:cubicBezTo>
                <a:cubicBezTo>
                  <a:pt x="2616" y="5013"/>
                  <a:pt x="2677" y="5008"/>
                  <a:pt x="2964" y="5095"/>
                </a:cubicBezTo>
                <a:cubicBezTo>
                  <a:pt x="3145" y="5149"/>
                  <a:pt x="3333" y="5227"/>
                  <a:pt x="3380" y="5265"/>
                </a:cubicBezTo>
                <a:cubicBezTo>
                  <a:pt x="3428" y="5304"/>
                  <a:pt x="3489" y="5297"/>
                  <a:pt x="3521" y="5249"/>
                </a:cubicBezTo>
                <a:cubicBezTo>
                  <a:pt x="3609" y="5119"/>
                  <a:pt x="3409" y="4945"/>
                  <a:pt x="3046" y="4836"/>
                </a:cubicBezTo>
                <a:cubicBezTo>
                  <a:pt x="2870" y="4784"/>
                  <a:pt x="2668" y="4664"/>
                  <a:pt x="2598" y="4569"/>
                </a:cubicBezTo>
                <a:cubicBezTo>
                  <a:pt x="2528" y="4474"/>
                  <a:pt x="2469" y="4425"/>
                  <a:pt x="2469" y="4462"/>
                </a:cubicBezTo>
                <a:cubicBezTo>
                  <a:pt x="2469" y="4498"/>
                  <a:pt x="2436" y="4487"/>
                  <a:pt x="2395" y="4437"/>
                </a:cubicBezTo>
                <a:cubicBezTo>
                  <a:pt x="2365" y="4401"/>
                  <a:pt x="2333" y="4389"/>
                  <a:pt x="2300" y="4396"/>
                </a:cubicBezTo>
                <a:close/>
                <a:moveTo>
                  <a:pt x="1422" y="6297"/>
                </a:moveTo>
                <a:cubicBezTo>
                  <a:pt x="1354" y="6312"/>
                  <a:pt x="1284" y="6371"/>
                  <a:pt x="1214" y="6480"/>
                </a:cubicBezTo>
                <a:cubicBezTo>
                  <a:pt x="1098" y="6662"/>
                  <a:pt x="1097" y="6685"/>
                  <a:pt x="1187" y="6886"/>
                </a:cubicBezTo>
                <a:cubicBezTo>
                  <a:pt x="1278" y="7092"/>
                  <a:pt x="1442" y="7162"/>
                  <a:pt x="1529" y="7034"/>
                </a:cubicBezTo>
                <a:cubicBezTo>
                  <a:pt x="1553" y="7000"/>
                  <a:pt x="1588" y="6969"/>
                  <a:pt x="1608" y="6965"/>
                </a:cubicBezTo>
                <a:cubicBezTo>
                  <a:pt x="1629" y="6961"/>
                  <a:pt x="1686" y="6934"/>
                  <a:pt x="1733" y="6905"/>
                </a:cubicBezTo>
                <a:cubicBezTo>
                  <a:pt x="1780" y="6876"/>
                  <a:pt x="1906" y="6843"/>
                  <a:pt x="2015" y="6830"/>
                </a:cubicBezTo>
                <a:cubicBezTo>
                  <a:pt x="2324" y="6792"/>
                  <a:pt x="2281" y="6561"/>
                  <a:pt x="1960" y="6527"/>
                </a:cubicBezTo>
                <a:cubicBezTo>
                  <a:pt x="1819" y="6513"/>
                  <a:pt x="1666" y="6451"/>
                  <a:pt x="1619" y="6392"/>
                </a:cubicBezTo>
                <a:cubicBezTo>
                  <a:pt x="1557" y="6312"/>
                  <a:pt x="1490" y="6282"/>
                  <a:pt x="1422" y="6297"/>
                </a:cubicBezTo>
                <a:close/>
                <a:moveTo>
                  <a:pt x="20064" y="6297"/>
                </a:moveTo>
                <a:cubicBezTo>
                  <a:pt x="20000" y="6289"/>
                  <a:pt x="19919" y="6325"/>
                  <a:pt x="19814" y="6411"/>
                </a:cubicBezTo>
                <a:cubicBezTo>
                  <a:pt x="19663" y="6532"/>
                  <a:pt x="18681" y="6548"/>
                  <a:pt x="18631" y="6430"/>
                </a:cubicBezTo>
                <a:cubicBezTo>
                  <a:pt x="18579" y="6306"/>
                  <a:pt x="18392" y="6330"/>
                  <a:pt x="18357" y="6464"/>
                </a:cubicBezTo>
                <a:cubicBezTo>
                  <a:pt x="18339" y="6536"/>
                  <a:pt x="18373" y="6600"/>
                  <a:pt x="18449" y="6631"/>
                </a:cubicBezTo>
                <a:cubicBezTo>
                  <a:pt x="18564" y="6679"/>
                  <a:pt x="18567" y="6690"/>
                  <a:pt x="18477" y="6792"/>
                </a:cubicBezTo>
                <a:cubicBezTo>
                  <a:pt x="18404" y="6875"/>
                  <a:pt x="18396" y="6927"/>
                  <a:pt x="18445" y="7000"/>
                </a:cubicBezTo>
                <a:cubicBezTo>
                  <a:pt x="18494" y="7072"/>
                  <a:pt x="18533" y="7065"/>
                  <a:pt x="18604" y="6971"/>
                </a:cubicBezTo>
                <a:cubicBezTo>
                  <a:pt x="18737" y="6794"/>
                  <a:pt x="19696" y="6793"/>
                  <a:pt x="19797" y="6971"/>
                </a:cubicBezTo>
                <a:cubicBezTo>
                  <a:pt x="19903" y="7159"/>
                  <a:pt x="20095" y="7120"/>
                  <a:pt x="20212" y="6883"/>
                </a:cubicBezTo>
                <a:cubicBezTo>
                  <a:pt x="20308" y="6688"/>
                  <a:pt x="20309" y="6656"/>
                  <a:pt x="20225" y="6467"/>
                </a:cubicBezTo>
                <a:cubicBezTo>
                  <a:pt x="20178" y="6361"/>
                  <a:pt x="20129" y="6306"/>
                  <a:pt x="20064" y="6297"/>
                </a:cubicBezTo>
                <a:close/>
                <a:moveTo>
                  <a:pt x="20741" y="7806"/>
                </a:moveTo>
                <a:cubicBezTo>
                  <a:pt x="20719" y="7810"/>
                  <a:pt x="20698" y="7823"/>
                  <a:pt x="20679" y="7847"/>
                </a:cubicBezTo>
                <a:cubicBezTo>
                  <a:pt x="20641" y="7893"/>
                  <a:pt x="20597" y="7911"/>
                  <a:pt x="20580" y="7887"/>
                </a:cubicBezTo>
                <a:cubicBezTo>
                  <a:pt x="20564" y="7864"/>
                  <a:pt x="20517" y="7902"/>
                  <a:pt x="20478" y="7972"/>
                </a:cubicBezTo>
                <a:cubicBezTo>
                  <a:pt x="20420" y="8075"/>
                  <a:pt x="20256" y="8098"/>
                  <a:pt x="19619" y="8098"/>
                </a:cubicBezTo>
                <a:cubicBezTo>
                  <a:pt x="18881" y="8098"/>
                  <a:pt x="18717" y="8150"/>
                  <a:pt x="18901" y="8322"/>
                </a:cubicBezTo>
                <a:cubicBezTo>
                  <a:pt x="18940" y="8358"/>
                  <a:pt x="19293" y="8379"/>
                  <a:pt x="19685" y="8366"/>
                </a:cubicBezTo>
                <a:cubicBezTo>
                  <a:pt x="20343" y="8344"/>
                  <a:pt x="20406" y="8356"/>
                  <a:pt x="20503" y="8514"/>
                </a:cubicBezTo>
                <a:cubicBezTo>
                  <a:pt x="20627" y="8715"/>
                  <a:pt x="20832" y="8735"/>
                  <a:pt x="20932" y="8558"/>
                </a:cubicBezTo>
                <a:cubicBezTo>
                  <a:pt x="20971" y="8489"/>
                  <a:pt x="20981" y="8432"/>
                  <a:pt x="20955" y="8432"/>
                </a:cubicBezTo>
                <a:cubicBezTo>
                  <a:pt x="20930" y="8432"/>
                  <a:pt x="20937" y="8392"/>
                  <a:pt x="20972" y="8341"/>
                </a:cubicBezTo>
                <a:cubicBezTo>
                  <a:pt x="21096" y="8159"/>
                  <a:pt x="20896" y="7773"/>
                  <a:pt x="20741" y="7806"/>
                </a:cubicBezTo>
                <a:close/>
                <a:moveTo>
                  <a:pt x="790" y="7856"/>
                </a:moveTo>
                <a:cubicBezTo>
                  <a:pt x="625" y="7826"/>
                  <a:pt x="426" y="8032"/>
                  <a:pt x="426" y="8316"/>
                </a:cubicBezTo>
                <a:cubicBezTo>
                  <a:pt x="426" y="8421"/>
                  <a:pt x="470" y="8546"/>
                  <a:pt x="525" y="8593"/>
                </a:cubicBezTo>
                <a:cubicBezTo>
                  <a:pt x="672" y="8719"/>
                  <a:pt x="760" y="8703"/>
                  <a:pt x="921" y="8517"/>
                </a:cubicBezTo>
                <a:cubicBezTo>
                  <a:pt x="1044" y="8374"/>
                  <a:pt x="1152" y="8350"/>
                  <a:pt x="1660" y="8350"/>
                </a:cubicBezTo>
                <a:cubicBezTo>
                  <a:pt x="2109" y="8350"/>
                  <a:pt x="2247" y="8325"/>
                  <a:pt x="2230" y="8246"/>
                </a:cubicBezTo>
                <a:cubicBezTo>
                  <a:pt x="2213" y="8174"/>
                  <a:pt x="2022" y="8134"/>
                  <a:pt x="1604" y="8117"/>
                </a:cubicBezTo>
                <a:cubicBezTo>
                  <a:pt x="1161" y="8100"/>
                  <a:pt x="987" y="8063"/>
                  <a:pt x="936" y="7972"/>
                </a:cubicBezTo>
                <a:cubicBezTo>
                  <a:pt x="897" y="7904"/>
                  <a:pt x="845" y="7866"/>
                  <a:pt x="790" y="7856"/>
                </a:cubicBezTo>
                <a:close/>
                <a:moveTo>
                  <a:pt x="7952" y="8020"/>
                </a:moveTo>
                <a:cubicBezTo>
                  <a:pt x="7871" y="8021"/>
                  <a:pt x="7785" y="8082"/>
                  <a:pt x="7730" y="8199"/>
                </a:cubicBezTo>
                <a:cubicBezTo>
                  <a:pt x="7666" y="8334"/>
                  <a:pt x="7660" y="8411"/>
                  <a:pt x="7706" y="8492"/>
                </a:cubicBezTo>
                <a:cubicBezTo>
                  <a:pt x="7740" y="8553"/>
                  <a:pt x="7749" y="8599"/>
                  <a:pt x="7725" y="8599"/>
                </a:cubicBezTo>
                <a:cubicBezTo>
                  <a:pt x="7702" y="8599"/>
                  <a:pt x="7714" y="8656"/>
                  <a:pt x="7753" y="8725"/>
                </a:cubicBezTo>
                <a:cubicBezTo>
                  <a:pt x="7835" y="8869"/>
                  <a:pt x="7958" y="8889"/>
                  <a:pt x="8010" y="8766"/>
                </a:cubicBezTo>
                <a:cubicBezTo>
                  <a:pt x="8030" y="8719"/>
                  <a:pt x="8068" y="8703"/>
                  <a:pt x="8096" y="8728"/>
                </a:cubicBezTo>
                <a:cubicBezTo>
                  <a:pt x="8178" y="8803"/>
                  <a:pt x="8223" y="8381"/>
                  <a:pt x="8154" y="8190"/>
                </a:cubicBezTo>
                <a:cubicBezTo>
                  <a:pt x="8112" y="8075"/>
                  <a:pt x="8034" y="8018"/>
                  <a:pt x="7952" y="8020"/>
                </a:cubicBezTo>
                <a:close/>
                <a:moveTo>
                  <a:pt x="13444" y="8023"/>
                </a:moveTo>
                <a:cubicBezTo>
                  <a:pt x="13357" y="8039"/>
                  <a:pt x="13275" y="8133"/>
                  <a:pt x="13236" y="8297"/>
                </a:cubicBezTo>
                <a:cubicBezTo>
                  <a:pt x="13187" y="8502"/>
                  <a:pt x="13200" y="8556"/>
                  <a:pt x="13315" y="8694"/>
                </a:cubicBezTo>
                <a:cubicBezTo>
                  <a:pt x="13409" y="8805"/>
                  <a:pt x="13469" y="8828"/>
                  <a:pt x="13517" y="8769"/>
                </a:cubicBezTo>
                <a:cubicBezTo>
                  <a:pt x="13555" y="8723"/>
                  <a:pt x="13602" y="8708"/>
                  <a:pt x="13620" y="8734"/>
                </a:cubicBezTo>
                <a:cubicBezTo>
                  <a:pt x="13638" y="8761"/>
                  <a:pt x="13680" y="8701"/>
                  <a:pt x="13716" y="8602"/>
                </a:cubicBezTo>
                <a:cubicBezTo>
                  <a:pt x="13768" y="8459"/>
                  <a:pt x="13764" y="8381"/>
                  <a:pt x="13690" y="8215"/>
                </a:cubicBezTo>
                <a:cubicBezTo>
                  <a:pt x="13625" y="8069"/>
                  <a:pt x="13531" y="8007"/>
                  <a:pt x="13444" y="8023"/>
                </a:cubicBezTo>
                <a:close/>
                <a:moveTo>
                  <a:pt x="20019" y="9547"/>
                </a:moveTo>
                <a:cubicBezTo>
                  <a:pt x="19959" y="9543"/>
                  <a:pt x="19894" y="9569"/>
                  <a:pt x="19829" y="9632"/>
                </a:cubicBezTo>
                <a:cubicBezTo>
                  <a:pt x="19750" y="9707"/>
                  <a:pt x="19612" y="9770"/>
                  <a:pt x="19522" y="9770"/>
                </a:cubicBezTo>
                <a:cubicBezTo>
                  <a:pt x="19433" y="9770"/>
                  <a:pt x="19344" y="9794"/>
                  <a:pt x="19323" y="9824"/>
                </a:cubicBezTo>
                <a:cubicBezTo>
                  <a:pt x="19264" y="9911"/>
                  <a:pt x="19402" y="10104"/>
                  <a:pt x="19525" y="10104"/>
                </a:cubicBezTo>
                <a:cubicBezTo>
                  <a:pt x="19586" y="10104"/>
                  <a:pt x="19702" y="10179"/>
                  <a:pt x="19782" y="10271"/>
                </a:cubicBezTo>
                <a:cubicBezTo>
                  <a:pt x="19944" y="10459"/>
                  <a:pt x="20000" y="10476"/>
                  <a:pt x="20051" y="10353"/>
                </a:cubicBezTo>
                <a:cubicBezTo>
                  <a:pt x="20071" y="10306"/>
                  <a:pt x="20112" y="10288"/>
                  <a:pt x="20141" y="10315"/>
                </a:cubicBezTo>
                <a:cubicBezTo>
                  <a:pt x="20171" y="10342"/>
                  <a:pt x="20216" y="10278"/>
                  <a:pt x="20242" y="10173"/>
                </a:cubicBezTo>
                <a:cubicBezTo>
                  <a:pt x="20327" y="9837"/>
                  <a:pt x="20199" y="9559"/>
                  <a:pt x="20019" y="9547"/>
                </a:cubicBezTo>
                <a:close/>
                <a:moveTo>
                  <a:pt x="14909" y="18423"/>
                </a:moveTo>
                <a:cubicBezTo>
                  <a:pt x="14851" y="18407"/>
                  <a:pt x="14805" y="18455"/>
                  <a:pt x="14716" y="18596"/>
                </a:cubicBezTo>
                <a:cubicBezTo>
                  <a:pt x="14594" y="18790"/>
                  <a:pt x="14584" y="18842"/>
                  <a:pt x="14650" y="18952"/>
                </a:cubicBezTo>
                <a:cubicBezTo>
                  <a:pt x="14699" y="19035"/>
                  <a:pt x="14709" y="19140"/>
                  <a:pt x="14680" y="19248"/>
                </a:cubicBezTo>
                <a:cubicBezTo>
                  <a:pt x="14622" y="19456"/>
                  <a:pt x="14612" y="21078"/>
                  <a:pt x="14667" y="21159"/>
                </a:cubicBezTo>
                <a:cubicBezTo>
                  <a:pt x="14689" y="21192"/>
                  <a:pt x="14786" y="21207"/>
                  <a:pt x="14881" y="21194"/>
                </a:cubicBezTo>
                <a:lnTo>
                  <a:pt x="15052" y="21169"/>
                </a:lnTo>
                <a:lnTo>
                  <a:pt x="15067" y="20256"/>
                </a:lnTo>
                <a:cubicBezTo>
                  <a:pt x="15077" y="19743"/>
                  <a:pt x="15060" y="19309"/>
                  <a:pt x="15029" y="19264"/>
                </a:cubicBezTo>
                <a:cubicBezTo>
                  <a:pt x="14993" y="19211"/>
                  <a:pt x="15006" y="19114"/>
                  <a:pt x="15063" y="18987"/>
                </a:cubicBezTo>
                <a:cubicBezTo>
                  <a:pt x="15165" y="18759"/>
                  <a:pt x="15135" y="18588"/>
                  <a:pt x="14973" y="18461"/>
                </a:cubicBezTo>
                <a:cubicBezTo>
                  <a:pt x="14950" y="18442"/>
                  <a:pt x="14928" y="18428"/>
                  <a:pt x="14909" y="18423"/>
                </a:cubicBezTo>
                <a:close/>
                <a:moveTo>
                  <a:pt x="10148" y="18454"/>
                </a:moveTo>
                <a:cubicBezTo>
                  <a:pt x="9715" y="18454"/>
                  <a:pt x="9433" y="19049"/>
                  <a:pt x="9638" y="19531"/>
                </a:cubicBezTo>
                <a:cubicBezTo>
                  <a:pt x="9694" y="19663"/>
                  <a:pt x="9679" y="19735"/>
                  <a:pt x="9552" y="19956"/>
                </a:cubicBezTo>
                <a:cubicBezTo>
                  <a:pt x="9402" y="20219"/>
                  <a:pt x="9360" y="20455"/>
                  <a:pt x="9443" y="20577"/>
                </a:cubicBezTo>
                <a:cubicBezTo>
                  <a:pt x="9467" y="20611"/>
                  <a:pt x="9488" y="20673"/>
                  <a:pt x="9492" y="20715"/>
                </a:cubicBezTo>
                <a:cubicBezTo>
                  <a:pt x="9496" y="20757"/>
                  <a:pt x="9503" y="20828"/>
                  <a:pt x="9507" y="20873"/>
                </a:cubicBezTo>
                <a:cubicBezTo>
                  <a:pt x="9511" y="20917"/>
                  <a:pt x="9584" y="21009"/>
                  <a:pt x="9670" y="21077"/>
                </a:cubicBezTo>
                <a:cubicBezTo>
                  <a:pt x="9860" y="21229"/>
                  <a:pt x="10306" y="21248"/>
                  <a:pt x="10510" y="21112"/>
                </a:cubicBezTo>
                <a:cubicBezTo>
                  <a:pt x="10625" y="21035"/>
                  <a:pt x="10683" y="21035"/>
                  <a:pt x="10767" y="21112"/>
                </a:cubicBezTo>
                <a:cubicBezTo>
                  <a:pt x="10885" y="21220"/>
                  <a:pt x="11175" y="21245"/>
                  <a:pt x="11238" y="21153"/>
                </a:cubicBezTo>
                <a:cubicBezTo>
                  <a:pt x="11259" y="21121"/>
                  <a:pt x="11195" y="20971"/>
                  <a:pt x="11094" y="20819"/>
                </a:cubicBezTo>
                <a:lnTo>
                  <a:pt x="10912" y="20542"/>
                </a:lnTo>
                <a:lnTo>
                  <a:pt x="11009" y="20246"/>
                </a:lnTo>
                <a:cubicBezTo>
                  <a:pt x="11062" y="20083"/>
                  <a:pt x="11105" y="19919"/>
                  <a:pt x="11105" y="19878"/>
                </a:cubicBezTo>
                <a:cubicBezTo>
                  <a:pt x="11105" y="19810"/>
                  <a:pt x="10918" y="19680"/>
                  <a:pt x="10805" y="19670"/>
                </a:cubicBezTo>
                <a:cubicBezTo>
                  <a:pt x="10718" y="19662"/>
                  <a:pt x="10659" y="19421"/>
                  <a:pt x="10690" y="19194"/>
                </a:cubicBezTo>
                <a:cubicBezTo>
                  <a:pt x="10737" y="18845"/>
                  <a:pt x="10452" y="18454"/>
                  <a:pt x="10148" y="18454"/>
                </a:cubicBezTo>
                <a:close/>
                <a:moveTo>
                  <a:pt x="2849" y="18461"/>
                </a:moveTo>
                <a:cubicBezTo>
                  <a:pt x="2792" y="18471"/>
                  <a:pt x="2735" y="18514"/>
                  <a:pt x="2692" y="18590"/>
                </a:cubicBezTo>
                <a:cubicBezTo>
                  <a:pt x="2629" y="18702"/>
                  <a:pt x="2632" y="18759"/>
                  <a:pt x="2709" y="18958"/>
                </a:cubicBezTo>
                <a:cubicBezTo>
                  <a:pt x="2826" y="19258"/>
                  <a:pt x="2738" y="19397"/>
                  <a:pt x="2478" y="19320"/>
                </a:cubicBezTo>
                <a:cubicBezTo>
                  <a:pt x="2373" y="19289"/>
                  <a:pt x="2268" y="19310"/>
                  <a:pt x="2221" y="19368"/>
                </a:cubicBezTo>
                <a:cubicBezTo>
                  <a:pt x="2162" y="19439"/>
                  <a:pt x="2130" y="19439"/>
                  <a:pt x="2101" y="19371"/>
                </a:cubicBezTo>
                <a:cubicBezTo>
                  <a:pt x="2079" y="19319"/>
                  <a:pt x="1957" y="19288"/>
                  <a:pt x="1829" y="19301"/>
                </a:cubicBezTo>
                <a:cubicBezTo>
                  <a:pt x="1624" y="19323"/>
                  <a:pt x="1586" y="19301"/>
                  <a:pt x="1506" y="19087"/>
                </a:cubicBezTo>
                <a:cubicBezTo>
                  <a:pt x="1322" y="18601"/>
                  <a:pt x="1157" y="18495"/>
                  <a:pt x="550" y="18495"/>
                </a:cubicBezTo>
                <a:lnTo>
                  <a:pt x="0" y="18495"/>
                </a:lnTo>
                <a:lnTo>
                  <a:pt x="0" y="19834"/>
                </a:lnTo>
                <a:lnTo>
                  <a:pt x="0" y="21169"/>
                </a:lnTo>
                <a:lnTo>
                  <a:pt x="199" y="21169"/>
                </a:lnTo>
                <a:cubicBezTo>
                  <a:pt x="393" y="21169"/>
                  <a:pt x="399" y="21160"/>
                  <a:pt x="426" y="20794"/>
                </a:cubicBezTo>
                <a:lnTo>
                  <a:pt x="454" y="20416"/>
                </a:lnTo>
                <a:lnTo>
                  <a:pt x="758" y="20363"/>
                </a:lnTo>
                <a:cubicBezTo>
                  <a:pt x="926" y="20332"/>
                  <a:pt x="1147" y="20242"/>
                  <a:pt x="1249" y="20161"/>
                </a:cubicBezTo>
                <a:cubicBezTo>
                  <a:pt x="1513" y="19952"/>
                  <a:pt x="1618" y="20041"/>
                  <a:pt x="1619" y="20476"/>
                </a:cubicBezTo>
                <a:cubicBezTo>
                  <a:pt x="1620" y="21053"/>
                  <a:pt x="1669" y="21210"/>
                  <a:pt x="1842" y="21210"/>
                </a:cubicBezTo>
                <a:cubicBezTo>
                  <a:pt x="2069" y="21210"/>
                  <a:pt x="2129" y="21062"/>
                  <a:pt x="2129" y="20523"/>
                </a:cubicBezTo>
                <a:cubicBezTo>
                  <a:pt x="2129" y="20070"/>
                  <a:pt x="2140" y="20031"/>
                  <a:pt x="2285" y="19947"/>
                </a:cubicBezTo>
                <a:cubicBezTo>
                  <a:pt x="2371" y="19897"/>
                  <a:pt x="2487" y="19822"/>
                  <a:pt x="2542" y="19780"/>
                </a:cubicBezTo>
                <a:cubicBezTo>
                  <a:pt x="2673" y="19681"/>
                  <a:pt x="2692" y="19762"/>
                  <a:pt x="2711" y="20542"/>
                </a:cubicBezTo>
                <a:lnTo>
                  <a:pt x="2726" y="21169"/>
                </a:lnTo>
                <a:lnTo>
                  <a:pt x="2926" y="21169"/>
                </a:lnTo>
                <a:lnTo>
                  <a:pt x="3123" y="21169"/>
                </a:lnTo>
                <a:lnTo>
                  <a:pt x="3153" y="20375"/>
                </a:lnTo>
                <a:cubicBezTo>
                  <a:pt x="3181" y="19585"/>
                  <a:pt x="3277" y="19290"/>
                  <a:pt x="3311" y="19893"/>
                </a:cubicBezTo>
                <a:cubicBezTo>
                  <a:pt x="3321" y="20066"/>
                  <a:pt x="3354" y="20208"/>
                  <a:pt x="3384" y="20208"/>
                </a:cubicBezTo>
                <a:cubicBezTo>
                  <a:pt x="3414" y="20208"/>
                  <a:pt x="3508" y="20423"/>
                  <a:pt x="3594" y="20687"/>
                </a:cubicBezTo>
                <a:cubicBezTo>
                  <a:pt x="3740" y="21134"/>
                  <a:pt x="3766" y="21169"/>
                  <a:pt x="3947" y="21169"/>
                </a:cubicBezTo>
                <a:cubicBezTo>
                  <a:pt x="4161" y="21169"/>
                  <a:pt x="4176" y="21139"/>
                  <a:pt x="4427" y="20271"/>
                </a:cubicBezTo>
                <a:cubicBezTo>
                  <a:pt x="4545" y="19863"/>
                  <a:pt x="4587" y="19790"/>
                  <a:pt x="4712" y="19790"/>
                </a:cubicBezTo>
                <a:cubicBezTo>
                  <a:pt x="4922" y="19790"/>
                  <a:pt x="4947" y="19997"/>
                  <a:pt x="4774" y="20300"/>
                </a:cubicBezTo>
                <a:cubicBezTo>
                  <a:pt x="4609" y="20588"/>
                  <a:pt x="4618" y="20821"/>
                  <a:pt x="4804" y="21058"/>
                </a:cubicBezTo>
                <a:cubicBezTo>
                  <a:pt x="4889" y="21167"/>
                  <a:pt x="5028" y="21196"/>
                  <a:pt x="5427" y="21194"/>
                </a:cubicBezTo>
                <a:cubicBezTo>
                  <a:pt x="5900" y="21192"/>
                  <a:pt x="5948" y="21177"/>
                  <a:pt x="6027" y="20999"/>
                </a:cubicBezTo>
                <a:lnTo>
                  <a:pt x="6113" y="20807"/>
                </a:lnTo>
                <a:lnTo>
                  <a:pt x="6316" y="21008"/>
                </a:lnTo>
                <a:cubicBezTo>
                  <a:pt x="6555" y="21246"/>
                  <a:pt x="6976" y="21284"/>
                  <a:pt x="7171" y="21084"/>
                </a:cubicBezTo>
                <a:cubicBezTo>
                  <a:pt x="7275" y="20976"/>
                  <a:pt x="7286" y="20922"/>
                  <a:pt x="7235" y="20756"/>
                </a:cubicBezTo>
                <a:cubicBezTo>
                  <a:pt x="7181" y="20582"/>
                  <a:pt x="7140" y="20565"/>
                  <a:pt x="6894" y="20589"/>
                </a:cubicBezTo>
                <a:cubicBezTo>
                  <a:pt x="6674" y="20611"/>
                  <a:pt x="6608" y="20585"/>
                  <a:pt x="6565" y="20466"/>
                </a:cubicBezTo>
                <a:cubicBezTo>
                  <a:pt x="6428" y="20091"/>
                  <a:pt x="6759" y="19597"/>
                  <a:pt x="6984" y="19840"/>
                </a:cubicBezTo>
                <a:cubicBezTo>
                  <a:pt x="7079" y="19941"/>
                  <a:pt x="7106" y="19939"/>
                  <a:pt x="7196" y="19818"/>
                </a:cubicBezTo>
                <a:cubicBezTo>
                  <a:pt x="7325" y="19647"/>
                  <a:pt x="7345" y="19673"/>
                  <a:pt x="7578" y="20435"/>
                </a:cubicBezTo>
                <a:cubicBezTo>
                  <a:pt x="7764" y="21046"/>
                  <a:pt x="7771" y="21268"/>
                  <a:pt x="7610" y="21465"/>
                </a:cubicBezTo>
                <a:cubicBezTo>
                  <a:pt x="7584" y="21496"/>
                  <a:pt x="7563" y="21546"/>
                  <a:pt x="7548" y="21600"/>
                </a:cubicBezTo>
                <a:lnTo>
                  <a:pt x="8017" y="21600"/>
                </a:lnTo>
                <a:cubicBezTo>
                  <a:pt x="8195" y="21192"/>
                  <a:pt x="8483" y="20332"/>
                  <a:pt x="8505" y="20095"/>
                </a:cubicBezTo>
                <a:cubicBezTo>
                  <a:pt x="8514" y="19996"/>
                  <a:pt x="8567" y="19824"/>
                  <a:pt x="8621" y="19711"/>
                </a:cubicBezTo>
                <a:cubicBezTo>
                  <a:pt x="8774" y="19390"/>
                  <a:pt x="8746" y="19289"/>
                  <a:pt x="8503" y="19289"/>
                </a:cubicBezTo>
                <a:cubicBezTo>
                  <a:pt x="8295" y="19289"/>
                  <a:pt x="8282" y="19306"/>
                  <a:pt x="8184" y="19708"/>
                </a:cubicBezTo>
                <a:cubicBezTo>
                  <a:pt x="8128" y="19937"/>
                  <a:pt x="8058" y="20148"/>
                  <a:pt x="8030" y="20174"/>
                </a:cubicBezTo>
                <a:cubicBezTo>
                  <a:pt x="8001" y="20200"/>
                  <a:pt x="7917" y="20013"/>
                  <a:pt x="7841" y="19761"/>
                </a:cubicBezTo>
                <a:lnTo>
                  <a:pt x="7702" y="19305"/>
                </a:lnTo>
                <a:lnTo>
                  <a:pt x="7121" y="19301"/>
                </a:lnTo>
                <a:cubicBezTo>
                  <a:pt x="6499" y="19298"/>
                  <a:pt x="6403" y="19338"/>
                  <a:pt x="6121" y="19730"/>
                </a:cubicBezTo>
                <a:lnTo>
                  <a:pt x="5939" y="19985"/>
                </a:lnTo>
                <a:lnTo>
                  <a:pt x="5883" y="19771"/>
                </a:lnTo>
                <a:cubicBezTo>
                  <a:pt x="5853" y="19653"/>
                  <a:pt x="5771" y="19495"/>
                  <a:pt x="5699" y="19421"/>
                </a:cubicBezTo>
                <a:cubicBezTo>
                  <a:pt x="5554" y="19272"/>
                  <a:pt x="5113" y="19246"/>
                  <a:pt x="4890" y="19371"/>
                </a:cubicBezTo>
                <a:cubicBezTo>
                  <a:pt x="4798" y="19422"/>
                  <a:pt x="4734" y="19422"/>
                  <a:pt x="4712" y="19371"/>
                </a:cubicBezTo>
                <a:cubicBezTo>
                  <a:pt x="4693" y="19327"/>
                  <a:pt x="4580" y="19289"/>
                  <a:pt x="4459" y="19289"/>
                </a:cubicBezTo>
                <a:cubicBezTo>
                  <a:pt x="4247" y="19289"/>
                  <a:pt x="4235" y="19302"/>
                  <a:pt x="4132" y="19711"/>
                </a:cubicBezTo>
                <a:cubicBezTo>
                  <a:pt x="3983" y="20297"/>
                  <a:pt x="3933" y="20283"/>
                  <a:pt x="3746" y="19597"/>
                </a:cubicBezTo>
                <a:cubicBezTo>
                  <a:pt x="3661" y="19288"/>
                  <a:pt x="3654" y="19284"/>
                  <a:pt x="3388" y="19301"/>
                </a:cubicBezTo>
                <a:cubicBezTo>
                  <a:pt x="3035" y="19325"/>
                  <a:pt x="2940" y="19244"/>
                  <a:pt x="3071" y="19031"/>
                </a:cubicBezTo>
                <a:cubicBezTo>
                  <a:pt x="3156" y="18892"/>
                  <a:pt x="3160" y="18842"/>
                  <a:pt x="3095" y="18662"/>
                </a:cubicBezTo>
                <a:cubicBezTo>
                  <a:pt x="3040" y="18513"/>
                  <a:pt x="2943" y="18443"/>
                  <a:pt x="2849" y="18461"/>
                </a:cubicBezTo>
                <a:close/>
                <a:moveTo>
                  <a:pt x="12041" y="18495"/>
                </a:moveTo>
                <a:lnTo>
                  <a:pt x="12026" y="19745"/>
                </a:lnTo>
                <a:cubicBezTo>
                  <a:pt x="12017" y="20432"/>
                  <a:pt x="12025" y="21043"/>
                  <a:pt x="12041" y="21106"/>
                </a:cubicBezTo>
                <a:cubicBezTo>
                  <a:pt x="12060" y="21177"/>
                  <a:pt x="12138" y="21210"/>
                  <a:pt x="12255" y="21194"/>
                </a:cubicBezTo>
                <a:cubicBezTo>
                  <a:pt x="12435" y="21168"/>
                  <a:pt x="12440" y="21156"/>
                  <a:pt x="12467" y="20709"/>
                </a:cubicBezTo>
                <a:lnTo>
                  <a:pt x="12497" y="20249"/>
                </a:lnTo>
                <a:lnTo>
                  <a:pt x="12780" y="20208"/>
                </a:lnTo>
                <a:cubicBezTo>
                  <a:pt x="13051" y="20168"/>
                  <a:pt x="13065" y="20154"/>
                  <a:pt x="13082" y="19900"/>
                </a:cubicBezTo>
                <a:lnTo>
                  <a:pt x="13099" y="19632"/>
                </a:lnTo>
                <a:lnTo>
                  <a:pt x="12797" y="19607"/>
                </a:lnTo>
                <a:cubicBezTo>
                  <a:pt x="12520" y="19583"/>
                  <a:pt x="12497" y="19566"/>
                  <a:pt x="12497" y="19377"/>
                </a:cubicBezTo>
                <a:cubicBezTo>
                  <a:pt x="12497" y="19148"/>
                  <a:pt x="12628" y="19061"/>
                  <a:pt x="12996" y="19046"/>
                </a:cubicBezTo>
                <a:cubicBezTo>
                  <a:pt x="13206" y="19038"/>
                  <a:pt x="13213" y="19028"/>
                  <a:pt x="13196" y="18766"/>
                </a:cubicBezTo>
                <a:lnTo>
                  <a:pt x="13178" y="18495"/>
                </a:lnTo>
                <a:lnTo>
                  <a:pt x="12611" y="18495"/>
                </a:lnTo>
                <a:lnTo>
                  <a:pt x="12041" y="18495"/>
                </a:lnTo>
                <a:close/>
                <a:moveTo>
                  <a:pt x="18488" y="19289"/>
                </a:moveTo>
                <a:cubicBezTo>
                  <a:pt x="18210" y="19289"/>
                  <a:pt x="18170" y="19316"/>
                  <a:pt x="17967" y="19629"/>
                </a:cubicBezTo>
                <a:cubicBezTo>
                  <a:pt x="17847" y="19816"/>
                  <a:pt x="17760" y="19996"/>
                  <a:pt x="17775" y="20032"/>
                </a:cubicBezTo>
                <a:cubicBezTo>
                  <a:pt x="17790" y="20067"/>
                  <a:pt x="17810" y="20246"/>
                  <a:pt x="17818" y="20426"/>
                </a:cubicBezTo>
                <a:cubicBezTo>
                  <a:pt x="17831" y="20743"/>
                  <a:pt x="17954" y="20974"/>
                  <a:pt x="18201" y="21147"/>
                </a:cubicBezTo>
                <a:cubicBezTo>
                  <a:pt x="18250" y="21181"/>
                  <a:pt x="18483" y="21187"/>
                  <a:pt x="18717" y="21159"/>
                </a:cubicBezTo>
                <a:cubicBezTo>
                  <a:pt x="18951" y="21131"/>
                  <a:pt x="19180" y="21112"/>
                  <a:pt x="19227" y="21118"/>
                </a:cubicBezTo>
                <a:cubicBezTo>
                  <a:pt x="19274" y="21124"/>
                  <a:pt x="19460" y="21152"/>
                  <a:pt x="19640" y="21178"/>
                </a:cubicBezTo>
                <a:cubicBezTo>
                  <a:pt x="19905" y="21217"/>
                  <a:pt x="20003" y="21193"/>
                  <a:pt x="20158" y="21058"/>
                </a:cubicBezTo>
                <a:cubicBezTo>
                  <a:pt x="20331" y="20909"/>
                  <a:pt x="20360" y="20905"/>
                  <a:pt x="20439" y="21021"/>
                </a:cubicBezTo>
                <a:cubicBezTo>
                  <a:pt x="20555" y="21191"/>
                  <a:pt x="21058" y="21259"/>
                  <a:pt x="21268" y="21131"/>
                </a:cubicBezTo>
                <a:cubicBezTo>
                  <a:pt x="21501" y="20989"/>
                  <a:pt x="21600" y="20612"/>
                  <a:pt x="21478" y="20337"/>
                </a:cubicBezTo>
                <a:cubicBezTo>
                  <a:pt x="21372" y="20101"/>
                  <a:pt x="21361" y="19847"/>
                  <a:pt x="21444" y="19619"/>
                </a:cubicBezTo>
                <a:cubicBezTo>
                  <a:pt x="21522" y="19405"/>
                  <a:pt x="21366" y="19289"/>
                  <a:pt x="21000" y="19289"/>
                </a:cubicBezTo>
                <a:cubicBezTo>
                  <a:pt x="20661" y="19289"/>
                  <a:pt x="20447" y="19503"/>
                  <a:pt x="20390" y="19897"/>
                </a:cubicBezTo>
                <a:cubicBezTo>
                  <a:pt x="20333" y="20285"/>
                  <a:pt x="20308" y="20318"/>
                  <a:pt x="20193" y="20164"/>
                </a:cubicBezTo>
                <a:cubicBezTo>
                  <a:pt x="20093" y="20031"/>
                  <a:pt x="20093" y="20019"/>
                  <a:pt x="20201" y="19749"/>
                </a:cubicBezTo>
                <a:cubicBezTo>
                  <a:pt x="20313" y="19469"/>
                  <a:pt x="20314" y="19466"/>
                  <a:pt x="20201" y="19377"/>
                </a:cubicBezTo>
                <a:cubicBezTo>
                  <a:pt x="20139" y="19328"/>
                  <a:pt x="19955" y="19289"/>
                  <a:pt x="19792" y="19289"/>
                </a:cubicBezTo>
                <a:cubicBezTo>
                  <a:pt x="19531" y="19289"/>
                  <a:pt x="19476" y="19321"/>
                  <a:pt x="19319" y="19566"/>
                </a:cubicBezTo>
                <a:lnTo>
                  <a:pt x="19141" y="19843"/>
                </a:lnTo>
                <a:lnTo>
                  <a:pt x="18966" y="19566"/>
                </a:lnTo>
                <a:cubicBezTo>
                  <a:pt x="18809" y="19320"/>
                  <a:pt x="18755" y="19289"/>
                  <a:pt x="18488" y="19289"/>
                </a:cubicBezTo>
                <a:close/>
                <a:moveTo>
                  <a:pt x="13864" y="19292"/>
                </a:moveTo>
                <a:cubicBezTo>
                  <a:pt x="13707" y="19275"/>
                  <a:pt x="13540" y="19298"/>
                  <a:pt x="13416" y="19368"/>
                </a:cubicBezTo>
                <a:cubicBezTo>
                  <a:pt x="13291" y="19438"/>
                  <a:pt x="13279" y="19481"/>
                  <a:pt x="13305" y="19815"/>
                </a:cubicBezTo>
                <a:cubicBezTo>
                  <a:pt x="13325" y="20076"/>
                  <a:pt x="13305" y="20247"/>
                  <a:pt x="13238" y="20397"/>
                </a:cubicBezTo>
                <a:cubicBezTo>
                  <a:pt x="13179" y="20531"/>
                  <a:pt x="13166" y="20629"/>
                  <a:pt x="13202" y="20662"/>
                </a:cubicBezTo>
                <a:cubicBezTo>
                  <a:pt x="13234" y="20690"/>
                  <a:pt x="13244" y="20766"/>
                  <a:pt x="13228" y="20829"/>
                </a:cubicBezTo>
                <a:cubicBezTo>
                  <a:pt x="13211" y="20891"/>
                  <a:pt x="13255" y="21000"/>
                  <a:pt x="13324" y="21071"/>
                </a:cubicBezTo>
                <a:cubicBezTo>
                  <a:pt x="13503" y="21255"/>
                  <a:pt x="14497" y="21230"/>
                  <a:pt x="14457" y="21043"/>
                </a:cubicBezTo>
                <a:cubicBezTo>
                  <a:pt x="14443" y="20974"/>
                  <a:pt x="14421" y="20627"/>
                  <a:pt x="14410" y="20271"/>
                </a:cubicBezTo>
                <a:cubicBezTo>
                  <a:pt x="14392" y="19696"/>
                  <a:pt x="14374" y="19609"/>
                  <a:pt x="14245" y="19459"/>
                </a:cubicBezTo>
                <a:cubicBezTo>
                  <a:pt x="14166" y="19367"/>
                  <a:pt x="14020" y="19309"/>
                  <a:pt x="13864" y="19292"/>
                </a:cubicBezTo>
                <a:close/>
                <a:moveTo>
                  <a:pt x="16357" y="19317"/>
                </a:moveTo>
                <a:lnTo>
                  <a:pt x="15337" y="19330"/>
                </a:lnTo>
                <a:lnTo>
                  <a:pt x="15320" y="20161"/>
                </a:lnTo>
                <a:cubicBezTo>
                  <a:pt x="15311" y="20617"/>
                  <a:pt x="15316" y="21042"/>
                  <a:pt x="15333" y="21106"/>
                </a:cubicBezTo>
                <a:cubicBezTo>
                  <a:pt x="15352" y="21180"/>
                  <a:pt x="15431" y="21211"/>
                  <a:pt x="15549" y="21194"/>
                </a:cubicBezTo>
                <a:cubicBezTo>
                  <a:pt x="15733" y="21168"/>
                  <a:pt x="15735" y="21165"/>
                  <a:pt x="15753" y="20668"/>
                </a:cubicBezTo>
                <a:cubicBezTo>
                  <a:pt x="15774" y="20069"/>
                  <a:pt x="15878" y="19854"/>
                  <a:pt x="16130" y="19890"/>
                </a:cubicBezTo>
                <a:lnTo>
                  <a:pt x="16303" y="19915"/>
                </a:lnTo>
                <a:lnTo>
                  <a:pt x="16331" y="20542"/>
                </a:lnTo>
                <a:cubicBezTo>
                  <a:pt x="16359" y="21158"/>
                  <a:pt x="16361" y="21170"/>
                  <a:pt x="16522" y="21197"/>
                </a:cubicBezTo>
                <a:cubicBezTo>
                  <a:pt x="16748" y="21235"/>
                  <a:pt x="16794" y="21135"/>
                  <a:pt x="16815" y="20551"/>
                </a:cubicBezTo>
                <a:cubicBezTo>
                  <a:pt x="16837" y="19950"/>
                  <a:pt x="16856" y="19893"/>
                  <a:pt x="17025" y="19906"/>
                </a:cubicBezTo>
                <a:cubicBezTo>
                  <a:pt x="17143" y="19915"/>
                  <a:pt x="17158" y="19965"/>
                  <a:pt x="17184" y="20476"/>
                </a:cubicBezTo>
                <a:cubicBezTo>
                  <a:pt x="17215" y="21093"/>
                  <a:pt x="17274" y="21239"/>
                  <a:pt x="17475" y="21197"/>
                </a:cubicBezTo>
                <a:cubicBezTo>
                  <a:pt x="17599" y="21171"/>
                  <a:pt x="17611" y="21121"/>
                  <a:pt x="17638" y="20561"/>
                </a:cubicBezTo>
                <a:cubicBezTo>
                  <a:pt x="17670" y="19862"/>
                  <a:pt x="17621" y="19495"/>
                  <a:pt x="17479" y="19383"/>
                </a:cubicBezTo>
                <a:cubicBezTo>
                  <a:pt x="17424" y="19340"/>
                  <a:pt x="16918" y="19310"/>
                  <a:pt x="16357" y="19317"/>
                </a:cubicBezTo>
                <a:close/>
              </a:path>
            </a:pathLst>
          </a:custGeom>
          <a:ln w="12700">
            <a:miter lim="400000"/>
          </a:ln>
        </p:spPr>
      </p:pic>
      <p:pic>
        <p:nvPicPr>
          <p:cNvPr id="331" name="dp-book.png" descr="dp-book.png"/>
          <p:cNvPicPr>
            <a:picLocks noChangeAspect="1"/>
          </p:cNvPicPr>
          <p:nvPr/>
        </p:nvPicPr>
        <p:blipFill>
          <a:blip r:embed="rId17"/>
          <a:stretch>
            <a:fillRect/>
          </a:stretch>
        </p:blipFill>
        <p:spPr>
          <a:xfrm>
            <a:off x="19164558" y="5775802"/>
            <a:ext cx="986529" cy="1434950"/>
          </a:xfrm>
          <a:prstGeom prst="rect">
            <a:avLst/>
          </a:prstGeom>
          <a:ln w="25400">
            <a:miter lim="400000"/>
          </a:ln>
          <a:effectLst>
            <a:outerShdw blurRad="177800" dist="95311" dir="5400000" rotWithShape="0">
              <a:srgbClr val="000000">
                <a:alpha val="70000"/>
              </a:srgbClr>
            </a:outerShdw>
          </a:effectLst>
        </p:spPr>
      </p:pic>
      <p:pic>
        <p:nvPicPr>
          <p:cNvPr id="332" name="F6D82BE0-16A6-4F3C-86A5-5123CCE259CA.png" descr="F6D82BE0-16A6-4F3C-86A5-5123CCE259CA.png"/>
          <p:cNvPicPr>
            <a:picLocks noChangeAspect="1"/>
          </p:cNvPicPr>
          <p:nvPr/>
        </p:nvPicPr>
        <p:blipFill>
          <a:blip r:embed="rId18"/>
          <a:srcRect l="23434" t="18554" r="24091" b="18793"/>
          <a:stretch>
            <a:fillRect/>
          </a:stretch>
        </p:blipFill>
        <p:spPr>
          <a:xfrm>
            <a:off x="19176362" y="2167904"/>
            <a:ext cx="4461143" cy="3550930"/>
          </a:xfrm>
          <a:custGeom>
            <a:avLst/>
            <a:gdLst/>
            <a:ahLst/>
            <a:cxnLst>
              <a:cxn ang="0">
                <a:pos x="wd2" y="hd2"/>
              </a:cxn>
              <a:cxn ang="5400000">
                <a:pos x="wd2" y="hd2"/>
              </a:cxn>
              <a:cxn ang="10800000">
                <a:pos x="wd2" y="hd2"/>
              </a:cxn>
              <a:cxn ang="16200000">
                <a:pos x="wd2" y="hd2"/>
              </a:cxn>
            </a:cxnLst>
            <a:rect l="0" t="0" r="r" b="b"/>
            <a:pathLst>
              <a:path w="21356" h="21597" extrusionOk="0">
                <a:moveTo>
                  <a:pt x="12400" y="0"/>
                </a:moveTo>
                <a:cubicBezTo>
                  <a:pt x="12304" y="0"/>
                  <a:pt x="12296" y="44"/>
                  <a:pt x="12296" y="504"/>
                </a:cubicBezTo>
                <a:cubicBezTo>
                  <a:pt x="12296" y="965"/>
                  <a:pt x="12304" y="1009"/>
                  <a:pt x="12400" y="1009"/>
                </a:cubicBezTo>
                <a:cubicBezTo>
                  <a:pt x="12497" y="1009"/>
                  <a:pt x="12507" y="965"/>
                  <a:pt x="12507" y="504"/>
                </a:cubicBezTo>
                <a:cubicBezTo>
                  <a:pt x="12507" y="44"/>
                  <a:pt x="12497" y="0"/>
                  <a:pt x="12400" y="0"/>
                </a:cubicBezTo>
                <a:close/>
                <a:moveTo>
                  <a:pt x="15742" y="65"/>
                </a:moveTo>
                <a:cubicBezTo>
                  <a:pt x="15655" y="63"/>
                  <a:pt x="15567" y="105"/>
                  <a:pt x="15529" y="196"/>
                </a:cubicBezTo>
                <a:cubicBezTo>
                  <a:pt x="15472" y="332"/>
                  <a:pt x="15508" y="540"/>
                  <a:pt x="15604" y="623"/>
                </a:cubicBezTo>
                <a:cubicBezTo>
                  <a:pt x="15795" y="789"/>
                  <a:pt x="16063" y="467"/>
                  <a:pt x="15953" y="205"/>
                </a:cubicBezTo>
                <a:cubicBezTo>
                  <a:pt x="15914" y="113"/>
                  <a:pt x="15829" y="67"/>
                  <a:pt x="15742" y="65"/>
                </a:cubicBezTo>
                <a:close/>
                <a:moveTo>
                  <a:pt x="14460" y="920"/>
                </a:moveTo>
                <a:cubicBezTo>
                  <a:pt x="14365" y="909"/>
                  <a:pt x="14285" y="956"/>
                  <a:pt x="14217" y="1065"/>
                </a:cubicBezTo>
                <a:cubicBezTo>
                  <a:pt x="14123" y="1212"/>
                  <a:pt x="14134" y="1327"/>
                  <a:pt x="14256" y="1482"/>
                </a:cubicBezTo>
                <a:cubicBezTo>
                  <a:pt x="14380" y="1639"/>
                  <a:pt x="14368" y="1635"/>
                  <a:pt x="14543" y="1550"/>
                </a:cubicBezTo>
                <a:cubicBezTo>
                  <a:pt x="14654" y="1496"/>
                  <a:pt x="14680" y="1441"/>
                  <a:pt x="14680" y="1246"/>
                </a:cubicBezTo>
                <a:cubicBezTo>
                  <a:pt x="14680" y="1059"/>
                  <a:pt x="14653" y="993"/>
                  <a:pt x="14560" y="949"/>
                </a:cubicBezTo>
                <a:cubicBezTo>
                  <a:pt x="14525" y="932"/>
                  <a:pt x="14491" y="923"/>
                  <a:pt x="14460" y="920"/>
                </a:cubicBezTo>
                <a:close/>
                <a:moveTo>
                  <a:pt x="12400" y="1581"/>
                </a:moveTo>
                <a:cubicBezTo>
                  <a:pt x="12340" y="1581"/>
                  <a:pt x="12318" y="1684"/>
                  <a:pt x="12305" y="2013"/>
                </a:cubicBezTo>
                <a:cubicBezTo>
                  <a:pt x="12297" y="2250"/>
                  <a:pt x="12303" y="2489"/>
                  <a:pt x="12319" y="2542"/>
                </a:cubicBezTo>
                <a:cubicBezTo>
                  <a:pt x="12335" y="2595"/>
                  <a:pt x="12377" y="2625"/>
                  <a:pt x="12414" y="2609"/>
                </a:cubicBezTo>
                <a:cubicBezTo>
                  <a:pt x="12459" y="2590"/>
                  <a:pt x="12480" y="2420"/>
                  <a:pt x="12480" y="2081"/>
                </a:cubicBezTo>
                <a:cubicBezTo>
                  <a:pt x="12480" y="1682"/>
                  <a:pt x="12464" y="1581"/>
                  <a:pt x="12400" y="1581"/>
                </a:cubicBezTo>
                <a:close/>
                <a:moveTo>
                  <a:pt x="10069" y="1987"/>
                </a:moveTo>
                <a:cubicBezTo>
                  <a:pt x="9623" y="1987"/>
                  <a:pt x="9535" y="2009"/>
                  <a:pt x="9290" y="2172"/>
                </a:cubicBezTo>
                <a:cubicBezTo>
                  <a:pt x="8923" y="2418"/>
                  <a:pt x="8656" y="2767"/>
                  <a:pt x="8487" y="3225"/>
                </a:cubicBezTo>
                <a:cubicBezTo>
                  <a:pt x="8364" y="3556"/>
                  <a:pt x="8346" y="3703"/>
                  <a:pt x="8331" y="4444"/>
                </a:cubicBezTo>
                <a:cubicBezTo>
                  <a:pt x="8321" y="4907"/>
                  <a:pt x="8297" y="5306"/>
                  <a:pt x="8278" y="5332"/>
                </a:cubicBezTo>
                <a:cubicBezTo>
                  <a:pt x="8258" y="5358"/>
                  <a:pt x="8075" y="5412"/>
                  <a:pt x="7871" y="5453"/>
                </a:cubicBezTo>
                <a:cubicBezTo>
                  <a:pt x="7186" y="5591"/>
                  <a:pt x="6946" y="5866"/>
                  <a:pt x="6292" y="7263"/>
                </a:cubicBezTo>
                <a:cubicBezTo>
                  <a:pt x="4928" y="10178"/>
                  <a:pt x="3889" y="11002"/>
                  <a:pt x="1392" y="11154"/>
                </a:cubicBezTo>
                <a:cubicBezTo>
                  <a:pt x="1006" y="11178"/>
                  <a:pt x="689" y="11222"/>
                  <a:pt x="689" y="11253"/>
                </a:cubicBezTo>
                <a:cubicBezTo>
                  <a:pt x="689" y="11285"/>
                  <a:pt x="3116" y="11310"/>
                  <a:pt x="6081" y="11309"/>
                </a:cubicBezTo>
                <a:cubicBezTo>
                  <a:pt x="11185" y="11307"/>
                  <a:pt x="11485" y="11302"/>
                  <a:pt x="11686" y="11186"/>
                </a:cubicBezTo>
                <a:cubicBezTo>
                  <a:pt x="11803" y="11118"/>
                  <a:pt x="11971" y="10984"/>
                  <a:pt x="12062" y="10886"/>
                </a:cubicBezTo>
                <a:cubicBezTo>
                  <a:pt x="12153" y="10789"/>
                  <a:pt x="12243" y="10728"/>
                  <a:pt x="12262" y="10751"/>
                </a:cubicBezTo>
                <a:cubicBezTo>
                  <a:pt x="12280" y="10775"/>
                  <a:pt x="12296" y="10982"/>
                  <a:pt x="12296" y="11210"/>
                </a:cubicBezTo>
                <a:cubicBezTo>
                  <a:pt x="12296" y="11438"/>
                  <a:pt x="12312" y="11645"/>
                  <a:pt x="12332" y="11671"/>
                </a:cubicBezTo>
                <a:cubicBezTo>
                  <a:pt x="12414" y="11776"/>
                  <a:pt x="12481" y="11654"/>
                  <a:pt x="12495" y="11374"/>
                </a:cubicBezTo>
                <a:cubicBezTo>
                  <a:pt x="12518" y="10926"/>
                  <a:pt x="12544" y="10868"/>
                  <a:pt x="12657" y="10997"/>
                </a:cubicBezTo>
                <a:cubicBezTo>
                  <a:pt x="12932" y="11314"/>
                  <a:pt x="12903" y="11311"/>
                  <a:pt x="16903" y="11311"/>
                </a:cubicBezTo>
                <a:cubicBezTo>
                  <a:pt x="20453" y="11311"/>
                  <a:pt x="21554" y="11254"/>
                  <a:pt x="19966" y="11152"/>
                </a:cubicBezTo>
                <a:cubicBezTo>
                  <a:pt x="18184" y="11038"/>
                  <a:pt x="17245" y="10591"/>
                  <a:pt x="16278" y="9400"/>
                </a:cubicBezTo>
                <a:cubicBezTo>
                  <a:pt x="15853" y="8876"/>
                  <a:pt x="15431" y="8146"/>
                  <a:pt x="14836" y="6901"/>
                </a:cubicBezTo>
                <a:cubicBezTo>
                  <a:pt x="13986" y="5125"/>
                  <a:pt x="13551" y="4627"/>
                  <a:pt x="12868" y="4647"/>
                </a:cubicBezTo>
                <a:cubicBezTo>
                  <a:pt x="12684" y="4652"/>
                  <a:pt x="12487" y="4647"/>
                  <a:pt x="12429" y="4635"/>
                </a:cubicBezTo>
                <a:cubicBezTo>
                  <a:pt x="12347" y="4618"/>
                  <a:pt x="12317" y="4657"/>
                  <a:pt x="12296" y="4813"/>
                </a:cubicBezTo>
                <a:cubicBezTo>
                  <a:pt x="12281" y="4924"/>
                  <a:pt x="12227" y="5114"/>
                  <a:pt x="12176" y="5233"/>
                </a:cubicBezTo>
                <a:cubicBezTo>
                  <a:pt x="12098" y="5415"/>
                  <a:pt x="12063" y="5439"/>
                  <a:pt x="11963" y="5393"/>
                </a:cubicBezTo>
                <a:cubicBezTo>
                  <a:pt x="11850" y="5340"/>
                  <a:pt x="11842" y="5293"/>
                  <a:pt x="11815" y="4437"/>
                </a:cubicBezTo>
                <a:cubicBezTo>
                  <a:pt x="11790" y="3634"/>
                  <a:pt x="11772" y="3494"/>
                  <a:pt x="11642" y="3155"/>
                </a:cubicBezTo>
                <a:cubicBezTo>
                  <a:pt x="11475" y="2717"/>
                  <a:pt x="11171" y="2339"/>
                  <a:pt x="10818" y="2131"/>
                </a:cubicBezTo>
                <a:cubicBezTo>
                  <a:pt x="10622" y="2016"/>
                  <a:pt x="10472" y="1986"/>
                  <a:pt x="10069" y="1987"/>
                </a:cubicBezTo>
                <a:close/>
                <a:moveTo>
                  <a:pt x="15497" y="2436"/>
                </a:moveTo>
                <a:cubicBezTo>
                  <a:pt x="15332" y="2461"/>
                  <a:pt x="15255" y="2652"/>
                  <a:pt x="15320" y="2877"/>
                </a:cubicBezTo>
                <a:cubicBezTo>
                  <a:pt x="15350" y="2978"/>
                  <a:pt x="15409" y="3029"/>
                  <a:pt x="15495" y="3029"/>
                </a:cubicBezTo>
                <a:cubicBezTo>
                  <a:pt x="15714" y="3029"/>
                  <a:pt x="15793" y="2959"/>
                  <a:pt x="15793" y="2761"/>
                </a:cubicBezTo>
                <a:cubicBezTo>
                  <a:pt x="15793" y="2528"/>
                  <a:pt x="15683" y="2407"/>
                  <a:pt x="15497" y="2436"/>
                </a:cubicBezTo>
                <a:close/>
                <a:moveTo>
                  <a:pt x="13614" y="2706"/>
                </a:moveTo>
                <a:cubicBezTo>
                  <a:pt x="13465" y="2684"/>
                  <a:pt x="13388" y="2817"/>
                  <a:pt x="13443" y="3000"/>
                </a:cubicBezTo>
                <a:cubicBezTo>
                  <a:pt x="13463" y="3067"/>
                  <a:pt x="13526" y="3095"/>
                  <a:pt x="13614" y="3082"/>
                </a:cubicBezTo>
                <a:cubicBezTo>
                  <a:pt x="13723" y="3066"/>
                  <a:pt x="13753" y="3026"/>
                  <a:pt x="13753" y="2894"/>
                </a:cubicBezTo>
                <a:cubicBezTo>
                  <a:pt x="13753" y="2763"/>
                  <a:pt x="13723" y="2722"/>
                  <a:pt x="13614" y="2706"/>
                </a:cubicBezTo>
                <a:close/>
                <a:moveTo>
                  <a:pt x="18260" y="2909"/>
                </a:moveTo>
                <a:cubicBezTo>
                  <a:pt x="18211" y="2904"/>
                  <a:pt x="18155" y="2933"/>
                  <a:pt x="18102" y="3000"/>
                </a:cubicBezTo>
                <a:cubicBezTo>
                  <a:pt x="18038" y="3082"/>
                  <a:pt x="18032" y="3136"/>
                  <a:pt x="18075" y="3239"/>
                </a:cubicBezTo>
                <a:cubicBezTo>
                  <a:pt x="18154" y="3427"/>
                  <a:pt x="18358" y="3382"/>
                  <a:pt x="18381" y="3172"/>
                </a:cubicBezTo>
                <a:cubicBezTo>
                  <a:pt x="18398" y="3016"/>
                  <a:pt x="18340" y="2916"/>
                  <a:pt x="18260" y="2909"/>
                </a:cubicBezTo>
                <a:close/>
                <a:moveTo>
                  <a:pt x="12414" y="3109"/>
                </a:moveTo>
                <a:cubicBezTo>
                  <a:pt x="12337" y="3128"/>
                  <a:pt x="12318" y="3219"/>
                  <a:pt x="12305" y="3621"/>
                </a:cubicBezTo>
                <a:cubicBezTo>
                  <a:pt x="12291" y="4073"/>
                  <a:pt x="12298" y="4106"/>
                  <a:pt x="12398" y="4106"/>
                </a:cubicBezTo>
                <a:cubicBezTo>
                  <a:pt x="12498" y="4106"/>
                  <a:pt x="12507" y="4065"/>
                  <a:pt x="12507" y="3597"/>
                </a:cubicBezTo>
                <a:cubicBezTo>
                  <a:pt x="12507" y="3147"/>
                  <a:pt x="12495" y="3089"/>
                  <a:pt x="12414" y="3109"/>
                </a:cubicBezTo>
                <a:close/>
                <a:moveTo>
                  <a:pt x="17042" y="3973"/>
                </a:moveTo>
                <a:cubicBezTo>
                  <a:pt x="16679" y="3973"/>
                  <a:pt x="16522" y="4610"/>
                  <a:pt x="16821" y="4864"/>
                </a:cubicBezTo>
                <a:cubicBezTo>
                  <a:pt x="16914" y="4943"/>
                  <a:pt x="17195" y="4922"/>
                  <a:pt x="17293" y="4830"/>
                </a:cubicBezTo>
                <a:cubicBezTo>
                  <a:pt x="17558" y="4579"/>
                  <a:pt x="17380" y="3973"/>
                  <a:pt x="17042" y="3973"/>
                </a:cubicBezTo>
                <a:close/>
                <a:moveTo>
                  <a:pt x="14619" y="4053"/>
                </a:moveTo>
                <a:cubicBezTo>
                  <a:pt x="14470" y="4031"/>
                  <a:pt x="14395" y="4162"/>
                  <a:pt x="14450" y="4345"/>
                </a:cubicBezTo>
                <a:cubicBezTo>
                  <a:pt x="14470" y="4411"/>
                  <a:pt x="14531" y="4442"/>
                  <a:pt x="14619" y="4429"/>
                </a:cubicBezTo>
                <a:cubicBezTo>
                  <a:pt x="14728" y="4413"/>
                  <a:pt x="14760" y="4373"/>
                  <a:pt x="14760" y="4241"/>
                </a:cubicBezTo>
                <a:cubicBezTo>
                  <a:pt x="14760" y="4110"/>
                  <a:pt x="14728" y="4069"/>
                  <a:pt x="14619" y="4053"/>
                </a:cubicBezTo>
                <a:close/>
                <a:moveTo>
                  <a:pt x="15486" y="5540"/>
                </a:moveTo>
                <a:cubicBezTo>
                  <a:pt x="15383" y="5557"/>
                  <a:pt x="15287" y="5641"/>
                  <a:pt x="15243" y="5803"/>
                </a:cubicBezTo>
                <a:cubicBezTo>
                  <a:pt x="15205" y="5938"/>
                  <a:pt x="15215" y="6024"/>
                  <a:pt x="15282" y="6155"/>
                </a:cubicBezTo>
                <a:cubicBezTo>
                  <a:pt x="15378" y="6341"/>
                  <a:pt x="15561" y="6382"/>
                  <a:pt x="15742" y="6259"/>
                </a:cubicBezTo>
                <a:cubicBezTo>
                  <a:pt x="15813" y="6211"/>
                  <a:pt x="15845" y="6118"/>
                  <a:pt x="15845" y="5957"/>
                </a:cubicBezTo>
                <a:cubicBezTo>
                  <a:pt x="15845" y="5669"/>
                  <a:pt x="15657" y="5511"/>
                  <a:pt x="15486" y="5540"/>
                </a:cubicBezTo>
                <a:close/>
                <a:moveTo>
                  <a:pt x="18989" y="6206"/>
                </a:moveTo>
                <a:cubicBezTo>
                  <a:pt x="18827" y="6177"/>
                  <a:pt x="18730" y="6416"/>
                  <a:pt x="18845" y="6561"/>
                </a:cubicBezTo>
                <a:cubicBezTo>
                  <a:pt x="18890" y="6619"/>
                  <a:pt x="18943" y="6665"/>
                  <a:pt x="18963" y="6665"/>
                </a:cubicBezTo>
                <a:cubicBezTo>
                  <a:pt x="19161" y="6659"/>
                  <a:pt x="19185" y="6241"/>
                  <a:pt x="18989" y="6206"/>
                </a:cubicBezTo>
                <a:close/>
                <a:moveTo>
                  <a:pt x="17063" y="6935"/>
                </a:moveTo>
                <a:cubicBezTo>
                  <a:pt x="16910" y="6935"/>
                  <a:pt x="16778" y="7226"/>
                  <a:pt x="16852" y="7401"/>
                </a:cubicBezTo>
                <a:cubicBezTo>
                  <a:pt x="16966" y="7672"/>
                  <a:pt x="17329" y="7528"/>
                  <a:pt x="17329" y="7213"/>
                </a:cubicBezTo>
                <a:cubicBezTo>
                  <a:pt x="17329" y="7101"/>
                  <a:pt x="17170" y="6935"/>
                  <a:pt x="17063" y="6935"/>
                </a:cubicBezTo>
                <a:close/>
                <a:moveTo>
                  <a:pt x="18377" y="8364"/>
                </a:moveTo>
                <a:cubicBezTo>
                  <a:pt x="18357" y="8365"/>
                  <a:pt x="18334" y="8369"/>
                  <a:pt x="18311" y="8376"/>
                </a:cubicBezTo>
                <a:cubicBezTo>
                  <a:pt x="18154" y="8426"/>
                  <a:pt x="18078" y="8704"/>
                  <a:pt x="18180" y="8859"/>
                </a:cubicBezTo>
                <a:cubicBezTo>
                  <a:pt x="18221" y="8922"/>
                  <a:pt x="18313" y="8953"/>
                  <a:pt x="18412" y="8941"/>
                </a:cubicBezTo>
                <a:cubicBezTo>
                  <a:pt x="18551" y="8924"/>
                  <a:pt x="18576" y="8891"/>
                  <a:pt x="18590" y="8714"/>
                </a:cubicBezTo>
                <a:cubicBezTo>
                  <a:pt x="18607" y="8490"/>
                  <a:pt x="18522" y="8355"/>
                  <a:pt x="18377" y="8364"/>
                </a:cubicBezTo>
                <a:close/>
                <a:moveTo>
                  <a:pt x="16884" y="8712"/>
                </a:moveTo>
                <a:cubicBezTo>
                  <a:pt x="16868" y="8712"/>
                  <a:pt x="16851" y="8716"/>
                  <a:pt x="16835" y="8724"/>
                </a:cubicBezTo>
                <a:cubicBezTo>
                  <a:pt x="16746" y="8767"/>
                  <a:pt x="16713" y="9025"/>
                  <a:pt x="16783" y="9115"/>
                </a:cubicBezTo>
                <a:cubicBezTo>
                  <a:pt x="16842" y="9189"/>
                  <a:pt x="16969" y="9134"/>
                  <a:pt x="17032" y="9006"/>
                </a:cubicBezTo>
                <a:cubicBezTo>
                  <a:pt x="17097" y="8876"/>
                  <a:pt x="16998" y="8708"/>
                  <a:pt x="16884" y="8712"/>
                </a:cubicBezTo>
                <a:close/>
                <a:moveTo>
                  <a:pt x="2158" y="10305"/>
                </a:moveTo>
                <a:cubicBezTo>
                  <a:pt x="2134" y="10304"/>
                  <a:pt x="2100" y="10309"/>
                  <a:pt x="2057" y="10314"/>
                </a:cubicBezTo>
                <a:cubicBezTo>
                  <a:pt x="1918" y="10331"/>
                  <a:pt x="1878" y="10368"/>
                  <a:pt x="1864" y="10495"/>
                </a:cubicBezTo>
                <a:cubicBezTo>
                  <a:pt x="1854" y="10584"/>
                  <a:pt x="1878" y="10683"/>
                  <a:pt x="1917" y="10715"/>
                </a:cubicBezTo>
                <a:cubicBezTo>
                  <a:pt x="2065" y="10838"/>
                  <a:pt x="2199" y="10748"/>
                  <a:pt x="2217" y="10515"/>
                </a:cubicBezTo>
                <a:cubicBezTo>
                  <a:pt x="2229" y="10353"/>
                  <a:pt x="2230" y="10308"/>
                  <a:pt x="2158" y="10305"/>
                </a:cubicBezTo>
                <a:close/>
                <a:moveTo>
                  <a:pt x="249" y="10997"/>
                </a:moveTo>
                <a:cubicBezTo>
                  <a:pt x="213" y="10996"/>
                  <a:pt x="175" y="11007"/>
                  <a:pt x="133" y="11031"/>
                </a:cubicBezTo>
                <a:cubicBezTo>
                  <a:pt x="-10" y="11114"/>
                  <a:pt x="-46" y="11359"/>
                  <a:pt x="64" y="11500"/>
                </a:cubicBezTo>
                <a:cubicBezTo>
                  <a:pt x="203" y="11676"/>
                  <a:pt x="425" y="11560"/>
                  <a:pt x="425" y="11311"/>
                </a:cubicBezTo>
                <a:cubicBezTo>
                  <a:pt x="425" y="11116"/>
                  <a:pt x="355" y="11002"/>
                  <a:pt x="249" y="10997"/>
                </a:cubicBezTo>
                <a:close/>
                <a:moveTo>
                  <a:pt x="21088" y="11000"/>
                </a:moveTo>
                <a:cubicBezTo>
                  <a:pt x="20941" y="11028"/>
                  <a:pt x="20847" y="11239"/>
                  <a:pt x="20938" y="11456"/>
                </a:cubicBezTo>
                <a:cubicBezTo>
                  <a:pt x="20997" y="11596"/>
                  <a:pt x="21198" y="11621"/>
                  <a:pt x="21294" y="11500"/>
                </a:cubicBezTo>
                <a:cubicBezTo>
                  <a:pt x="21393" y="11373"/>
                  <a:pt x="21369" y="11122"/>
                  <a:pt x="21250" y="11041"/>
                </a:cubicBezTo>
                <a:cubicBezTo>
                  <a:pt x="21194" y="11003"/>
                  <a:pt x="21138" y="10991"/>
                  <a:pt x="21088" y="11000"/>
                </a:cubicBezTo>
                <a:close/>
                <a:moveTo>
                  <a:pt x="12398" y="12132"/>
                </a:moveTo>
                <a:cubicBezTo>
                  <a:pt x="12335" y="12135"/>
                  <a:pt x="12280" y="12242"/>
                  <a:pt x="12313" y="12352"/>
                </a:cubicBezTo>
                <a:cubicBezTo>
                  <a:pt x="12330" y="12410"/>
                  <a:pt x="12369" y="12455"/>
                  <a:pt x="12400" y="12455"/>
                </a:cubicBezTo>
                <a:cubicBezTo>
                  <a:pt x="12486" y="12455"/>
                  <a:pt x="12529" y="12254"/>
                  <a:pt x="12461" y="12168"/>
                </a:cubicBezTo>
                <a:cubicBezTo>
                  <a:pt x="12441" y="12143"/>
                  <a:pt x="12420" y="12131"/>
                  <a:pt x="12398" y="12132"/>
                </a:cubicBezTo>
                <a:close/>
                <a:moveTo>
                  <a:pt x="4111" y="13192"/>
                </a:moveTo>
                <a:cubicBezTo>
                  <a:pt x="3993" y="13194"/>
                  <a:pt x="3870" y="13313"/>
                  <a:pt x="3870" y="13498"/>
                </a:cubicBezTo>
                <a:cubicBezTo>
                  <a:pt x="3870" y="13576"/>
                  <a:pt x="3898" y="13676"/>
                  <a:pt x="3933" y="13720"/>
                </a:cubicBezTo>
                <a:cubicBezTo>
                  <a:pt x="4021" y="13832"/>
                  <a:pt x="4164" y="13822"/>
                  <a:pt x="4263" y="13696"/>
                </a:cubicBezTo>
                <a:cubicBezTo>
                  <a:pt x="4361" y="13572"/>
                  <a:pt x="4366" y="13504"/>
                  <a:pt x="4292" y="13327"/>
                </a:cubicBezTo>
                <a:cubicBezTo>
                  <a:pt x="4252" y="13232"/>
                  <a:pt x="4182" y="13190"/>
                  <a:pt x="4111" y="13192"/>
                </a:cubicBezTo>
                <a:close/>
                <a:moveTo>
                  <a:pt x="5471" y="13196"/>
                </a:moveTo>
                <a:cubicBezTo>
                  <a:pt x="5099" y="13195"/>
                  <a:pt x="4877" y="13492"/>
                  <a:pt x="4877" y="13988"/>
                </a:cubicBezTo>
                <a:cubicBezTo>
                  <a:pt x="4877" y="14096"/>
                  <a:pt x="4840" y="14163"/>
                  <a:pt x="4770" y="14186"/>
                </a:cubicBezTo>
                <a:cubicBezTo>
                  <a:pt x="4697" y="14211"/>
                  <a:pt x="4664" y="14279"/>
                  <a:pt x="4664" y="14408"/>
                </a:cubicBezTo>
                <a:cubicBezTo>
                  <a:pt x="4664" y="14538"/>
                  <a:pt x="4697" y="14606"/>
                  <a:pt x="4770" y="14630"/>
                </a:cubicBezTo>
                <a:cubicBezTo>
                  <a:pt x="4870" y="14663"/>
                  <a:pt x="4877" y="14723"/>
                  <a:pt x="4877" y="15548"/>
                </a:cubicBezTo>
                <a:lnTo>
                  <a:pt x="4877" y="16429"/>
                </a:lnTo>
                <a:lnTo>
                  <a:pt x="5061" y="16429"/>
                </a:lnTo>
                <a:lnTo>
                  <a:pt x="5243" y="16429"/>
                </a:lnTo>
                <a:lnTo>
                  <a:pt x="5259" y="15536"/>
                </a:lnTo>
                <a:lnTo>
                  <a:pt x="5274" y="14645"/>
                </a:lnTo>
                <a:lnTo>
                  <a:pt x="5473" y="14623"/>
                </a:lnTo>
                <a:cubicBezTo>
                  <a:pt x="5653" y="14604"/>
                  <a:pt x="5671" y="14584"/>
                  <a:pt x="5671" y="14408"/>
                </a:cubicBezTo>
                <a:cubicBezTo>
                  <a:pt x="5671" y="14233"/>
                  <a:pt x="5653" y="14212"/>
                  <a:pt x="5473" y="14193"/>
                </a:cubicBezTo>
                <a:cubicBezTo>
                  <a:pt x="5302" y="14175"/>
                  <a:pt x="5271" y="14147"/>
                  <a:pt x="5257" y="13991"/>
                </a:cubicBezTo>
                <a:cubicBezTo>
                  <a:pt x="5233" y="13730"/>
                  <a:pt x="5420" y="13511"/>
                  <a:pt x="5618" y="13566"/>
                </a:cubicBezTo>
                <a:cubicBezTo>
                  <a:pt x="5742" y="13600"/>
                  <a:pt x="5774" y="13583"/>
                  <a:pt x="5804" y="13462"/>
                </a:cubicBezTo>
                <a:cubicBezTo>
                  <a:pt x="5852" y="13271"/>
                  <a:pt x="5762" y="13198"/>
                  <a:pt x="5471" y="13196"/>
                </a:cubicBezTo>
                <a:close/>
                <a:moveTo>
                  <a:pt x="6729" y="13196"/>
                </a:moveTo>
                <a:cubicBezTo>
                  <a:pt x="6332" y="13196"/>
                  <a:pt x="6171" y="13397"/>
                  <a:pt x="6136" y="13938"/>
                </a:cubicBezTo>
                <a:cubicBezTo>
                  <a:pt x="6124" y="14123"/>
                  <a:pt x="6096" y="14176"/>
                  <a:pt x="6001" y="14193"/>
                </a:cubicBezTo>
                <a:cubicBezTo>
                  <a:pt x="5910" y="14210"/>
                  <a:pt x="5884" y="14260"/>
                  <a:pt x="5884" y="14408"/>
                </a:cubicBezTo>
                <a:cubicBezTo>
                  <a:pt x="5884" y="14557"/>
                  <a:pt x="5910" y="14606"/>
                  <a:pt x="6001" y="14623"/>
                </a:cubicBezTo>
                <a:cubicBezTo>
                  <a:pt x="6117" y="14644"/>
                  <a:pt x="6122" y="14668"/>
                  <a:pt x="6136" y="15536"/>
                </a:cubicBezTo>
                <a:lnTo>
                  <a:pt x="6152" y="16429"/>
                </a:lnTo>
                <a:lnTo>
                  <a:pt x="6334" y="16429"/>
                </a:lnTo>
                <a:lnTo>
                  <a:pt x="6516" y="16429"/>
                </a:lnTo>
                <a:lnTo>
                  <a:pt x="6532" y="15536"/>
                </a:lnTo>
                <a:lnTo>
                  <a:pt x="6545" y="14645"/>
                </a:lnTo>
                <a:lnTo>
                  <a:pt x="6744" y="14623"/>
                </a:lnTo>
                <a:cubicBezTo>
                  <a:pt x="6925" y="14604"/>
                  <a:pt x="6944" y="14584"/>
                  <a:pt x="6944" y="14403"/>
                </a:cubicBezTo>
                <a:cubicBezTo>
                  <a:pt x="6944" y="14219"/>
                  <a:pt x="6930" y="14205"/>
                  <a:pt x="6741" y="14205"/>
                </a:cubicBezTo>
                <a:cubicBezTo>
                  <a:pt x="6629" y="14205"/>
                  <a:pt x="6526" y="14191"/>
                  <a:pt x="6513" y="14174"/>
                </a:cubicBezTo>
                <a:cubicBezTo>
                  <a:pt x="6499" y="14157"/>
                  <a:pt x="6496" y="14032"/>
                  <a:pt x="6509" y="13899"/>
                </a:cubicBezTo>
                <a:cubicBezTo>
                  <a:pt x="6535" y="13611"/>
                  <a:pt x="6704" y="13473"/>
                  <a:pt x="6879" y="13592"/>
                </a:cubicBezTo>
                <a:cubicBezTo>
                  <a:pt x="6973" y="13656"/>
                  <a:pt x="6994" y="13640"/>
                  <a:pt x="7041" y="13469"/>
                </a:cubicBezTo>
                <a:cubicBezTo>
                  <a:pt x="7104" y="13240"/>
                  <a:pt x="7053" y="13196"/>
                  <a:pt x="6729" y="13196"/>
                </a:cubicBezTo>
                <a:close/>
                <a:moveTo>
                  <a:pt x="16897" y="13196"/>
                </a:moveTo>
                <a:cubicBezTo>
                  <a:pt x="16829" y="13187"/>
                  <a:pt x="16756" y="13209"/>
                  <a:pt x="16704" y="13276"/>
                </a:cubicBezTo>
                <a:cubicBezTo>
                  <a:pt x="16669" y="13321"/>
                  <a:pt x="16641" y="13420"/>
                  <a:pt x="16641" y="13498"/>
                </a:cubicBezTo>
                <a:cubicBezTo>
                  <a:pt x="16641" y="13576"/>
                  <a:pt x="16669" y="13676"/>
                  <a:pt x="16704" y="13720"/>
                </a:cubicBezTo>
                <a:cubicBezTo>
                  <a:pt x="16841" y="13895"/>
                  <a:pt x="17118" y="13732"/>
                  <a:pt x="17118" y="13474"/>
                </a:cubicBezTo>
                <a:cubicBezTo>
                  <a:pt x="17118" y="13320"/>
                  <a:pt x="17012" y="13213"/>
                  <a:pt x="16897" y="13196"/>
                </a:cubicBezTo>
                <a:close/>
                <a:moveTo>
                  <a:pt x="19873" y="13196"/>
                </a:moveTo>
                <a:lnTo>
                  <a:pt x="19873" y="14811"/>
                </a:lnTo>
                <a:lnTo>
                  <a:pt x="19873" y="16429"/>
                </a:lnTo>
                <a:lnTo>
                  <a:pt x="20059" y="16429"/>
                </a:lnTo>
                <a:lnTo>
                  <a:pt x="20245" y="16429"/>
                </a:lnTo>
                <a:lnTo>
                  <a:pt x="20245" y="14811"/>
                </a:lnTo>
                <a:lnTo>
                  <a:pt x="20245" y="13196"/>
                </a:lnTo>
                <a:lnTo>
                  <a:pt x="20059" y="13196"/>
                </a:lnTo>
                <a:lnTo>
                  <a:pt x="19873" y="13196"/>
                </a:lnTo>
                <a:close/>
                <a:moveTo>
                  <a:pt x="1379" y="13332"/>
                </a:moveTo>
                <a:lnTo>
                  <a:pt x="1379" y="14889"/>
                </a:lnTo>
                <a:lnTo>
                  <a:pt x="1379" y="16446"/>
                </a:lnTo>
                <a:lnTo>
                  <a:pt x="2002" y="16414"/>
                </a:lnTo>
                <a:cubicBezTo>
                  <a:pt x="2505" y="16390"/>
                  <a:pt x="2666" y="16357"/>
                  <a:pt x="2844" y="16240"/>
                </a:cubicBezTo>
                <a:cubicBezTo>
                  <a:pt x="3442" y="15847"/>
                  <a:pt x="3665" y="14883"/>
                  <a:pt x="3344" y="14082"/>
                </a:cubicBezTo>
                <a:cubicBezTo>
                  <a:pt x="3130" y="13551"/>
                  <a:pt x="2708" y="13332"/>
                  <a:pt x="1900" y="13332"/>
                </a:cubicBezTo>
                <a:lnTo>
                  <a:pt x="1379" y="13332"/>
                </a:lnTo>
                <a:close/>
                <a:moveTo>
                  <a:pt x="15419" y="13532"/>
                </a:moveTo>
                <a:cubicBezTo>
                  <a:pt x="15277" y="13532"/>
                  <a:pt x="15262" y="13555"/>
                  <a:pt x="15256" y="13769"/>
                </a:cubicBezTo>
                <a:cubicBezTo>
                  <a:pt x="15252" y="13898"/>
                  <a:pt x="15246" y="14041"/>
                  <a:pt x="15243" y="14087"/>
                </a:cubicBezTo>
                <a:cubicBezTo>
                  <a:pt x="15239" y="14133"/>
                  <a:pt x="15171" y="14182"/>
                  <a:pt x="15091" y="14193"/>
                </a:cubicBezTo>
                <a:cubicBezTo>
                  <a:pt x="14969" y="14211"/>
                  <a:pt x="14944" y="14248"/>
                  <a:pt x="14944" y="14408"/>
                </a:cubicBezTo>
                <a:cubicBezTo>
                  <a:pt x="14944" y="14569"/>
                  <a:pt x="14969" y="14605"/>
                  <a:pt x="15091" y="14623"/>
                </a:cubicBezTo>
                <a:lnTo>
                  <a:pt x="15237" y="14645"/>
                </a:lnTo>
                <a:lnTo>
                  <a:pt x="15263" y="15408"/>
                </a:lnTo>
                <a:cubicBezTo>
                  <a:pt x="15288" y="16120"/>
                  <a:pt x="15298" y="16182"/>
                  <a:pt x="15421" y="16308"/>
                </a:cubicBezTo>
                <a:cubicBezTo>
                  <a:pt x="15527" y="16416"/>
                  <a:pt x="15608" y="16435"/>
                  <a:pt x="15831" y="16412"/>
                </a:cubicBezTo>
                <a:cubicBezTo>
                  <a:pt x="15985" y="16396"/>
                  <a:pt x="16123" y="16367"/>
                  <a:pt x="16139" y="16347"/>
                </a:cubicBezTo>
                <a:cubicBezTo>
                  <a:pt x="16155" y="16326"/>
                  <a:pt x="16153" y="16231"/>
                  <a:pt x="16134" y="16134"/>
                </a:cubicBezTo>
                <a:cubicBezTo>
                  <a:pt x="16102" y="15973"/>
                  <a:pt x="16082" y="15962"/>
                  <a:pt x="15898" y="15999"/>
                </a:cubicBezTo>
                <a:cubicBezTo>
                  <a:pt x="15625" y="16054"/>
                  <a:pt x="15572" y="15914"/>
                  <a:pt x="15592" y="15198"/>
                </a:cubicBezTo>
                <a:lnTo>
                  <a:pt x="15607" y="14645"/>
                </a:lnTo>
                <a:lnTo>
                  <a:pt x="15858" y="14623"/>
                </a:lnTo>
                <a:cubicBezTo>
                  <a:pt x="16097" y="14604"/>
                  <a:pt x="16111" y="14593"/>
                  <a:pt x="16111" y="14408"/>
                </a:cubicBezTo>
                <a:cubicBezTo>
                  <a:pt x="16111" y="14224"/>
                  <a:pt x="16097" y="14213"/>
                  <a:pt x="15858" y="14193"/>
                </a:cubicBezTo>
                <a:lnTo>
                  <a:pt x="15607" y="14172"/>
                </a:lnTo>
                <a:lnTo>
                  <a:pt x="15590" y="13853"/>
                </a:lnTo>
                <a:cubicBezTo>
                  <a:pt x="15575" y="13549"/>
                  <a:pt x="15568" y="13532"/>
                  <a:pt x="15419" y="13532"/>
                </a:cubicBezTo>
                <a:close/>
                <a:moveTo>
                  <a:pt x="8002" y="14179"/>
                </a:moveTo>
                <a:cubicBezTo>
                  <a:pt x="7502" y="14179"/>
                  <a:pt x="7155" y="14630"/>
                  <a:pt x="7155" y="15277"/>
                </a:cubicBezTo>
                <a:cubicBezTo>
                  <a:pt x="7155" y="15755"/>
                  <a:pt x="7284" y="16078"/>
                  <a:pt x="7557" y="16277"/>
                </a:cubicBezTo>
                <a:cubicBezTo>
                  <a:pt x="7828" y="16473"/>
                  <a:pt x="8247" y="16481"/>
                  <a:pt x="8536" y="16293"/>
                </a:cubicBezTo>
                <a:cubicBezTo>
                  <a:pt x="8775" y="16139"/>
                  <a:pt x="8787" y="16092"/>
                  <a:pt x="8640" y="15924"/>
                </a:cubicBezTo>
                <a:cubicBezTo>
                  <a:pt x="8543" y="15812"/>
                  <a:pt x="8526" y="15812"/>
                  <a:pt x="8403" y="15914"/>
                </a:cubicBezTo>
                <a:cubicBezTo>
                  <a:pt x="8330" y="15975"/>
                  <a:pt x="8167" y="16023"/>
                  <a:pt x="8040" y="16023"/>
                </a:cubicBezTo>
                <a:cubicBezTo>
                  <a:pt x="7855" y="16023"/>
                  <a:pt x="7781" y="15986"/>
                  <a:pt x="7662" y="15828"/>
                </a:cubicBezTo>
                <a:cubicBezTo>
                  <a:pt x="7580" y="15720"/>
                  <a:pt x="7530" y="15597"/>
                  <a:pt x="7550" y="15557"/>
                </a:cubicBezTo>
                <a:cubicBezTo>
                  <a:pt x="7572" y="15512"/>
                  <a:pt x="7823" y="15485"/>
                  <a:pt x="8224" y="15485"/>
                </a:cubicBezTo>
                <a:lnTo>
                  <a:pt x="8865" y="15485"/>
                </a:lnTo>
                <a:lnTo>
                  <a:pt x="8838" y="15144"/>
                </a:lnTo>
                <a:cubicBezTo>
                  <a:pt x="8794" y="14563"/>
                  <a:pt x="8462" y="14179"/>
                  <a:pt x="8002" y="14179"/>
                </a:cubicBezTo>
                <a:close/>
                <a:moveTo>
                  <a:pt x="11441" y="14186"/>
                </a:moveTo>
                <a:cubicBezTo>
                  <a:pt x="10935" y="14196"/>
                  <a:pt x="10599" y="14630"/>
                  <a:pt x="10599" y="15277"/>
                </a:cubicBezTo>
                <a:cubicBezTo>
                  <a:pt x="10599" y="15755"/>
                  <a:pt x="10729" y="16078"/>
                  <a:pt x="11002" y="16277"/>
                </a:cubicBezTo>
                <a:cubicBezTo>
                  <a:pt x="11263" y="16467"/>
                  <a:pt x="11654" y="16474"/>
                  <a:pt x="11963" y="16296"/>
                </a:cubicBezTo>
                <a:cubicBezTo>
                  <a:pt x="12217" y="16150"/>
                  <a:pt x="12235" y="16096"/>
                  <a:pt x="12085" y="15924"/>
                </a:cubicBezTo>
                <a:cubicBezTo>
                  <a:pt x="11987" y="15812"/>
                  <a:pt x="11970" y="15812"/>
                  <a:pt x="11847" y="15914"/>
                </a:cubicBezTo>
                <a:cubicBezTo>
                  <a:pt x="11775" y="15975"/>
                  <a:pt x="11611" y="16023"/>
                  <a:pt x="11485" y="16023"/>
                </a:cubicBezTo>
                <a:cubicBezTo>
                  <a:pt x="11299" y="16023"/>
                  <a:pt x="11226" y="15986"/>
                  <a:pt x="11106" y="15828"/>
                </a:cubicBezTo>
                <a:cubicBezTo>
                  <a:pt x="11025" y="15720"/>
                  <a:pt x="10975" y="15597"/>
                  <a:pt x="10994" y="15557"/>
                </a:cubicBezTo>
                <a:cubicBezTo>
                  <a:pt x="11017" y="15512"/>
                  <a:pt x="11268" y="15485"/>
                  <a:pt x="11669" y="15485"/>
                </a:cubicBezTo>
                <a:lnTo>
                  <a:pt x="12309" y="15485"/>
                </a:lnTo>
                <a:lnTo>
                  <a:pt x="12283" y="15144"/>
                </a:lnTo>
                <a:cubicBezTo>
                  <a:pt x="12238" y="14556"/>
                  <a:pt x="11906" y="14177"/>
                  <a:pt x="11441" y="14186"/>
                </a:cubicBezTo>
                <a:close/>
                <a:moveTo>
                  <a:pt x="13806" y="14193"/>
                </a:moveTo>
                <a:cubicBezTo>
                  <a:pt x="13661" y="14192"/>
                  <a:pt x="13520" y="14230"/>
                  <a:pt x="13424" y="14309"/>
                </a:cubicBezTo>
                <a:cubicBezTo>
                  <a:pt x="13296" y="14416"/>
                  <a:pt x="13279" y="14418"/>
                  <a:pt x="13221" y="14317"/>
                </a:cubicBezTo>
                <a:cubicBezTo>
                  <a:pt x="13186" y="14255"/>
                  <a:pt x="13084" y="14205"/>
                  <a:pt x="12991" y="14205"/>
                </a:cubicBezTo>
                <a:lnTo>
                  <a:pt x="12826" y="14205"/>
                </a:lnTo>
                <a:lnTo>
                  <a:pt x="12826" y="15318"/>
                </a:lnTo>
                <a:lnTo>
                  <a:pt x="12826" y="16429"/>
                </a:lnTo>
                <a:lnTo>
                  <a:pt x="13010" y="16429"/>
                </a:lnTo>
                <a:lnTo>
                  <a:pt x="13196" y="16429"/>
                </a:lnTo>
                <a:lnTo>
                  <a:pt x="13196" y="15726"/>
                </a:lnTo>
                <a:cubicBezTo>
                  <a:pt x="13196" y="15069"/>
                  <a:pt x="13205" y="15010"/>
                  <a:pt x="13333" y="14816"/>
                </a:cubicBezTo>
                <a:cubicBezTo>
                  <a:pt x="13442" y="14652"/>
                  <a:pt x="13511" y="14611"/>
                  <a:pt x="13671" y="14611"/>
                </a:cubicBezTo>
                <a:cubicBezTo>
                  <a:pt x="13791" y="14611"/>
                  <a:pt x="13924" y="14663"/>
                  <a:pt x="13998" y="14739"/>
                </a:cubicBezTo>
                <a:cubicBezTo>
                  <a:pt x="14114" y="14858"/>
                  <a:pt x="14126" y="14921"/>
                  <a:pt x="14142" y="15647"/>
                </a:cubicBezTo>
                <a:lnTo>
                  <a:pt x="14160" y="16429"/>
                </a:lnTo>
                <a:lnTo>
                  <a:pt x="14340" y="16429"/>
                </a:lnTo>
                <a:lnTo>
                  <a:pt x="14521" y="16429"/>
                </a:lnTo>
                <a:lnTo>
                  <a:pt x="14517" y="15671"/>
                </a:lnTo>
                <a:cubicBezTo>
                  <a:pt x="14513" y="14767"/>
                  <a:pt x="14454" y="14496"/>
                  <a:pt x="14211" y="14317"/>
                </a:cubicBezTo>
                <a:cubicBezTo>
                  <a:pt x="14101" y="14235"/>
                  <a:pt x="13951" y="14195"/>
                  <a:pt x="13806" y="14193"/>
                </a:cubicBezTo>
                <a:close/>
                <a:moveTo>
                  <a:pt x="3923" y="14205"/>
                </a:moveTo>
                <a:lnTo>
                  <a:pt x="3923" y="15318"/>
                </a:lnTo>
                <a:lnTo>
                  <a:pt x="3923" y="16429"/>
                </a:lnTo>
                <a:lnTo>
                  <a:pt x="4107" y="16429"/>
                </a:lnTo>
                <a:lnTo>
                  <a:pt x="4293" y="16429"/>
                </a:lnTo>
                <a:lnTo>
                  <a:pt x="4293" y="15318"/>
                </a:lnTo>
                <a:lnTo>
                  <a:pt x="4293" y="14205"/>
                </a:lnTo>
                <a:lnTo>
                  <a:pt x="4107" y="14205"/>
                </a:lnTo>
                <a:lnTo>
                  <a:pt x="3923" y="14205"/>
                </a:lnTo>
                <a:close/>
                <a:moveTo>
                  <a:pt x="9328" y="14205"/>
                </a:moveTo>
                <a:lnTo>
                  <a:pt x="9328" y="15318"/>
                </a:lnTo>
                <a:lnTo>
                  <a:pt x="9328" y="16429"/>
                </a:lnTo>
                <a:lnTo>
                  <a:pt x="9512" y="16429"/>
                </a:lnTo>
                <a:lnTo>
                  <a:pt x="9699" y="16429"/>
                </a:lnTo>
                <a:lnTo>
                  <a:pt x="9699" y="15760"/>
                </a:lnTo>
                <a:cubicBezTo>
                  <a:pt x="9699" y="15144"/>
                  <a:pt x="9710" y="15078"/>
                  <a:pt x="9834" y="14891"/>
                </a:cubicBezTo>
                <a:cubicBezTo>
                  <a:pt x="9907" y="14780"/>
                  <a:pt x="10038" y="14669"/>
                  <a:pt x="10124" y="14645"/>
                </a:cubicBezTo>
                <a:cubicBezTo>
                  <a:pt x="10255" y="14608"/>
                  <a:pt x="10282" y="14567"/>
                  <a:pt x="10282" y="14403"/>
                </a:cubicBezTo>
                <a:cubicBezTo>
                  <a:pt x="10282" y="14244"/>
                  <a:pt x="10258" y="14205"/>
                  <a:pt x="10160" y="14205"/>
                </a:cubicBezTo>
                <a:cubicBezTo>
                  <a:pt x="10094" y="14205"/>
                  <a:pt x="9984" y="14255"/>
                  <a:pt x="9915" y="14317"/>
                </a:cubicBezTo>
                <a:cubicBezTo>
                  <a:pt x="9798" y="14421"/>
                  <a:pt x="9785" y="14421"/>
                  <a:pt x="9725" y="14317"/>
                </a:cubicBezTo>
                <a:cubicBezTo>
                  <a:pt x="9689" y="14253"/>
                  <a:pt x="9587" y="14205"/>
                  <a:pt x="9493" y="14205"/>
                </a:cubicBezTo>
                <a:lnTo>
                  <a:pt x="9328" y="14205"/>
                </a:lnTo>
                <a:close/>
                <a:moveTo>
                  <a:pt x="16694" y="14205"/>
                </a:moveTo>
                <a:lnTo>
                  <a:pt x="16694" y="15318"/>
                </a:lnTo>
                <a:lnTo>
                  <a:pt x="16694" y="16429"/>
                </a:lnTo>
                <a:lnTo>
                  <a:pt x="16878" y="16429"/>
                </a:lnTo>
                <a:lnTo>
                  <a:pt x="17065" y="16429"/>
                </a:lnTo>
                <a:lnTo>
                  <a:pt x="17065" y="15318"/>
                </a:lnTo>
                <a:lnTo>
                  <a:pt x="17065" y="14205"/>
                </a:lnTo>
                <a:lnTo>
                  <a:pt x="16878" y="14205"/>
                </a:lnTo>
                <a:lnTo>
                  <a:pt x="16694" y="14205"/>
                </a:lnTo>
                <a:close/>
                <a:moveTo>
                  <a:pt x="18391" y="14215"/>
                </a:moveTo>
                <a:cubicBezTo>
                  <a:pt x="17950" y="14234"/>
                  <a:pt x="17652" y="14443"/>
                  <a:pt x="17821" y="14657"/>
                </a:cubicBezTo>
                <a:cubicBezTo>
                  <a:pt x="17898" y="14755"/>
                  <a:pt x="17923" y="14755"/>
                  <a:pt x="18121" y="14654"/>
                </a:cubicBezTo>
                <a:cubicBezTo>
                  <a:pt x="18240" y="14594"/>
                  <a:pt x="18394" y="14543"/>
                  <a:pt x="18463" y="14543"/>
                </a:cubicBezTo>
                <a:cubicBezTo>
                  <a:pt x="18643" y="14543"/>
                  <a:pt x="18876" y="14796"/>
                  <a:pt x="18856" y="14971"/>
                </a:cubicBezTo>
                <a:cubicBezTo>
                  <a:pt x="18841" y="15101"/>
                  <a:pt x="18798" y="15119"/>
                  <a:pt x="18389" y="15152"/>
                </a:cubicBezTo>
                <a:cubicBezTo>
                  <a:pt x="18133" y="15172"/>
                  <a:pt x="17888" y="15231"/>
                  <a:pt x="17819" y="15287"/>
                </a:cubicBezTo>
                <a:cubicBezTo>
                  <a:pt x="17534" y="15517"/>
                  <a:pt x="17604" y="16192"/>
                  <a:pt x="17929" y="16359"/>
                </a:cubicBezTo>
                <a:cubicBezTo>
                  <a:pt x="18141" y="16467"/>
                  <a:pt x="18512" y="16435"/>
                  <a:pt x="18698" y="16291"/>
                </a:cubicBezTo>
                <a:lnTo>
                  <a:pt x="18875" y="16153"/>
                </a:lnTo>
                <a:lnTo>
                  <a:pt x="18904" y="16291"/>
                </a:lnTo>
                <a:cubicBezTo>
                  <a:pt x="18924" y="16389"/>
                  <a:pt x="18975" y="16429"/>
                  <a:pt x="19084" y="16429"/>
                </a:cubicBezTo>
                <a:lnTo>
                  <a:pt x="19238" y="16429"/>
                </a:lnTo>
                <a:lnTo>
                  <a:pt x="19238" y="15555"/>
                </a:lnTo>
                <a:cubicBezTo>
                  <a:pt x="19238" y="14688"/>
                  <a:pt x="19235" y="14678"/>
                  <a:pt x="19084" y="14464"/>
                </a:cubicBezTo>
                <a:cubicBezTo>
                  <a:pt x="18948" y="14271"/>
                  <a:pt x="18896" y="14245"/>
                  <a:pt x="18586" y="14220"/>
                </a:cubicBezTo>
                <a:cubicBezTo>
                  <a:pt x="18518" y="14214"/>
                  <a:pt x="18454" y="14212"/>
                  <a:pt x="18391" y="14215"/>
                </a:cubicBezTo>
                <a:close/>
                <a:moveTo>
                  <a:pt x="8963" y="17534"/>
                </a:moveTo>
                <a:cubicBezTo>
                  <a:pt x="8931" y="17533"/>
                  <a:pt x="8895" y="17538"/>
                  <a:pt x="8855" y="17551"/>
                </a:cubicBezTo>
                <a:cubicBezTo>
                  <a:pt x="8720" y="17596"/>
                  <a:pt x="8654" y="17873"/>
                  <a:pt x="8745" y="18012"/>
                </a:cubicBezTo>
                <a:cubicBezTo>
                  <a:pt x="8781" y="18067"/>
                  <a:pt x="8865" y="18111"/>
                  <a:pt x="8931" y="18111"/>
                </a:cubicBezTo>
                <a:cubicBezTo>
                  <a:pt x="9091" y="18111"/>
                  <a:pt x="9189" y="17948"/>
                  <a:pt x="9150" y="17749"/>
                </a:cubicBezTo>
                <a:cubicBezTo>
                  <a:pt x="9122" y="17610"/>
                  <a:pt x="9060" y="17539"/>
                  <a:pt x="8963" y="17534"/>
                </a:cubicBezTo>
                <a:close/>
                <a:moveTo>
                  <a:pt x="5034" y="17691"/>
                </a:moveTo>
                <a:lnTo>
                  <a:pt x="5034" y="19214"/>
                </a:lnTo>
                <a:lnTo>
                  <a:pt x="5034" y="20737"/>
                </a:lnTo>
                <a:lnTo>
                  <a:pt x="5219" y="20737"/>
                </a:lnTo>
                <a:lnTo>
                  <a:pt x="5401" y="20737"/>
                </a:lnTo>
                <a:lnTo>
                  <a:pt x="5416" y="20284"/>
                </a:lnTo>
                <a:lnTo>
                  <a:pt x="5433" y="19827"/>
                </a:lnTo>
                <a:lnTo>
                  <a:pt x="5859" y="19789"/>
                </a:lnTo>
                <a:cubicBezTo>
                  <a:pt x="6378" y="19740"/>
                  <a:pt x="6641" y="19593"/>
                  <a:pt x="6754" y="19291"/>
                </a:cubicBezTo>
                <a:cubicBezTo>
                  <a:pt x="6870" y="18979"/>
                  <a:pt x="6860" y="18463"/>
                  <a:pt x="6733" y="18198"/>
                </a:cubicBezTo>
                <a:cubicBezTo>
                  <a:pt x="6563" y="17844"/>
                  <a:pt x="6359" y="17753"/>
                  <a:pt x="5658" y="17720"/>
                </a:cubicBezTo>
                <a:lnTo>
                  <a:pt x="5034" y="17691"/>
                </a:lnTo>
                <a:close/>
                <a:moveTo>
                  <a:pt x="7314" y="18514"/>
                </a:moveTo>
                <a:lnTo>
                  <a:pt x="7314" y="19627"/>
                </a:lnTo>
                <a:lnTo>
                  <a:pt x="7314" y="20737"/>
                </a:lnTo>
                <a:lnTo>
                  <a:pt x="7499" y="20737"/>
                </a:lnTo>
                <a:lnTo>
                  <a:pt x="7685" y="20737"/>
                </a:lnTo>
                <a:lnTo>
                  <a:pt x="7685" y="20115"/>
                </a:lnTo>
                <a:cubicBezTo>
                  <a:pt x="7685" y="19380"/>
                  <a:pt x="7777" y="19119"/>
                  <a:pt x="8080" y="18980"/>
                </a:cubicBezTo>
                <a:cubicBezTo>
                  <a:pt x="8235" y="18909"/>
                  <a:pt x="8268" y="18857"/>
                  <a:pt x="8268" y="18702"/>
                </a:cubicBezTo>
                <a:cubicBezTo>
                  <a:pt x="8268" y="18471"/>
                  <a:pt x="8158" y="18456"/>
                  <a:pt x="7905" y="18652"/>
                </a:cubicBezTo>
                <a:lnTo>
                  <a:pt x="7728" y="18789"/>
                </a:lnTo>
                <a:lnTo>
                  <a:pt x="7700" y="18652"/>
                </a:lnTo>
                <a:cubicBezTo>
                  <a:pt x="7679" y="18548"/>
                  <a:pt x="7629" y="18514"/>
                  <a:pt x="7493" y="18514"/>
                </a:cubicBezTo>
                <a:lnTo>
                  <a:pt x="7314" y="18514"/>
                </a:lnTo>
                <a:close/>
                <a:moveTo>
                  <a:pt x="8745" y="18514"/>
                </a:moveTo>
                <a:lnTo>
                  <a:pt x="8745" y="19627"/>
                </a:lnTo>
                <a:lnTo>
                  <a:pt x="8745" y="20737"/>
                </a:lnTo>
                <a:lnTo>
                  <a:pt x="8931" y="20737"/>
                </a:lnTo>
                <a:lnTo>
                  <a:pt x="9115" y="20737"/>
                </a:lnTo>
                <a:lnTo>
                  <a:pt x="9115" y="19627"/>
                </a:lnTo>
                <a:lnTo>
                  <a:pt x="9115" y="18514"/>
                </a:lnTo>
                <a:lnTo>
                  <a:pt x="8931" y="18514"/>
                </a:lnTo>
                <a:lnTo>
                  <a:pt x="8745" y="18514"/>
                </a:lnTo>
                <a:close/>
                <a:moveTo>
                  <a:pt x="11245" y="18514"/>
                </a:moveTo>
                <a:lnTo>
                  <a:pt x="11049" y="18517"/>
                </a:lnTo>
                <a:lnTo>
                  <a:pt x="10801" y="19272"/>
                </a:lnTo>
                <a:cubicBezTo>
                  <a:pt x="10664" y="19689"/>
                  <a:pt x="10526" y="20030"/>
                  <a:pt x="10491" y="20030"/>
                </a:cubicBezTo>
                <a:cubicBezTo>
                  <a:pt x="10456" y="20030"/>
                  <a:pt x="10316" y="19696"/>
                  <a:pt x="10181" y="19289"/>
                </a:cubicBezTo>
                <a:lnTo>
                  <a:pt x="9936" y="18548"/>
                </a:lnTo>
                <a:lnTo>
                  <a:pt x="9737" y="18529"/>
                </a:lnTo>
                <a:cubicBezTo>
                  <a:pt x="9628" y="18517"/>
                  <a:pt x="9539" y="18519"/>
                  <a:pt x="9539" y="18534"/>
                </a:cubicBezTo>
                <a:cubicBezTo>
                  <a:pt x="9539" y="18548"/>
                  <a:pt x="9686" y="18981"/>
                  <a:pt x="9864" y="19497"/>
                </a:cubicBezTo>
                <a:cubicBezTo>
                  <a:pt x="10042" y="20012"/>
                  <a:pt x="10209" y="20502"/>
                  <a:pt x="10234" y="20585"/>
                </a:cubicBezTo>
                <a:cubicBezTo>
                  <a:pt x="10271" y="20705"/>
                  <a:pt x="10321" y="20737"/>
                  <a:pt x="10480" y="20737"/>
                </a:cubicBezTo>
                <a:lnTo>
                  <a:pt x="10679" y="20737"/>
                </a:lnTo>
                <a:lnTo>
                  <a:pt x="11059" y="19627"/>
                </a:lnTo>
                <a:lnTo>
                  <a:pt x="11439" y="18514"/>
                </a:lnTo>
                <a:lnTo>
                  <a:pt x="11245" y="18514"/>
                </a:lnTo>
                <a:close/>
                <a:moveTo>
                  <a:pt x="15744" y="18514"/>
                </a:moveTo>
                <a:lnTo>
                  <a:pt x="15847" y="18818"/>
                </a:lnTo>
                <a:cubicBezTo>
                  <a:pt x="15904" y="18985"/>
                  <a:pt x="16002" y="19265"/>
                  <a:pt x="16063" y="19441"/>
                </a:cubicBezTo>
                <a:cubicBezTo>
                  <a:pt x="16125" y="19617"/>
                  <a:pt x="16255" y="19995"/>
                  <a:pt x="16352" y="20281"/>
                </a:cubicBezTo>
                <a:lnTo>
                  <a:pt x="16529" y="20800"/>
                </a:lnTo>
                <a:lnTo>
                  <a:pt x="16392" y="21010"/>
                </a:lnTo>
                <a:cubicBezTo>
                  <a:pt x="16260" y="21210"/>
                  <a:pt x="16210" y="21222"/>
                  <a:pt x="16001" y="21111"/>
                </a:cubicBezTo>
                <a:cubicBezTo>
                  <a:pt x="15943" y="21081"/>
                  <a:pt x="15897" y="21124"/>
                  <a:pt x="15852" y="21249"/>
                </a:cubicBezTo>
                <a:cubicBezTo>
                  <a:pt x="15783" y="21443"/>
                  <a:pt x="15810" y="21512"/>
                  <a:pt x="15978" y="21563"/>
                </a:cubicBezTo>
                <a:cubicBezTo>
                  <a:pt x="16059" y="21588"/>
                  <a:pt x="16139" y="21600"/>
                  <a:pt x="16213" y="21597"/>
                </a:cubicBezTo>
                <a:cubicBezTo>
                  <a:pt x="16437" y="21587"/>
                  <a:pt x="16621" y="21452"/>
                  <a:pt x="16717" y="21218"/>
                </a:cubicBezTo>
                <a:cubicBezTo>
                  <a:pt x="16778" y="21068"/>
                  <a:pt x="17499" y="19003"/>
                  <a:pt x="17633" y="18596"/>
                </a:cubicBezTo>
                <a:cubicBezTo>
                  <a:pt x="17654" y="18530"/>
                  <a:pt x="17610" y="18513"/>
                  <a:pt x="17458" y="18529"/>
                </a:cubicBezTo>
                <a:lnTo>
                  <a:pt x="17255" y="18548"/>
                </a:lnTo>
                <a:lnTo>
                  <a:pt x="17013" y="19294"/>
                </a:lnTo>
                <a:cubicBezTo>
                  <a:pt x="16881" y="19703"/>
                  <a:pt x="16751" y="20052"/>
                  <a:pt x="16723" y="20069"/>
                </a:cubicBezTo>
                <a:cubicBezTo>
                  <a:pt x="16694" y="20085"/>
                  <a:pt x="16551" y="19741"/>
                  <a:pt x="16405" y="19306"/>
                </a:cubicBezTo>
                <a:lnTo>
                  <a:pt x="16141" y="18514"/>
                </a:lnTo>
                <a:lnTo>
                  <a:pt x="15942" y="18514"/>
                </a:lnTo>
                <a:lnTo>
                  <a:pt x="15744" y="18514"/>
                </a:lnTo>
                <a:close/>
                <a:moveTo>
                  <a:pt x="14752" y="18519"/>
                </a:moveTo>
                <a:cubicBezTo>
                  <a:pt x="14589" y="18519"/>
                  <a:pt x="14425" y="18562"/>
                  <a:pt x="14283" y="18649"/>
                </a:cubicBezTo>
                <a:cubicBezTo>
                  <a:pt x="13683" y="19018"/>
                  <a:pt x="13679" y="20218"/>
                  <a:pt x="14277" y="20605"/>
                </a:cubicBezTo>
                <a:cubicBezTo>
                  <a:pt x="14563" y="20789"/>
                  <a:pt x="15002" y="20761"/>
                  <a:pt x="15284" y="20539"/>
                </a:cubicBezTo>
                <a:lnTo>
                  <a:pt x="15484" y="20383"/>
                </a:lnTo>
                <a:lnTo>
                  <a:pt x="15351" y="20214"/>
                </a:lnTo>
                <a:lnTo>
                  <a:pt x="15220" y="20045"/>
                </a:lnTo>
                <a:lnTo>
                  <a:pt x="15075" y="20189"/>
                </a:lnTo>
                <a:cubicBezTo>
                  <a:pt x="14712" y="20553"/>
                  <a:pt x="14203" y="20225"/>
                  <a:pt x="14203" y="19627"/>
                </a:cubicBezTo>
                <a:cubicBezTo>
                  <a:pt x="14203" y="19379"/>
                  <a:pt x="14230" y="19306"/>
                  <a:pt x="14397" y="19120"/>
                </a:cubicBezTo>
                <a:cubicBezTo>
                  <a:pt x="14564" y="18934"/>
                  <a:pt x="14619" y="18909"/>
                  <a:pt x="14798" y="18939"/>
                </a:cubicBezTo>
                <a:cubicBezTo>
                  <a:pt x="14912" y="18958"/>
                  <a:pt x="15052" y="19027"/>
                  <a:pt x="15108" y="19091"/>
                </a:cubicBezTo>
                <a:cubicBezTo>
                  <a:pt x="15205" y="19202"/>
                  <a:pt x="15216" y="19202"/>
                  <a:pt x="15317" y="19086"/>
                </a:cubicBezTo>
                <a:cubicBezTo>
                  <a:pt x="15472" y="18907"/>
                  <a:pt x="15447" y="18804"/>
                  <a:pt x="15212" y="18652"/>
                </a:cubicBezTo>
                <a:cubicBezTo>
                  <a:pt x="15077" y="18564"/>
                  <a:pt x="14915" y="18519"/>
                  <a:pt x="14752" y="18519"/>
                </a:cubicBezTo>
                <a:close/>
                <a:moveTo>
                  <a:pt x="12535" y="18521"/>
                </a:moveTo>
                <a:cubicBezTo>
                  <a:pt x="12361" y="18527"/>
                  <a:pt x="12179" y="18569"/>
                  <a:pt x="12043" y="18647"/>
                </a:cubicBezTo>
                <a:cubicBezTo>
                  <a:pt x="11794" y="18791"/>
                  <a:pt x="11781" y="18822"/>
                  <a:pt x="11901" y="18990"/>
                </a:cubicBezTo>
                <a:cubicBezTo>
                  <a:pt x="11976" y="19096"/>
                  <a:pt x="11998" y="19098"/>
                  <a:pt x="12146" y="19004"/>
                </a:cubicBezTo>
                <a:cubicBezTo>
                  <a:pt x="12504" y="18777"/>
                  <a:pt x="12960" y="18941"/>
                  <a:pt x="12921" y="19284"/>
                </a:cubicBezTo>
                <a:cubicBezTo>
                  <a:pt x="12907" y="19407"/>
                  <a:pt x="12857" y="19428"/>
                  <a:pt x="12480" y="19458"/>
                </a:cubicBezTo>
                <a:cubicBezTo>
                  <a:pt x="12035" y="19494"/>
                  <a:pt x="11856" y="19577"/>
                  <a:pt x="11766" y="19791"/>
                </a:cubicBezTo>
                <a:cubicBezTo>
                  <a:pt x="11636" y="20098"/>
                  <a:pt x="11752" y="20542"/>
                  <a:pt x="11996" y="20675"/>
                </a:cubicBezTo>
                <a:cubicBezTo>
                  <a:pt x="12185" y="20778"/>
                  <a:pt x="12701" y="20712"/>
                  <a:pt x="12826" y="20568"/>
                </a:cubicBezTo>
                <a:cubicBezTo>
                  <a:pt x="12934" y="20444"/>
                  <a:pt x="12937" y="20445"/>
                  <a:pt x="12966" y="20590"/>
                </a:cubicBezTo>
                <a:cubicBezTo>
                  <a:pt x="12989" y="20699"/>
                  <a:pt x="13036" y="20737"/>
                  <a:pt x="13149" y="20737"/>
                </a:cubicBezTo>
                <a:lnTo>
                  <a:pt x="13303" y="20737"/>
                </a:lnTo>
                <a:lnTo>
                  <a:pt x="13303" y="19876"/>
                </a:lnTo>
                <a:cubicBezTo>
                  <a:pt x="13303" y="18934"/>
                  <a:pt x="13269" y="18803"/>
                  <a:pt x="12984" y="18616"/>
                </a:cubicBezTo>
                <a:cubicBezTo>
                  <a:pt x="12877" y="18546"/>
                  <a:pt x="12710" y="18515"/>
                  <a:pt x="12535" y="18521"/>
                </a:cubicBezTo>
                <a:close/>
              </a:path>
            </a:pathLst>
          </a:custGeom>
          <a:ln w="12700">
            <a:miter lim="400000"/>
          </a:ln>
        </p:spPr>
      </p:pic>
      <p:pic>
        <p:nvPicPr>
          <p:cNvPr id="333" name="83D01664-0518-4FEB-9729-51ADFAC0AB4F.png" descr="83D01664-0518-4FEB-9729-51ADFAC0AB4F.png"/>
          <p:cNvPicPr>
            <a:picLocks noChangeAspect="1"/>
          </p:cNvPicPr>
          <p:nvPr/>
        </p:nvPicPr>
        <p:blipFill>
          <a:blip r:embed="rId19"/>
          <a:srcRect l="25423" t="18707" r="22678" b="22047"/>
          <a:stretch>
            <a:fillRect/>
          </a:stretch>
        </p:blipFill>
        <p:spPr>
          <a:xfrm>
            <a:off x="-4797850" y="2088329"/>
            <a:ext cx="3053822" cy="2324101"/>
          </a:xfrm>
          <a:custGeom>
            <a:avLst/>
            <a:gdLst/>
            <a:ahLst/>
            <a:cxnLst>
              <a:cxn ang="0">
                <a:pos x="wd2" y="hd2"/>
              </a:cxn>
              <a:cxn ang="5400000">
                <a:pos x="wd2" y="hd2"/>
              </a:cxn>
              <a:cxn ang="10800000">
                <a:pos x="wd2" y="hd2"/>
              </a:cxn>
              <a:cxn ang="16200000">
                <a:pos x="wd2" y="hd2"/>
              </a:cxn>
            </a:cxnLst>
            <a:rect l="0" t="0" r="r" b="b"/>
            <a:pathLst>
              <a:path w="21258" h="21600" extrusionOk="0">
                <a:moveTo>
                  <a:pt x="694" y="0"/>
                </a:moveTo>
                <a:cubicBezTo>
                  <a:pt x="542" y="0"/>
                  <a:pt x="542" y="3"/>
                  <a:pt x="542" y="767"/>
                </a:cubicBezTo>
                <a:cubicBezTo>
                  <a:pt x="542" y="2227"/>
                  <a:pt x="811" y="4384"/>
                  <a:pt x="1180" y="5887"/>
                </a:cubicBezTo>
                <a:cubicBezTo>
                  <a:pt x="1847" y="8603"/>
                  <a:pt x="2951" y="10547"/>
                  <a:pt x="4227" y="11246"/>
                </a:cubicBezTo>
                <a:cubicBezTo>
                  <a:pt x="4955" y="11645"/>
                  <a:pt x="5824" y="11467"/>
                  <a:pt x="6487" y="10785"/>
                </a:cubicBezTo>
                <a:cubicBezTo>
                  <a:pt x="7086" y="10169"/>
                  <a:pt x="7860" y="8644"/>
                  <a:pt x="8338" y="7134"/>
                </a:cubicBezTo>
                <a:cubicBezTo>
                  <a:pt x="8554" y="6452"/>
                  <a:pt x="8683" y="6216"/>
                  <a:pt x="8783" y="6326"/>
                </a:cubicBezTo>
                <a:cubicBezTo>
                  <a:pt x="8820" y="6367"/>
                  <a:pt x="9117" y="6402"/>
                  <a:pt x="9443" y="6403"/>
                </a:cubicBezTo>
                <a:cubicBezTo>
                  <a:pt x="9906" y="6405"/>
                  <a:pt x="10037" y="6380"/>
                  <a:pt x="10037" y="6293"/>
                </a:cubicBezTo>
                <a:cubicBezTo>
                  <a:pt x="10037" y="6205"/>
                  <a:pt x="9901" y="6182"/>
                  <a:pt x="9418" y="6182"/>
                </a:cubicBezTo>
                <a:cubicBezTo>
                  <a:pt x="9079" y="6182"/>
                  <a:pt x="8777" y="6152"/>
                  <a:pt x="8747" y="6112"/>
                </a:cubicBezTo>
                <a:cubicBezTo>
                  <a:pt x="8715" y="6070"/>
                  <a:pt x="8761" y="5801"/>
                  <a:pt x="8855" y="5474"/>
                </a:cubicBezTo>
                <a:cubicBezTo>
                  <a:pt x="9114" y="4568"/>
                  <a:pt x="9487" y="3082"/>
                  <a:pt x="9487" y="2958"/>
                </a:cubicBezTo>
                <a:cubicBezTo>
                  <a:pt x="9487" y="2896"/>
                  <a:pt x="9414" y="2823"/>
                  <a:pt x="9321" y="2796"/>
                </a:cubicBezTo>
                <a:cubicBezTo>
                  <a:pt x="9229" y="2769"/>
                  <a:pt x="9026" y="2660"/>
                  <a:pt x="8871" y="2552"/>
                </a:cubicBezTo>
                <a:cubicBezTo>
                  <a:pt x="8508" y="2300"/>
                  <a:pt x="8305" y="2302"/>
                  <a:pt x="8109" y="2564"/>
                </a:cubicBezTo>
                <a:cubicBezTo>
                  <a:pt x="7978" y="2738"/>
                  <a:pt x="7961" y="2815"/>
                  <a:pt x="8001" y="3032"/>
                </a:cubicBezTo>
                <a:cubicBezTo>
                  <a:pt x="8080" y="3461"/>
                  <a:pt x="8042" y="3823"/>
                  <a:pt x="7821" y="4795"/>
                </a:cubicBezTo>
                <a:cubicBezTo>
                  <a:pt x="7488" y="6264"/>
                  <a:pt x="7532" y="6171"/>
                  <a:pt x="7178" y="6171"/>
                </a:cubicBezTo>
                <a:cubicBezTo>
                  <a:pt x="6946" y="6171"/>
                  <a:pt x="6871" y="6201"/>
                  <a:pt x="6871" y="6293"/>
                </a:cubicBezTo>
                <a:cubicBezTo>
                  <a:pt x="6871" y="6378"/>
                  <a:pt x="6936" y="6414"/>
                  <a:pt x="7086" y="6414"/>
                </a:cubicBezTo>
                <a:cubicBezTo>
                  <a:pt x="7220" y="6414"/>
                  <a:pt x="7314" y="6461"/>
                  <a:pt x="7335" y="6536"/>
                </a:cubicBezTo>
                <a:cubicBezTo>
                  <a:pt x="7379" y="6687"/>
                  <a:pt x="6785" y="8347"/>
                  <a:pt x="6457" y="8993"/>
                </a:cubicBezTo>
                <a:cubicBezTo>
                  <a:pt x="5940" y="10008"/>
                  <a:pt x="5284" y="10552"/>
                  <a:pt x="4705" y="10446"/>
                </a:cubicBezTo>
                <a:cubicBezTo>
                  <a:pt x="4327" y="10377"/>
                  <a:pt x="3892" y="10060"/>
                  <a:pt x="3487" y="9557"/>
                </a:cubicBezTo>
                <a:lnTo>
                  <a:pt x="3136" y="9122"/>
                </a:lnTo>
                <a:lnTo>
                  <a:pt x="3332" y="8967"/>
                </a:lnTo>
                <a:cubicBezTo>
                  <a:pt x="3582" y="8770"/>
                  <a:pt x="3693" y="8339"/>
                  <a:pt x="3592" y="7952"/>
                </a:cubicBezTo>
                <a:cubicBezTo>
                  <a:pt x="3529" y="7713"/>
                  <a:pt x="3537" y="7665"/>
                  <a:pt x="3675" y="7473"/>
                </a:cubicBezTo>
                <a:cubicBezTo>
                  <a:pt x="3759" y="7356"/>
                  <a:pt x="3829" y="7235"/>
                  <a:pt x="3829" y="7204"/>
                </a:cubicBezTo>
                <a:cubicBezTo>
                  <a:pt x="3829" y="7081"/>
                  <a:pt x="3658" y="7156"/>
                  <a:pt x="3531" y="7336"/>
                </a:cubicBezTo>
                <a:cubicBezTo>
                  <a:pt x="3417" y="7499"/>
                  <a:pt x="3354" y="7523"/>
                  <a:pt x="3105" y="7491"/>
                </a:cubicBezTo>
                <a:cubicBezTo>
                  <a:pt x="2843" y="7458"/>
                  <a:pt x="2791" y="7479"/>
                  <a:pt x="2589" y="7716"/>
                </a:cubicBezTo>
                <a:lnTo>
                  <a:pt x="2362" y="7978"/>
                </a:lnTo>
                <a:lnTo>
                  <a:pt x="2208" y="7786"/>
                </a:lnTo>
                <a:cubicBezTo>
                  <a:pt x="1580" y="7005"/>
                  <a:pt x="846" y="3224"/>
                  <a:pt x="846" y="767"/>
                </a:cubicBezTo>
                <a:cubicBezTo>
                  <a:pt x="846" y="3"/>
                  <a:pt x="845" y="0"/>
                  <a:pt x="694" y="0"/>
                </a:cubicBezTo>
                <a:close/>
                <a:moveTo>
                  <a:pt x="10023" y="85"/>
                </a:moveTo>
                <a:cubicBezTo>
                  <a:pt x="9895" y="126"/>
                  <a:pt x="9487" y="439"/>
                  <a:pt x="9487" y="513"/>
                </a:cubicBezTo>
                <a:cubicBezTo>
                  <a:pt x="9487" y="551"/>
                  <a:pt x="9542" y="645"/>
                  <a:pt x="9606" y="719"/>
                </a:cubicBezTo>
                <a:cubicBezTo>
                  <a:pt x="9721" y="852"/>
                  <a:pt x="9720" y="863"/>
                  <a:pt x="9576" y="1498"/>
                </a:cubicBezTo>
                <a:cubicBezTo>
                  <a:pt x="9495" y="1852"/>
                  <a:pt x="9426" y="2214"/>
                  <a:pt x="9426" y="2298"/>
                </a:cubicBezTo>
                <a:cubicBezTo>
                  <a:pt x="9426" y="2637"/>
                  <a:pt x="9577" y="2353"/>
                  <a:pt x="9708" y="1763"/>
                </a:cubicBezTo>
                <a:cubicBezTo>
                  <a:pt x="9885" y="970"/>
                  <a:pt x="9891" y="954"/>
                  <a:pt x="10048" y="1066"/>
                </a:cubicBezTo>
                <a:cubicBezTo>
                  <a:pt x="10172" y="1155"/>
                  <a:pt x="10174" y="1143"/>
                  <a:pt x="10131" y="638"/>
                </a:cubicBezTo>
                <a:cubicBezTo>
                  <a:pt x="10107" y="354"/>
                  <a:pt x="10075" y="106"/>
                  <a:pt x="10059" y="85"/>
                </a:cubicBezTo>
                <a:cubicBezTo>
                  <a:pt x="10054" y="78"/>
                  <a:pt x="10042" y="79"/>
                  <a:pt x="10023" y="85"/>
                </a:cubicBezTo>
                <a:close/>
                <a:moveTo>
                  <a:pt x="12767" y="262"/>
                </a:moveTo>
                <a:cubicBezTo>
                  <a:pt x="11927" y="334"/>
                  <a:pt x="11643" y="1892"/>
                  <a:pt x="12460" y="2453"/>
                </a:cubicBezTo>
                <a:lnTo>
                  <a:pt x="12744" y="2648"/>
                </a:lnTo>
                <a:lnTo>
                  <a:pt x="12764" y="3397"/>
                </a:lnTo>
                <a:cubicBezTo>
                  <a:pt x="12780" y="4082"/>
                  <a:pt x="12770" y="4150"/>
                  <a:pt x="12659" y="4205"/>
                </a:cubicBezTo>
                <a:cubicBezTo>
                  <a:pt x="12538" y="4265"/>
                  <a:pt x="12537" y="4264"/>
                  <a:pt x="12662" y="4526"/>
                </a:cubicBezTo>
                <a:cubicBezTo>
                  <a:pt x="12815" y="4849"/>
                  <a:pt x="12856" y="4854"/>
                  <a:pt x="13015" y="4555"/>
                </a:cubicBezTo>
                <a:cubicBezTo>
                  <a:pt x="13170" y="4265"/>
                  <a:pt x="13169" y="4250"/>
                  <a:pt x="13018" y="4198"/>
                </a:cubicBezTo>
                <a:cubicBezTo>
                  <a:pt x="12907" y="4159"/>
                  <a:pt x="12896" y="4087"/>
                  <a:pt x="12896" y="3416"/>
                </a:cubicBezTo>
                <a:cubicBezTo>
                  <a:pt x="12896" y="2710"/>
                  <a:pt x="12904" y="2672"/>
                  <a:pt x="13046" y="2586"/>
                </a:cubicBezTo>
                <a:cubicBezTo>
                  <a:pt x="13127" y="2536"/>
                  <a:pt x="13232" y="2514"/>
                  <a:pt x="13278" y="2538"/>
                </a:cubicBezTo>
                <a:cubicBezTo>
                  <a:pt x="13345" y="2572"/>
                  <a:pt x="14469" y="4502"/>
                  <a:pt x="14620" y="4843"/>
                </a:cubicBezTo>
                <a:cubicBezTo>
                  <a:pt x="14646" y="4901"/>
                  <a:pt x="14477" y="5091"/>
                  <a:pt x="14178" y="5345"/>
                </a:cubicBezTo>
                <a:lnTo>
                  <a:pt x="13698" y="5754"/>
                </a:lnTo>
                <a:lnTo>
                  <a:pt x="13598" y="5555"/>
                </a:lnTo>
                <a:cubicBezTo>
                  <a:pt x="13253" y="4851"/>
                  <a:pt x="12369" y="4883"/>
                  <a:pt x="12090" y="5610"/>
                </a:cubicBezTo>
                <a:cubicBezTo>
                  <a:pt x="11847" y="6243"/>
                  <a:pt x="12005" y="6922"/>
                  <a:pt x="12474" y="7263"/>
                </a:cubicBezTo>
                <a:lnTo>
                  <a:pt x="12775" y="7480"/>
                </a:lnTo>
                <a:lnTo>
                  <a:pt x="12775" y="8295"/>
                </a:lnTo>
                <a:cubicBezTo>
                  <a:pt x="12775" y="9040"/>
                  <a:pt x="12764" y="9113"/>
                  <a:pt x="12653" y="9151"/>
                </a:cubicBezTo>
                <a:cubicBezTo>
                  <a:pt x="12535" y="9192"/>
                  <a:pt x="12537" y="9201"/>
                  <a:pt x="12645" y="9409"/>
                </a:cubicBezTo>
                <a:cubicBezTo>
                  <a:pt x="12854" y="9812"/>
                  <a:pt x="12853" y="9813"/>
                  <a:pt x="12535" y="9996"/>
                </a:cubicBezTo>
                <a:cubicBezTo>
                  <a:pt x="12115" y="10237"/>
                  <a:pt x="11959" y="10576"/>
                  <a:pt x="11996" y="11173"/>
                </a:cubicBezTo>
                <a:cubicBezTo>
                  <a:pt x="12026" y="11662"/>
                  <a:pt x="12181" y="11956"/>
                  <a:pt x="12501" y="12146"/>
                </a:cubicBezTo>
                <a:cubicBezTo>
                  <a:pt x="12753" y="12295"/>
                  <a:pt x="12943" y="12283"/>
                  <a:pt x="13242" y="12102"/>
                </a:cubicBezTo>
                <a:cubicBezTo>
                  <a:pt x="13538" y="11923"/>
                  <a:pt x="13689" y="11602"/>
                  <a:pt x="13689" y="11139"/>
                </a:cubicBezTo>
                <a:cubicBezTo>
                  <a:pt x="13689" y="10964"/>
                  <a:pt x="13722" y="10783"/>
                  <a:pt x="13764" y="10737"/>
                </a:cubicBezTo>
                <a:cubicBezTo>
                  <a:pt x="13806" y="10692"/>
                  <a:pt x="14224" y="10374"/>
                  <a:pt x="14692" y="10033"/>
                </a:cubicBezTo>
                <a:cubicBezTo>
                  <a:pt x="15469" y="9466"/>
                  <a:pt x="15548" y="9423"/>
                  <a:pt x="15618" y="9550"/>
                </a:cubicBezTo>
                <a:cubicBezTo>
                  <a:pt x="15686" y="9674"/>
                  <a:pt x="15705" y="9661"/>
                  <a:pt x="15789" y="9395"/>
                </a:cubicBezTo>
                <a:cubicBezTo>
                  <a:pt x="15894" y="9059"/>
                  <a:pt x="15965" y="9018"/>
                  <a:pt x="16060" y="9255"/>
                </a:cubicBezTo>
                <a:cubicBezTo>
                  <a:pt x="16224" y="9664"/>
                  <a:pt x="16896" y="9800"/>
                  <a:pt x="17267" y="9498"/>
                </a:cubicBezTo>
                <a:cubicBezTo>
                  <a:pt x="17478" y="9326"/>
                  <a:pt x="17645" y="8917"/>
                  <a:pt x="17645" y="8568"/>
                </a:cubicBezTo>
                <a:cubicBezTo>
                  <a:pt x="17645" y="8395"/>
                  <a:pt x="17764" y="8257"/>
                  <a:pt x="18419" y="7683"/>
                </a:cubicBezTo>
                <a:cubicBezTo>
                  <a:pt x="19094" y="7092"/>
                  <a:pt x="19205" y="7021"/>
                  <a:pt x="19270" y="7130"/>
                </a:cubicBezTo>
                <a:cubicBezTo>
                  <a:pt x="19334" y="7237"/>
                  <a:pt x="19361" y="7210"/>
                  <a:pt x="19444" y="6945"/>
                </a:cubicBezTo>
                <a:lnTo>
                  <a:pt x="19538" y="6639"/>
                </a:lnTo>
                <a:lnTo>
                  <a:pt x="19701" y="6842"/>
                </a:lnTo>
                <a:cubicBezTo>
                  <a:pt x="19940" y="7139"/>
                  <a:pt x="20100" y="7226"/>
                  <a:pt x="20394" y="7226"/>
                </a:cubicBezTo>
                <a:cubicBezTo>
                  <a:pt x="21340" y="7225"/>
                  <a:pt x="21598" y="5439"/>
                  <a:pt x="20718" y="4991"/>
                </a:cubicBezTo>
                <a:cubicBezTo>
                  <a:pt x="20362" y="4809"/>
                  <a:pt x="20074" y="4885"/>
                  <a:pt x="19778" y="5241"/>
                </a:cubicBezTo>
                <a:cubicBezTo>
                  <a:pt x="19525" y="5546"/>
                  <a:pt x="19458" y="5523"/>
                  <a:pt x="19378" y="5094"/>
                </a:cubicBezTo>
                <a:cubicBezTo>
                  <a:pt x="19339" y="4888"/>
                  <a:pt x="19328" y="4879"/>
                  <a:pt x="19256" y="5009"/>
                </a:cubicBezTo>
                <a:cubicBezTo>
                  <a:pt x="19185" y="5140"/>
                  <a:pt x="19112" y="5091"/>
                  <a:pt x="18380" y="4441"/>
                </a:cubicBezTo>
                <a:cubicBezTo>
                  <a:pt x="17647" y="3789"/>
                  <a:pt x="17586" y="3716"/>
                  <a:pt x="17621" y="3530"/>
                </a:cubicBezTo>
                <a:cubicBezTo>
                  <a:pt x="17722" y="2989"/>
                  <a:pt x="17444" y="2346"/>
                  <a:pt x="17038" y="2184"/>
                </a:cubicBezTo>
                <a:cubicBezTo>
                  <a:pt x="16664" y="2034"/>
                  <a:pt x="16375" y="2152"/>
                  <a:pt x="16082" y="2571"/>
                </a:cubicBezTo>
                <a:lnTo>
                  <a:pt x="15828" y="2932"/>
                </a:lnTo>
                <a:lnTo>
                  <a:pt x="15670" y="2626"/>
                </a:lnTo>
                <a:cubicBezTo>
                  <a:pt x="15575" y="2439"/>
                  <a:pt x="15515" y="2370"/>
                  <a:pt x="15515" y="2453"/>
                </a:cubicBezTo>
                <a:cubicBezTo>
                  <a:pt x="15515" y="2528"/>
                  <a:pt x="15488" y="2609"/>
                  <a:pt x="15457" y="2634"/>
                </a:cubicBezTo>
                <a:cubicBezTo>
                  <a:pt x="15427" y="2659"/>
                  <a:pt x="15023" y="2489"/>
                  <a:pt x="14560" y="2254"/>
                </a:cubicBezTo>
                <a:lnTo>
                  <a:pt x="13720" y="1826"/>
                </a:lnTo>
                <a:lnTo>
                  <a:pt x="13711" y="1450"/>
                </a:lnTo>
                <a:cubicBezTo>
                  <a:pt x="13696" y="749"/>
                  <a:pt x="13429" y="339"/>
                  <a:pt x="12943" y="266"/>
                </a:cubicBezTo>
                <a:cubicBezTo>
                  <a:pt x="12883" y="256"/>
                  <a:pt x="12823" y="257"/>
                  <a:pt x="12767" y="262"/>
                </a:cubicBezTo>
                <a:close/>
                <a:moveTo>
                  <a:pt x="10935" y="5806"/>
                </a:moveTo>
                <a:cubicBezTo>
                  <a:pt x="10872" y="5797"/>
                  <a:pt x="10874" y="5846"/>
                  <a:pt x="10940" y="5953"/>
                </a:cubicBezTo>
                <a:cubicBezTo>
                  <a:pt x="11045" y="6122"/>
                  <a:pt x="10962" y="6171"/>
                  <a:pt x="10573" y="6171"/>
                </a:cubicBezTo>
                <a:cubicBezTo>
                  <a:pt x="10298" y="6171"/>
                  <a:pt x="10219" y="6198"/>
                  <a:pt x="10219" y="6293"/>
                </a:cubicBezTo>
                <a:cubicBezTo>
                  <a:pt x="10219" y="6388"/>
                  <a:pt x="10304" y="6414"/>
                  <a:pt x="10612" y="6414"/>
                </a:cubicBezTo>
                <a:cubicBezTo>
                  <a:pt x="10989" y="6414"/>
                  <a:pt x="11183" y="6527"/>
                  <a:pt x="10985" y="6628"/>
                </a:cubicBezTo>
                <a:cubicBezTo>
                  <a:pt x="10932" y="6655"/>
                  <a:pt x="10888" y="6706"/>
                  <a:pt x="10888" y="6746"/>
                </a:cubicBezTo>
                <a:cubicBezTo>
                  <a:pt x="10888" y="6786"/>
                  <a:pt x="10919" y="6820"/>
                  <a:pt x="10957" y="6820"/>
                </a:cubicBezTo>
                <a:cubicBezTo>
                  <a:pt x="11031" y="6820"/>
                  <a:pt x="11678" y="6344"/>
                  <a:pt x="11678" y="6289"/>
                </a:cubicBezTo>
                <a:cubicBezTo>
                  <a:pt x="11678" y="6271"/>
                  <a:pt x="11512" y="6142"/>
                  <a:pt x="11308" y="6005"/>
                </a:cubicBezTo>
                <a:cubicBezTo>
                  <a:pt x="11124" y="5881"/>
                  <a:pt x="10998" y="5814"/>
                  <a:pt x="10935" y="5806"/>
                </a:cubicBezTo>
                <a:close/>
                <a:moveTo>
                  <a:pt x="6390" y="6171"/>
                </a:moveTo>
                <a:cubicBezTo>
                  <a:pt x="6151" y="6171"/>
                  <a:pt x="6081" y="6199"/>
                  <a:pt x="6081" y="6296"/>
                </a:cubicBezTo>
                <a:cubicBezTo>
                  <a:pt x="6081" y="6396"/>
                  <a:pt x="6138" y="6419"/>
                  <a:pt x="6363" y="6400"/>
                </a:cubicBezTo>
                <a:cubicBezTo>
                  <a:pt x="6769" y="6364"/>
                  <a:pt x="6792" y="6171"/>
                  <a:pt x="6390" y="6171"/>
                </a:cubicBezTo>
                <a:close/>
                <a:moveTo>
                  <a:pt x="5771" y="6182"/>
                </a:moveTo>
                <a:cubicBezTo>
                  <a:pt x="5739" y="6181"/>
                  <a:pt x="5698" y="6181"/>
                  <a:pt x="5650" y="6186"/>
                </a:cubicBezTo>
                <a:cubicBezTo>
                  <a:pt x="5503" y="6200"/>
                  <a:pt x="5377" y="6258"/>
                  <a:pt x="5363" y="6318"/>
                </a:cubicBezTo>
                <a:cubicBezTo>
                  <a:pt x="5343" y="6398"/>
                  <a:pt x="5404" y="6418"/>
                  <a:pt x="5597" y="6400"/>
                </a:cubicBezTo>
                <a:cubicBezTo>
                  <a:pt x="5744" y="6385"/>
                  <a:pt x="5870" y="6327"/>
                  <a:pt x="5885" y="6267"/>
                </a:cubicBezTo>
                <a:cubicBezTo>
                  <a:pt x="5899" y="6207"/>
                  <a:pt x="5869" y="6184"/>
                  <a:pt x="5771" y="6182"/>
                </a:cubicBezTo>
                <a:close/>
                <a:moveTo>
                  <a:pt x="5078" y="6285"/>
                </a:moveTo>
                <a:cubicBezTo>
                  <a:pt x="5057" y="6288"/>
                  <a:pt x="5031" y="6294"/>
                  <a:pt x="5001" y="6304"/>
                </a:cubicBezTo>
                <a:cubicBezTo>
                  <a:pt x="4748" y="6384"/>
                  <a:pt x="4610" y="6496"/>
                  <a:pt x="4653" y="6588"/>
                </a:cubicBezTo>
                <a:cubicBezTo>
                  <a:pt x="4674" y="6633"/>
                  <a:pt x="4732" y="6650"/>
                  <a:pt x="4782" y="6625"/>
                </a:cubicBezTo>
                <a:cubicBezTo>
                  <a:pt x="4832" y="6599"/>
                  <a:pt x="4939" y="6556"/>
                  <a:pt x="5020" y="6529"/>
                </a:cubicBezTo>
                <a:cubicBezTo>
                  <a:pt x="5101" y="6502"/>
                  <a:pt x="5166" y="6426"/>
                  <a:pt x="5166" y="6363"/>
                </a:cubicBezTo>
                <a:cubicBezTo>
                  <a:pt x="5166" y="6300"/>
                  <a:pt x="5142" y="6277"/>
                  <a:pt x="5078" y="6285"/>
                </a:cubicBezTo>
                <a:close/>
                <a:moveTo>
                  <a:pt x="4432" y="6632"/>
                </a:moveTo>
                <a:cubicBezTo>
                  <a:pt x="4322" y="6619"/>
                  <a:pt x="4012" y="6846"/>
                  <a:pt x="4012" y="6960"/>
                </a:cubicBezTo>
                <a:cubicBezTo>
                  <a:pt x="4012" y="7105"/>
                  <a:pt x="4053" y="7092"/>
                  <a:pt x="4293" y="6894"/>
                </a:cubicBezTo>
                <a:cubicBezTo>
                  <a:pt x="4406" y="6801"/>
                  <a:pt x="4483" y="6693"/>
                  <a:pt x="4465" y="6654"/>
                </a:cubicBezTo>
                <a:cubicBezTo>
                  <a:pt x="4459" y="6642"/>
                  <a:pt x="4447" y="6634"/>
                  <a:pt x="4432" y="6632"/>
                </a:cubicBezTo>
                <a:close/>
                <a:moveTo>
                  <a:pt x="205" y="12017"/>
                </a:moveTo>
                <a:cubicBezTo>
                  <a:pt x="96" y="12017"/>
                  <a:pt x="7" y="12157"/>
                  <a:pt x="0" y="12294"/>
                </a:cubicBezTo>
                <a:cubicBezTo>
                  <a:pt x="-2" y="12339"/>
                  <a:pt x="7" y="12383"/>
                  <a:pt x="25" y="12423"/>
                </a:cubicBezTo>
                <a:cubicBezTo>
                  <a:pt x="83" y="12549"/>
                  <a:pt x="342" y="12519"/>
                  <a:pt x="381" y="12382"/>
                </a:cubicBezTo>
                <a:cubicBezTo>
                  <a:pt x="438" y="12185"/>
                  <a:pt x="357" y="12017"/>
                  <a:pt x="205" y="12017"/>
                </a:cubicBezTo>
                <a:close/>
                <a:moveTo>
                  <a:pt x="5901" y="12180"/>
                </a:moveTo>
                <a:cubicBezTo>
                  <a:pt x="3222" y="12180"/>
                  <a:pt x="537" y="12205"/>
                  <a:pt x="511" y="12261"/>
                </a:cubicBezTo>
                <a:cubicBezTo>
                  <a:pt x="486" y="12315"/>
                  <a:pt x="2285" y="12342"/>
                  <a:pt x="5863" y="12342"/>
                </a:cubicBezTo>
                <a:cubicBezTo>
                  <a:pt x="9415" y="12342"/>
                  <a:pt x="11253" y="12314"/>
                  <a:pt x="11253" y="12261"/>
                </a:cubicBezTo>
                <a:cubicBezTo>
                  <a:pt x="11253" y="12205"/>
                  <a:pt x="8580" y="12180"/>
                  <a:pt x="5901" y="12180"/>
                </a:cubicBezTo>
                <a:close/>
                <a:moveTo>
                  <a:pt x="4865" y="14374"/>
                </a:moveTo>
                <a:cubicBezTo>
                  <a:pt x="4570" y="14374"/>
                  <a:pt x="4390" y="14559"/>
                  <a:pt x="4340" y="14913"/>
                </a:cubicBezTo>
                <a:cubicBezTo>
                  <a:pt x="4314" y="15100"/>
                  <a:pt x="4258" y="15219"/>
                  <a:pt x="4186" y="15245"/>
                </a:cubicBezTo>
                <a:cubicBezTo>
                  <a:pt x="4035" y="15297"/>
                  <a:pt x="4040" y="15560"/>
                  <a:pt x="4194" y="15614"/>
                </a:cubicBezTo>
                <a:cubicBezTo>
                  <a:pt x="4304" y="15652"/>
                  <a:pt x="4316" y="15725"/>
                  <a:pt x="4316" y="16355"/>
                </a:cubicBezTo>
                <a:cubicBezTo>
                  <a:pt x="4316" y="17042"/>
                  <a:pt x="4317" y="17052"/>
                  <a:pt x="4465" y="17052"/>
                </a:cubicBezTo>
                <a:cubicBezTo>
                  <a:pt x="4611" y="17052"/>
                  <a:pt x="4616" y="17038"/>
                  <a:pt x="4633" y="16344"/>
                </a:cubicBezTo>
                <a:lnTo>
                  <a:pt x="4650" y="15632"/>
                </a:lnTo>
                <a:lnTo>
                  <a:pt x="5014" y="15632"/>
                </a:lnTo>
                <a:lnTo>
                  <a:pt x="5379" y="15632"/>
                </a:lnTo>
                <a:lnTo>
                  <a:pt x="5398" y="16344"/>
                </a:lnTo>
                <a:cubicBezTo>
                  <a:pt x="5416" y="17035"/>
                  <a:pt x="5418" y="17052"/>
                  <a:pt x="5561" y="17052"/>
                </a:cubicBezTo>
                <a:cubicBezTo>
                  <a:pt x="5705" y="17052"/>
                  <a:pt x="5710" y="17035"/>
                  <a:pt x="5727" y="16344"/>
                </a:cubicBezTo>
                <a:lnTo>
                  <a:pt x="5747" y="15632"/>
                </a:lnTo>
                <a:lnTo>
                  <a:pt x="5943" y="15606"/>
                </a:lnTo>
                <a:cubicBezTo>
                  <a:pt x="6091" y="15587"/>
                  <a:pt x="6142" y="15540"/>
                  <a:pt x="6142" y="15422"/>
                </a:cubicBezTo>
                <a:cubicBezTo>
                  <a:pt x="6142" y="15301"/>
                  <a:pt x="6098" y="15267"/>
                  <a:pt x="5957" y="15267"/>
                </a:cubicBezTo>
                <a:cubicBezTo>
                  <a:pt x="5614" y="15267"/>
                  <a:pt x="5648" y="14777"/>
                  <a:pt x="5995" y="14695"/>
                </a:cubicBezTo>
                <a:cubicBezTo>
                  <a:pt x="6274" y="14629"/>
                  <a:pt x="6219" y="14418"/>
                  <a:pt x="5915" y="14389"/>
                </a:cubicBezTo>
                <a:cubicBezTo>
                  <a:pt x="5604" y="14359"/>
                  <a:pt x="5410" y="14570"/>
                  <a:pt x="5410" y="14942"/>
                </a:cubicBezTo>
                <a:cubicBezTo>
                  <a:pt x="5410" y="15241"/>
                  <a:pt x="5267" y="15335"/>
                  <a:pt x="4904" y="15270"/>
                </a:cubicBezTo>
                <a:cubicBezTo>
                  <a:pt x="4733" y="15240"/>
                  <a:pt x="4644" y="15183"/>
                  <a:pt x="4630" y="15090"/>
                </a:cubicBezTo>
                <a:cubicBezTo>
                  <a:pt x="4602" y="14896"/>
                  <a:pt x="4844" y="14596"/>
                  <a:pt x="4981" y="14655"/>
                </a:cubicBezTo>
                <a:cubicBezTo>
                  <a:pt x="5048" y="14683"/>
                  <a:pt x="5105" y="14658"/>
                  <a:pt x="5125" y="14588"/>
                </a:cubicBezTo>
                <a:cubicBezTo>
                  <a:pt x="5173" y="14422"/>
                  <a:pt x="5115" y="14374"/>
                  <a:pt x="4865" y="14374"/>
                </a:cubicBezTo>
                <a:close/>
                <a:moveTo>
                  <a:pt x="15759" y="14374"/>
                </a:moveTo>
                <a:lnTo>
                  <a:pt x="15759" y="15628"/>
                </a:lnTo>
                <a:lnTo>
                  <a:pt x="15759" y="16886"/>
                </a:lnTo>
                <a:lnTo>
                  <a:pt x="16046" y="17008"/>
                </a:lnTo>
                <a:cubicBezTo>
                  <a:pt x="16686" y="17276"/>
                  <a:pt x="17096" y="16944"/>
                  <a:pt x="17096" y="16159"/>
                </a:cubicBezTo>
                <a:cubicBezTo>
                  <a:pt x="17096" y="15414"/>
                  <a:pt x="16787" y="15141"/>
                  <a:pt x="16184" y="15355"/>
                </a:cubicBezTo>
                <a:cubicBezTo>
                  <a:pt x="16111" y="15381"/>
                  <a:pt x="16088" y="15284"/>
                  <a:pt x="16074" y="14880"/>
                </a:cubicBezTo>
                <a:cubicBezTo>
                  <a:pt x="16056" y="14402"/>
                  <a:pt x="16048" y="14374"/>
                  <a:pt x="15908" y="14374"/>
                </a:cubicBezTo>
                <a:lnTo>
                  <a:pt x="15759" y="14374"/>
                </a:lnTo>
                <a:close/>
                <a:moveTo>
                  <a:pt x="17463" y="14374"/>
                </a:moveTo>
                <a:lnTo>
                  <a:pt x="17463" y="15713"/>
                </a:lnTo>
                <a:lnTo>
                  <a:pt x="17463" y="17052"/>
                </a:lnTo>
                <a:lnTo>
                  <a:pt x="17612" y="17052"/>
                </a:lnTo>
                <a:lnTo>
                  <a:pt x="17767" y="17052"/>
                </a:lnTo>
                <a:lnTo>
                  <a:pt x="17767" y="15713"/>
                </a:lnTo>
                <a:lnTo>
                  <a:pt x="17767" y="14374"/>
                </a:lnTo>
                <a:lnTo>
                  <a:pt x="17612" y="14374"/>
                </a:lnTo>
                <a:lnTo>
                  <a:pt x="17463" y="14374"/>
                </a:lnTo>
                <a:close/>
                <a:moveTo>
                  <a:pt x="13656" y="14389"/>
                </a:moveTo>
                <a:cubicBezTo>
                  <a:pt x="13528" y="14408"/>
                  <a:pt x="13436" y="14571"/>
                  <a:pt x="13482" y="14732"/>
                </a:cubicBezTo>
                <a:cubicBezTo>
                  <a:pt x="13508" y="14822"/>
                  <a:pt x="13576" y="14859"/>
                  <a:pt x="13681" y="14843"/>
                </a:cubicBezTo>
                <a:cubicBezTo>
                  <a:pt x="13806" y="14823"/>
                  <a:pt x="13841" y="14776"/>
                  <a:pt x="13841" y="14618"/>
                </a:cubicBezTo>
                <a:cubicBezTo>
                  <a:pt x="13841" y="14474"/>
                  <a:pt x="13804" y="14406"/>
                  <a:pt x="13714" y="14389"/>
                </a:cubicBezTo>
                <a:cubicBezTo>
                  <a:pt x="13695" y="14385"/>
                  <a:pt x="13675" y="14386"/>
                  <a:pt x="13656" y="14389"/>
                </a:cubicBezTo>
                <a:close/>
                <a:moveTo>
                  <a:pt x="3647" y="14396"/>
                </a:moveTo>
                <a:cubicBezTo>
                  <a:pt x="3539" y="14422"/>
                  <a:pt x="3441" y="14585"/>
                  <a:pt x="3484" y="14736"/>
                </a:cubicBezTo>
                <a:cubicBezTo>
                  <a:pt x="3540" y="14930"/>
                  <a:pt x="3860" y="14870"/>
                  <a:pt x="3860" y="14666"/>
                </a:cubicBezTo>
                <a:cubicBezTo>
                  <a:pt x="3860" y="14581"/>
                  <a:pt x="3810" y="14471"/>
                  <a:pt x="3752" y="14422"/>
                </a:cubicBezTo>
                <a:cubicBezTo>
                  <a:pt x="3718" y="14394"/>
                  <a:pt x="3683" y="14388"/>
                  <a:pt x="3647" y="14396"/>
                </a:cubicBezTo>
                <a:close/>
                <a:moveTo>
                  <a:pt x="1652" y="14529"/>
                </a:moveTo>
                <a:lnTo>
                  <a:pt x="1453" y="14536"/>
                </a:lnTo>
                <a:lnTo>
                  <a:pt x="1453" y="15794"/>
                </a:lnTo>
                <a:lnTo>
                  <a:pt x="1453" y="17052"/>
                </a:lnTo>
                <a:lnTo>
                  <a:pt x="1956" y="17052"/>
                </a:lnTo>
                <a:cubicBezTo>
                  <a:pt x="2766" y="17052"/>
                  <a:pt x="3158" y="16645"/>
                  <a:pt x="3158" y="15802"/>
                </a:cubicBezTo>
                <a:cubicBezTo>
                  <a:pt x="3158" y="14804"/>
                  <a:pt x="2786" y="14489"/>
                  <a:pt x="1652" y="14529"/>
                </a:cubicBezTo>
                <a:close/>
                <a:moveTo>
                  <a:pt x="12639" y="14710"/>
                </a:moveTo>
                <a:cubicBezTo>
                  <a:pt x="12621" y="14705"/>
                  <a:pt x="12601" y="14708"/>
                  <a:pt x="12573" y="14714"/>
                </a:cubicBezTo>
                <a:cubicBezTo>
                  <a:pt x="12479" y="14731"/>
                  <a:pt x="12435" y="14803"/>
                  <a:pt x="12421" y="14961"/>
                </a:cubicBezTo>
                <a:cubicBezTo>
                  <a:pt x="12411" y="15083"/>
                  <a:pt x="12348" y="15224"/>
                  <a:pt x="12283" y="15270"/>
                </a:cubicBezTo>
                <a:cubicBezTo>
                  <a:pt x="12130" y="15380"/>
                  <a:pt x="12134" y="15560"/>
                  <a:pt x="12289" y="15614"/>
                </a:cubicBezTo>
                <a:cubicBezTo>
                  <a:pt x="12394" y="15650"/>
                  <a:pt x="12410" y="15725"/>
                  <a:pt x="12410" y="16174"/>
                </a:cubicBezTo>
                <a:cubicBezTo>
                  <a:pt x="12410" y="16745"/>
                  <a:pt x="12508" y="17020"/>
                  <a:pt x="12731" y="17074"/>
                </a:cubicBezTo>
                <a:cubicBezTo>
                  <a:pt x="12856" y="17104"/>
                  <a:pt x="13141" y="17060"/>
                  <a:pt x="13192" y="17004"/>
                </a:cubicBezTo>
                <a:cubicBezTo>
                  <a:pt x="13251" y="16938"/>
                  <a:pt x="13116" y="16809"/>
                  <a:pt x="12988" y="16809"/>
                </a:cubicBezTo>
                <a:cubicBezTo>
                  <a:pt x="12789" y="16809"/>
                  <a:pt x="12706" y="16568"/>
                  <a:pt x="12728" y="16056"/>
                </a:cubicBezTo>
                <a:cubicBezTo>
                  <a:pt x="12746" y="15643"/>
                  <a:pt x="12751" y="15631"/>
                  <a:pt x="12943" y="15606"/>
                </a:cubicBezTo>
                <a:cubicBezTo>
                  <a:pt x="13089" y="15587"/>
                  <a:pt x="13140" y="15541"/>
                  <a:pt x="13140" y="15429"/>
                </a:cubicBezTo>
                <a:cubicBezTo>
                  <a:pt x="13140" y="15317"/>
                  <a:pt x="13089" y="15271"/>
                  <a:pt x="12943" y="15252"/>
                </a:cubicBezTo>
                <a:cubicBezTo>
                  <a:pt x="12769" y="15230"/>
                  <a:pt x="12742" y="15194"/>
                  <a:pt x="12725" y="14957"/>
                </a:cubicBezTo>
                <a:cubicBezTo>
                  <a:pt x="12713" y="14789"/>
                  <a:pt x="12694" y="14723"/>
                  <a:pt x="12639" y="14710"/>
                </a:cubicBezTo>
                <a:close/>
                <a:moveTo>
                  <a:pt x="3523" y="15267"/>
                </a:moveTo>
                <a:lnTo>
                  <a:pt x="3523" y="16159"/>
                </a:lnTo>
                <a:lnTo>
                  <a:pt x="3523" y="17052"/>
                </a:lnTo>
                <a:lnTo>
                  <a:pt x="3675" y="17052"/>
                </a:lnTo>
                <a:lnTo>
                  <a:pt x="3829" y="17052"/>
                </a:lnTo>
                <a:lnTo>
                  <a:pt x="3829" y="16159"/>
                </a:lnTo>
                <a:lnTo>
                  <a:pt x="3829" y="15267"/>
                </a:lnTo>
                <a:lnTo>
                  <a:pt x="3675" y="15267"/>
                </a:lnTo>
                <a:lnTo>
                  <a:pt x="3523" y="15267"/>
                </a:lnTo>
                <a:close/>
                <a:moveTo>
                  <a:pt x="8081" y="15267"/>
                </a:moveTo>
                <a:cubicBezTo>
                  <a:pt x="7975" y="15267"/>
                  <a:pt x="7968" y="15337"/>
                  <a:pt x="7968" y="16159"/>
                </a:cubicBezTo>
                <a:lnTo>
                  <a:pt x="7968" y="17052"/>
                </a:lnTo>
                <a:lnTo>
                  <a:pt x="8120" y="17052"/>
                </a:lnTo>
                <a:cubicBezTo>
                  <a:pt x="8267" y="17052"/>
                  <a:pt x="8272" y="17038"/>
                  <a:pt x="8272" y="16499"/>
                </a:cubicBezTo>
                <a:cubicBezTo>
                  <a:pt x="8272" y="15882"/>
                  <a:pt x="8359" y="15687"/>
                  <a:pt x="8656" y="15654"/>
                </a:cubicBezTo>
                <a:cubicBezTo>
                  <a:pt x="8781" y="15640"/>
                  <a:pt x="8819" y="15593"/>
                  <a:pt x="8819" y="15451"/>
                </a:cubicBezTo>
                <a:cubicBezTo>
                  <a:pt x="8819" y="15232"/>
                  <a:pt x="8708" y="15215"/>
                  <a:pt x="8451" y="15392"/>
                </a:cubicBezTo>
                <a:cubicBezTo>
                  <a:pt x="8289" y="15504"/>
                  <a:pt x="8265" y="15504"/>
                  <a:pt x="8233" y="15392"/>
                </a:cubicBezTo>
                <a:cubicBezTo>
                  <a:pt x="8213" y="15324"/>
                  <a:pt x="8144" y="15267"/>
                  <a:pt x="8081" y="15267"/>
                </a:cubicBezTo>
                <a:close/>
                <a:moveTo>
                  <a:pt x="10761" y="15267"/>
                </a:moveTo>
                <a:cubicBezTo>
                  <a:pt x="10655" y="15267"/>
                  <a:pt x="10645" y="15337"/>
                  <a:pt x="10645" y="16159"/>
                </a:cubicBezTo>
                <a:lnTo>
                  <a:pt x="10645" y="17052"/>
                </a:lnTo>
                <a:lnTo>
                  <a:pt x="10797" y="17052"/>
                </a:lnTo>
                <a:cubicBezTo>
                  <a:pt x="10945" y="17052"/>
                  <a:pt x="10949" y="17036"/>
                  <a:pt x="10949" y="16469"/>
                </a:cubicBezTo>
                <a:cubicBezTo>
                  <a:pt x="10949" y="15813"/>
                  <a:pt x="11040" y="15591"/>
                  <a:pt x="11311" y="15591"/>
                </a:cubicBezTo>
                <a:cubicBezTo>
                  <a:pt x="11567" y="15591"/>
                  <a:pt x="11617" y="15727"/>
                  <a:pt x="11617" y="16418"/>
                </a:cubicBezTo>
                <a:lnTo>
                  <a:pt x="11617" y="17052"/>
                </a:lnTo>
                <a:lnTo>
                  <a:pt x="11800" y="17052"/>
                </a:lnTo>
                <a:lnTo>
                  <a:pt x="11985" y="17052"/>
                </a:lnTo>
                <a:lnTo>
                  <a:pt x="11985" y="16495"/>
                </a:lnTo>
                <a:cubicBezTo>
                  <a:pt x="11985" y="15858"/>
                  <a:pt x="11899" y="15459"/>
                  <a:pt x="11739" y="15344"/>
                </a:cubicBezTo>
                <a:cubicBezTo>
                  <a:pt x="11579" y="15230"/>
                  <a:pt x="11311" y="15248"/>
                  <a:pt x="11114" y="15385"/>
                </a:cubicBezTo>
                <a:cubicBezTo>
                  <a:pt x="10965" y="15489"/>
                  <a:pt x="10940" y="15489"/>
                  <a:pt x="10910" y="15385"/>
                </a:cubicBezTo>
                <a:cubicBezTo>
                  <a:pt x="10891" y="15319"/>
                  <a:pt x="10824" y="15267"/>
                  <a:pt x="10761" y="15267"/>
                </a:cubicBezTo>
                <a:close/>
                <a:moveTo>
                  <a:pt x="13504" y="15267"/>
                </a:moveTo>
                <a:lnTo>
                  <a:pt x="13504" y="16159"/>
                </a:lnTo>
                <a:lnTo>
                  <a:pt x="13504" y="17052"/>
                </a:lnTo>
                <a:lnTo>
                  <a:pt x="13656" y="17052"/>
                </a:lnTo>
                <a:lnTo>
                  <a:pt x="13811" y="17052"/>
                </a:lnTo>
                <a:lnTo>
                  <a:pt x="13811" y="16159"/>
                </a:lnTo>
                <a:lnTo>
                  <a:pt x="13811" y="15267"/>
                </a:lnTo>
                <a:lnTo>
                  <a:pt x="13656" y="15267"/>
                </a:lnTo>
                <a:lnTo>
                  <a:pt x="13504" y="15267"/>
                </a:lnTo>
                <a:close/>
                <a:moveTo>
                  <a:pt x="18814" y="15267"/>
                </a:moveTo>
                <a:cubicBezTo>
                  <a:pt x="18158" y="15267"/>
                  <a:pt x="17826" y="16277"/>
                  <a:pt x="18292" y="16853"/>
                </a:cubicBezTo>
                <a:cubicBezTo>
                  <a:pt x="18377" y="16958"/>
                  <a:pt x="18504" y="17058"/>
                  <a:pt x="18577" y="17078"/>
                </a:cubicBezTo>
                <a:cubicBezTo>
                  <a:pt x="18749" y="17125"/>
                  <a:pt x="19164" y="17057"/>
                  <a:pt x="19309" y="16956"/>
                </a:cubicBezTo>
                <a:cubicBezTo>
                  <a:pt x="19410" y="16885"/>
                  <a:pt x="19412" y="16862"/>
                  <a:pt x="19331" y="16753"/>
                </a:cubicBezTo>
                <a:cubicBezTo>
                  <a:pt x="19260" y="16659"/>
                  <a:pt x="19212" y="16651"/>
                  <a:pt x="19115" y="16720"/>
                </a:cubicBezTo>
                <a:cubicBezTo>
                  <a:pt x="18910" y="16866"/>
                  <a:pt x="18684" y="16823"/>
                  <a:pt x="18521" y="16606"/>
                </a:cubicBezTo>
                <a:cubicBezTo>
                  <a:pt x="18437" y="16494"/>
                  <a:pt x="18385" y="16366"/>
                  <a:pt x="18405" y="16322"/>
                </a:cubicBezTo>
                <a:cubicBezTo>
                  <a:pt x="18426" y="16277"/>
                  <a:pt x="18662" y="16241"/>
                  <a:pt x="18927" y="16241"/>
                </a:cubicBezTo>
                <a:lnTo>
                  <a:pt x="19408" y="16241"/>
                </a:lnTo>
                <a:lnTo>
                  <a:pt x="19408" y="15990"/>
                </a:lnTo>
                <a:cubicBezTo>
                  <a:pt x="19408" y="15615"/>
                  <a:pt x="19122" y="15267"/>
                  <a:pt x="18814" y="15267"/>
                </a:cubicBezTo>
                <a:close/>
                <a:moveTo>
                  <a:pt x="14897" y="15270"/>
                </a:moveTo>
                <a:cubicBezTo>
                  <a:pt x="14755" y="15251"/>
                  <a:pt x="14593" y="15278"/>
                  <a:pt x="14427" y="15355"/>
                </a:cubicBezTo>
                <a:cubicBezTo>
                  <a:pt x="14216" y="15454"/>
                  <a:pt x="14222" y="15446"/>
                  <a:pt x="14272" y="15621"/>
                </a:cubicBezTo>
                <a:cubicBezTo>
                  <a:pt x="14300" y="15717"/>
                  <a:pt x="14341" y="15728"/>
                  <a:pt x="14457" y="15669"/>
                </a:cubicBezTo>
                <a:cubicBezTo>
                  <a:pt x="14681" y="15556"/>
                  <a:pt x="14941" y="15576"/>
                  <a:pt x="15026" y="15713"/>
                </a:cubicBezTo>
                <a:cubicBezTo>
                  <a:pt x="15162" y="15930"/>
                  <a:pt x="15054" y="16054"/>
                  <a:pt x="14700" y="16093"/>
                </a:cubicBezTo>
                <a:cubicBezTo>
                  <a:pt x="14295" y="16138"/>
                  <a:pt x="14176" y="16256"/>
                  <a:pt x="14176" y="16606"/>
                </a:cubicBezTo>
                <a:cubicBezTo>
                  <a:pt x="14176" y="16884"/>
                  <a:pt x="14248" y="17008"/>
                  <a:pt x="14449" y="17074"/>
                </a:cubicBezTo>
                <a:cubicBezTo>
                  <a:pt x="14647" y="17139"/>
                  <a:pt x="14656" y="17137"/>
                  <a:pt x="14875" y="17015"/>
                </a:cubicBezTo>
                <a:cubicBezTo>
                  <a:pt x="14999" y="16946"/>
                  <a:pt x="15099" y="16933"/>
                  <a:pt x="15120" y="16978"/>
                </a:cubicBezTo>
                <a:cubicBezTo>
                  <a:pt x="15140" y="17020"/>
                  <a:pt x="15210" y="17052"/>
                  <a:pt x="15275" y="17052"/>
                </a:cubicBezTo>
                <a:cubicBezTo>
                  <a:pt x="15383" y="17052"/>
                  <a:pt x="15391" y="16991"/>
                  <a:pt x="15391" y="16359"/>
                </a:cubicBezTo>
                <a:cubicBezTo>
                  <a:pt x="15391" y="15730"/>
                  <a:pt x="15377" y="15646"/>
                  <a:pt x="15242" y="15466"/>
                </a:cubicBezTo>
                <a:cubicBezTo>
                  <a:pt x="15159" y="15355"/>
                  <a:pt x="15038" y="15290"/>
                  <a:pt x="14897" y="15270"/>
                </a:cubicBezTo>
                <a:close/>
                <a:moveTo>
                  <a:pt x="9670" y="15274"/>
                </a:moveTo>
                <a:cubicBezTo>
                  <a:pt x="9617" y="15275"/>
                  <a:pt x="9563" y="15280"/>
                  <a:pt x="9507" y="15293"/>
                </a:cubicBezTo>
                <a:cubicBezTo>
                  <a:pt x="8803" y="15445"/>
                  <a:pt x="8742" y="16834"/>
                  <a:pt x="9429" y="17052"/>
                </a:cubicBezTo>
                <a:cubicBezTo>
                  <a:pt x="9627" y="17115"/>
                  <a:pt x="9855" y="17098"/>
                  <a:pt x="10114" y="17000"/>
                </a:cubicBezTo>
                <a:cubicBezTo>
                  <a:pt x="10266" y="16943"/>
                  <a:pt x="10220" y="16678"/>
                  <a:pt x="10065" y="16713"/>
                </a:cubicBezTo>
                <a:cubicBezTo>
                  <a:pt x="9558" y="16827"/>
                  <a:pt x="9557" y="16828"/>
                  <a:pt x="9396" y="16613"/>
                </a:cubicBezTo>
                <a:cubicBezTo>
                  <a:pt x="9309" y="16497"/>
                  <a:pt x="9254" y="16366"/>
                  <a:pt x="9275" y="16322"/>
                </a:cubicBezTo>
                <a:cubicBezTo>
                  <a:pt x="9295" y="16277"/>
                  <a:pt x="9531" y="16241"/>
                  <a:pt x="9797" y="16241"/>
                </a:cubicBezTo>
                <a:lnTo>
                  <a:pt x="10280" y="16241"/>
                </a:lnTo>
                <a:lnTo>
                  <a:pt x="10280" y="15957"/>
                </a:lnTo>
                <a:cubicBezTo>
                  <a:pt x="10280" y="15531"/>
                  <a:pt x="10034" y="15268"/>
                  <a:pt x="9670" y="15274"/>
                </a:cubicBezTo>
                <a:close/>
                <a:moveTo>
                  <a:pt x="7012" y="15278"/>
                </a:moveTo>
                <a:cubicBezTo>
                  <a:pt x="6962" y="15277"/>
                  <a:pt x="6910" y="15283"/>
                  <a:pt x="6854" y="15293"/>
                </a:cubicBezTo>
                <a:cubicBezTo>
                  <a:pt x="6512" y="15354"/>
                  <a:pt x="6263" y="15712"/>
                  <a:pt x="6263" y="16141"/>
                </a:cubicBezTo>
                <a:cubicBezTo>
                  <a:pt x="6264" y="16540"/>
                  <a:pt x="6456" y="16952"/>
                  <a:pt x="6672" y="17015"/>
                </a:cubicBezTo>
                <a:cubicBezTo>
                  <a:pt x="6765" y="17043"/>
                  <a:pt x="6868" y="17081"/>
                  <a:pt x="6901" y="17096"/>
                </a:cubicBezTo>
                <a:cubicBezTo>
                  <a:pt x="6963" y="17125"/>
                  <a:pt x="7238" y="17075"/>
                  <a:pt x="7437" y="17000"/>
                </a:cubicBezTo>
                <a:cubicBezTo>
                  <a:pt x="7588" y="16943"/>
                  <a:pt x="7543" y="16678"/>
                  <a:pt x="7388" y="16713"/>
                </a:cubicBezTo>
                <a:cubicBezTo>
                  <a:pt x="6880" y="16827"/>
                  <a:pt x="6879" y="16830"/>
                  <a:pt x="6714" y="16609"/>
                </a:cubicBezTo>
                <a:cubicBezTo>
                  <a:pt x="6620" y="16485"/>
                  <a:pt x="6575" y="16359"/>
                  <a:pt x="6606" y="16318"/>
                </a:cubicBezTo>
                <a:cubicBezTo>
                  <a:pt x="6635" y="16279"/>
                  <a:pt x="6877" y="16235"/>
                  <a:pt x="7145" y="16222"/>
                </a:cubicBezTo>
                <a:cubicBezTo>
                  <a:pt x="7623" y="16198"/>
                  <a:pt x="7632" y="16197"/>
                  <a:pt x="7617" y="15997"/>
                </a:cubicBezTo>
                <a:cubicBezTo>
                  <a:pt x="7582" y="15537"/>
                  <a:pt x="7362" y="15282"/>
                  <a:pt x="7012" y="15278"/>
                </a:cubicBezTo>
                <a:close/>
                <a:moveTo>
                  <a:pt x="15444" y="18269"/>
                </a:moveTo>
                <a:cubicBezTo>
                  <a:pt x="15314" y="18269"/>
                  <a:pt x="15238" y="18449"/>
                  <a:pt x="15292" y="18634"/>
                </a:cubicBezTo>
                <a:cubicBezTo>
                  <a:pt x="15311" y="18701"/>
                  <a:pt x="15380" y="18756"/>
                  <a:pt x="15444" y="18756"/>
                </a:cubicBezTo>
                <a:cubicBezTo>
                  <a:pt x="15619" y="18756"/>
                  <a:pt x="15732" y="18544"/>
                  <a:pt x="15637" y="18391"/>
                </a:cubicBezTo>
                <a:cubicBezTo>
                  <a:pt x="15595" y="18324"/>
                  <a:pt x="15508" y="18269"/>
                  <a:pt x="15444" y="18269"/>
                </a:cubicBezTo>
                <a:close/>
                <a:moveTo>
                  <a:pt x="7504" y="18284"/>
                </a:moveTo>
                <a:cubicBezTo>
                  <a:pt x="7388" y="18301"/>
                  <a:pt x="7329" y="18457"/>
                  <a:pt x="7382" y="18642"/>
                </a:cubicBezTo>
                <a:cubicBezTo>
                  <a:pt x="7404" y="18718"/>
                  <a:pt x="7474" y="18761"/>
                  <a:pt x="7556" y="18745"/>
                </a:cubicBezTo>
                <a:cubicBezTo>
                  <a:pt x="7657" y="18726"/>
                  <a:pt x="7694" y="18662"/>
                  <a:pt x="7694" y="18513"/>
                </a:cubicBezTo>
                <a:cubicBezTo>
                  <a:pt x="7694" y="18364"/>
                  <a:pt x="7657" y="18303"/>
                  <a:pt x="7556" y="18284"/>
                </a:cubicBezTo>
                <a:cubicBezTo>
                  <a:pt x="7537" y="18280"/>
                  <a:pt x="7520" y="18282"/>
                  <a:pt x="7504" y="18284"/>
                </a:cubicBezTo>
                <a:close/>
                <a:moveTo>
                  <a:pt x="10788" y="18284"/>
                </a:moveTo>
                <a:cubicBezTo>
                  <a:pt x="10673" y="18301"/>
                  <a:pt x="10614" y="18457"/>
                  <a:pt x="10667" y="18642"/>
                </a:cubicBezTo>
                <a:cubicBezTo>
                  <a:pt x="10689" y="18718"/>
                  <a:pt x="10761" y="18761"/>
                  <a:pt x="10844" y="18745"/>
                </a:cubicBezTo>
                <a:cubicBezTo>
                  <a:pt x="10944" y="18726"/>
                  <a:pt x="10979" y="18662"/>
                  <a:pt x="10979" y="18513"/>
                </a:cubicBezTo>
                <a:cubicBezTo>
                  <a:pt x="10979" y="18364"/>
                  <a:pt x="10944" y="18303"/>
                  <a:pt x="10844" y="18284"/>
                </a:cubicBezTo>
                <a:cubicBezTo>
                  <a:pt x="10825" y="18280"/>
                  <a:pt x="10805" y="18282"/>
                  <a:pt x="10788" y="18284"/>
                </a:cubicBezTo>
                <a:close/>
                <a:moveTo>
                  <a:pt x="3175" y="18314"/>
                </a:moveTo>
                <a:cubicBezTo>
                  <a:pt x="2846" y="18337"/>
                  <a:pt x="2534" y="18528"/>
                  <a:pt x="2384" y="18826"/>
                </a:cubicBezTo>
                <a:cubicBezTo>
                  <a:pt x="2011" y="19570"/>
                  <a:pt x="2224" y="20539"/>
                  <a:pt x="2824" y="20833"/>
                </a:cubicBezTo>
                <a:cubicBezTo>
                  <a:pt x="3308" y="21070"/>
                  <a:pt x="3933" y="20816"/>
                  <a:pt x="4141" y="20298"/>
                </a:cubicBezTo>
                <a:cubicBezTo>
                  <a:pt x="4264" y="19993"/>
                  <a:pt x="4290" y="19381"/>
                  <a:pt x="4194" y="19044"/>
                </a:cubicBezTo>
                <a:cubicBezTo>
                  <a:pt x="4098" y="18706"/>
                  <a:pt x="3842" y="18446"/>
                  <a:pt x="3503" y="18347"/>
                </a:cubicBezTo>
                <a:cubicBezTo>
                  <a:pt x="3395" y="18315"/>
                  <a:pt x="3284" y="18306"/>
                  <a:pt x="3175" y="18314"/>
                </a:cubicBezTo>
                <a:close/>
                <a:moveTo>
                  <a:pt x="14419" y="18594"/>
                </a:moveTo>
                <a:cubicBezTo>
                  <a:pt x="14335" y="18594"/>
                  <a:pt x="14300" y="18665"/>
                  <a:pt x="14286" y="18859"/>
                </a:cubicBezTo>
                <a:cubicBezTo>
                  <a:pt x="14271" y="19062"/>
                  <a:pt x="14234" y="19127"/>
                  <a:pt x="14129" y="19147"/>
                </a:cubicBezTo>
                <a:cubicBezTo>
                  <a:pt x="13956" y="19180"/>
                  <a:pt x="13946" y="19453"/>
                  <a:pt x="14115" y="19512"/>
                </a:cubicBezTo>
                <a:cubicBezTo>
                  <a:pt x="14216" y="19548"/>
                  <a:pt x="14236" y="19622"/>
                  <a:pt x="14236" y="19962"/>
                </a:cubicBezTo>
                <a:cubicBezTo>
                  <a:pt x="14236" y="20481"/>
                  <a:pt x="14318" y="20772"/>
                  <a:pt x="14493" y="20866"/>
                </a:cubicBezTo>
                <a:cubicBezTo>
                  <a:pt x="14659" y="20955"/>
                  <a:pt x="14802" y="20967"/>
                  <a:pt x="14927" y="20903"/>
                </a:cubicBezTo>
                <a:cubicBezTo>
                  <a:pt x="15061" y="20834"/>
                  <a:pt x="14976" y="20626"/>
                  <a:pt x="14814" y="20626"/>
                </a:cubicBezTo>
                <a:cubicBezTo>
                  <a:pt x="14603" y="20626"/>
                  <a:pt x="14531" y="20443"/>
                  <a:pt x="14551" y="19962"/>
                </a:cubicBezTo>
                <a:cubicBezTo>
                  <a:pt x="14569" y="19539"/>
                  <a:pt x="14576" y="19530"/>
                  <a:pt x="14770" y="19505"/>
                </a:cubicBezTo>
                <a:cubicBezTo>
                  <a:pt x="14916" y="19486"/>
                  <a:pt x="14966" y="19440"/>
                  <a:pt x="14966" y="19328"/>
                </a:cubicBezTo>
                <a:cubicBezTo>
                  <a:pt x="14966" y="19216"/>
                  <a:pt x="14916" y="19166"/>
                  <a:pt x="14770" y="19147"/>
                </a:cubicBezTo>
                <a:cubicBezTo>
                  <a:pt x="14596" y="19125"/>
                  <a:pt x="14568" y="19091"/>
                  <a:pt x="14551" y="18859"/>
                </a:cubicBezTo>
                <a:cubicBezTo>
                  <a:pt x="14537" y="18665"/>
                  <a:pt x="14503" y="18594"/>
                  <a:pt x="14419" y="18594"/>
                </a:cubicBezTo>
                <a:close/>
                <a:moveTo>
                  <a:pt x="6556" y="18609"/>
                </a:moveTo>
                <a:cubicBezTo>
                  <a:pt x="6538" y="18604"/>
                  <a:pt x="6515" y="18607"/>
                  <a:pt x="6487" y="18612"/>
                </a:cubicBezTo>
                <a:cubicBezTo>
                  <a:pt x="6392" y="18630"/>
                  <a:pt x="6349" y="18700"/>
                  <a:pt x="6335" y="18867"/>
                </a:cubicBezTo>
                <a:cubicBezTo>
                  <a:pt x="6322" y="19014"/>
                  <a:pt x="6271" y="19118"/>
                  <a:pt x="6197" y="19143"/>
                </a:cubicBezTo>
                <a:cubicBezTo>
                  <a:pt x="6043" y="19197"/>
                  <a:pt x="6047" y="19458"/>
                  <a:pt x="6202" y="19512"/>
                </a:cubicBezTo>
                <a:cubicBezTo>
                  <a:pt x="6307" y="19549"/>
                  <a:pt x="6324" y="19624"/>
                  <a:pt x="6324" y="20055"/>
                </a:cubicBezTo>
                <a:cubicBezTo>
                  <a:pt x="6324" y="20476"/>
                  <a:pt x="6347" y="20583"/>
                  <a:pt x="6473" y="20752"/>
                </a:cubicBezTo>
                <a:cubicBezTo>
                  <a:pt x="6625" y="20954"/>
                  <a:pt x="6734" y="20985"/>
                  <a:pt x="6973" y="20899"/>
                </a:cubicBezTo>
                <a:cubicBezTo>
                  <a:pt x="7144" y="20838"/>
                  <a:pt x="7088" y="20626"/>
                  <a:pt x="6901" y="20626"/>
                </a:cubicBezTo>
                <a:cubicBezTo>
                  <a:pt x="6690" y="20626"/>
                  <a:pt x="6618" y="20443"/>
                  <a:pt x="6639" y="19962"/>
                </a:cubicBezTo>
                <a:cubicBezTo>
                  <a:pt x="6657" y="19539"/>
                  <a:pt x="6661" y="19530"/>
                  <a:pt x="6854" y="19505"/>
                </a:cubicBezTo>
                <a:cubicBezTo>
                  <a:pt x="7000" y="19486"/>
                  <a:pt x="7053" y="19440"/>
                  <a:pt x="7053" y="19328"/>
                </a:cubicBezTo>
                <a:cubicBezTo>
                  <a:pt x="7053" y="19216"/>
                  <a:pt x="7000" y="19166"/>
                  <a:pt x="6854" y="19147"/>
                </a:cubicBezTo>
                <a:cubicBezTo>
                  <a:pt x="6680" y="19125"/>
                  <a:pt x="6656" y="19090"/>
                  <a:pt x="6639" y="18852"/>
                </a:cubicBezTo>
                <a:cubicBezTo>
                  <a:pt x="6627" y="18684"/>
                  <a:pt x="6611" y="18622"/>
                  <a:pt x="6556" y="18609"/>
                </a:cubicBezTo>
                <a:close/>
                <a:moveTo>
                  <a:pt x="4738" y="19166"/>
                </a:moveTo>
                <a:cubicBezTo>
                  <a:pt x="4627" y="19166"/>
                  <a:pt x="4619" y="19231"/>
                  <a:pt x="4619" y="20383"/>
                </a:cubicBezTo>
                <a:lnTo>
                  <a:pt x="4619" y="21600"/>
                </a:lnTo>
                <a:lnTo>
                  <a:pt x="4769" y="21600"/>
                </a:lnTo>
                <a:cubicBezTo>
                  <a:pt x="4900" y="21600"/>
                  <a:pt x="4918" y="21558"/>
                  <a:pt x="4934" y="21253"/>
                </a:cubicBezTo>
                <a:lnTo>
                  <a:pt x="4954" y="20910"/>
                </a:lnTo>
                <a:lnTo>
                  <a:pt x="5269" y="20910"/>
                </a:lnTo>
                <a:cubicBezTo>
                  <a:pt x="5639" y="20910"/>
                  <a:pt x="5807" y="20746"/>
                  <a:pt x="5896" y="20305"/>
                </a:cubicBezTo>
                <a:cubicBezTo>
                  <a:pt x="5971" y="19931"/>
                  <a:pt x="5881" y="19456"/>
                  <a:pt x="5700" y="19287"/>
                </a:cubicBezTo>
                <a:cubicBezTo>
                  <a:pt x="5548" y="19146"/>
                  <a:pt x="5214" y="19126"/>
                  <a:pt x="5045" y="19247"/>
                </a:cubicBezTo>
                <a:cubicBezTo>
                  <a:pt x="4969" y="19301"/>
                  <a:pt x="4918" y="19301"/>
                  <a:pt x="4893" y="19247"/>
                </a:cubicBezTo>
                <a:cubicBezTo>
                  <a:pt x="4872" y="19202"/>
                  <a:pt x="4803" y="19166"/>
                  <a:pt x="4738" y="19166"/>
                </a:cubicBezTo>
                <a:close/>
                <a:moveTo>
                  <a:pt x="7418" y="19166"/>
                </a:moveTo>
                <a:lnTo>
                  <a:pt x="7418" y="20018"/>
                </a:lnTo>
                <a:lnTo>
                  <a:pt x="7418" y="20870"/>
                </a:lnTo>
                <a:lnTo>
                  <a:pt x="7573" y="20870"/>
                </a:lnTo>
                <a:lnTo>
                  <a:pt x="7722" y="20870"/>
                </a:lnTo>
                <a:lnTo>
                  <a:pt x="7722" y="20018"/>
                </a:lnTo>
                <a:lnTo>
                  <a:pt x="7722" y="19166"/>
                </a:lnTo>
                <a:lnTo>
                  <a:pt x="7573" y="19166"/>
                </a:lnTo>
                <a:lnTo>
                  <a:pt x="7418" y="19166"/>
                </a:lnTo>
                <a:close/>
                <a:moveTo>
                  <a:pt x="8197" y="19166"/>
                </a:moveTo>
                <a:cubicBezTo>
                  <a:pt x="8099" y="19166"/>
                  <a:pt x="8089" y="19251"/>
                  <a:pt x="8089" y="20018"/>
                </a:cubicBezTo>
                <a:lnTo>
                  <a:pt x="8089" y="20870"/>
                </a:lnTo>
                <a:lnTo>
                  <a:pt x="8241" y="20870"/>
                </a:lnTo>
                <a:cubicBezTo>
                  <a:pt x="8389" y="20870"/>
                  <a:pt x="8393" y="20851"/>
                  <a:pt x="8393" y="20305"/>
                </a:cubicBezTo>
                <a:cubicBezTo>
                  <a:pt x="8393" y="19794"/>
                  <a:pt x="8408" y="19728"/>
                  <a:pt x="8553" y="19575"/>
                </a:cubicBezTo>
                <a:cubicBezTo>
                  <a:pt x="8752" y="19367"/>
                  <a:pt x="8788" y="19365"/>
                  <a:pt x="8940" y="19568"/>
                </a:cubicBezTo>
                <a:cubicBezTo>
                  <a:pt x="9039" y="19699"/>
                  <a:pt x="9062" y="19842"/>
                  <a:pt x="9062" y="20302"/>
                </a:cubicBezTo>
                <a:cubicBezTo>
                  <a:pt x="9062" y="20854"/>
                  <a:pt x="9066" y="20870"/>
                  <a:pt x="9214" y="20870"/>
                </a:cubicBezTo>
                <a:cubicBezTo>
                  <a:pt x="9362" y="20870"/>
                  <a:pt x="9366" y="20855"/>
                  <a:pt x="9366" y="20261"/>
                </a:cubicBezTo>
                <a:cubicBezTo>
                  <a:pt x="9366" y="19703"/>
                  <a:pt x="9381" y="19642"/>
                  <a:pt x="9520" y="19520"/>
                </a:cubicBezTo>
                <a:cubicBezTo>
                  <a:pt x="9661" y="19396"/>
                  <a:pt x="9683" y="19396"/>
                  <a:pt x="9824" y="19520"/>
                </a:cubicBezTo>
                <a:cubicBezTo>
                  <a:pt x="9964" y="19642"/>
                  <a:pt x="9976" y="19703"/>
                  <a:pt x="9976" y="20261"/>
                </a:cubicBezTo>
                <a:cubicBezTo>
                  <a:pt x="9976" y="20861"/>
                  <a:pt x="9977" y="20870"/>
                  <a:pt x="10134" y="20870"/>
                </a:cubicBezTo>
                <a:lnTo>
                  <a:pt x="10291" y="20870"/>
                </a:lnTo>
                <a:lnTo>
                  <a:pt x="10272" y="20132"/>
                </a:lnTo>
                <a:cubicBezTo>
                  <a:pt x="10254" y="19516"/>
                  <a:pt x="10230" y="19376"/>
                  <a:pt x="10131" y="19280"/>
                </a:cubicBezTo>
                <a:cubicBezTo>
                  <a:pt x="9973" y="19126"/>
                  <a:pt x="9610" y="19134"/>
                  <a:pt x="9438" y="19295"/>
                </a:cubicBezTo>
                <a:cubicBezTo>
                  <a:pt x="9310" y="19414"/>
                  <a:pt x="9290" y="19414"/>
                  <a:pt x="9192" y="19295"/>
                </a:cubicBezTo>
                <a:cubicBezTo>
                  <a:pt x="9068" y="19145"/>
                  <a:pt x="8746" y="19121"/>
                  <a:pt x="8565" y="19250"/>
                </a:cubicBezTo>
                <a:cubicBezTo>
                  <a:pt x="8475" y="19315"/>
                  <a:pt x="8422" y="19315"/>
                  <a:pt x="8374" y="19250"/>
                </a:cubicBezTo>
                <a:cubicBezTo>
                  <a:pt x="8337" y="19202"/>
                  <a:pt x="8257" y="19166"/>
                  <a:pt x="8197" y="19166"/>
                </a:cubicBezTo>
                <a:close/>
                <a:moveTo>
                  <a:pt x="10827" y="19166"/>
                </a:moveTo>
                <a:cubicBezTo>
                  <a:pt x="10713" y="19166"/>
                  <a:pt x="10706" y="19219"/>
                  <a:pt x="10706" y="20018"/>
                </a:cubicBezTo>
                <a:cubicBezTo>
                  <a:pt x="10706" y="20816"/>
                  <a:pt x="10713" y="20870"/>
                  <a:pt x="10827" y="20870"/>
                </a:cubicBezTo>
                <a:cubicBezTo>
                  <a:pt x="10941" y="20870"/>
                  <a:pt x="10949" y="20816"/>
                  <a:pt x="10949" y="20018"/>
                </a:cubicBezTo>
                <a:cubicBezTo>
                  <a:pt x="10949" y="19219"/>
                  <a:pt x="10941" y="19166"/>
                  <a:pt x="10827" y="19166"/>
                </a:cubicBezTo>
                <a:close/>
                <a:moveTo>
                  <a:pt x="11863" y="19166"/>
                </a:moveTo>
                <a:cubicBezTo>
                  <a:pt x="11356" y="19166"/>
                  <a:pt x="11313" y="19177"/>
                  <a:pt x="11313" y="19328"/>
                </a:cubicBezTo>
                <a:cubicBezTo>
                  <a:pt x="11313" y="19466"/>
                  <a:pt x="11354" y="19490"/>
                  <a:pt x="11584" y="19490"/>
                </a:cubicBezTo>
                <a:cubicBezTo>
                  <a:pt x="11733" y="19490"/>
                  <a:pt x="11868" y="19519"/>
                  <a:pt x="11885" y="19557"/>
                </a:cubicBezTo>
                <a:cubicBezTo>
                  <a:pt x="11903" y="19594"/>
                  <a:pt x="11769" y="19861"/>
                  <a:pt x="11587" y="20147"/>
                </a:cubicBezTo>
                <a:cubicBezTo>
                  <a:pt x="11405" y="20433"/>
                  <a:pt x="11256" y="20711"/>
                  <a:pt x="11255" y="20766"/>
                </a:cubicBezTo>
                <a:cubicBezTo>
                  <a:pt x="11255" y="20841"/>
                  <a:pt x="11410" y="20870"/>
                  <a:pt x="11833" y="20870"/>
                </a:cubicBezTo>
                <a:cubicBezTo>
                  <a:pt x="12306" y="20870"/>
                  <a:pt x="12410" y="20848"/>
                  <a:pt x="12410" y="20748"/>
                </a:cubicBezTo>
                <a:cubicBezTo>
                  <a:pt x="12410" y="20655"/>
                  <a:pt x="12332" y="20626"/>
                  <a:pt x="12084" y="20626"/>
                </a:cubicBezTo>
                <a:cubicBezTo>
                  <a:pt x="11906" y="20626"/>
                  <a:pt x="11743" y="20603"/>
                  <a:pt x="11722" y="20575"/>
                </a:cubicBezTo>
                <a:cubicBezTo>
                  <a:pt x="11701" y="20547"/>
                  <a:pt x="11846" y="20277"/>
                  <a:pt x="12046" y="19977"/>
                </a:cubicBezTo>
                <a:cubicBezTo>
                  <a:pt x="12552" y="19217"/>
                  <a:pt x="12542" y="19166"/>
                  <a:pt x="11863" y="19166"/>
                </a:cubicBezTo>
                <a:close/>
                <a:moveTo>
                  <a:pt x="13300" y="19166"/>
                </a:moveTo>
                <a:cubicBezTo>
                  <a:pt x="13131" y="19151"/>
                  <a:pt x="12944" y="19177"/>
                  <a:pt x="12800" y="19250"/>
                </a:cubicBezTo>
                <a:cubicBezTo>
                  <a:pt x="12654" y="19324"/>
                  <a:pt x="12642" y="19346"/>
                  <a:pt x="12720" y="19450"/>
                </a:cubicBezTo>
                <a:cubicBezTo>
                  <a:pt x="12787" y="19540"/>
                  <a:pt x="12857" y="19552"/>
                  <a:pt x="13010" y="19494"/>
                </a:cubicBezTo>
                <a:cubicBezTo>
                  <a:pt x="13264" y="19396"/>
                  <a:pt x="13522" y="19511"/>
                  <a:pt x="13493" y="19711"/>
                </a:cubicBezTo>
                <a:cubicBezTo>
                  <a:pt x="13481" y="19793"/>
                  <a:pt x="13409" y="19865"/>
                  <a:pt x="13322" y="19877"/>
                </a:cubicBezTo>
                <a:cubicBezTo>
                  <a:pt x="12887" y="19940"/>
                  <a:pt x="12769" y="19993"/>
                  <a:pt x="12675" y="20184"/>
                </a:cubicBezTo>
                <a:cubicBezTo>
                  <a:pt x="12554" y="20430"/>
                  <a:pt x="12637" y="20749"/>
                  <a:pt x="12852" y="20870"/>
                </a:cubicBezTo>
                <a:cubicBezTo>
                  <a:pt x="12928" y="20912"/>
                  <a:pt x="13069" y="20924"/>
                  <a:pt x="13170" y="20895"/>
                </a:cubicBezTo>
                <a:cubicBezTo>
                  <a:pt x="13270" y="20867"/>
                  <a:pt x="13456" y="20845"/>
                  <a:pt x="13582" y="20851"/>
                </a:cubicBezTo>
                <a:lnTo>
                  <a:pt x="13811" y="20866"/>
                </a:lnTo>
                <a:lnTo>
                  <a:pt x="13811" y="20176"/>
                </a:lnTo>
                <a:cubicBezTo>
                  <a:pt x="13811" y="19596"/>
                  <a:pt x="13792" y="19465"/>
                  <a:pt x="13689" y="19328"/>
                </a:cubicBezTo>
                <a:cubicBezTo>
                  <a:pt x="13621" y="19236"/>
                  <a:pt x="13469" y="19180"/>
                  <a:pt x="13300" y="19166"/>
                </a:cubicBezTo>
                <a:close/>
                <a:moveTo>
                  <a:pt x="15330" y="19166"/>
                </a:moveTo>
                <a:lnTo>
                  <a:pt x="15330" y="20018"/>
                </a:lnTo>
                <a:lnTo>
                  <a:pt x="15330" y="20870"/>
                </a:lnTo>
                <a:lnTo>
                  <a:pt x="15482" y="20870"/>
                </a:lnTo>
                <a:lnTo>
                  <a:pt x="15637" y="20870"/>
                </a:lnTo>
                <a:lnTo>
                  <a:pt x="15637" y="20018"/>
                </a:lnTo>
                <a:lnTo>
                  <a:pt x="15637" y="19166"/>
                </a:lnTo>
                <a:lnTo>
                  <a:pt x="15482" y="19166"/>
                </a:lnTo>
                <a:lnTo>
                  <a:pt x="15330" y="19166"/>
                </a:lnTo>
                <a:close/>
                <a:moveTo>
                  <a:pt x="16640" y="19166"/>
                </a:moveTo>
                <a:cubicBezTo>
                  <a:pt x="16333" y="19166"/>
                  <a:pt x="16140" y="19293"/>
                  <a:pt x="16035" y="19564"/>
                </a:cubicBezTo>
                <a:cubicBezTo>
                  <a:pt x="15835" y="20081"/>
                  <a:pt x="15958" y="20618"/>
                  <a:pt x="16328" y="20833"/>
                </a:cubicBezTo>
                <a:cubicBezTo>
                  <a:pt x="16561" y="20968"/>
                  <a:pt x="16584" y="20969"/>
                  <a:pt x="16872" y="20862"/>
                </a:cubicBezTo>
                <a:cubicBezTo>
                  <a:pt x="17275" y="20713"/>
                  <a:pt x="17452" y="20097"/>
                  <a:pt x="17245" y="19564"/>
                </a:cubicBezTo>
                <a:cubicBezTo>
                  <a:pt x="17140" y="19293"/>
                  <a:pt x="16947" y="19166"/>
                  <a:pt x="16640" y="19166"/>
                </a:cubicBezTo>
                <a:close/>
                <a:moveTo>
                  <a:pt x="17762" y="19166"/>
                </a:moveTo>
                <a:cubicBezTo>
                  <a:pt x="17652" y="19166"/>
                  <a:pt x="17645" y="19228"/>
                  <a:pt x="17645" y="20018"/>
                </a:cubicBezTo>
                <a:lnTo>
                  <a:pt x="17645" y="20870"/>
                </a:lnTo>
                <a:lnTo>
                  <a:pt x="17795" y="20870"/>
                </a:lnTo>
                <a:cubicBezTo>
                  <a:pt x="17943" y="20870"/>
                  <a:pt x="17949" y="20853"/>
                  <a:pt x="17949" y="20268"/>
                </a:cubicBezTo>
                <a:cubicBezTo>
                  <a:pt x="17949" y="19616"/>
                  <a:pt x="18011" y="19468"/>
                  <a:pt x="18284" y="19468"/>
                </a:cubicBezTo>
                <a:cubicBezTo>
                  <a:pt x="18556" y="19468"/>
                  <a:pt x="18618" y="19616"/>
                  <a:pt x="18618" y="20268"/>
                </a:cubicBezTo>
                <a:cubicBezTo>
                  <a:pt x="18618" y="20853"/>
                  <a:pt x="18621" y="20870"/>
                  <a:pt x="18770" y="20870"/>
                </a:cubicBezTo>
                <a:cubicBezTo>
                  <a:pt x="18919" y="20870"/>
                  <a:pt x="18922" y="20859"/>
                  <a:pt x="18922" y="20232"/>
                </a:cubicBezTo>
                <a:cubicBezTo>
                  <a:pt x="18922" y="19422"/>
                  <a:pt x="18803" y="19166"/>
                  <a:pt x="18427" y="19166"/>
                </a:cubicBezTo>
                <a:cubicBezTo>
                  <a:pt x="18294" y="19166"/>
                  <a:pt x="18134" y="19202"/>
                  <a:pt x="18071" y="19247"/>
                </a:cubicBezTo>
                <a:cubicBezTo>
                  <a:pt x="17995" y="19301"/>
                  <a:pt x="17944" y="19301"/>
                  <a:pt x="17919" y="19247"/>
                </a:cubicBezTo>
                <a:cubicBezTo>
                  <a:pt x="17898" y="19202"/>
                  <a:pt x="17826" y="19166"/>
                  <a:pt x="17762" y="19166"/>
                </a:cubicBezTo>
                <a:close/>
              </a:path>
            </a:pathLst>
          </a:custGeom>
          <a:ln w="12700">
            <a:miter lim="400000"/>
          </a:ln>
        </p:spPr>
      </p:pic>
      <p:pic>
        <p:nvPicPr>
          <p:cNvPr id="334" name="15E4D81F-067D-4217-BD8B-FA55AFFB8F00.png" descr="15E4D81F-067D-4217-BD8B-FA55AFFB8F00.png"/>
          <p:cNvPicPr>
            <a:picLocks noChangeAspect="1"/>
          </p:cNvPicPr>
          <p:nvPr/>
        </p:nvPicPr>
        <p:blipFill>
          <a:blip r:embed="rId20"/>
          <a:srcRect l="22078" t="15726" r="23152" b="23810"/>
          <a:stretch>
            <a:fillRect/>
          </a:stretch>
        </p:blipFill>
        <p:spPr>
          <a:xfrm>
            <a:off x="-4956666" y="5075550"/>
            <a:ext cx="3371266" cy="2481198"/>
          </a:xfrm>
          <a:prstGeom prst="rect">
            <a:avLst/>
          </a:prstGeom>
          <a:ln w="12700">
            <a:miter lim="400000"/>
          </a:ln>
        </p:spPr>
      </p:pic>
      <p:pic>
        <p:nvPicPr>
          <p:cNvPr id="335" name="81BFE2BC-E1E8-442B-B5F2-83CFA2098E86.png" descr="81BFE2BC-E1E8-442B-B5F2-83CFA2098E86.png"/>
          <p:cNvPicPr>
            <a:picLocks noChangeAspect="1"/>
          </p:cNvPicPr>
          <p:nvPr/>
        </p:nvPicPr>
        <p:blipFill>
          <a:blip r:embed="rId21"/>
          <a:srcRect l="17222" t="16274" r="18611" b="22640"/>
          <a:stretch>
            <a:fillRect/>
          </a:stretch>
        </p:blipFill>
        <p:spPr>
          <a:xfrm>
            <a:off x="889325" y="2507219"/>
            <a:ext cx="6207041" cy="3939347"/>
          </a:xfrm>
          <a:prstGeom prst="rect">
            <a:avLst/>
          </a:prstGeom>
          <a:ln w="12700">
            <a:miter lim="400000"/>
          </a:ln>
        </p:spPr>
      </p:pic>
      <p:pic>
        <p:nvPicPr>
          <p:cNvPr id="336" name="3AC41283-4AA9-4147-8BC9-952DF5F5B24A.png" descr="3AC41283-4AA9-4147-8BC9-952DF5F5B24A.png"/>
          <p:cNvPicPr>
            <a:picLocks noChangeAspect="1"/>
          </p:cNvPicPr>
          <p:nvPr/>
        </p:nvPicPr>
        <p:blipFill>
          <a:blip r:embed="rId22"/>
          <a:srcRect l="21077" t="54409" r="17510" b="27410"/>
          <a:stretch>
            <a:fillRect/>
          </a:stretch>
        </p:blipFill>
        <p:spPr>
          <a:xfrm>
            <a:off x="747533" y="10506953"/>
            <a:ext cx="6519129" cy="1286574"/>
          </a:xfrm>
          <a:prstGeom prst="rect">
            <a:avLst/>
          </a:prstGeom>
          <a:ln w="12700">
            <a:miter lim="400000"/>
          </a:ln>
        </p:spPr>
      </p:pic>
      <p:pic>
        <p:nvPicPr>
          <p:cNvPr id="337" name="385E2B00-0F74-401E-9306-A10F1D5DF387.png" descr="385E2B00-0F74-401E-9306-A10F1D5DF387.png"/>
          <p:cNvPicPr>
            <a:picLocks noChangeAspect="1"/>
          </p:cNvPicPr>
          <p:nvPr/>
        </p:nvPicPr>
        <p:blipFill>
          <a:blip r:embed="rId23"/>
          <a:srcRect l="19951" t="14200" r="16837" b="45518"/>
          <a:stretch>
            <a:fillRect/>
          </a:stretch>
        </p:blipFill>
        <p:spPr>
          <a:xfrm>
            <a:off x="747136" y="7440953"/>
            <a:ext cx="6519864" cy="2769806"/>
          </a:xfrm>
          <a:custGeom>
            <a:avLst/>
            <a:gdLst/>
            <a:ahLst/>
            <a:cxnLst>
              <a:cxn ang="0">
                <a:pos x="wd2" y="hd2"/>
              </a:cxn>
              <a:cxn ang="5400000">
                <a:pos x="wd2" y="hd2"/>
              </a:cxn>
              <a:cxn ang="10800000">
                <a:pos x="wd2" y="hd2"/>
              </a:cxn>
              <a:cxn ang="16200000">
                <a:pos x="wd2" y="hd2"/>
              </a:cxn>
            </a:cxnLst>
            <a:rect l="0" t="0" r="r" b="b"/>
            <a:pathLst>
              <a:path w="21595" h="21375" extrusionOk="0">
                <a:moveTo>
                  <a:pt x="4352" y="0"/>
                </a:moveTo>
                <a:cubicBezTo>
                  <a:pt x="4166" y="-1"/>
                  <a:pt x="4060" y="136"/>
                  <a:pt x="4118" y="356"/>
                </a:cubicBezTo>
                <a:cubicBezTo>
                  <a:pt x="4143" y="447"/>
                  <a:pt x="4107" y="628"/>
                  <a:pt x="4038" y="760"/>
                </a:cubicBezTo>
                <a:cubicBezTo>
                  <a:pt x="3970" y="892"/>
                  <a:pt x="3935" y="1129"/>
                  <a:pt x="3961" y="1287"/>
                </a:cubicBezTo>
                <a:cubicBezTo>
                  <a:pt x="3990" y="1466"/>
                  <a:pt x="3923" y="1648"/>
                  <a:pt x="3781" y="1774"/>
                </a:cubicBezTo>
                <a:cubicBezTo>
                  <a:pt x="3655" y="1884"/>
                  <a:pt x="3563" y="2092"/>
                  <a:pt x="3575" y="2233"/>
                </a:cubicBezTo>
                <a:cubicBezTo>
                  <a:pt x="3590" y="2396"/>
                  <a:pt x="3503" y="2490"/>
                  <a:pt x="3338" y="2490"/>
                </a:cubicBezTo>
                <a:cubicBezTo>
                  <a:pt x="3087" y="2490"/>
                  <a:pt x="3077" y="2459"/>
                  <a:pt x="3104" y="1697"/>
                </a:cubicBezTo>
                <a:cubicBezTo>
                  <a:pt x="3147" y="432"/>
                  <a:pt x="3073" y="39"/>
                  <a:pt x="2795" y="49"/>
                </a:cubicBezTo>
                <a:cubicBezTo>
                  <a:pt x="2576" y="58"/>
                  <a:pt x="2551" y="137"/>
                  <a:pt x="2534" y="827"/>
                </a:cubicBezTo>
                <a:cubicBezTo>
                  <a:pt x="2520" y="1451"/>
                  <a:pt x="2543" y="1582"/>
                  <a:pt x="2665" y="1535"/>
                </a:cubicBezTo>
                <a:cubicBezTo>
                  <a:pt x="2824" y="1473"/>
                  <a:pt x="2914" y="2160"/>
                  <a:pt x="2820" y="2729"/>
                </a:cubicBezTo>
                <a:cubicBezTo>
                  <a:pt x="2780" y="2968"/>
                  <a:pt x="2741" y="2988"/>
                  <a:pt x="2650" y="2812"/>
                </a:cubicBezTo>
                <a:cubicBezTo>
                  <a:pt x="2557" y="2633"/>
                  <a:pt x="2521" y="2668"/>
                  <a:pt x="2487" y="2971"/>
                </a:cubicBezTo>
                <a:cubicBezTo>
                  <a:pt x="2452" y="3287"/>
                  <a:pt x="2348" y="3376"/>
                  <a:pt x="1943" y="3434"/>
                </a:cubicBezTo>
                <a:cubicBezTo>
                  <a:pt x="1478" y="3500"/>
                  <a:pt x="1436" y="3466"/>
                  <a:pt x="1353" y="2996"/>
                </a:cubicBezTo>
                <a:cubicBezTo>
                  <a:pt x="1303" y="2717"/>
                  <a:pt x="1270" y="2330"/>
                  <a:pt x="1280" y="2135"/>
                </a:cubicBezTo>
                <a:cubicBezTo>
                  <a:pt x="1295" y="1855"/>
                  <a:pt x="1234" y="1783"/>
                  <a:pt x="986" y="1783"/>
                </a:cubicBezTo>
                <a:cubicBezTo>
                  <a:pt x="735" y="1783"/>
                  <a:pt x="676" y="1852"/>
                  <a:pt x="697" y="2135"/>
                </a:cubicBezTo>
                <a:cubicBezTo>
                  <a:pt x="714" y="2372"/>
                  <a:pt x="657" y="2512"/>
                  <a:pt x="526" y="2555"/>
                </a:cubicBezTo>
                <a:cubicBezTo>
                  <a:pt x="315" y="2624"/>
                  <a:pt x="278" y="2996"/>
                  <a:pt x="418" y="3605"/>
                </a:cubicBezTo>
                <a:cubicBezTo>
                  <a:pt x="476" y="3859"/>
                  <a:pt x="476" y="4027"/>
                  <a:pt x="418" y="4111"/>
                </a:cubicBezTo>
                <a:cubicBezTo>
                  <a:pt x="202" y="4422"/>
                  <a:pt x="344" y="4798"/>
                  <a:pt x="701" y="4858"/>
                </a:cubicBezTo>
                <a:cubicBezTo>
                  <a:pt x="904" y="4892"/>
                  <a:pt x="1074" y="5013"/>
                  <a:pt x="1078" y="5124"/>
                </a:cubicBezTo>
                <a:cubicBezTo>
                  <a:pt x="1082" y="5236"/>
                  <a:pt x="1133" y="5590"/>
                  <a:pt x="1191" y="5915"/>
                </a:cubicBezTo>
                <a:cubicBezTo>
                  <a:pt x="1254" y="6272"/>
                  <a:pt x="1264" y="6580"/>
                  <a:pt x="1216" y="6693"/>
                </a:cubicBezTo>
                <a:cubicBezTo>
                  <a:pt x="1103" y="6954"/>
                  <a:pt x="637" y="6795"/>
                  <a:pt x="624" y="6490"/>
                </a:cubicBezTo>
                <a:cubicBezTo>
                  <a:pt x="618" y="6351"/>
                  <a:pt x="608" y="6156"/>
                  <a:pt x="602" y="6055"/>
                </a:cubicBezTo>
                <a:cubicBezTo>
                  <a:pt x="596" y="5955"/>
                  <a:pt x="458" y="5882"/>
                  <a:pt x="296" y="5893"/>
                </a:cubicBezTo>
                <a:lnTo>
                  <a:pt x="0" y="5912"/>
                </a:lnTo>
                <a:lnTo>
                  <a:pt x="13" y="6934"/>
                </a:lnTo>
                <a:cubicBezTo>
                  <a:pt x="25" y="7936"/>
                  <a:pt x="31" y="7959"/>
                  <a:pt x="310" y="8022"/>
                </a:cubicBezTo>
                <a:cubicBezTo>
                  <a:pt x="493" y="8063"/>
                  <a:pt x="587" y="8004"/>
                  <a:pt x="572" y="7853"/>
                </a:cubicBezTo>
                <a:cubicBezTo>
                  <a:pt x="559" y="7724"/>
                  <a:pt x="619" y="7514"/>
                  <a:pt x="706" y="7385"/>
                </a:cubicBezTo>
                <a:cubicBezTo>
                  <a:pt x="834" y="7194"/>
                  <a:pt x="886" y="7220"/>
                  <a:pt x="986" y="7532"/>
                </a:cubicBezTo>
                <a:cubicBezTo>
                  <a:pt x="1053" y="7743"/>
                  <a:pt x="1091" y="7990"/>
                  <a:pt x="1067" y="8077"/>
                </a:cubicBezTo>
                <a:cubicBezTo>
                  <a:pt x="1044" y="8164"/>
                  <a:pt x="1065" y="8292"/>
                  <a:pt x="1113" y="8362"/>
                </a:cubicBezTo>
                <a:cubicBezTo>
                  <a:pt x="1173" y="8447"/>
                  <a:pt x="1171" y="8628"/>
                  <a:pt x="1107" y="8907"/>
                </a:cubicBezTo>
                <a:cubicBezTo>
                  <a:pt x="1027" y="9251"/>
                  <a:pt x="955" y="9301"/>
                  <a:pt x="686" y="9201"/>
                </a:cubicBezTo>
                <a:lnTo>
                  <a:pt x="361" y="9078"/>
                </a:lnTo>
                <a:lnTo>
                  <a:pt x="356" y="10242"/>
                </a:lnTo>
                <a:lnTo>
                  <a:pt x="351" y="11403"/>
                </a:lnTo>
                <a:lnTo>
                  <a:pt x="868" y="11415"/>
                </a:lnTo>
                <a:cubicBezTo>
                  <a:pt x="1372" y="11427"/>
                  <a:pt x="1383" y="11413"/>
                  <a:pt x="1358" y="10907"/>
                </a:cubicBezTo>
                <a:cubicBezTo>
                  <a:pt x="1336" y="10472"/>
                  <a:pt x="1367" y="10389"/>
                  <a:pt x="1550" y="10389"/>
                </a:cubicBezTo>
                <a:cubicBezTo>
                  <a:pt x="1723" y="10389"/>
                  <a:pt x="1774" y="10505"/>
                  <a:pt x="1796" y="10947"/>
                </a:cubicBezTo>
                <a:cubicBezTo>
                  <a:pt x="1818" y="11406"/>
                  <a:pt x="1866" y="11504"/>
                  <a:pt x="2066" y="11504"/>
                </a:cubicBezTo>
                <a:cubicBezTo>
                  <a:pt x="2291" y="11504"/>
                  <a:pt x="2309" y="11449"/>
                  <a:pt x="2287" y="10806"/>
                </a:cubicBezTo>
                <a:cubicBezTo>
                  <a:pt x="2262" y="10058"/>
                  <a:pt x="2422" y="9558"/>
                  <a:pt x="2629" y="9743"/>
                </a:cubicBezTo>
                <a:cubicBezTo>
                  <a:pt x="2780" y="9878"/>
                  <a:pt x="3043" y="11060"/>
                  <a:pt x="2951" y="11192"/>
                </a:cubicBezTo>
                <a:cubicBezTo>
                  <a:pt x="2914" y="11245"/>
                  <a:pt x="2901" y="11952"/>
                  <a:pt x="2922" y="12763"/>
                </a:cubicBezTo>
                <a:cubicBezTo>
                  <a:pt x="2967" y="14451"/>
                  <a:pt x="2842" y="15539"/>
                  <a:pt x="2647" y="15164"/>
                </a:cubicBezTo>
                <a:cubicBezTo>
                  <a:pt x="2549" y="14974"/>
                  <a:pt x="2531" y="15087"/>
                  <a:pt x="2541" y="15801"/>
                </a:cubicBezTo>
                <a:cubicBezTo>
                  <a:pt x="2551" y="16535"/>
                  <a:pt x="2526" y="16667"/>
                  <a:pt x="2382" y="16668"/>
                </a:cubicBezTo>
                <a:cubicBezTo>
                  <a:pt x="2184" y="16668"/>
                  <a:pt x="2061" y="17492"/>
                  <a:pt x="2177" y="18031"/>
                </a:cubicBezTo>
                <a:cubicBezTo>
                  <a:pt x="2260" y="18418"/>
                  <a:pt x="1957" y="19307"/>
                  <a:pt x="1813" y="19100"/>
                </a:cubicBezTo>
                <a:cubicBezTo>
                  <a:pt x="1644" y="18858"/>
                  <a:pt x="1811" y="20324"/>
                  <a:pt x="1982" y="20591"/>
                </a:cubicBezTo>
                <a:cubicBezTo>
                  <a:pt x="2080" y="20744"/>
                  <a:pt x="2161" y="20974"/>
                  <a:pt x="2161" y="21100"/>
                </a:cubicBezTo>
                <a:cubicBezTo>
                  <a:pt x="2161" y="21308"/>
                  <a:pt x="2405" y="21321"/>
                  <a:pt x="4438" y="21228"/>
                </a:cubicBezTo>
                <a:cubicBezTo>
                  <a:pt x="4468" y="21227"/>
                  <a:pt x="4512" y="21058"/>
                  <a:pt x="4535" y="20855"/>
                </a:cubicBezTo>
                <a:cubicBezTo>
                  <a:pt x="4573" y="20514"/>
                  <a:pt x="4685" y="20486"/>
                  <a:pt x="5911" y="20515"/>
                </a:cubicBezTo>
                <a:cubicBezTo>
                  <a:pt x="7507" y="20552"/>
                  <a:pt x="7640" y="20508"/>
                  <a:pt x="7744" y="19874"/>
                </a:cubicBezTo>
                <a:cubicBezTo>
                  <a:pt x="7811" y="19462"/>
                  <a:pt x="7851" y="19421"/>
                  <a:pt x="7999" y="19605"/>
                </a:cubicBezTo>
                <a:cubicBezTo>
                  <a:pt x="8095" y="19725"/>
                  <a:pt x="8174" y="19959"/>
                  <a:pt x="8174" y="20126"/>
                </a:cubicBezTo>
                <a:cubicBezTo>
                  <a:pt x="8174" y="20342"/>
                  <a:pt x="8255" y="20415"/>
                  <a:pt x="8460" y="20383"/>
                </a:cubicBezTo>
                <a:cubicBezTo>
                  <a:pt x="8807" y="20329"/>
                  <a:pt x="8968" y="20528"/>
                  <a:pt x="8902" y="20928"/>
                </a:cubicBezTo>
                <a:cubicBezTo>
                  <a:pt x="8872" y="21108"/>
                  <a:pt x="8904" y="21225"/>
                  <a:pt x="8982" y="21225"/>
                </a:cubicBezTo>
                <a:cubicBezTo>
                  <a:pt x="9053" y="21225"/>
                  <a:pt x="9133" y="21044"/>
                  <a:pt x="9158" y="20821"/>
                </a:cubicBezTo>
                <a:cubicBezTo>
                  <a:pt x="9221" y="20263"/>
                  <a:pt x="9468" y="20312"/>
                  <a:pt x="9564" y="20900"/>
                </a:cubicBezTo>
                <a:cubicBezTo>
                  <a:pt x="9642" y="21375"/>
                  <a:pt x="9663" y="21384"/>
                  <a:pt x="10624" y="21342"/>
                </a:cubicBezTo>
                <a:cubicBezTo>
                  <a:pt x="11503" y="21303"/>
                  <a:pt x="11609" y="21257"/>
                  <a:pt x="11662" y="20907"/>
                </a:cubicBezTo>
                <a:cubicBezTo>
                  <a:pt x="11697" y="20678"/>
                  <a:pt x="11808" y="20508"/>
                  <a:pt x="11930" y="20496"/>
                </a:cubicBezTo>
                <a:cubicBezTo>
                  <a:pt x="12045" y="20485"/>
                  <a:pt x="12196" y="20440"/>
                  <a:pt x="12266" y="20395"/>
                </a:cubicBezTo>
                <a:cubicBezTo>
                  <a:pt x="12344" y="20345"/>
                  <a:pt x="12409" y="20507"/>
                  <a:pt x="12439" y="20821"/>
                </a:cubicBezTo>
                <a:cubicBezTo>
                  <a:pt x="12514" y="21599"/>
                  <a:pt x="12702" y="21543"/>
                  <a:pt x="12689" y="20747"/>
                </a:cubicBezTo>
                <a:cubicBezTo>
                  <a:pt x="12683" y="20376"/>
                  <a:pt x="12703" y="19983"/>
                  <a:pt x="12732" y="19871"/>
                </a:cubicBezTo>
                <a:cubicBezTo>
                  <a:pt x="12762" y="19760"/>
                  <a:pt x="13042" y="19692"/>
                  <a:pt x="13355" y="19721"/>
                </a:cubicBezTo>
                <a:cubicBezTo>
                  <a:pt x="13668" y="19751"/>
                  <a:pt x="13947" y="19685"/>
                  <a:pt x="13976" y="19577"/>
                </a:cubicBezTo>
                <a:cubicBezTo>
                  <a:pt x="14008" y="19457"/>
                  <a:pt x="14076" y="19474"/>
                  <a:pt x="14152" y="19620"/>
                </a:cubicBezTo>
                <a:cubicBezTo>
                  <a:pt x="14246" y="19801"/>
                  <a:pt x="14304" y="19801"/>
                  <a:pt x="14398" y="19620"/>
                </a:cubicBezTo>
                <a:cubicBezTo>
                  <a:pt x="14486" y="19451"/>
                  <a:pt x="14537" y="19447"/>
                  <a:pt x="14579" y="19605"/>
                </a:cubicBezTo>
                <a:cubicBezTo>
                  <a:pt x="14614" y="19734"/>
                  <a:pt x="14789" y="19786"/>
                  <a:pt x="15001" y="19731"/>
                </a:cubicBezTo>
                <a:cubicBezTo>
                  <a:pt x="15201" y="19679"/>
                  <a:pt x="15394" y="19629"/>
                  <a:pt x="15432" y="19620"/>
                </a:cubicBezTo>
                <a:cubicBezTo>
                  <a:pt x="15470" y="19612"/>
                  <a:pt x="15491" y="19445"/>
                  <a:pt x="15477" y="19250"/>
                </a:cubicBezTo>
                <a:cubicBezTo>
                  <a:pt x="15457" y="18972"/>
                  <a:pt x="15517" y="18889"/>
                  <a:pt x="15756" y="18867"/>
                </a:cubicBezTo>
                <a:cubicBezTo>
                  <a:pt x="16269" y="18820"/>
                  <a:pt x="16287" y="18807"/>
                  <a:pt x="16260" y="18441"/>
                </a:cubicBezTo>
                <a:cubicBezTo>
                  <a:pt x="16240" y="18159"/>
                  <a:pt x="16309" y="18073"/>
                  <a:pt x="16597" y="18025"/>
                </a:cubicBezTo>
                <a:cubicBezTo>
                  <a:pt x="16869" y="17979"/>
                  <a:pt x="16968" y="17865"/>
                  <a:pt x="17002" y="17568"/>
                </a:cubicBezTo>
                <a:cubicBezTo>
                  <a:pt x="17041" y="17218"/>
                  <a:pt x="17310" y="17037"/>
                  <a:pt x="17612" y="17155"/>
                </a:cubicBezTo>
                <a:cubicBezTo>
                  <a:pt x="17650" y="17170"/>
                  <a:pt x="17655" y="16863"/>
                  <a:pt x="17624" y="16472"/>
                </a:cubicBezTo>
                <a:cubicBezTo>
                  <a:pt x="17533" y="15353"/>
                  <a:pt x="17609" y="15105"/>
                  <a:pt x="17926" y="15473"/>
                </a:cubicBezTo>
                <a:cubicBezTo>
                  <a:pt x="18109" y="15685"/>
                  <a:pt x="18171" y="15875"/>
                  <a:pt x="18134" y="16104"/>
                </a:cubicBezTo>
                <a:cubicBezTo>
                  <a:pt x="18100" y="16306"/>
                  <a:pt x="18115" y="16379"/>
                  <a:pt x="18172" y="16297"/>
                </a:cubicBezTo>
                <a:cubicBezTo>
                  <a:pt x="18267" y="16161"/>
                  <a:pt x="18437" y="16513"/>
                  <a:pt x="18449" y="16870"/>
                </a:cubicBezTo>
                <a:cubicBezTo>
                  <a:pt x="18453" y="16981"/>
                  <a:pt x="18676" y="17087"/>
                  <a:pt x="18945" y="17106"/>
                </a:cubicBezTo>
                <a:cubicBezTo>
                  <a:pt x="19417" y="17138"/>
                  <a:pt x="19432" y="17125"/>
                  <a:pt x="19393" y="16653"/>
                </a:cubicBezTo>
                <a:cubicBezTo>
                  <a:pt x="19312" y="15674"/>
                  <a:pt x="19463" y="15529"/>
                  <a:pt x="20573" y="15525"/>
                </a:cubicBezTo>
                <a:cubicBezTo>
                  <a:pt x="21591" y="15522"/>
                  <a:pt x="21595" y="15519"/>
                  <a:pt x="21595" y="15038"/>
                </a:cubicBezTo>
                <a:cubicBezTo>
                  <a:pt x="21595" y="14773"/>
                  <a:pt x="21507" y="14367"/>
                  <a:pt x="21400" y="14135"/>
                </a:cubicBezTo>
                <a:cubicBezTo>
                  <a:pt x="21269" y="13850"/>
                  <a:pt x="21213" y="13529"/>
                  <a:pt x="21231" y="13143"/>
                </a:cubicBezTo>
                <a:cubicBezTo>
                  <a:pt x="21250" y="12707"/>
                  <a:pt x="21214" y="12543"/>
                  <a:pt x="21077" y="12460"/>
                </a:cubicBezTo>
                <a:cubicBezTo>
                  <a:pt x="20831" y="12310"/>
                  <a:pt x="20826" y="11201"/>
                  <a:pt x="21070" y="10898"/>
                </a:cubicBezTo>
                <a:cubicBezTo>
                  <a:pt x="21175" y="10767"/>
                  <a:pt x="21235" y="10510"/>
                  <a:pt x="21223" y="10239"/>
                </a:cubicBezTo>
                <a:cubicBezTo>
                  <a:pt x="21212" y="9994"/>
                  <a:pt x="21252" y="9778"/>
                  <a:pt x="21312" y="9761"/>
                </a:cubicBezTo>
                <a:cubicBezTo>
                  <a:pt x="21372" y="9744"/>
                  <a:pt x="21452" y="9720"/>
                  <a:pt x="21492" y="9706"/>
                </a:cubicBezTo>
                <a:cubicBezTo>
                  <a:pt x="21532" y="9692"/>
                  <a:pt x="21574" y="9180"/>
                  <a:pt x="21584" y="8567"/>
                </a:cubicBezTo>
                <a:cubicBezTo>
                  <a:pt x="21600" y="7659"/>
                  <a:pt x="21578" y="7452"/>
                  <a:pt x="21463" y="7452"/>
                </a:cubicBezTo>
                <a:cubicBezTo>
                  <a:pt x="21386" y="7452"/>
                  <a:pt x="21348" y="7545"/>
                  <a:pt x="21378" y="7657"/>
                </a:cubicBezTo>
                <a:cubicBezTo>
                  <a:pt x="21475" y="8022"/>
                  <a:pt x="21141" y="8148"/>
                  <a:pt x="21028" y="7789"/>
                </a:cubicBezTo>
                <a:cubicBezTo>
                  <a:pt x="20958" y="7565"/>
                  <a:pt x="20808" y="7462"/>
                  <a:pt x="20583" y="7480"/>
                </a:cubicBezTo>
                <a:lnTo>
                  <a:pt x="20243" y="7507"/>
                </a:lnTo>
                <a:lnTo>
                  <a:pt x="20531" y="7633"/>
                </a:lnTo>
                <a:cubicBezTo>
                  <a:pt x="20962" y="7821"/>
                  <a:pt x="20874" y="8147"/>
                  <a:pt x="20355" y="8282"/>
                </a:cubicBezTo>
                <a:cubicBezTo>
                  <a:pt x="19859" y="8412"/>
                  <a:pt x="19634" y="8192"/>
                  <a:pt x="19728" y="7673"/>
                </a:cubicBezTo>
                <a:cubicBezTo>
                  <a:pt x="19760" y="7496"/>
                  <a:pt x="19792" y="7009"/>
                  <a:pt x="19798" y="6591"/>
                </a:cubicBezTo>
                <a:cubicBezTo>
                  <a:pt x="19809" y="5848"/>
                  <a:pt x="19743" y="5626"/>
                  <a:pt x="19633" y="6037"/>
                </a:cubicBezTo>
                <a:cubicBezTo>
                  <a:pt x="19546" y="6366"/>
                  <a:pt x="19417" y="6055"/>
                  <a:pt x="19417" y="5516"/>
                </a:cubicBezTo>
                <a:cubicBezTo>
                  <a:pt x="19417" y="5088"/>
                  <a:pt x="19376" y="5023"/>
                  <a:pt x="19117" y="5023"/>
                </a:cubicBezTo>
                <a:cubicBezTo>
                  <a:pt x="18873" y="5023"/>
                  <a:pt x="18814" y="5105"/>
                  <a:pt x="18791" y="5477"/>
                </a:cubicBezTo>
                <a:cubicBezTo>
                  <a:pt x="18772" y="5787"/>
                  <a:pt x="18713" y="5914"/>
                  <a:pt x="18606" y="5872"/>
                </a:cubicBezTo>
                <a:cubicBezTo>
                  <a:pt x="18495" y="5828"/>
                  <a:pt x="18455" y="5918"/>
                  <a:pt x="18474" y="6175"/>
                </a:cubicBezTo>
                <a:cubicBezTo>
                  <a:pt x="18492" y="6416"/>
                  <a:pt x="18440" y="6562"/>
                  <a:pt x="18323" y="6601"/>
                </a:cubicBezTo>
                <a:cubicBezTo>
                  <a:pt x="18217" y="6636"/>
                  <a:pt x="18103" y="6908"/>
                  <a:pt x="18044" y="7271"/>
                </a:cubicBezTo>
                <a:cubicBezTo>
                  <a:pt x="17956" y="7812"/>
                  <a:pt x="17924" y="7860"/>
                  <a:pt x="17763" y="7660"/>
                </a:cubicBezTo>
                <a:cubicBezTo>
                  <a:pt x="17663" y="7536"/>
                  <a:pt x="17607" y="7335"/>
                  <a:pt x="17638" y="7216"/>
                </a:cubicBezTo>
                <a:cubicBezTo>
                  <a:pt x="17699" y="6987"/>
                  <a:pt x="17527" y="6652"/>
                  <a:pt x="17346" y="6647"/>
                </a:cubicBezTo>
                <a:cubicBezTo>
                  <a:pt x="17286" y="6645"/>
                  <a:pt x="17247" y="6755"/>
                  <a:pt x="17259" y="6892"/>
                </a:cubicBezTo>
                <a:cubicBezTo>
                  <a:pt x="17288" y="7211"/>
                  <a:pt x="16898" y="7351"/>
                  <a:pt x="16776" y="7066"/>
                </a:cubicBezTo>
                <a:cubicBezTo>
                  <a:pt x="16709" y="6912"/>
                  <a:pt x="16637" y="6944"/>
                  <a:pt x="16529" y="7173"/>
                </a:cubicBezTo>
                <a:cubicBezTo>
                  <a:pt x="16405" y="7434"/>
                  <a:pt x="16395" y="7568"/>
                  <a:pt x="16477" y="7875"/>
                </a:cubicBezTo>
                <a:cubicBezTo>
                  <a:pt x="16556" y="8166"/>
                  <a:pt x="16554" y="8309"/>
                  <a:pt x="16472" y="8500"/>
                </a:cubicBezTo>
                <a:cubicBezTo>
                  <a:pt x="16413" y="8636"/>
                  <a:pt x="16366" y="8995"/>
                  <a:pt x="16366" y="9293"/>
                </a:cubicBezTo>
                <a:cubicBezTo>
                  <a:pt x="16366" y="10060"/>
                  <a:pt x="16172" y="10391"/>
                  <a:pt x="15992" y="9930"/>
                </a:cubicBezTo>
                <a:cubicBezTo>
                  <a:pt x="15889" y="9665"/>
                  <a:pt x="15863" y="9295"/>
                  <a:pt x="15892" y="8500"/>
                </a:cubicBezTo>
                <a:cubicBezTo>
                  <a:pt x="15919" y="7780"/>
                  <a:pt x="15901" y="7471"/>
                  <a:pt x="15840" y="7559"/>
                </a:cubicBezTo>
                <a:cubicBezTo>
                  <a:pt x="15710" y="7746"/>
                  <a:pt x="15495" y="7277"/>
                  <a:pt x="15552" y="6931"/>
                </a:cubicBezTo>
                <a:cubicBezTo>
                  <a:pt x="15581" y="6757"/>
                  <a:pt x="15547" y="6644"/>
                  <a:pt x="15464" y="6644"/>
                </a:cubicBezTo>
                <a:cubicBezTo>
                  <a:pt x="15389" y="6644"/>
                  <a:pt x="15284" y="6459"/>
                  <a:pt x="15233" y="6236"/>
                </a:cubicBezTo>
                <a:cubicBezTo>
                  <a:pt x="15166" y="5948"/>
                  <a:pt x="15050" y="5832"/>
                  <a:pt x="14829" y="5832"/>
                </a:cubicBezTo>
                <a:cubicBezTo>
                  <a:pt x="14592" y="5832"/>
                  <a:pt x="14509" y="5737"/>
                  <a:pt x="14474" y="5428"/>
                </a:cubicBezTo>
                <a:cubicBezTo>
                  <a:pt x="14439" y="5121"/>
                  <a:pt x="14355" y="5023"/>
                  <a:pt x="14126" y="5023"/>
                </a:cubicBezTo>
                <a:cubicBezTo>
                  <a:pt x="13893" y="5023"/>
                  <a:pt x="13811" y="4927"/>
                  <a:pt x="13775" y="4607"/>
                </a:cubicBezTo>
                <a:cubicBezTo>
                  <a:pt x="13732" y="4224"/>
                  <a:pt x="13670" y="4190"/>
                  <a:pt x="13011" y="4227"/>
                </a:cubicBezTo>
                <a:cubicBezTo>
                  <a:pt x="12198" y="4272"/>
                  <a:pt x="12029" y="4150"/>
                  <a:pt x="12196" y="3636"/>
                </a:cubicBezTo>
                <a:cubicBezTo>
                  <a:pt x="12287" y="3354"/>
                  <a:pt x="12286" y="3342"/>
                  <a:pt x="12185" y="3550"/>
                </a:cubicBezTo>
                <a:cubicBezTo>
                  <a:pt x="12100" y="3726"/>
                  <a:pt x="12032" y="3735"/>
                  <a:pt x="11954" y="3584"/>
                </a:cubicBezTo>
                <a:cubicBezTo>
                  <a:pt x="11893" y="3467"/>
                  <a:pt x="11753" y="3400"/>
                  <a:pt x="11643" y="3437"/>
                </a:cubicBezTo>
                <a:cubicBezTo>
                  <a:pt x="11471" y="3493"/>
                  <a:pt x="11441" y="3621"/>
                  <a:pt x="11441" y="4313"/>
                </a:cubicBezTo>
                <a:cubicBezTo>
                  <a:pt x="11441" y="4878"/>
                  <a:pt x="11408" y="5108"/>
                  <a:pt x="11327" y="5069"/>
                </a:cubicBezTo>
                <a:cubicBezTo>
                  <a:pt x="11264" y="5039"/>
                  <a:pt x="11234" y="5101"/>
                  <a:pt x="11263" y="5207"/>
                </a:cubicBezTo>
                <a:cubicBezTo>
                  <a:pt x="11291" y="5314"/>
                  <a:pt x="11273" y="5459"/>
                  <a:pt x="11222" y="5532"/>
                </a:cubicBezTo>
                <a:cubicBezTo>
                  <a:pt x="11112" y="5690"/>
                  <a:pt x="10868" y="5265"/>
                  <a:pt x="10884" y="4944"/>
                </a:cubicBezTo>
                <a:cubicBezTo>
                  <a:pt x="10910" y="4425"/>
                  <a:pt x="10868" y="4212"/>
                  <a:pt x="10736" y="4212"/>
                </a:cubicBezTo>
                <a:cubicBezTo>
                  <a:pt x="10648" y="4212"/>
                  <a:pt x="10614" y="4324"/>
                  <a:pt x="10645" y="4512"/>
                </a:cubicBezTo>
                <a:cubicBezTo>
                  <a:pt x="10718" y="4953"/>
                  <a:pt x="10179" y="5832"/>
                  <a:pt x="9835" y="5832"/>
                </a:cubicBezTo>
                <a:cubicBezTo>
                  <a:pt x="9631" y="5832"/>
                  <a:pt x="9540" y="5727"/>
                  <a:pt x="9509" y="5452"/>
                </a:cubicBezTo>
                <a:cubicBezTo>
                  <a:pt x="9476" y="5159"/>
                  <a:pt x="9383" y="5066"/>
                  <a:pt x="9106" y="5057"/>
                </a:cubicBezTo>
                <a:cubicBezTo>
                  <a:pt x="8680" y="5043"/>
                  <a:pt x="8522" y="5295"/>
                  <a:pt x="8522" y="5979"/>
                </a:cubicBezTo>
                <a:cubicBezTo>
                  <a:pt x="8522" y="6301"/>
                  <a:pt x="8463" y="6514"/>
                  <a:pt x="8356" y="6579"/>
                </a:cubicBezTo>
                <a:cubicBezTo>
                  <a:pt x="8265" y="6635"/>
                  <a:pt x="8170" y="6862"/>
                  <a:pt x="8145" y="7085"/>
                </a:cubicBezTo>
                <a:cubicBezTo>
                  <a:pt x="8064" y="7805"/>
                  <a:pt x="7785" y="7454"/>
                  <a:pt x="7754" y="6591"/>
                </a:cubicBezTo>
                <a:cubicBezTo>
                  <a:pt x="7737" y="6106"/>
                  <a:pt x="7684" y="5832"/>
                  <a:pt x="7606" y="5832"/>
                </a:cubicBezTo>
                <a:cubicBezTo>
                  <a:pt x="7538" y="5832"/>
                  <a:pt x="7439" y="5642"/>
                  <a:pt x="7385" y="5409"/>
                </a:cubicBezTo>
                <a:cubicBezTo>
                  <a:pt x="7293" y="5011"/>
                  <a:pt x="7233" y="4990"/>
                  <a:pt x="6358" y="5075"/>
                </a:cubicBezTo>
                <a:cubicBezTo>
                  <a:pt x="5847" y="5125"/>
                  <a:pt x="5369" y="5203"/>
                  <a:pt x="5297" y="5247"/>
                </a:cubicBezTo>
                <a:cubicBezTo>
                  <a:pt x="5192" y="5311"/>
                  <a:pt x="5173" y="5139"/>
                  <a:pt x="5194" y="4365"/>
                </a:cubicBezTo>
                <a:cubicBezTo>
                  <a:pt x="5215" y="3591"/>
                  <a:pt x="5192" y="3403"/>
                  <a:pt x="5079" y="3403"/>
                </a:cubicBezTo>
                <a:cubicBezTo>
                  <a:pt x="5002" y="3403"/>
                  <a:pt x="4964" y="3493"/>
                  <a:pt x="4994" y="3605"/>
                </a:cubicBezTo>
                <a:cubicBezTo>
                  <a:pt x="5069" y="3887"/>
                  <a:pt x="4906" y="4002"/>
                  <a:pt x="4171" y="4184"/>
                </a:cubicBezTo>
                <a:cubicBezTo>
                  <a:pt x="3579" y="4331"/>
                  <a:pt x="3533" y="4316"/>
                  <a:pt x="3469" y="3924"/>
                </a:cubicBezTo>
                <a:cubicBezTo>
                  <a:pt x="3387" y="3420"/>
                  <a:pt x="3517" y="2974"/>
                  <a:pt x="3699" y="3137"/>
                </a:cubicBezTo>
                <a:cubicBezTo>
                  <a:pt x="3792" y="3219"/>
                  <a:pt x="3822" y="3143"/>
                  <a:pt x="3802" y="2873"/>
                </a:cubicBezTo>
                <a:cubicBezTo>
                  <a:pt x="3784" y="2641"/>
                  <a:pt x="3825" y="2488"/>
                  <a:pt x="3904" y="2484"/>
                </a:cubicBezTo>
                <a:cubicBezTo>
                  <a:pt x="3976" y="2481"/>
                  <a:pt x="4086" y="2404"/>
                  <a:pt x="4149" y="2313"/>
                </a:cubicBezTo>
                <a:cubicBezTo>
                  <a:pt x="4212" y="2221"/>
                  <a:pt x="4406" y="2210"/>
                  <a:pt x="4580" y="2285"/>
                </a:cubicBezTo>
                <a:cubicBezTo>
                  <a:pt x="4864" y="2409"/>
                  <a:pt x="4884" y="2389"/>
                  <a:pt x="4778" y="2092"/>
                </a:cubicBezTo>
                <a:cubicBezTo>
                  <a:pt x="4689" y="1843"/>
                  <a:pt x="4685" y="1706"/>
                  <a:pt x="4761" y="1529"/>
                </a:cubicBezTo>
                <a:cubicBezTo>
                  <a:pt x="4817" y="1400"/>
                  <a:pt x="4862" y="1045"/>
                  <a:pt x="4862" y="739"/>
                </a:cubicBezTo>
                <a:cubicBezTo>
                  <a:pt x="4862" y="263"/>
                  <a:pt x="4818" y="161"/>
                  <a:pt x="4563" y="49"/>
                </a:cubicBezTo>
                <a:cubicBezTo>
                  <a:pt x="4486" y="16"/>
                  <a:pt x="4414" y="1"/>
                  <a:pt x="4352" y="0"/>
                </a:cubicBezTo>
                <a:close/>
                <a:moveTo>
                  <a:pt x="2176" y="12515"/>
                </a:moveTo>
                <a:cubicBezTo>
                  <a:pt x="1866" y="12515"/>
                  <a:pt x="1740" y="12815"/>
                  <a:pt x="1790" y="13431"/>
                </a:cubicBezTo>
                <a:cubicBezTo>
                  <a:pt x="1824" y="13834"/>
                  <a:pt x="1880" y="13916"/>
                  <a:pt x="2112" y="13896"/>
                </a:cubicBezTo>
                <a:cubicBezTo>
                  <a:pt x="2369" y="13874"/>
                  <a:pt x="2396" y="13812"/>
                  <a:pt x="2406" y="13195"/>
                </a:cubicBezTo>
                <a:cubicBezTo>
                  <a:pt x="2415" y="12584"/>
                  <a:pt x="2393" y="12515"/>
                  <a:pt x="2176" y="12515"/>
                </a:cubicBezTo>
                <a:close/>
                <a:moveTo>
                  <a:pt x="1920" y="14999"/>
                </a:moveTo>
                <a:cubicBezTo>
                  <a:pt x="1808" y="15018"/>
                  <a:pt x="1768" y="15201"/>
                  <a:pt x="1768" y="15694"/>
                </a:cubicBezTo>
                <a:cubicBezTo>
                  <a:pt x="1768" y="16197"/>
                  <a:pt x="1806" y="16365"/>
                  <a:pt x="1920" y="16365"/>
                </a:cubicBezTo>
                <a:cubicBezTo>
                  <a:pt x="2036" y="16365"/>
                  <a:pt x="2073" y="16197"/>
                  <a:pt x="2073" y="15669"/>
                </a:cubicBezTo>
                <a:cubicBezTo>
                  <a:pt x="2073" y="15131"/>
                  <a:pt x="2038" y="14978"/>
                  <a:pt x="1920" y="14999"/>
                </a:cubicBezTo>
                <a:close/>
              </a:path>
            </a:pathLst>
          </a:custGeom>
          <a:ln w="12700">
            <a:miter lim="400000"/>
          </a:ln>
        </p:spPr>
      </p:pic>
      <p:pic>
        <p:nvPicPr>
          <p:cNvPr id="338" name="2A4D174A-7845-41DE-86B7-8EE2936DC61E.png" descr="2A4D174A-7845-41DE-86B7-8EE2936DC61E.png"/>
          <p:cNvPicPr>
            <a:picLocks noChangeAspect="1"/>
          </p:cNvPicPr>
          <p:nvPr/>
        </p:nvPicPr>
        <p:blipFill>
          <a:blip r:embed="rId24"/>
          <a:srcRect l="10090" t="21866" r="9096" b="38691"/>
          <a:stretch>
            <a:fillRect/>
          </a:stretch>
        </p:blipFill>
        <p:spPr>
          <a:xfrm>
            <a:off x="7135934" y="5655870"/>
            <a:ext cx="5147323" cy="1674817"/>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 name="Key idea"/>
          <p:cNvSpPr txBox="1">
            <a:spLocks noGrp="1"/>
          </p:cNvSpPr>
          <p:nvPr>
            <p:ph type="title"/>
          </p:nvPr>
        </p:nvSpPr>
        <p:spPr>
          <a:prstGeom prst="rect">
            <a:avLst/>
          </a:prstGeom>
        </p:spPr>
        <p:txBody>
          <a:bodyPr/>
          <a:lstStyle/>
          <a:p>
            <a:r>
              <a:t>Key idea</a:t>
            </a:r>
          </a:p>
        </p:txBody>
      </p:sp>
      <p:sp>
        <p:nvSpPr>
          <p:cNvPr id="343" name="Constrained diffusion"/>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Constrained diffusion</a:t>
            </a:r>
          </a:p>
        </p:txBody>
      </p:sp>
      <p:sp>
        <p:nvSpPr>
          <p:cNvPr id="344" name="Novel methodology for integrating differentiable optimization with diffusion processes.…"/>
          <p:cNvSpPr txBox="1">
            <a:spLocks noGrp="1"/>
          </p:cNvSpPr>
          <p:nvPr>
            <p:ph type="body" sz="quarter" idx="1"/>
          </p:nvPr>
        </p:nvSpPr>
        <p:spPr>
          <a:xfrm>
            <a:off x="749868" y="3268750"/>
            <a:ext cx="10509947" cy="4278884"/>
          </a:xfrm>
          <a:prstGeom prst="rect">
            <a:avLst/>
          </a:prstGeom>
        </p:spPr>
        <p:txBody>
          <a:bodyPr/>
          <a:lstStyle/>
          <a:p>
            <a:pPr marL="543339" indent="-543339">
              <a:spcBef>
                <a:spcPts val="1200"/>
              </a:spcBef>
              <a:defRPr sz="4000"/>
            </a:pPr>
            <a:r>
              <a:t>Novel methodology for </a:t>
            </a:r>
            <a:r>
              <a:rPr>
                <a:solidFill>
                  <a:schemeClr val="accent1">
                    <a:hueOff val="114395"/>
                    <a:lumOff val="-24975"/>
                  </a:schemeClr>
                </a:solidFill>
              </a:rPr>
              <a:t>integrating differentiable optimization with diffusion processes</a:t>
            </a:r>
            <a:r>
              <a:t>.</a:t>
            </a:r>
            <a:br/>
            <a:endParaRPr/>
          </a:p>
          <a:p>
            <a:pPr marL="543339" indent="-543339">
              <a:spcBef>
                <a:spcPts val="1200"/>
              </a:spcBef>
              <a:defRPr sz="4000"/>
            </a:pPr>
            <a:r>
              <a:t>Theoretical grounding for constraint adherence in physics-guided generation. </a:t>
            </a:r>
            <a:br/>
            <a:endParaRPr/>
          </a:p>
        </p:txBody>
      </p:sp>
      <p:sp>
        <p:nvSpPr>
          <p:cNvPr id="34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grpSp>
        <p:nvGrpSpPr>
          <p:cNvPr id="377" name="Group"/>
          <p:cNvGrpSpPr/>
          <p:nvPr/>
        </p:nvGrpSpPr>
        <p:grpSpPr>
          <a:xfrm>
            <a:off x="10979236" y="3821134"/>
            <a:ext cx="12841721" cy="2611253"/>
            <a:chOff x="0" y="0"/>
            <a:chExt cx="12841720" cy="2611251"/>
          </a:xfrm>
        </p:grpSpPr>
        <p:sp>
          <p:nvSpPr>
            <p:cNvPr id="346" name="e.g., motion constraints"/>
            <p:cNvSpPr txBox="1"/>
            <p:nvPr/>
          </p:nvSpPr>
          <p:spPr>
            <a:xfrm>
              <a:off x="10979273" y="674883"/>
              <a:ext cx="1829813" cy="8965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algn="ctr" defTabSz="355600">
                <a:lnSpc>
                  <a:spcPct val="70000"/>
                </a:lnSpc>
                <a:spcBef>
                  <a:spcPts val="4700"/>
                </a:spcBef>
                <a:defRPr sz="2200">
                  <a:latin typeface="Graphik-Light"/>
                  <a:ea typeface="Graphik-Light"/>
                  <a:cs typeface="Graphik-Light"/>
                  <a:sym typeface="Graphik Light"/>
                </a:defRPr>
              </a:pPr>
              <a:r>
                <a:t>e.g., motion</a:t>
              </a:r>
              <a:br/>
              <a:r>
                <a:t>constraints</a:t>
              </a:r>
            </a:p>
          </p:txBody>
        </p:sp>
        <p:pic>
          <p:nvPicPr>
            <p:cNvPr id="347" name="23c55edf-325c-4dce-8e35-1376582a915b.png" descr="23c55edf-325c-4dce-8e35-1376582a915b.png"/>
            <p:cNvPicPr>
              <a:picLocks noChangeAspect="1"/>
            </p:cNvPicPr>
            <p:nvPr/>
          </p:nvPicPr>
          <p:blipFill>
            <a:blip r:embed="rId2"/>
            <a:srcRect l="5805" t="22191" r="54643" b="24297"/>
            <a:stretch>
              <a:fillRect/>
            </a:stretch>
          </p:blipFill>
          <p:spPr>
            <a:xfrm>
              <a:off x="10403823" y="788891"/>
              <a:ext cx="448866" cy="404861"/>
            </a:xfrm>
            <a:custGeom>
              <a:avLst/>
              <a:gdLst/>
              <a:ahLst/>
              <a:cxnLst>
                <a:cxn ang="0">
                  <a:pos x="wd2" y="hd2"/>
                </a:cxn>
                <a:cxn ang="5400000">
                  <a:pos x="wd2" y="hd2"/>
                </a:cxn>
                <a:cxn ang="10800000">
                  <a:pos x="wd2" y="hd2"/>
                </a:cxn>
                <a:cxn ang="16200000">
                  <a:pos x="wd2" y="hd2"/>
                </a:cxn>
              </a:cxnLst>
              <a:rect l="0" t="0" r="r" b="b"/>
              <a:pathLst>
                <a:path w="21600" h="21592" extrusionOk="0">
                  <a:moveTo>
                    <a:pt x="17933" y="0"/>
                  </a:moveTo>
                  <a:cubicBezTo>
                    <a:pt x="17639" y="0"/>
                    <a:pt x="16941" y="236"/>
                    <a:pt x="16730" y="402"/>
                  </a:cubicBezTo>
                  <a:cubicBezTo>
                    <a:pt x="16665" y="453"/>
                    <a:pt x="16594" y="487"/>
                    <a:pt x="16577" y="487"/>
                  </a:cubicBezTo>
                  <a:cubicBezTo>
                    <a:pt x="16561" y="487"/>
                    <a:pt x="16514" y="516"/>
                    <a:pt x="16482" y="550"/>
                  </a:cubicBezTo>
                  <a:cubicBezTo>
                    <a:pt x="16449" y="584"/>
                    <a:pt x="16305" y="732"/>
                    <a:pt x="16157" y="868"/>
                  </a:cubicBezTo>
                  <a:cubicBezTo>
                    <a:pt x="16009" y="1004"/>
                    <a:pt x="15891" y="1119"/>
                    <a:pt x="15890" y="1143"/>
                  </a:cubicBezTo>
                  <a:cubicBezTo>
                    <a:pt x="15888" y="1167"/>
                    <a:pt x="15804" y="1283"/>
                    <a:pt x="15718" y="1376"/>
                  </a:cubicBezTo>
                  <a:cubicBezTo>
                    <a:pt x="15632" y="1468"/>
                    <a:pt x="15565" y="1552"/>
                    <a:pt x="15565" y="1566"/>
                  </a:cubicBezTo>
                  <a:cubicBezTo>
                    <a:pt x="15565" y="1580"/>
                    <a:pt x="15478" y="1688"/>
                    <a:pt x="15355" y="1820"/>
                  </a:cubicBezTo>
                  <a:cubicBezTo>
                    <a:pt x="15232" y="1953"/>
                    <a:pt x="15126" y="2081"/>
                    <a:pt x="15126" y="2095"/>
                  </a:cubicBezTo>
                  <a:cubicBezTo>
                    <a:pt x="15126" y="2110"/>
                    <a:pt x="15059" y="2191"/>
                    <a:pt x="14973" y="2286"/>
                  </a:cubicBezTo>
                  <a:cubicBezTo>
                    <a:pt x="14887" y="2381"/>
                    <a:pt x="14820" y="2476"/>
                    <a:pt x="14820" y="2498"/>
                  </a:cubicBezTo>
                  <a:cubicBezTo>
                    <a:pt x="14820" y="2520"/>
                    <a:pt x="14754" y="2604"/>
                    <a:pt x="14686" y="2688"/>
                  </a:cubicBezTo>
                  <a:cubicBezTo>
                    <a:pt x="14472" y="2956"/>
                    <a:pt x="14400" y="3061"/>
                    <a:pt x="14400" y="3111"/>
                  </a:cubicBezTo>
                  <a:cubicBezTo>
                    <a:pt x="14400" y="3138"/>
                    <a:pt x="14387" y="3154"/>
                    <a:pt x="14362" y="3154"/>
                  </a:cubicBezTo>
                  <a:cubicBezTo>
                    <a:pt x="14336" y="3154"/>
                    <a:pt x="14302" y="3191"/>
                    <a:pt x="14285" y="3238"/>
                  </a:cubicBezTo>
                  <a:cubicBezTo>
                    <a:pt x="14269" y="3286"/>
                    <a:pt x="14195" y="3404"/>
                    <a:pt x="14114" y="3492"/>
                  </a:cubicBezTo>
                  <a:cubicBezTo>
                    <a:pt x="14032" y="3580"/>
                    <a:pt x="13961" y="3676"/>
                    <a:pt x="13961" y="3704"/>
                  </a:cubicBezTo>
                  <a:cubicBezTo>
                    <a:pt x="13961" y="3732"/>
                    <a:pt x="13941" y="3746"/>
                    <a:pt x="13923" y="3746"/>
                  </a:cubicBezTo>
                  <a:cubicBezTo>
                    <a:pt x="13904" y="3746"/>
                    <a:pt x="13843" y="3857"/>
                    <a:pt x="13770" y="3979"/>
                  </a:cubicBezTo>
                  <a:cubicBezTo>
                    <a:pt x="13696" y="4101"/>
                    <a:pt x="13616" y="4190"/>
                    <a:pt x="13598" y="4191"/>
                  </a:cubicBezTo>
                  <a:cubicBezTo>
                    <a:pt x="13579" y="4191"/>
                    <a:pt x="13560" y="4238"/>
                    <a:pt x="13560" y="4276"/>
                  </a:cubicBezTo>
                  <a:cubicBezTo>
                    <a:pt x="13560" y="4313"/>
                    <a:pt x="13539" y="4345"/>
                    <a:pt x="13502" y="4360"/>
                  </a:cubicBezTo>
                  <a:cubicBezTo>
                    <a:pt x="13466" y="4376"/>
                    <a:pt x="13426" y="4424"/>
                    <a:pt x="13426" y="4466"/>
                  </a:cubicBezTo>
                  <a:cubicBezTo>
                    <a:pt x="13426" y="4508"/>
                    <a:pt x="13412" y="4551"/>
                    <a:pt x="13388" y="4551"/>
                  </a:cubicBezTo>
                  <a:cubicBezTo>
                    <a:pt x="13363" y="4551"/>
                    <a:pt x="13331" y="4566"/>
                    <a:pt x="13331" y="4593"/>
                  </a:cubicBezTo>
                  <a:cubicBezTo>
                    <a:pt x="13331" y="4620"/>
                    <a:pt x="13297" y="4691"/>
                    <a:pt x="13254" y="4741"/>
                  </a:cubicBezTo>
                  <a:cubicBezTo>
                    <a:pt x="13142" y="4873"/>
                    <a:pt x="13025" y="5034"/>
                    <a:pt x="13025" y="5059"/>
                  </a:cubicBezTo>
                  <a:cubicBezTo>
                    <a:pt x="13025" y="5071"/>
                    <a:pt x="12972" y="5133"/>
                    <a:pt x="12910" y="5207"/>
                  </a:cubicBezTo>
                  <a:cubicBezTo>
                    <a:pt x="12849" y="5280"/>
                    <a:pt x="12796" y="5382"/>
                    <a:pt x="12796" y="5418"/>
                  </a:cubicBezTo>
                  <a:cubicBezTo>
                    <a:pt x="12796" y="5455"/>
                    <a:pt x="12775" y="5482"/>
                    <a:pt x="12738" y="5482"/>
                  </a:cubicBezTo>
                  <a:cubicBezTo>
                    <a:pt x="12702" y="5482"/>
                    <a:pt x="12662" y="5511"/>
                    <a:pt x="12662" y="5545"/>
                  </a:cubicBezTo>
                  <a:cubicBezTo>
                    <a:pt x="12662" y="5580"/>
                    <a:pt x="12595" y="5691"/>
                    <a:pt x="12509" y="5799"/>
                  </a:cubicBezTo>
                  <a:cubicBezTo>
                    <a:pt x="12424" y="5908"/>
                    <a:pt x="12330" y="6063"/>
                    <a:pt x="12299" y="6138"/>
                  </a:cubicBezTo>
                  <a:cubicBezTo>
                    <a:pt x="12269" y="6213"/>
                    <a:pt x="12215" y="6286"/>
                    <a:pt x="12185" y="6286"/>
                  </a:cubicBezTo>
                  <a:cubicBezTo>
                    <a:pt x="12154" y="6286"/>
                    <a:pt x="12127" y="6314"/>
                    <a:pt x="12127" y="6350"/>
                  </a:cubicBezTo>
                  <a:cubicBezTo>
                    <a:pt x="12127" y="6386"/>
                    <a:pt x="12060" y="6493"/>
                    <a:pt x="11975" y="6604"/>
                  </a:cubicBezTo>
                  <a:cubicBezTo>
                    <a:pt x="11889" y="6715"/>
                    <a:pt x="11822" y="6828"/>
                    <a:pt x="11822" y="6858"/>
                  </a:cubicBezTo>
                  <a:cubicBezTo>
                    <a:pt x="11822" y="6887"/>
                    <a:pt x="11808" y="6921"/>
                    <a:pt x="11784" y="6921"/>
                  </a:cubicBezTo>
                  <a:cubicBezTo>
                    <a:pt x="11759" y="6921"/>
                    <a:pt x="11726" y="6946"/>
                    <a:pt x="11726" y="6985"/>
                  </a:cubicBezTo>
                  <a:cubicBezTo>
                    <a:pt x="11726" y="7023"/>
                    <a:pt x="11726" y="7060"/>
                    <a:pt x="11707" y="7069"/>
                  </a:cubicBezTo>
                  <a:cubicBezTo>
                    <a:pt x="11655" y="7095"/>
                    <a:pt x="11287" y="7594"/>
                    <a:pt x="11287" y="7641"/>
                  </a:cubicBezTo>
                  <a:cubicBezTo>
                    <a:pt x="11287" y="7664"/>
                    <a:pt x="11241" y="7729"/>
                    <a:pt x="11192" y="7768"/>
                  </a:cubicBezTo>
                  <a:cubicBezTo>
                    <a:pt x="11142" y="7807"/>
                    <a:pt x="11115" y="7859"/>
                    <a:pt x="11115" y="7895"/>
                  </a:cubicBezTo>
                  <a:cubicBezTo>
                    <a:pt x="11115" y="7931"/>
                    <a:pt x="11076" y="7964"/>
                    <a:pt x="11039" y="7980"/>
                  </a:cubicBezTo>
                  <a:cubicBezTo>
                    <a:pt x="11002" y="7995"/>
                    <a:pt x="10981" y="8036"/>
                    <a:pt x="10981" y="8064"/>
                  </a:cubicBezTo>
                  <a:cubicBezTo>
                    <a:pt x="10981" y="8093"/>
                    <a:pt x="10928" y="8187"/>
                    <a:pt x="10867" y="8276"/>
                  </a:cubicBezTo>
                  <a:cubicBezTo>
                    <a:pt x="10805" y="8365"/>
                    <a:pt x="10752" y="8465"/>
                    <a:pt x="10752" y="8488"/>
                  </a:cubicBezTo>
                  <a:cubicBezTo>
                    <a:pt x="10752" y="8510"/>
                    <a:pt x="10685" y="8612"/>
                    <a:pt x="10599" y="8720"/>
                  </a:cubicBezTo>
                  <a:cubicBezTo>
                    <a:pt x="10514" y="8829"/>
                    <a:pt x="10420" y="8984"/>
                    <a:pt x="10389" y="9059"/>
                  </a:cubicBezTo>
                  <a:cubicBezTo>
                    <a:pt x="10359" y="9134"/>
                    <a:pt x="10306" y="9186"/>
                    <a:pt x="10275" y="9186"/>
                  </a:cubicBezTo>
                  <a:cubicBezTo>
                    <a:pt x="10244" y="9186"/>
                    <a:pt x="10218" y="9215"/>
                    <a:pt x="10218" y="9250"/>
                  </a:cubicBezTo>
                  <a:cubicBezTo>
                    <a:pt x="10218" y="9284"/>
                    <a:pt x="10150" y="9416"/>
                    <a:pt x="10065" y="9525"/>
                  </a:cubicBezTo>
                  <a:cubicBezTo>
                    <a:pt x="9980" y="9633"/>
                    <a:pt x="9886" y="9774"/>
                    <a:pt x="9855" y="9842"/>
                  </a:cubicBezTo>
                  <a:cubicBezTo>
                    <a:pt x="9823" y="9910"/>
                    <a:pt x="9738" y="10015"/>
                    <a:pt x="9683" y="10075"/>
                  </a:cubicBezTo>
                  <a:cubicBezTo>
                    <a:pt x="9627" y="10135"/>
                    <a:pt x="9587" y="10184"/>
                    <a:pt x="9587" y="10202"/>
                  </a:cubicBezTo>
                  <a:cubicBezTo>
                    <a:pt x="9587" y="10220"/>
                    <a:pt x="9540" y="10326"/>
                    <a:pt x="9473" y="10414"/>
                  </a:cubicBezTo>
                  <a:cubicBezTo>
                    <a:pt x="9238" y="10720"/>
                    <a:pt x="9186" y="10787"/>
                    <a:pt x="9186" y="10837"/>
                  </a:cubicBezTo>
                  <a:cubicBezTo>
                    <a:pt x="9186" y="10865"/>
                    <a:pt x="9166" y="10885"/>
                    <a:pt x="9129" y="10900"/>
                  </a:cubicBezTo>
                  <a:cubicBezTo>
                    <a:pt x="9092" y="10916"/>
                    <a:pt x="9053" y="10954"/>
                    <a:pt x="9053" y="10985"/>
                  </a:cubicBezTo>
                  <a:cubicBezTo>
                    <a:pt x="9053" y="11016"/>
                    <a:pt x="9024" y="11079"/>
                    <a:pt x="8976" y="11112"/>
                  </a:cubicBezTo>
                  <a:cubicBezTo>
                    <a:pt x="8929" y="11145"/>
                    <a:pt x="8845" y="11249"/>
                    <a:pt x="8804" y="11345"/>
                  </a:cubicBezTo>
                  <a:cubicBezTo>
                    <a:pt x="8763" y="11441"/>
                    <a:pt x="8711" y="11514"/>
                    <a:pt x="8690" y="11514"/>
                  </a:cubicBezTo>
                  <a:cubicBezTo>
                    <a:pt x="8668" y="11514"/>
                    <a:pt x="8651" y="11557"/>
                    <a:pt x="8651" y="11599"/>
                  </a:cubicBezTo>
                  <a:cubicBezTo>
                    <a:pt x="8651" y="11641"/>
                    <a:pt x="8631" y="11689"/>
                    <a:pt x="8594" y="11705"/>
                  </a:cubicBezTo>
                  <a:cubicBezTo>
                    <a:pt x="8557" y="11720"/>
                    <a:pt x="8518" y="11758"/>
                    <a:pt x="8518" y="11789"/>
                  </a:cubicBezTo>
                  <a:cubicBezTo>
                    <a:pt x="8518" y="11821"/>
                    <a:pt x="8471" y="11917"/>
                    <a:pt x="8403" y="12001"/>
                  </a:cubicBezTo>
                  <a:cubicBezTo>
                    <a:pt x="8189" y="12269"/>
                    <a:pt x="8117" y="12353"/>
                    <a:pt x="8117" y="12403"/>
                  </a:cubicBezTo>
                  <a:cubicBezTo>
                    <a:pt x="8117" y="12430"/>
                    <a:pt x="8070" y="12415"/>
                    <a:pt x="8021" y="12361"/>
                  </a:cubicBezTo>
                  <a:cubicBezTo>
                    <a:pt x="7972" y="12307"/>
                    <a:pt x="7945" y="12240"/>
                    <a:pt x="7945" y="12213"/>
                  </a:cubicBezTo>
                  <a:cubicBezTo>
                    <a:pt x="7945" y="12186"/>
                    <a:pt x="7925" y="12170"/>
                    <a:pt x="7907" y="12170"/>
                  </a:cubicBezTo>
                  <a:cubicBezTo>
                    <a:pt x="7888" y="12170"/>
                    <a:pt x="7833" y="12082"/>
                    <a:pt x="7792" y="11980"/>
                  </a:cubicBezTo>
                  <a:cubicBezTo>
                    <a:pt x="7751" y="11878"/>
                    <a:pt x="7657" y="11715"/>
                    <a:pt x="7582" y="11620"/>
                  </a:cubicBezTo>
                  <a:cubicBezTo>
                    <a:pt x="7507" y="11525"/>
                    <a:pt x="7448" y="11421"/>
                    <a:pt x="7448" y="11387"/>
                  </a:cubicBezTo>
                  <a:cubicBezTo>
                    <a:pt x="7448" y="11353"/>
                    <a:pt x="7422" y="11324"/>
                    <a:pt x="7391" y="11324"/>
                  </a:cubicBezTo>
                  <a:cubicBezTo>
                    <a:pt x="7360" y="11324"/>
                    <a:pt x="7307" y="11250"/>
                    <a:pt x="7276" y="11176"/>
                  </a:cubicBezTo>
                  <a:cubicBezTo>
                    <a:pt x="7246" y="11101"/>
                    <a:pt x="7152" y="10967"/>
                    <a:pt x="7066" y="10858"/>
                  </a:cubicBezTo>
                  <a:cubicBezTo>
                    <a:pt x="6981" y="10750"/>
                    <a:pt x="6914" y="10617"/>
                    <a:pt x="6914" y="10583"/>
                  </a:cubicBezTo>
                  <a:cubicBezTo>
                    <a:pt x="6914" y="10549"/>
                    <a:pt x="6898" y="10519"/>
                    <a:pt x="6875" y="10519"/>
                  </a:cubicBezTo>
                  <a:cubicBezTo>
                    <a:pt x="6853" y="10519"/>
                    <a:pt x="6792" y="10460"/>
                    <a:pt x="6742" y="10371"/>
                  </a:cubicBezTo>
                  <a:cubicBezTo>
                    <a:pt x="6692" y="10283"/>
                    <a:pt x="6591" y="10151"/>
                    <a:pt x="6532" y="10075"/>
                  </a:cubicBezTo>
                  <a:cubicBezTo>
                    <a:pt x="6472" y="9999"/>
                    <a:pt x="6379" y="9852"/>
                    <a:pt x="6321" y="9758"/>
                  </a:cubicBezTo>
                  <a:cubicBezTo>
                    <a:pt x="6264" y="9663"/>
                    <a:pt x="6206" y="9588"/>
                    <a:pt x="6188" y="9588"/>
                  </a:cubicBezTo>
                  <a:cubicBezTo>
                    <a:pt x="6169" y="9588"/>
                    <a:pt x="6150" y="9545"/>
                    <a:pt x="6150" y="9504"/>
                  </a:cubicBezTo>
                  <a:cubicBezTo>
                    <a:pt x="6150" y="9462"/>
                    <a:pt x="6129" y="9435"/>
                    <a:pt x="6092" y="9419"/>
                  </a:cubicBezTo>
                  <a:cubicBezTo>
                    <a:pt x="6056" y="9403"/>
                    <a:pt x="6016" y="9351"/>
                    <a:pt x="6016" y="9313"/>
                  </a:cubicBezTo>
                  <a:cubicBezTo>
                    <a:pt x="6016" y="9275"/>
                    <a:pt x="6015" y="9250"/>
                    <a:pt x="5997" y="9250"/>
                  </a:cubicBezTo>
                  <a:cubicBezTo>
                    <a:pt x="5978" y="9249"/>
                    <a:pt x="5899" y="9138"/>
                    <a:pt x="5825" y="9017"/>
                  </a:cubicBezTo>
                  <a:cubicBezTo>
                    <a:pt x="5751" y="8895"/>
                    <a:pt x="5671" y="8805"/>
                    <a:pt x="5653" y="8805"/>
                  </a:cubicBezTo>
                  <a:cubicBezTo>
                    <a:pt x="5635" y="8805"/>
                    <a:pt x="5615" y="8768"/>
                    <a:pt x="5615" y="8742"/>
                  </a:cubicBezTo>
                  <a:cubicBezTo>
                    <a:pt x="5615" y="8692"/>
                    <a:pt x="5124" y="8165"/>
                    <a:pt x="4889" y="7958"/>
                  </a:cubicBezTo>
                  <a:cubicBezTo>
                    <a:pt x="4566" y="7674"/>
                    <a:pt x="4240" y="7556"/>
                    <a:pt x="3667" y="7556"/>
                  </a:cubicBezTo>
                  <a:cubicBezTo>
                    <a:pt x="3148" y="7557"/>
                    <a:pt x="2815" y="7643"/>
                    <a:pt x="2425" y="7874"/>
                  </a:cubicBezTo>
                  <a:cubicBezTo>
                    <a:pt x="2303" y="7946"/>
                    <a:pt x="2185" y="8001"/>
                    <a:pt x="2158" y="8001"/>
                  </a:cubicBezTo>
                  <a:cubicBezTo>
                    <a:pt x="2131" y="8001"/>
                    <a:pt x="2062" y="8061"/>
                    <a:pt x="2005" y="8128"/>
                  </a:cubicBezTo>
                  <a:cubicBezTo>
                    <a:pt x="1948" y="8195"/>
                    <a:pt x="1891" y="8247"/>
                    <a:pt x="1872" y="8234"/>
                  </a:cubicBezTo>
                  <a:cubicBezTo>
                    <a:pt x="1852" y="8220"/>
                    <a:pt x="1815" y="8220"/>
                    <a:pt x="1795" y="8255"/>
                  </a:cubicBezTo>
                  <a:cubicBezTo>
                    <a:pt x="1775" y="8289"/>
                    <a:pt x="1630" y="8445"/>
                    <a:pt x="1471" y="8593"/>
                  </a:cubicBezTo>
                  <a:cubicBezTo>
                    <a:pt x="1311" y="8741"/>
                    <a:pt x="1108" y="8948"/>
                    <a:pt x="1031" y="9038"/>
                  </a:cubicBezTo>
                  <a:cubicBezTo>
                    <a:pt x="954" y="9128"/>
                    <a:pt x="893" y="9186"/>
                    <a:pt x="879" y="9186"/>
                  </a:cubicBezTo>
                  <a:cubicBezTo>
                    <a:pt x="821" y="9186"/>
                    <a:pt x="439" y="9664"/>
                    <a:pt x="439" y="9736"/>
                  </a:cubicBezTo>
                  <a:cubicBezTo>
                    <a:pt x="439" y="9763"/>
                    <a:pt x="425" y="9779"/>
                    <a:pt x="401" y="9779"/>
                  </a:cubicBezTo>
                  <a:cubicBezTo>
                    <a:pt x="377" y="9779"/>
                    <a:pt x="318" y="9875"/>
                    <a:pt x="267" y="9990"/>
                  </a:cubicBezTo>
                  <a:cubicBezTo>
                    <a:pt x="217" y="10106"/>
                    <a:pt x="154" y="10246"/>
                    <a:pt x="134" y="10287"/>
                  </a:cubicBezTo>
                  <a:cubicBezTo>
                    <a:pt x="14" y="10528"/>
                    <a:pt x="0" y="10594"/>
                    <a:pt x="0" y="10816"/>
                  </a:cubicBezTo>
                  <a:cubicBezTo>
                    <a:pt x="0" y="10951"/>
                    <a:pt x="14" y="11074"/>
                    <a:pt x="38" y="11091"/>
                  </a:cubicBezTo>
                  <a:cubicBezTo>
                    <a:pt x="63" y="11108"/>
                    <a:pt x="95" y="11211"/>
                    <a:pt x="95" y="11303"/>
                  </a:cubicBezTo>
                  <a:cubicBezTo>
                    <a:pt x="95" y="11395"/>
                    <a:pt x="110" y="11477"/>
                    <a:pt x="134" y="11493"/>
                  </a:cubicBezTo>
                  <a:cubicBezTo>
                    <a:pt x="158" y="11509"/>
                    <a:pt x="206" y="11604"/>
                    <a:pt x="248" y="11705"/>
                  </a:cubicBezTo>
                  <a:cubicBezTo>
                    <a:pt x="291" y="11806"/>
                    <a:pt x="350" y="11916"/>
                    <a:pt x="382" y="11938"/>
                  </a:cubicBezTo>
                  <a:cubicBezTo>
                    <a:pt x="414" y="11959"/>
                    <a:pt x="439" y="12004"/>
                    <a:pt x="439" y="12043"/>
                  </a:cubicBezTo>
                  <a:cubicBezTo>
                    <a:pt x="439" y="12083"/>
                    <a:pt x="472" y="12107"/>
                    <a:pt x="497" y="12107"/>
                  </a:cubicBezTo>
                  <a:cubicBezTo>
                    <a:pt x="521" y="12107"/>
                    <a:pt x="535" y="12158"/>
                    <a:pt x="535" y="12213"/>
                  </a:cubicBezTo>
                  <a:cubicBezTo>
                    <a:pt x="535" y="12267"/>
                    <a:pt x="548" y="12319"/>
                    <a:pt x="573" y="12319"/>
                  </a:cubicBezTo>
                  <a:cubicBezTo>
                    <a:pt x="597" y="12319"/>
                    <a:pt x="630" y="12341"/>
                    <a:pt x="630" y="12382"/>
                  </a:cubicBezTo>
                  <a:cubicBezTo>
                    <a:pt x="630" y="12423"/>
                    <a:pt x="647" y="12467"/>
                    <a:pt x="668" y="12467"/>
                  </a:cubicBezTo>
                  <a:cubicBezTo>
                    <a:pt x="690" y="12467"/>
                    <a:pt x="760" y="12534"/>
                    <a:pt x="821" y="12636"/>
                  </a:cubicBezTo>
                  <a:cubicBezTo>
                    <a:pt x="883" y="12738"/>
                    <a:pt x="967" y="12893"/>
                    <a:pt x="1031" y="12975"/>
                  </a:cubicBezTo>
                  <a:cubicBezTo>
                    <a:pt x="1096" y="13056"/>
                    <a:pt x="1165" y="13152"/>
                    <a:pt x="1165" y="13186"/>
                  </a:cubicBezTo>
                  <a:cubicBezTo>
                    <a:pt x="1165" y="13220"/>
                    <a:pt x="1178" y="13250"/>
                    <a:pt x="1203" y="13250"/>
                  </a:cubicBezTo>
                  <a:cubicBezTo>
                    <a:pt x="1228" y="13250"/>
                    <a:pt x="1264" y="13288"/>
                    <a:pt x="1280" y="13335"/>
                  </a:cubicBezTo>
                  <a:cubicBezTo>
                    <a:pt x="1314" y="13435"/>
                    <a:pt x="1398" y="13569"/>
                    <a:pt x="1566" y="13758"/>
                  </a:cubicBezTo>
                  <a:cubicBezTo>
                    <a:pt x="1634" y="13834"/>
                    <a:pt x="1700" y="13920"/>
                    <a:pt x="1700" y="13948"/>
                  </a:cubicBezTo>
                  <a:cubicBezTo>
                    <a:pt x="1700" y="13976"/>
                    <a:pt x="1733" y="14024"/>
                    <a:pt x="1776" y="14075"/>
                  </a:cubicBezTo>
                  <a:cubicBezTo>
                    <a:pt x="1819" y="14126"/>
                    <a:pt x="1926" y="14286"/>
                    <a:pt x="2024" y="14414"/>
                  </a:cubicBezTo>
                  <a:cubicBezTo>
                    <a:pt x="2123" y="14543"/>
                    <a:pt x="2249" y="14680"/>
                    <a:pt x="2292" y="14732"/>
                  </a:cubicBezTo>
                  <a:cubicBezTo>
                    <a:pt x="2335" y="14783"/>
                    <a:pt x="2368" y="14852"/>
                    <a:pt x="2368" y="14880"/>
                  </a:cubicBezTo>
                  <a:cubicBezTo>
                    <a:pt x="2368" y="14907"/>
                    <a:pt x="2369" y="14921"/>
                    <a:pt x="2387" y="14922"/>
                  </a:cubicBezTo>
                  <a:cubicBezTo>
                    <a:pt x="2406" y="14923"/>
                    <a:pt x="2486" y="15033"/>
                    <a:pt x="2559" y="15155"/>
                  </a:cubicBezTo>
                  <a:cubicBezTo>
                    <a:pt x="2633" y="15277"/>
                    <a:pt x="2713" y="15366"/>
                    <a:pt x="2731" y="15367"/>
                  </a:cubicBezTo>
                  <a:cubicBezTo>
                    <a:pt x="2749" y="15367"/>
                    <a:pt x="2769" y="15410"/>
                    <a:pt x="2769" y="15451"/>
                  </a:cubicBezTo>
                  <a:cubicBezTo>
                    <a:pt x="2769" y="15493"/>
                    <a:pt x="2790" y="15541"/>
                    <a:pt x="2827" y="15557"/>
                  </a:cubicBezTo>
                  <a:cubicBezTo>
                    <a:pt x="2863" y="15573"/>
                    <a:pt x="2903" y="15594"/>
                    <a:pt x="2903" y="15620"/>
                  </a:cubicBezTo>
                  <a:cubicBezTo>
                    <a:pt x="2903" y="15647"/>
                    <a:pt x="2930" y="15713"/>
                    <a:pt x="2960" y="15747"/>
                  </a:cubicBezTo>
                  <a:cubicBezTo>
                    <a:pt x="2991" y="15782"/>
                    <a:pt x="3045" y="15862"/>
                    <a:pt x="3094" y="15938"/>
                  </a:cubicBezTo>
                  <a:cubicBezTo>
                    <a:pt x="3143" y="16013"/>
                    <a:pt x="3216" y="16114"/>
                    <a:pt x="3247" y="16150"/>
                  </a:cubicBezTo>
                  <a:cubicBezTo>
                    <a:pt x="3277" y="16185"/>
                    <a:pt x="3304" y="16226"/>
                    <a:pt x="3304" y="16255"/>
                  </a:cubicBezTo>
                  <a:cubicBezTo>
                    <a:pt x="3304" y="16285"/>
                    <a:pt x="3318" y="16319"/>
                    <a:pt x="3342" y="16319"/>
                  </a:cubicBezTo>
                  <a:cubicBezTo>
                    <a:pt x="3367" y="16319"/>
                    <a:pt x="3380" y="16336"/>
                    <a:pt x="3380" y="16361"/>
                  </a:cubicBezTo>
                  <a:cubicBezTo>
                    <a:pt x="3380" y="16386"/>
                    <a:pt x="3473" y="16505"/>
                    <a:pt x="3571" y="16615"/>
                  </a:cubicBezTo>
                  <a:cubicBezTo>
                    <a:pt x="3670" y="16725"/>
                    <a:pt x="3743" y="16826"/>
                    <a:pt x="3743" y="16848"/>
                  </a:cubicBezTo>
                  <a:cubicBezTo>
                    <a:pt x="3743" y="16870"/>
                    <a:pt x="3790" y="16915"/>
                    <a:pt x="3839" y="16954"/>
                  </a:cubicBezTo>
                  <a:cubicBezTo>
                    <a:pt x="3888" y="16993"/>
                    <a:pt x="3915" y="17041"/>
                    <a:pt x="3915" y="17060"/>
                  </a:cubicBezTo>
                  <a:cubicBezTo>
                    <a:pt x="3915" y="17079"/>
                    <a:pt x="4008" y="17197"/>
                    <a:pt x="4106" y="17314"/>
                  </a:cubicBezTo>
                  <a:cubicBezTo>
                    <a:pt x="4204" y="17430"/>
                    <a:pt x="4278" y="17537"/>
                    <a:pt x="4278" y="17568"/>
                  </a:cubicBezTo>
                  <a:cubicBezTo>
                    <a:pt x="4278" y="17599"/>
                    <a:pt x="4324" y="17667"/>
                    <a:pt x="4373" y="17716"/>
                  </a:cubicBezTo>
                  <a:cubicBezTo>
                    <a:pt x="4423" y="17765"/>
                    <a:pt x="4469" y="17821"/>
                    <a:pt x="4469" y="17843"/>
                  </a:cubicBezTo>
                  <a:cubicBezTo>
                    <a:pt x="4469" y="17865"/>
                    <a:pt x="4503" y="17960"/>
                    <a:pt x="4564" y="18033"/>
                  </a:cubicBezTo>
                  <a:cubicBezTo>
                    <a:pt x="4626" y="18107"/>
                    <a:pt x="4679" y="18172"/>
                    <a:pt x="4679" y="18203"/>
                  </a:cubicBezTo>
                  <a:cubicBezTo>
                    <a:pt x="4679" y="18233"/>
                    <a:pt x="4719" y="18326"/>
                    <a:pt x="4775" y="18393"/>
                  </a:cubicBezTo>
                  <a:cubicBezTo>
                    <a:pt x="4830" y="18461"/>
                    <a:pt x="4910" y="18588"/>
                    <a:pt x="4946" y="18668"/>
                  </a:cubicBezTo>
                  <a:cubicBezTo>
                    <a:pt x="4983" y="18749"/>
                    <a:pt x="5043" y="18837"/>
                    <a:pt x="5080" y="18880"/>
                  </a:cubicBezTo>
                  <a:cubicBezTo>
                    <a:pt x="5117" y="18923"/>
                    <a:pt x="5184" y="19036"/>
                    <a:pt x="5233" y="19113"/>
                  </a:cubicBezTo>
                  <a:cubicBezTo>
                    <a:pt x="5282" y="19190"/>
                    <a:pt x="5355" y="19268"/>
                    <a:pt x="5386" y="19303"/>
                  </a:cubicBezTo>
                  <a:cubicBezTo>
                    <a:pt x="5416" y="19339"/>
                    <a:pt x="5443" y="19401"/>
                    <a:pt x="5443" y="19430"/>
                  </a:cubicBezTo>
                  <a:cubicBezTo>
                    <a:pt x="5443" y="19460"/>
                    <a:pt x="5457" y="19473"/>
                    <a:pt x="5481" y="19473"/>
                  </a:cubicBezTo>
                  <a:cubicBezTo>
                    <a:pt x="5506" y="19473"/>
                    <a:pt x="5538" y="19508"/>
                    <a:pt x="5538" y="19536"/>
                  </a:cubicBezTo>
                  <a:cubicBezTo>
                    <a:pt x="5538" y="19564"/>
                    <a:pt x="5605" y="19643"/>
                    <a:pt x="5691" y="19727"/>
                  </a:cubicBezTo>
                  <a:cubicBezTo>
                    <a:pt x="5777" y="19810"/>
                    <a:pt x="5844" y="19922"/>
                    <a:pt x="5844" y="19960"/>
                  </a:cubicBezTo>
                  <a:cubicBezTo>
                    <a:pt x="5844" y="19997"/>
                    <a:pt x="5865" y="20023"/>
                    <a:pt x="5901" y="20023"/>
                  </a:cubicBezTo>
                  <a:cubicBezTo>
                    <a:pt x="5938" y="20023"/>
                    <a:pt x="5978" y="20038"/>
                    <a:pt x="5978" y="20065"/>
                  </a:cubicBezTo>
                  <a:cubicBezTo>
                    <a:pt x="5978" y="20108"/>
                    <a:pt x="6399" y="20616"/>
                    <a:pt x="6436" y="20616"/>
                  </a:cubicBezTo>
                  <a:cubicBezTo>
                    <a:pt x="6443" y="20616"/>
                    <a:pt x="6526" y="20678"/>
                    <a:pt x="6608" y="20764"/>
                  </a:cubicBezTo>
                  <a:cubicBezTo>
                    <a:pt x="6821" y="20984"/>
                    <a:pt x="7308" y="21328"/>
                    <a:pt x="7486" y="21378"/>
                  </a:cubicBezTo>
                  <a:cubicBezTo>
                    <a:pt x="7554" y="21396"/>
                    <a:pt x="7722" y="21456"/>
                    <a:pt x="7964" y="21547"/>
                  </a:cubicBezTo>
                  <a:cubicBezTo>
                    <a:pt x="8038" y="21575"/>
                    <a:pt x="8158" y="21600"/>
                    <a:pt x="8231" y="21589"/>
                  </a:cubicBezTo>
                  <a:cubicBezTo>
                    <a:pt x="8622" y="21533"/>
                    <a:pt x="8836" y="21478"/>
                    <a:pt x="8900" y="21420"/>
                  </a:cubicBezTo>
                  <a:cubicBezTo>
                    <a:pt x="8939" y="21384"/>
                    <a:pt x="8957" y="21360"/>
                    <a:pt x="8957" y="21378"/>
                  </a:cubicBezTo>
                  <a:cubicBezTo>
                    <a:pt x="8957" y="21407"/>
                    <a:pt x="9274" y="21193"/>
                    <a:pt x="9396" y="21081"/>
                  </a:cubicBezTo>
                  <a:cubicBezTo>
                    <a:pt x="9426" y="21054"/>
                    <a:pt x="9546" y="20962"/>
                    <a:pt x="9664" y="20870"/>
                  </a:cubicBezTo>
                  <a:cubicBezTo>
                    <a:pt x="9849" y="20724"/>
                    <a:pt x="10213" y="20288"/>
                    <a:pt x="10504" y="19875"/>
                  </a:cubicBezTo>
                  <a:cubicBezTo>
                    <a:pt x="10553" y="19805"/>
                    <a:pt x="10633" y="19713"/>
                    <a:pt x="10676" y="19663"/>
                  </a:cubicBezTo>
                  <a:cubicBezTo>
                    <a:pt x="10719" y="19614"/>
                    <a:pt x="10752" y="19570"/>
                    <a:pt x="10752" y="19557"/>
                  </a:cubicBezTo>
                  <a:cubicBezTo>
                    <a:pt x="10752" y="19545"/>
                    <a:pt x="10819" y="19462"/>
                    <a:pt x="10905" y="19367"/>
                  </a:cubicBezTo>
                  <a:cubicBezTo>
                    <a:pt x="10991" y="19272"/>
                    <a:pt x="11058" y="19162"/>
                    <a:pt x="11058" y="19134"/>
                  </a:cubicBezTo>
                  <a:cubicBezTo>
                    <a:pt x="11058" y="19106"/>
                    <a:pt x="11091" y="19092"/>
                    <a:pt x="11115" y="19092"/>
                  </a:cubicBezTo>
                  <a:cubicBezTo>
                    <a:pt x="11140" y="19092"/>
                    <a:pt x="11153" y="19046"/>
                    <a:pt x="11153" y="19007"/>
                  </a:cubicBezTo>
                  <a:cubicBezTo>
                    <a:pt x="11153" y="18968"/>
                    <a:pt x="11178" y="18923"/>
                    <a:pt x="11211" y="18901"/>
                  </a:cubicBezTo>
                  <a:cubicBezTo>
                    <a:pt x="11244" y="18879"/>
                    <a:pt x="11333" y="18763"/>
                    <a:pt x="11402" y="18647"/>
                  </a:cubicBezTo>
                  <a:cubicBezTo>
                    <a:pt x="11470" y="18532"/>
                    <a:pt x="11533" y="18436"/>
                    <a:pt x="11554" y="18436"/>
                  </a:cubicBezTo>
                  <a:cubicBezTo>
                    <a:pt x="11576" y="18436"/>
                    <a:pt x="11593" y="18413"/>
                    <a:pt x="11593" y="18372"/>
                  </a:cubicBezTo>
                  <a:cubicBezTo>
                    <a:pt x="11593" y="18331"/>
                    <a:pt x="11625" y="18287"/>
                    <a:pt x="11650" y="18287"/>
                  </a:cubicBezTo>
                  <a:cubicBezTo>
                    <a:pt x="11674" y="18287"/>
                    <a:pt x="11688" y="18259"/>
                    <a:pt x="11688" y="18224"/>
                  </a:cubicBezTo>
                  <a:cubicBezTo>
                    <a:pt x="11688" y="18189"/>
                    <a:pt x="11722" y="18140"/>
                    <a:pt x="11764" y="18097"/>
                  </a:cubicBezTo>
                  <a:cubicBezTo>
                    <a:pt x="11860" y="18001"/>
                    <a:pt x="11994" y="17812"/>
                    <a:pt x="11994" y="17779"/>
                  </a:cubicBezTo>
                  <a:cubicBezTo>
                    <a:pt x="11994" y="17766"/>
                    <a:pt x="12027" y="17702"/>
                    <a:pt x="12070" y="17652"/>
                  </a:cubicBezTo>
                  <a:cubicBezTo>
                    <a:pt x="12113" y="17603"/>
                    <a:pt x="12239" y="17467"/>
                    <a:pt x="12337" y="17335"/>
                  </a:cubicBezTo>
                  <a:cubicBezTo>
                    <a:pt x="12436" y="17203"/>
                    <a:pt x="12543" y="17046"/>
                    <a:pt x="12586" y="16996"/>
                  </a:cubicBezTo>
                  <a:cubicBezTo>
                    <a:pt x="12629" y="16946"/>
                    <a:pt x="12662" y="16890"/>
                    <a:pt x="12662" y="16869"/>
                  </a:cubicBezTo>
                  <a:cubicBezTo>
                    <a:pt x="12662" y="16849"/>
                    <a:pt x="12714" y="16760"/>
                    <a:pt x="12777" y="16679"/>
                  </a:cubicBezTo>
                  <a:cubicBezTo>
                    <a:pt x="12974" y="16421"/>
                    <a:pt x="13273" y="16048"/>
                    <a:pt x="13331" y="15980"/>
                  </a:cubicBezTo>
                  <a:cubicBezTo>
                    <a:pt x="13361" y="15945"/>
                    <a:pt x="13388" y="15904"/>
                    <a:pt x="13388" y="15874"/>
                  </a:cubicBezTo>
                  <a:cubicBezTo>
                    <a:pt x="13388" y="15844"/>
                    <a:pt x="13408" y="15805"/>
                    <a:pt x="13445" y="15790"/>
                  </a:cubicBezTo>
                  <a:cubicBezTo>
                    <a:pt x="13482" y="15774"/>
                    <a:pt x="13521" y="15737"/>
                    <a:pt x="13521" y="15705"/>
                  </a:cubicBezTo>
                  <a:cubicBezTo>
                    <a:pt x="13521" y="15673"/>
                    <a:pt x="13569" y="15578"/>
                    <a:pt x="13636" y="15493"/>
                  </a:cubicBezTo>
                  <a:cubicBezTo>
                    <a:pt x="13849" y="15228"/>
                    <a:pt x="13923" y="15119"/>
                    <a:pt x="13923" y="15070"/>
                  </a:cubicBezTo>
                  <a:cubicBezTo>
                    <a:pt x="13923" y="15044"/>
                    <a:pt x="13950" y="15014"/>
                    <a:pt x="13999" y="14986"/>
                  </a:cubicBezTo>
                  <a:cubicBezTo>
                    <a:pt x="14048" y="14957"/>
                    <a:pt x="14117" y="14862"/>
                    <a:pt x="14133" y="14795"/>
                  </a:cubicBezTo>
                  <a:cubicBezTo>
                    <a:pt x="14148" y="14728"/>
                    <a:pt x="14171" y="14689"/>
                    <a:pt x="14190" y="14689"/>
                  </a:cubicBezTo>
                  <a:cubicBezTo>
                    <a:pt x="14209" y="14689"/>
                    <a:pt x="14276" y="14589"/>
                    <a:pt x="14343" y="14478"/>
                  </a:cubicBezTo>
                  <a:cubicBezTo>
                    <a:pt x="14409" y="14366"/>
                    <a:pt x="14526" y="14208"/>
                    <a:pt x="14610" y="14118"/>
                  </a:cubicBezTo>
                  <a:cubicBezTo>
                    <a:pt x="14694" y="14027"/>
                    <a:pt x="14763" y="13933"/>
                    <a:pt x="14763" y="13906"/>
                  </a:cubicBezTo>
                  <a:cubicBezTo>
                    <a:pt x="14763" y="13879"/>
                    <a:pt x="14802" y="13837"/>
                    <a:pt x="14839" y="13821"/>
                  </a:cubicBezTo>
                  <a:cubicBezTo>
                    <a:pt x="14876" y="13806"/>
                    <a:pt x="14897" y="13757"/>
                    <a:pt x="14897" y="13716"/>
                  </a:cubicBezTo>
                  <a:cubicBezTo>
                    <a:pt x="14897" y="13674"/>
                    <a:pt x="14916" y="13652"/>
                    <a:pt x="14935" y="13652"/>
                  </a:cubicBezTo>
                  <a:cubicBezTo>
                    <a:pt x="14953" y="13652"/>
                    <a:pt x="15033" y="13541"/>
                    <a:pt x="15107" y="13419"/>
                  </a:cubicBezTo>
                  <a:cubicBezTo>
                    <a:pt x="15180" y="13298"/>
                    <a:pt x="15241" y="13208"/>
                    <a:pt x="15259" y="13208"/>
                  </a:cubicBezTo>
                  <a:cubicBezTo>
                    <a:pt x="15278" y="13207"/>
                    <a:pt x="15298" y="13161"/>
                    <a:pt x="15298" y="13123"/>
                  </a:cubicBezTo>
                  <a:cubicBezTo>
                    <a:pt x="15298" y="13085"/>
                    <a:pt x="15337" y="13054"/>
                    <a:pt x="15374" y="13038"/>
                  </a:cubicBezTo>
                  <a:cubicBezTo>
                    <a:pt x="15411" y="13023"/>
                    <a:pt x="15431" y="12974"/>
                    <a:pt x="15431" y="12932"/>
                  </a:cubicBezTo>
                  <a:cubicBezTo>
                    <a:pt x="15431" y="12891"/>
                    <a:pt x="15464" y="12848"/>
                    <a:pt x="15489" y="12848"/>
                  </a:cubicBezTo>
                  <a:cubicBezTo>
                    <a:pt x="15513" y="12848"/>
                    <a:pt x="15527" y="12833"/>
                    <a:pt x="15527" y="12805"/>
                  </a:cubicBezTo>
                  <a:cubicBezTo>
                    <a:pt x="15527" y="12778"/>
                    <a:pt x="15560" y="12707"/>
                    <a:pt x="15603" y="12657"/>
                  </a:cubicBezTo>
                  <a:cubicBezTo>
                    <a:pt x="15646" y="12608"/>
                    <a:pt x="15740" y="12489"/>
                    <a:pt x="15813" y="12382"/>
                  </a:cubicBezTo>
                  <a:cubicBezTo>
                    <a:pt x="15887" y="12275"/>
                    <a:pt x="16007" y="12109"/>
                    <a:pt x="16081" y="12022"/>
                  </a:cubicBezTo>
                  <a:cubicBezTo>
                    <a:pt x="16295" y="11770"/>
                    <a:pt x="16367" y="11674"/>
                    <a:pt x="16367" y="11620"/>
                  </a:cubicBezTo>
                  <a:cubicBezTo>
                    <a:pt x="16367" y="11592"/>
                    <a:pt x="16407" y="11551"/>
                    <a:pt x="16444" y="11535"/>
                  </a:cubicBezTo>
                  <a:cubicBezTo>
                    <a:pt x="16480" y="11520"/>
                    <a:pt x="16501" y="11482"/>
                    <a:pt x="16501" y="11451"/>
                  </a:cubicBezTo>
                  <a:cubicBezTo>
                    <a:pt x="16501" y="11420"/>
                    <a:pt x="16551" y="11321"/>
                    <a:pt x="16615" y="11239"/>
                  </a:cubicBezTo>
                  <a:cubicBezTo>
                    <a:pt x="16680" y="11158"/>
                    <a:pt x="16783" y="11024"/>
                    <a:pt x="16845" y="10922"/>
                  </a:cubicBezTo>
                  <a:cubicBezTo>
                    <a:pt x="16906" y="10820"/>
                    <a:pt x="16976" y="10731"/>
                    <a:pt x="16997" y="10731"/>
                  </a:cubicBezTo>
                  <a:cubicBezTo>
                    <a:pt x="17019" y="10731"/>
                    <a:pt x="17036" y="10713"/>
                    <a:pt x="17036" y="10689"/>
                  </a:cubicBezTo>
                  <a:cubicBezTo>
                    <a:pt x="17036" y="10665"/>
                    <a:pt x="17106" y="10555"/>
                    <a:pt x="17188" y="10456"/>
                  </a:cubicBezTo>
                  <a:cubicBezTo>
                    <a:pt x="17270" y="10357"/>
                    <a:pt x="17364" y="10213"/>
                    <a:pt x="17398" y="10139"/>
                  </a:cubicBezTo>
                  <a:cubicBezTo>
                    <a:pt x="17463" y="9999"/>
                    <a:pt x="17553" y="9877"/>
                    <a:pt x="17761" y="9631"/>
                  </a:cubicBezTo>
                  <a:cubicBezTo>
                    <a:pt x="17829" y="9551"/>
                    <a:pt x="17895" y="9465"/>
                    <a:pt x="17895" y="9440"/>
                  </a:cubicBezTo>
                  <a:cubicBezTo>
                    <a:pt x="17895" y="9415"/>
                    <a:pt x="17909" y="9398"/>
                    <a:pt x="17933" y="9398"/>
                  </a:cubicBezTo>
                  <a:cubicBezTo>
                    <a:pt x="17958" y="9398"/>
                    <a:pt x="17971" y="9355"/>
                    <a:pt x="17971" y="9313"/>
                  </a:cubicBezTo>
                  <a:cubicBezTo>
                    <a:pt x="17971" y="9271"/>
                    <a:pt x="18011" y="9223"/>
                    <a:pt x="18048" y="9207"/>
                  </a:cubicBezTo>
                  <a:cubicBezTo>
                    <a:pt x="18085" y="9192"/>
                    <a:pt x="18105" y="9154"/>
                    <a:pt x="18105" y="9123"/>
                  </a:cubicBezTo>
                  <a:cubicBezTo>
                    <a:pt x="18105" y="9091"/>
                    <a:pt x="18151" y="9035"/>
                    <a:pt x="18201" y="8996"/>
                  </a:cubicBezTo>
                  <a:cubicBezTo>
                    <a:pt x="18250" y="8956"/>
                    <a:pt x="18296" y="8900"/>
                    <a:pt x="18296" y="8869"/>
                  </a:cubicBezTo>
                  <a:cubicBezTo>
                    <a:pt x="18296" y="8837"/>
                    <a:pt x="18317" y="8800"/>
                    <a:pt x="18353" y="8784"/>
                  </a:cubicBezTo>
                  <a:cubicBezTo>
                    <a:pt x="18390" y="8768"/>
                    <a:pt x="18430" y="8720"/>
                    <a:pt x="18430" y="8678"/>
                  </a:cubicBezTo>
                  <a:cubicBezTo>
                    <a:pt x="18430" y="8636"/>
                    <a:pt x="18443" y="8593"/>
                    <a:pt x="18468" y="8593"/>
                  </a:cubicBezTo>
                  <a:cubicBezTo>
                    <a:pt x="18492" y="8593"/>
                    <a:pt x="18506" y="8571"/>
                    <a:pt x="18506" y="8530"/>
                  </a:cubicBezTo>
                  <a:cubicBezTo>
                    <a:pt x="18506" y="8489"/>
                    <a:pt x="18523" y="8445"/>
                    <a:pt x="18544" y="8445"/>
                  </a:cubicBezTo>
                  <a:cubicBezTo>
                    <a:pt x="18566" y="8445"/>
                    <a:pt x="18648" y="8349"/>
                    <a:pt x="18716" y="8234"/>
                  </a:cubicBezTo>
                  <a:cubicBezTo>
                    <a:pt x="18785" y="8118"/>
                    <a:pt x="18874" y="8022"/>
                    <a:pt x="18907" y="8001"/>
                  </a:cubicBezTo>
                  <a:cubicBezTo>
                    <a:pt x="18940" y="7979"/>
                    <a:pt x="18964" y="7913"/>
                    <a:pt x="18964" y="7874"/>
                  </a:cubicBezTo>
                  <a:cubicBezTo>
                    <a:pt x="18964" y="7834"/>
                    <a:pt x="18978" y="7810"/>
                    <a:pt x="19003" y="7810"/>
                  </a:cubicBezTo>
                  <a:cubicBezTo>
                    <a:pt x="19027" y="7810"/>
                    <a:pt x="19041" y="7777"/>
                    <a:pt x="19041" y="7747"/>
                  </a:cubicBezTo>
                  <a:cubicBezTo>
                    <a:pt x="19041" y="7716"/>
                    <a:pt x="19147" y="7582"/>
                    <a:pt x="19270" y="7450"/>
                  </a:cubicBezTo>
                  <a:cubicBezTo>
                    <a:pt x="19393" y="7319"/>
                    <a:pt x="19499" y="7197"/>
                    <a:pt x="19499" y="7175"/>
                  </a:cubicBezTo>
                  <a:cubicBezTo>
                    <a:pt x="19499" y="7154"/>
                    <a:pt x="19550" y="7066"/>
                    <a:pt x="19614" y="6985"/>
                  </a:cubicBezTo>
                  <a:cubicBezTo>
                    <a:pt x="19678" y="6903"/>
                    <a:pt x="19781" y="6769"/>
                    <a:pt x="19843" y="6667"/>
                  </a:cubicBezTo>
                  <a:cubicBezTo>
                    <a:pt x="19905" y="6565"/>
                    <a:pt x="19974" y="6477"/>
                    <a:pt x="19996" y="6477"/>
                  </a:cubicBezTo>
                  <a:cubicBezTo>
                    <a:pt x="20017" y="6477"/>
                    <a:pt x="20034" y="6461"/>
                    <a:pt x="20034" y="6434"/>
                  </a:cubicBezTo>
                  <a:cubicBezTo>
                    <a:pt x="20034" y="6408"/>
                    <a:pt x="20101" y="6297"/>
                    <a:pt x="20187" y="6202"/>
                  </a:cubicBezTo>
                  <a:cubicBezTo>
                    <a:pt x="20273" y="6106"/>
                    <a:pt x="20340" y="5989"/>
                    <a:pt x="20340" y="5948"/>
                  </a:cubicBezTo>
                  <a:cubicBezTo>
                    <a:pt x="20340" y="5906"/>
                    <a:pt x="20372" y="5884"/>
                    <a:pt x="20397" y="5884"/>
                  </a:cubicBezTo>
                  <a:cubicBezTo>
                    <a:pt x="20421" y="5884"/>
                    <a:pt x="20435" y="5851"/>
                    <a:pt x="20435" y="5821"/>
                  </a:cubicBezTo>
                  <a:cubicBezTo>
                    <a:pt x="20435" y="5767"/>
                    <a:pt x="20505" y="5678"/>
                    <a:pt x="20760" y="5376"/>
                  </a:cubicBezTo>
                  <a:cubicBezTo>
                    <a:pt x="20827" y="5296"/>
                    <a:pt x="20874" y="5211"/>
                    <a:pt x="20874" y="5186"/>
                  </a:cubicBezTo>
                  <a:cubicBezTo>
                    <a:pt x="20874" y="5161"/>
                    <a:pt x="20907" y="5143"/>
                    <a:pt x="20932" y="5143"/>
                  </a:cubicBezTo>
                  <a:cubicBezTo>
                    <a:pt x="20956" y="5143"/>
                    <a:pt x="20970" y="5108"/>
                    <a:pt x="20970" y="5080"/>
                  </a:cubicBezTo>
                  <a:cubicBezTo>
                    <a:pt x="20970" y="5033"/>
                    <a:pt x="20987" y="5001"/>
                    <a:pt x="21123" y="4826"/>
                  </a:cubicBezTo>
                  <a:cubicBezTo>
                    <a:pt x="21207" y="4717"/>
                    <a:pt x="21409" y="4281"/>
                    <a:pt x="21409" y="4212"/>
                  </a:cubicBezTo>
                  <a:cubicBezTo>
                    <a:pt x="21409" y="4175"/>
                    <a:pt x="21442" y="4149"/>
                    <a:pt x="21466" y="4149"/>
                  </a:cubicBezTo>
                  <a:cubicBezTo>
                    <a:pt x="21491" y="4149"/>
                    <a:pt x="21505" y="4073"/>
                    <a:pt x="21505" y="3979"/>
                  </a:cubicBezTo>
                  <a:cubicBezTo>
                    <a:pt x="21505" y="3886"/>
                    <a:pt x="21518" y="3806"/>
                    <a:pt x="21543" y="3789"/>
                  </a:cubicBezTo>
                  <a:cubicBezTo>
                    <a:pt x="21567" y="3772"/>
                    <a:pt x="21600" y="3654"/>
                    <a:pt x="21600" y="3535"/>
                  </a:cubicBezTo>
                  <a:cubicBezTo>
                    <a:pt x="21600" y="3416"/>
                    <a:pt x="21567" y="3298"/>
                    <a:pt x="21543" y="3281"/>
                  </a:cubicBezTo>
                  <a:cubicBezTo>
                    <a:pt x="21518" y="3264"/>
                    <a:pt x="21505" y="3146"/>
                    <a:pt x="21505" y="3027"/>
                  </a:cubicBezTo>
                  <a:cubicBezTo>
                    <a:pt x="21505" y="2908"/>
                    <a:pt x="21491" y="2811"/>
                    <a:pt x="21466" y="2794"/>
                  </a:cubicBezTo>
                  <a:cubicBezTo>
                    <a:pt x="21442" y="2777"/>
                    <a:pt x="21409" y="2701"/>
                    <a:pt x="21409" y="2625"/>
                  </a:cubicBezTo>
                  <a:cubicBezTo>
                    <a:pt x="21409" y="2548"/>
                    <a:pt x="21389" y="2447"/>
                    <a:pt x="21352" y="2413"/>
                  </a:cubicBezTo>
                  <a:cubicBezTo>
                    <a:pt x="21315" y="2379"/>
                    <a:pt x="21275" y="2323"/>
                    <a:pt x="21275" y="2286"/>
                  </a:cubicBezTo>
                  <a:cubicBezTo>
                    <a:pt x="21275" y="2248"/>
                    <a:pt x="21262" y="2222"/>
                    <a:pt x="21237" y="2222"/>
                  </a:cubicBezTo>
                  <a:cubicBezTo>
                    <a:pt x="21213" y="2222"/>
                    <a:pt x="21199" y="2194"/>
                    <a:pt x="21199" y="2159"/>
                  </a:cubicBezTo>
                  <a:cubicBezTo>
                    <a:pt x="21199" y="2124"/>
                    <a:pt x="21119" y="2023"/>
                    <a:pt x="21027" y="1926"/>
                  </a:cubicBezTo>
                  <a:cubicBezTo>
                    <a:pt x="20935" y="1829"/>
                    <a:pt x="20758" y="1614"/>
                    <a:pt x="20626" y="1460"/>
                  </a:cubicBezTo>
                  <a:cubicBezTo>
                    <a:pt x="20494" y="1307"/>
                    <a:pt x="20314" y="1139"/>
                    <a:pt x="20225" y="1079"/>
                  </a:cubicBezTo>
                  <a:cubicBezTo>
                    <a:pt x="20136" y="1020"/>
                    <a:pt x="20046" y="948"/>
                    <a:pt x="20034" y="931"/>
                  </a:cubicBezTo>
                  <a:cubicBezTo>
                    <a:pt x="19967" y="839"/>
                    <a:pt x="19097" y="307"/>
                    <a:pt x="18964" y="275"/>
                  </a:cubicBezTo>
                  <a:cubicBezTo>
                    <a:pt x="18879" y="255"/>
                    <a:pt x="18779" y="211"/>
                    <a:pt x="18754" y="190"/>
                  </a:cubicBezTo>
                  <a:cubicBezTo>
                    <a:pt x="18654" y="105"/>
                    <a:pt x="18185" y="0"/>
                    <a:pt x="17933" y="0"/>
                  </a:cubicBezTo>
                  <a:close/>
                </a:path>
              </a:pathLst>
            </a:custGeom>
            <a:ln w="12700" cap="flat">
              <a:noFill/>
              <a:miter lim="400000"/>
            </a:ln>
            <a:effectLst/>
          </p:spPr>
        </p:pic>
        <p:sp>
          <p:nvSpPr>
            <p:cNvPr id="348" name="Rounded Rectangle"/>
            <p:cNvSpPr/>
            <p:nvPr/>
          </p:nvSpPr>
          <p:spPr>
            <a:xfrm>
              <a:off x="0" y="533133"/>
              <a:ext cx="2122038" cy="1964345"/>
            </a:xfrm>
            <a:prstGeom prst="roundRect">
              <a:avLst>
                <a:gd name="adj" fmla="val 14726"/>
              </a:avLst>
            </a:prstGeom>
            <a:solidFill>
              <a:srgbClr val="DDC6E1"/>
            </a:solidFill>
            <a:ln w="38100" cap="flat">
              <a:solidFill>
                <a:srgbClr val="000000"/>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Graphik-Light"/>
                  <a:ea typeface="Graphik-Light"/>
                  <a:cs typeface="Graphik-Light"/>
                  <a:sym typeface="Graphik Light"/>
                </a:defRPr>
              </a:pPr>
              <a:endParaRPr/>
            </a:p>
          </p:txBody>
        </p:sp>
        <p:sp>
          <p:nvSpPr>
            <p:cNvPr id="349" name="Rounded Rectangle"/>
            <p:cNvSpPr/>
            <p:nvPr/>
          </p:nvSpPr>
          <p:spPr>
            <a:xfrm>
              <a:off x="2996469" y="533133"/>
              <a:ext cx="2192634" cy="2016112"/>
            </a:xfrm>
            <a:prstGeom prst="roundRect">
              <a:avLst>
                <a:gd name="adj" fmla="val 14825"/>
              </a:avLst>
            </a:prstGeom>
            <a:solidFill>
              <a:srgbClr val="DDC6E1">
                <a:alpha val="50000"/>
              </a:srgbClr>
            </a:solidFill>
            <a:ln w="38100" cap="flat">
              <a:solidFill>
                <a:srgbClr val="000000"/>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Graphik-Light"/>
                  <a:ea typeface="Graphik-Light"/>
                  <a:cs typeface="Graphik-Light"/>
                  <a:sym typeface="Graphik Light"/>
                </a:defRPr>
              </a:pPr>
              <a:endParaRPr/>
            </a:p>
          </p:txBody>
        </p:sp>
        <p:sp>
          <p:nvSpPr>
            <p:cNvPr id="350" name="…"/>
            <p:cNvSpPr txBox="1"/>
            <p:nvPr/>
          </p:nvSpPr>
          <p:spPr>
            <a:xfrm>
              <a:off x="6243421" y="755298"/>
              <a:ext cx="630277" cy="8965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defTabSz="355600">
                <a:lnSpc>
                  <a:spcPct val="100000"/>
                </a:lnSpc>
                <a:spcBef>
                  <a:spcPts val="4700"/>
                </a:spcBef>
                <a:defRPr sz="4000">
                  <a:solidFill>
                    <a:srgbClr val="53585F"/>
                  </a:solidFill>
                  <a:latin typeface="Graphik-Medium"/>
                  <a:ea typeface="Graphik-Medium"/>
                  <a:cs typeface="Graphik-Medium"/>
                  <a:sym typeface="Graphik Medium"/>
                </a:defRPr>
              </a:lvl1pPr>
            </a:lstStyle>
            <a:p>
              <a:r>
                <a:t>…</a:t>
              </a:r>
            </a:p>
          </p:txBody>
        </p:sp>
        <p:sp>
          <p:nvSpPr>
            <p:cNvPr id="351" name="Rounded Rectangle"/>
            <p:cNvSpPr/>
            <p:nvPr/>
          </p:nvSpPr>
          <p:spPr>
            <a:xfrm>
              <a:off x="7979333" y="533133"/>
              <a:ext cx="2192634" cy="1964345"/>
            </a:xfrm>
            <a:prstGeom prst="roundRect">
              <a:avLst>
                <a:gd name="adj" fmla="val 15216"/>
              </a:avLst>
            </a:prstGeom>
            <a:solidFill>
              <a:srgbClr val="DDC6E1">
                <a:alpha val="10000"/>
              </a:srgbClr>
            </a:solidFill>
            <a:ln w="38100" cap="flat">
              <a:solidFill>
                <a:srgbClr val="000000"/>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Graphik-Light"/>
                  <a:ea typeface="Graphik-Light"/>
                  <a:cs typeface="Graphik-Light"/>
                  <a:sym typeface="Graphik Light"/>
                </a:defRPr>
              </a:pPr>
              <a:endParaRPr/>
            </a:p>
          </p:txBody>
        </p:sp>
        <p:pic>
          <p:nvPicPr>
            <p:cNvPr id="352" name="9d6ed4e6-f024-4b82-a319-6c75fd0f3174.png" descr="9d6ed4e6-f024-4b82-a319-6c75fd0f3174.png"/>
            <p:cNvPicPr>
              <a:picLocks noChangeAspect="1"/>
            </p:cNvPicPr>
            <p:nvPr/>
          </p:nvPicPr>
          <p:blipFill>
            <a:blip r:embed="rId3"/>
            <a:srcRect l="17886" t="12377" r="18862" b="20862"/>
            <a:stretch>
              <a:fillRect/>
            </a:stretch>
          </p:blipFill>
          <p:spPr>
            <a:xfrm>
              <a:off x="1941698" y="549128"/>
              <a:ext cx="1028561" cy="723746"/>
            </a:xfrm>
            <a:custGeom>
              <a:avLst/>
              <a:gdLst/>
              <a:ahLst/>
              <a:cxnLst>
                <a:cxn ang="0">
                  <a:pos x="wd2" y="hd2"/>
                </a:cxn>
                <a:cxn ang="5400000">
                  <a:pos x="wd2" y="hd2"/>
                </a:cxn>
                <a:cxn ang="10800000">
                  <a:pos x="wd2" y="hd2"/>
                </a:cxn>
                <a:cxn ang="16200000">
                  <a:pos x="wd2" y="hd2"/>
                </a:cxn>
              </a:cxnLst>
              <a:rect l="0" t="0" r="r" b="b"/>
              <a:pathLst>
                <a:path w="21565" h="21590" extrusionOk="0">
                  <a:moveTo>
                    <a:pt x="7602" y="0"/>
                  </a:moveTo>
                  <a:cubicBezTo>
                    <a:pt x="7132" y="0"/>
                    <a:pt x="6736" y="17"/>
                    <a:pt x="6728" y="36"/>
                  </a:cubicBezTo>
                  <a:cubicBezTo>
                    <a:pt x="6720" y="54"/>
                    <a:pt x="6630" y="80"/>
                    <a:pt x="6528" y="95"/>
                  </a:cubicBezTo>
                  <a:cubicBezTo>
                    <a:pt x="6390" y="115"/>
                    <a:pt x="6321" y="144"/>
                    <a:pt x="6246" y="225"/>
                  </a:cubicBezTo>
                  <a:cubicBezTo>
                    <a:pt x="6116" y="364"/>
                    <a:pt x="5989" y="564"/>
                    <a:pt x="5988" y="627"/>
                  </a:cubicBezTo>
                  <a:cubicBezTo>
                    <a:pt x="5987" y="655"/>
                    <a:pt x="5978" y="714"/>
                    <a:pt x="5963" y="758"/>
                  </a:cubicBezTo>
                  <a:cubicBezTo>
                    <a:pt x="5947" y="801"/>
                    <a:pt x="5920" y="868"/>
                    <a:pt x="5904" y="912"/>
                  </a:cubicBezTo>
                  <a:cubicBezTo>
                    <a:pt x="5889" y="955"/>
                    <a:pt x="5879" y="1053"/>
                    <a:pt x="5879" y="1137"/>
                  </a:cubicBezTo>
                  <a:cubicBezTo>
                    <a:pt x="5879" y="1220"/>
                    <a:pt x="5860" y="1331"/>
                    <a:pt x="5838" y="1373"/>
                  </a:cubicBezTo>
                  <a:cubicBezTo>
                    <a:pt x="5810" y="1426"/>
                    <a:pt x="5797" y="1553"/>
                    <a:pt x="5796" y="1776"/>
                  </a:cubicBezTo>
                  <a:cubicBezTo>
                    <a:pt x="5796" y="1954"/>
                    <a:pt x="5787" y="2106"/>
                    <a:pt x="5771" y="2119"/>
                  </a:cubicBezTo>
                  <a:cubicBezTo>
                    <a:pt x="5756" y="2133"/>
                    <a:pt x="5738" y="2180"/>
                    <a:pt x="5738" y="2226"/>
                  </a:cubicBezTo>
                  <a:cubicBezTo>
                    <a:pt x="5738" y="2340"/>
                    <a:pt x="5659" y="2463"/>
                    <a:pt x="5580" y="2463"/>
                  </a:cubicBezTo>
                  <a:cubicBezTo>
                    <a:pt x="5544" y="2463"/>
                    <a:pt x="5471" y="2490"/>
                    <a:pt x="5413" y="2534"/>
                  </a:cubicBezTo>
                  <a:cubicBezTo>
                    <a:pt x="5356" y="2577"/>
                    <a:pt x="5292" y="2616"/>
                    <a:pt x="5272" y="2616"/>
                  </a:cubicBezTo>
                  <a:cubicBezTo>
                    <a:pt x="5252" y="2616"/>
                    <a:pt x="5186" y="2648"/>
                    <a:pt x="5122" y="2687"/>
                  </a:cubicBezTo>
                  <a:cubicBezTo>
                    <a:pt x="5058" y="2727"/>
                    <a:pt x="4946" y="2790"/>
                    <a:pt x="4881" y="2830"/>
                  </a:cubicBezTo>
                  <a:lnTo>
                    <a:pt x="4764" y="2901"/>
                  </a:lnTo>
                  <a:lnTo>
                    <a:pt x="4665" y="2806"/>
                  </a:lnTo>
                  <a:cubicBezTo>
                    <a:pt x="4607" y="2750"/>
                    <a:pt x="4522" y="2655"/>
                    <a:pt x="4481" y="2605"/>
                  </a:cubicBezTo>
                  <a:cubicBezTo>
                    <a:pt x="4441" y="2554"/>
                    <a:pt x="4376" y="2481"/>
                    <a:pt x="4340" y="2439"/>
                  </a:cubicBezTo>
                  <a:cubicBezTo>
                    <a:pt x="4304" y="2397"/>
                    <a:pt x="4209" y="2272"/>
                    <a:pt x="4124" y="2167"/>
                  </a:cubicBezTo>
                  <a:cubicBezTo>
                    <a:pt x="4038" y="2061"/>
                    <a:pt x="3961" y="1977"/>
                    <a:pt x="3949" y="1977"/>
                  </a:cubicBezTo>
                  <a:cubicBezTo>
                    <a:pt x="3937" y="1977"/>
                    <a:pt x="3881" y="1943"/>
                    <a:pt x="3832" y="1894"/>
                  </a:cubicBezTo>
                  <a:cubicBezTo>
                    <a:pt x="3753" y="1813"/>
                    <a:pt x="3718" y="1800"/>
                    <a:pt x="3408" y="1800"/>
                  </a:cubicBezTo>
                  <a:cubicBezTo>
                    <a:pt x="3188" y="1800"/>
                    <a:pt x="3055" y="1819"/>
                    <a:pt x="3042" y="1847"/>
                  </a:cubicBezTo>
                  <a:cubicBezTo>
                    <a:pt x="3031" y="1871"/>
                    <a:pt x="2988" y="1919"/>
                    <a:pt x="2942" y="1953"/>
                  </a:cubicBezTo>
                  <a:cubicBezTo>
                    <a:pt x="2896" y="1987"/>
                    <a:pt x="2810" y="2077"/>
                    <a:pt x="2751" y="2155"/>
                  </a:cubicBezTo>
                  <a:cubicBezTo>
                    <a:pt x="2691" y="2233"/>
                    <a:pt x="2639" y="2297"/>
                    <a:pt x="2634" y="2297"/>
                  </a:cubicBezTo>
                  <a:cubicBezTo>
                    <a:pt x="2614" y="2297"/>
                    <a:pt x="1539" y="3848"/>
                    <a:pt x="1469" y="3978"/>
                  </a:cubicBezTo>
                  <a:cubicBezTo>
                    <a:pt x="1427" y="4056"/>
                    <a:pt x="1394" y="4146"/>
                    <a:pt x="1394" y="4179"/>
                  </a:cubicBezTo>
                  <a:cubicBezTo>
                    <a:pt x="1394" y="4212"/>
                    <a:pt x="1385" y="4249"/>
                    <a:pt x="1369" y="4262"/>
                  </a:cubicBezTo>
                  <a:cubicBezTo>
                    <a:pt x="1354" y="4276"/>
                    <a:pt x="1336" y="4434"/>
                    <a:pt x="1336" y="4617"/>
                  </a:cubicBezTo>
                  <a:cubicBezTo>
                    <a:pt x="1336" y="4800"/>
                    <a:pt x="1354" y="4959"/>
                    <a:pt x="1369" y="4972"/>
                  </a:cubicBezTo>
                  <a:cubicBezTo>
                    <a:pt x="1385" y="4986"/>
                    <a:pt x="1394" y="5023"/>
                    <a:pt x="1394" y="5055"/>
                  </a:cubicBezTo>
                  <a:cubicBezTo>
                    <a:pt x="1394" y="5115"/>
                    <a:pt x="1611" y="5552"/>
                    <a:pt x="1652" y="5576"/>
                  </a:cubicBezTo>
                  <a:cubicBezTo>
                    <a:pt x="1665" y="5583"/>
                    <a:pt x="1669" y="5616"/>
                    <a:pt x="1669" y="5647"/>
                  </a:cubicBezTo>
                  <a:cubicBezTo>
                    <a:pt x="1669" y="5678"/>
                    <a:pt x="1687" y="5706"/>
                    <a:pt x="1702" y="5706"/>
                  </a:cubicBezTo>
                  <a:cubicBezTo>
                    <a:pt x="1718" y="5706"/>
                    <a:pt x="1727" y="5734"/>
                    <a:pt x="1727" y="5766"/>
                  </a:cubicBezTo>
                  <a:cubicBezTo>
                    <a:pt x="1727" y="5797"/>
                    <a:pt x="1741" y="5831"/>
                    <a:pt x="1760" y="5848"/>
                  </a:cubicBezTo>
                  <a:cubicBezTo>
                    <a:pt x="1780" y="5866"/>
                    <a:pt x="1832" y="5963"/>
                    <a:pt x="1877" y="6050"/>
                  </a:cubicBezTo>
                  <a:cubicBezTo>
                    <a:pt x="1922" y="6137"/>
                    <a:pt x="1973" y="6208"/>
                    <a:pt x="1985" y="6215"/>
                  </a:cubicBezTo>
                  <a:cubicBezTo>
                    <a:pt x="1997" y="6223"/>
                    <a:pt x="2010" y="6257"/>
                    <a:pt x="2010" y="6286"/>
                  </a:cubicBezTo>
                  <a:cubicBezTo>
                    <a:pt x="2010" y="6316"/>
                    <a:pt x="2025" y="6337"/>
                    <a:pt x="2043" y="6346"/>
                  </a:cubicBezTo>
                  <a:cubicBezTo>
                    <a:pt x="2064" y="6356"/>
                    <a:pt x="2071" y="6428"/>
                    <a:pt x="2068" y="6535"/>
                  </a:cubicBezTo>
                  <a:cubicBezTo>
                    <a:pt x="2064" y="6692"/>
                    <a:pt x="2035" y="6830"/>
                    <a:pt x="1910" y="7186"/>
                  </a:cubicBezTo>
                  <a:cubicBezTo>
                    <a:pt x="1889" y="7248"/>
                    <a:pt x="1869" y="7321"/>
                    <a:pt x="1869" y="7352"/>
                  </a:cubicBezTo>
                  <a:cubicBezTo>
                    <a:pt x="1869" y="7383"/>
                    <a:pt x="1859" y="7411"/>
                    <a:pt x="1844" y="7411"/>
                  </a:cubicBezTo>
                  <a:cubicBezTo>
                    <a:pt x="1828" y="7411"/>
                    <a:pt x="1810" y="7466"/>
                    <a:pt x="1810" y="7530"/>
                  </a:cubicBezTo>
                  <a:cubicBezTo>
                    <a:pt x="1810" y="7593"/>
                    <a:pt x="1792" y="7674"/>
                    <a:pt x="1769" y="7707"/>
                  </a:cubicBezTo>
                  <a:cubicBezTo>
                    <a:pt x="1746" y="7740"/>
                    <a:pt x="1727" y="7787"/>
                    <a:pt x="1727" y="7814"/>
                  </a:cubicBezTo>
                  <a:cubicBezTo>
                    <a:pt x="1727" y="7872"/>
                    <a:pt x="1599" y="8046"/>
                    <a:pt x="1552" y="8051"/>
                  </a:cubicBezTo>
                  <a:cubicBezTo>
                    <a:pt x="1416" y="8063"/>
                    <a:pt x="1264" y="8094"/>
                    <a:pt x="1228" y="8122"/>
                  </a:cubicBezTo>
                  <a:cubicBezTo>
                    <a:pt x="1204" y="8139"/>
                    <a:pt x="1112" y="8165"/>
                    <a:pt x="1028" y="8181"/>
                  </a:cubicBezTo>
                  <a:cubicBezTo>
                    <a:pt x="830" y="8217"/>
                    <a:pt x="476" y="8352"/>
                    <a:pt x="404" y="8418"/>
                  </a:cubicBezTo>
                  <a:cubicBezTo>
                    <a:pt x="321" y="8493"/>
                    <a:pt x="138" y="8753"/>
                    <a:pt x="138" y="8796"/>
                  </a:cubicBezTo>
                  <a:cubicBezTo>
                    <a:pt x="138" y="8817"/>
                    <a:pt x="128" y="8844"/>
                    <a:pt x="113" y="8844"/>
                  </a:cubicBezTo>
                  <a:cubicBezTo>
                    <a:pt x="98" y="8844"/>
                    <a:pt x="88" y="8865"/>
                    <a:pt x="88" y="8903"/>
                  </a:cubicBezTo>
                  <a:cubicBezTo>
                    <a:pt x="88" y="8941"/>
                    <a:pt x="69" y="9030"/>
                    <a:pt x="46" y="9092"/>
                  </a:cubicBezTo>
                  <a:cubicBezTo>
                    <a:pt x="-16" y="9262"/>
                    <a:pt x="-16" y="12132"/>
                    <a:pt x="46" y="12206"/>
                  </a:cubicBezTo>
                  <a:cubicBezTo>
                    <a:pt x="69" y="12233"/>
                    <a:pt x="88" y="12295"/>
                    <a:pt x="88" y="12336"/>
                  </a:cubicBezTo>
                  <a:cubicBezTo>
                    <a:pt x="88" y="12377"/>
                    <a:pt x="98" y="12407"/>
                    <a:pt x="113" y="12407"/>
                  </a:cubicBezTo>
                  <a:cubicBezTo>
                    <a:pt x="128" y="12407"/>
                    <a:pt x="138" y="12434"/>
                    <a:pt x="138" y="12466"/>
                  </a:cubicBezTo>
                  <a:cubicBezTo>
                    <a:pt x="138" y="12499"/>
                    <a:pt x="156" y="12526"/>
                    <a:pt x="171" y="12526"/>
                  </a:cubicBezTo>
                  <a:cubicBezTo>
                    <a:pt x="186" y="12526"/>
                    <a:pt x="196" y="12546"/>
                    <a:pt x="196" y="12573"/>
                  </a:cubicBezTo>
                  <a:cubicBezTo>
                    <a:pt x="198" y="12730"/>
                    <a:pt x="696" y="13005"/>
                    <a:pt x="1070" y="13058"/>
                  </a:cubicBezTo>
                  <a:cubicBezTo>
                    <a:pt x="1173" y="13073"/>
                    <a:pt x="1261" y="13098"/>
                    <a:pt x="1270" y="13118"/>
                  </a:cubicBezTo>
                  <a:cubicBezTo>
                    <a:pt x="1278" y="13137"/>
                    <a:pt x="1336" y="13153"/>
                    <a:pt x="1394" y="13153"/>
                  </a:cubicBezTo>
                  <a:cubicBezTo>
                    <a:pt x="1557" y="13153"/>
                    <a:pt x="1669" y="13199"/>
                    <a:pt x="1669" y="13260"/>
                  </a:cubicBezTo>
                  <a:cubicBezTo>
                    <a:pt x="1669" y="13290"/>
                    <a:pt x="1687" y="13319"/>
                    <a:pt x="1702" y="13319"/>
                  </a:cubicBezTo>
                  <a:cubicBezTo>
                    <a:pt x="1718" y="13319"/>
                    <a:pt x="1727" y="13352"/>
                    <a:pt x="1727" y="13390"/>
                  </a:cubicBezTo>
                  <a:cubicBezTo>
                    <a:pt x="1728" y="13428"/>
                    <a:pt x="1746" y="13490"/>
                    <a:pt x="1769" y="13532"/>
                  </a:cubicBezTo>
                  <a:cubicBezTo>
                    <a:pt x="1791" y="13574"/>
                    <a:pt x="1810" y="13645"/>
                    <a:pt x="1810" y="13686"/>
                  </a:cubicBezTo>
                  <a:cubicBezTo>
                    <a:pt x="1810" y="13727"/>
                    <a:pt x="1867" y="13924"/>
                    <a:pt x="1935" y="14124"/>
                  </a:cubicBezTo>
                  <a:cubicBezTo>
                    <a:pt x="2100" y="14603"/>
                    <a:pt x="2112" y="14720"/>
                    <a:pt x="1993" y="14917"/>
                  </a:cubicBezTo>
                  <a:cubicBezTo>
                    <a:pt x="1954" y="14983"/>
                    <a:pt x="1898" y="15081"/>
                    <a:pt x="1869" y="15130"/>
                  </a:cubicBezTo>
                  <a:cubicBezTo>
                    <a:pt x="1839" y="15179"/>
                    <a:pt x="1810" y="15238"/>
                    <a:pt x="1810" y="15260"/>
                  </a:cubicBezTo>
                  <a:cubicBezTo>
                    <a:pt x="1810" y="15283"/>
                    <a:pt x="1792" y="15307"/>
                    <a:pt x="1769" y="15320"/>
                  </a:cubicBezTo>
                  <a:cubicBezTo>
                    <a:pt x="1746" y="15332"/>
                    <a:pt x="1727" y="15374"/>
                    <a:pt x="1727" y="15403"/>
                  </a:cubicBezTo>
                  <a:cubicBezTo>
                    <a:pt x="1727" y="15431"/>
                    <a:pt x="1681" y="15516"/>
                    <a:pt x="1627" y="15592"/>
                  </a:cubicBezTo>
                  <a:cubicBezTo>
                    <a:pt x="1574" y="15668"/>
                    <a:pt x="1536" y="15741"/>
                    <a:pt x="1536" y="15758"/>
                  </a:cubicBezTo>
                  <a:cubicBezTo>
                    <a:pt x="1536" y="15774"/>
                    <a:pt x="1499" y="15840"/>
                    <a:pt x="1461" y="15912"/>
                  </a:cubicBezTo>
                  <a:cubicBezTo>
                    <a:pt x="1423" y="15983"/>
                    <a:pt x="1394" y="16068"/>
                    <a:pt x="1394" y="16101"/>
                  </a:cubicBezTo>
                  <a:cubicBezTo>
                    <a:pt x="1394" y="16134"/>
                    <a:pt x="1385" y="16170"/>
                    <a:pt x="1369" y="16184"/>
                  </a:cubicBezTo>
                  <a:cubicBezTo>
                    <a:pt x="1333" y="16216"/>
                    <a:pt x="1333" y="16918"/>
                    <a:pt x="1369" y="16918"/>
                  </a:cubicBezTo>
                  <a:cubicBezTo>
                    <a:pt x="1385" y="16918"/>
                    <a:pt x="1394" y="16947"/>
                    <a:pt x="1394" y="16977"/>
                  </a:cubicBezTo>
                  <a:cubicBezTo>
                    <a:pt x="1394" y="17007"/>
                    <a:pt x="1413" y="17047"/>
                    <a:pt x="1436" y="17060"/>
                  </a:cubicBezTo>
                  <a:cubicBezTo>
                    <a:pt x="1459" y="17073"/>
                    <a:pt x="1478" y="17109"/>
                    <a:pt x="1478" y="17143"/>
                  </a:cubicBezTo>
                  <a:cubicBezTo>
                    <a:pt x="1478" y="17176"/>
                    <a:pt x="1487" y="17202"/>
                    <a:pt x="1503" y="17202"/>
                  </a:cubicBezTo>
                  <a:cubicBezTo>
                    <a:pt x="1518" y="17202"/>
                    <a:pt x="1536" y="17222"/>
                    <a:pt x="1536" y="17249"/>
                  </a:cubicBezTo>
                  <a:cubicBezTo>
                    <a:pt x="1536" y="17277"/>
                    <a:pt x="1574" y="17357"/>
                    <a:pt x="1627" y="17427"/>
                  </a:cubicBezTo>
                  <a:cubicBezTo>
                    <a:pt x="1681" y="17497"/>
                    <a:pt x="1727" y="17570"/>
                    <a:pt x="1727" y="17581"/>
                  </a:cubicBezTo>
                  <a:cubicBezTo>
                    <a:pt x="1727" y="17592"/>
                    <a:pt x="1802" y="17700"/>
                    <a:pt x="1894" y="17830"/>
                  </a:cubicBezTo>
                  <a:cubicBezTo>
                    <a:pt x="1986" y="17959"/>
                    <a:pt x="2060" y="18080"/>
                    <a:pt x="2060" y="18102"/>
                  </a:cubicBezTo>
                  <a:cubicBezTo>
                    <a:pt x="2060" y="18123"/>
                    <a:pt x="2071" y="18154"/>
                    <a:pt x="2085" y="18161"/>
                  </a:cubicBezTo>
                  <a:cubicBezTo>
                    <a:pt x="2099" y="18168"/>
                    <a:pt x="2284" y="18399"/>
                    <a:pt x="2493" y="18682"/>
                  </a:cubicBezTo>
                  <a:cubicBezTo>
                    <a:pt x="2983" y="19349"/>
                    <a:pt x="3021" y="19380"/>
                    <a:pt x="3416" y="19380"/>
                  </a:cubicBezTo>
                  <a:cubicBezTo>
                    <a:pt x="3722" y="19380"/>
                    <a:pt x="3723" y="19380"/>
                    <a:pt x="3874" y="19238"/>
                  </a:cubicBezTo>
                  <a:cubicBezTo>
                    <a:pt x="3957" y="19160"/>
                    <a:pt x="4056" y="19054"/>
                    <a:pt x="4090" y="19002"/>
                  </a:cubicBezTo>
                  <a:cubicBezTo>
                    <a:pt x="4125" y="18949"/>
                    <a:pt x="4161" y="18907"/>
                    <a:pt x="4174" y="18907"/>
                  </a:cubicBezTo>
                  <a:cubicBezTo>
                    <a:pt x="4187" y="18907"/>
                    <a:pt x="4248" y="18841"/>
                    <a:pt x="4307" y="18765"/>
                  </a:cubicBezTo>
                  <a:cubicBezTo>
                    <a:pt x="4365" y="18688"/>
                    <a:pt x="4418" y="18623"/>
                    <a:pt x="4423" y="18623"/>
                  </a:cubicBezTo>
                  <a:cubicBezTo>
                    <a:pt x="4436" y="18623"/>
                    <a:pt x="4520" y="18519"/>
                    <a:pt x="4631" y="18374"/>
                  </a:cubicBezTo>
                  <a:cubicBezTo>
                    <a:pt x="4677" y="18314"/>
                    <a:pt x="4746" y="18268"/>
                    <a:pt x="4781" y="18268"/>
                  </a:cubicBezTo>
                  <a:cubicBezTo>
                    <a:pt x="4816" y="18268"/>
                    <a:pt x="4941" y="18346"/>
                    <a:pt x="5064" y="18433"/>
                  </a:cubicBezTo>
                  <a:cubicBezTo>
                    <a:pt x="5186" y="18520"/>
                    <a:pt x="5304" y="18587"/>
                    <a:pt x="5330" y="18587"/>
                  </a:cubicBezTo>
                  <a:cubicBezTo>
                    <a:pt x="5420" y="18587"/>
                    <a:pt x="5654" y="18758"/>
                    <a:pt x="5655" y="18824"/>
                  </a:cubicBezTo>
                  <a:cubicBezTo>
                    <a:pt x="5655" y="18859"/>
                    <a:pt x="5674" y="18924"/>
                    <a:pt x="5696" y="18966"/>
                  </a:cubicBezTo>
                  <a:cubicBezTo>
                    <a:pt x="5719" y="19008"/>
                    <a:pt x="5738" y="19110"/>
                    <a:pt x="5738" y="19203"/>
                  </a:cubicBezTo>
                  <a:cubicBezTo>
                    <a:pt x="5738" y="19295"/>
                    <a:pt x="5756" y="19391"/>
                    <a:pt x="5771" y="19404"/>
                  </a:cubicBezTo>
                  <a:cubicBezTo>
                    <a:pt x="5787" y="19418"/>
                    <a:pt x="5796" y="19556"/>
                    <a:pt x="5796" y="19724"/>
                  </a:cubicBezTo>
                  <a:cubicBezTo>
                    <a:pt x="5797" y="19929"/>
                    <a:pt x="5810" y="20063"/>
                    <a:pt x="5838" y="20114"/>
                  </a:cubicBezTo>
                  <a:cubicBezTo>
                    <a:pt x="5860" y="20157"/>
                    <a:pt x="5879" y="20256"/>
                    <a:pt x="5879" y="20339"/>
                  </a:cubicBezTo>
                  <a:cubicBezTo>
                    <a:pt x="5879" y="20422"/>
                    <a:pt x="5889" y="20493"/>
                    <a:pt x="5904" y="20493"/>
                  </a:cubicBezTo>
                  <a:cubicBezTo>
                    <a:pt x="5920" y="20493"/>
                    <a:pt x="5938" y="20521"/>
                    <a:pt x="5938" y="20564"/>
                  </a:cubicBezTo>
                  <a:cubicBezTo>
                    <a:pt x="5938" y="20608"/>
                    <a:pt x="5947" y="20647"/>
                    <a:pt x="5963" y="20647"/>
                  </a:cubicBezTo>
                  <a:cubicBezTo>
                    <a:pt x="5978" y="20647"/>
                    <a:pt x="5988" y="20667"/>
                    <a:pt x="5988" y="20695"/>
                  </a:cubicBezTo>
                  <a:cubicBezTo>
                    <a:pt x="5988" y="20782"/>
                    <a:pt x="6196" y="21065"/>
                    <a:pt x="6337" y="21168"/>
                  </a:cubicBezTo>
                  <a:lnTo>
                    <a:pt x="6470" y="21263"/>
                  </a:lnTo>
                  <a:lnTo>
                    <a:pt x="7519" y="21263"/>
                  </a:lnTo>
                  <a:lnTo>
                    <a:pt x="8567" y="21263"/>
                  </a:lnTo>
                  <a:lnTo>
                    <a:pt x="8709" y="21156"/>
                  </a:lnTo>
                  <a:cubicBezTo>
                    <a:pt x="8975" y="20956"/>
                    <a:pt x="9166" y="20607"/>
                    <a:pt x="9166" y="20328"/>
                  </a:cubicBezTo>
                  <a:cubicBezTo>
                    <a:pt x="9166" y="20267"/>
                    <a:pt x="9185" y="20201"/>
                    <a:pt x="9208" y="20174"/>
                  </a:cubicBezTo>
                  <a:cubicBezTo>
                    <a:pt x="9237" y="20139"/>
                    <a:pt x="9249" y="20046"/>
                    <a:pt x="9249" y="19854"/>
                  </a:cubicBezTo>
                  <a:cubicBezTo>
                    <a:pt x="9249" y="19705"/>
                    <a:pt x="9259" y="19571"/>
                    <a:pt x="9274" y="19558"/>
                  </a:cubicBezTo>
                  <a:cubicBezTo>
                    <a:pt x="9290" y="19545"/>
                    <a:pt x="9308" y="19423"/>
                    <a:pt x="9308" y="19286"/>
                  </a:cubicBezTo>
                  <a:cubicBezTo>
                    <a:pt x="9308" y="18853"/>
                    <a:pt x="9398" y="18727"/>
                    <a:pt x="9782" y="18611"/>
                  </a:cubicBezTo>
                  <a:cubicBezTo>
                    <a:pt x="9790" y="18609"/>
                    <a:pt x="9833" y="18577"/>
                    <a:pt x="9882" y="18540"/>
                  </a:cubicBezTo>
                  <a:cubicBezTo>
                    <a:pt x="9931" y="18503"/>
                    <a:pt x="9982" y="18469"/>
                    <a:pt x="9998" y="18469"/>
                  </a:cubicBezTo>
                  <a:cubicBezTo>
                    <a:pt x="10015" y="18469"/>
                    <a:pt x="10079" y="18419"/>
                    <a:pt x="10140" y="18362"/>
                  </a:cubicBezTo>
                  <a:cubicBezTo>
                    <a:pt x="10288" y="18223"/>
                    <a:pt x="10351" y="18248"/>
                    <a:pt x="10581" y="18540"/>
                  </a:cubicBezTo>
                  <a:cubicBezTo>
                    <a:pt x="10621" y="18591"/>
                    <a:pt x="10702" y="18684"/>
                    <a:pt x="10756" y="18741"/>
                  </a:cubicBezTo>
                  <a:cubicBezTo>
                    <a:pt x="10809" y="18798"/>
                    <a:pt x="10893" y="18894"/>
                    <a:pt x="10939" y="18954"/>
                  </a:cubicBezTo>
                  <a:cubicBezTo>
                    <a:pt x="10985" y="19014"/>
                    <a:pt x="11037" y="19072"/>
                    <a:pt x="11063" y="19084"/>
                  </a:cubicBezTo>
                  <a:cubicBezTo>
                    <a:pt x="11090" y="19097"/>
                    <a:pt x="11113" y="19126"/>
                    <a:pt x="11113" y="19144"/>
                  </a:cubicBezTo>
                  <a:cubicBezTo>
                    <a:pt x="11113" y="19161"/>
                    <a:pt x="11190" y="19216"/>
                    <a:pt x="11280" y="19274"/>
                  </a:cubicBezTo>
                  <a:cubicBezTo>
                    <a:pt x="11413" y="19359"/>
                    <a:pt x="11485" y="19380"/>
                    <a:pt x="11671" y="19380"/>
                  </a:cubicBezTo>
                  <a:lnTo>
                    <a:pt x="11896" y="19380"/>
                  </a:lnTo>
                  <a:lnTo>
                    <a:pt x="12070" y="19617"/>
                  </a:lnTo>
                  <a:cubicBezTo>
                    <a:pt x="12166" y="19748"/>
                    <a:pt x="12259" y="19854"/>
                    <a:pt x="12278" y="19854"/>
                  </a:cubicBezTo>
                  <a:cubicBezTo>
                    <a:pt x="12297" y="19854"/>
                    <a:pt x="12312" y="19872"/>
                    <a:pt x="12312" y="19889"/>
                  </a:cubicBezTo>
                  <a:cubicBezTo>
                    <a:pt x="12312" y="19907"/>
                    <a:pt x="12353" y="19955"/>
                    <a:pt x="12403" y="19996"/>
                  </a:cubicBezTo>
                  <a:cubicBezTo>
                    <a:pt x="12453" y="20037"/>
                    <a:pt x="12530" y="20122"/>
                    <a:pt x="12578" y="20185"/>
                  </a:cubicBezTo>
                  <a:cubicBezTo>
                    <a:pt x="12678" y="20318"/>
                    <a:pt x="12887" y="20493"/>
                    <a:pt x="12944" y="20493"/>
                  </a:cubicBezTo>
                  <a:cubicBezTo>
                    <a:pt x="12965" y="20493"/>
                    <a:pt x="12986" y="20499"/>
                    <a:pt x="12986" y="20517"/>
                  </a:cubicBezTo>
                  <a:cubicBezTo>
                    <a:pt x="12986" y="20535"/>
                    <a:pt x="13102" y="20638"/>
                    <a:pt x="13252" y="20742"/>
                  </a:cubicBezTo>
                  <a:cubicBezTo>
                    <a:pt x="13660" y="21026"/>
                    <a:pt x="13668" y="21035"/>
                    <a:pt x="13967" y="21168"/>
                  </a:cubicBezTo>
                  <a:cubicBezTo>
                    <a:pt x="14121" y="21236"/>
                    <a:pt x="14278" y="21302"/>
                    <a:pt x="14309" y="21322"/>
                  </a:cubicBezTo>
                  <a:cubicBezTo>
                    <a:pt x="14339" y="21342"/>
                    <a:pt x="14400" y="21370"/>
                    <a:pt x="14450" y="21381"/>
                  </a:cubicBezTo>
                  <a:cubicBezTo>
                    <a:pt x="14500" y="21393"/>
                    <a:pt x="14612" y="21428"/>
                    <a:pt x="14700" y="21464"/>
                  </a:cubicBezTo>
                  <a:cubicBezTo>
                    <a:pt x="14788" y="21500"/>
                    <a:pt x="14941" y="21544"/>
                    <a:pt x="15041" y="21559"/>
                  </a:cubicBezTo>
                  <a:cubicBezTo>
                    <a:pt x="15312" y="21600"/>
                    <a:pt x="16365" y="21600"/>
                    <a:pt x="16572" y="21559"/>
                  </a:cubicBezTo>
                  <a:cubicBezTo>
                    <a:pt x="16918" y="21490"/>
                    <a:pt x="17294" y="21385"/>
                    <a:pt x="17496" y="21298"/>
                  </a:cubicBezTo>
                  <a:cubicBezTo>
                    <a:pt x="17848" y="21146"/>
                    <a:pt x="18375" y="20841"/>
                    <a:pt x="18502" y="20718"/>
                  </a:cubicBezTo>
                  <a:cubicBezTo>
                    <a:pt x="18542" y="20680"/>
                    <a:pt x="18603" y="20638"/>
                    <a:pt x="18644" y="20624"/>
                  </a:cubicBezTo>
                  <a:cubicBezTo>
                    <a:pt x="18684" y="20609"/>
                    <a:pt x="18734" y="20571"/>
                    <a:pt x="18752" y="20541"/>
                  </a:cubicBezTo>
                  <a:cubicBezTo>
                    <a:pt x="18770" y="20510"/>
                    <a:pt x="18793" y="20483"/>
                    <a:pt x="18810" y="20481"/>
                  </a:cubicBezTo>
                  <a:cubicBezTo>
                    <a:pt x="18828" y="20480"/>
                    <a:pt x="18899" y="20426"/>
                    <a:pt x="18968" y="20351"/>
                  </a:cubicBezTo>
                  <a:cubicBezTo>
                    <a:pt x="19037" y="20276"/>
                    <a:pt x="19121" y="20194"/>
                    <a:pt x="19151" y="20174"/>
                  </a:cubicBezTo>
                  <a:cubicBezTo>
                    <a:pt x="19182" y="20154"/>
                    <a:pt x="19293" y="20046"/>
                    <a:pt x="19393" y="19925"/>
                  </a:cubicBezTo>
                  <a:cubicBezTo>
                    <a:pt x="19492" y="19804"/>
                    <a:pt x="19574" y="19700"/>
                    <a:pt x="19584" y="19700"/>
                  </a:cubicBezTo>
                  <a:cubicBezTo>
                    <a:pt x="19601" y="19700"/>
                    <a:pt x="20167" y="18907"/>
                    <a:pt x="20167" y="18883"/>
                  </a:cubicBezTo>
                  <a:cubicBezTo>
                    <a:pt x="20167" y="18877"/>
                    <a:pt x="20217" y="18805"/>
                    <a:pt x="20275" y="18717"/>
                  </a:cubicBezTo>
                  <a:cubicBezTo>
                    <a:pt x="20432" y="18477"/>
                    <a:pt x="20499" y="18343"/>
                    <a:pt x="20499" y="18303"/>
                  </a:cubicBezTo>
                  <a:cubicBezTo>
                    <a:pt x="20499" y="18283"/>
                    <a:pt x="20517" y="18268"/>
                    <a:pt x="20533" y="18268"/>
                  </a:cubicBezTo>
                  <a:cubicBezTo>
                    <a:pt x="20548" y="18268"/>
                    <a:pt x="20558" y="18241"/>
                    <a:pt x="20558" y="18208"/>
                  </a:cubicBezTo>
                  <a:cubicBezTo>
                    <a:pt x="20558" y="18176"/>
                    <a:pt x="20567" y="18149"/>
                    <a:pt x="20583" y="18149"/>
                  </a:cubicBezTo>
                  <a:cubicBezTo>
                    <a:pt x="20598" y="18149"/>
                    <a:pt x="20616" y="18119"/>
                    <a:pt x="20616" y="18078"/>
                  </a:cubicBezTo>
                  <a:cubicBezTo>
                    <a:pt x="20616" y="18037"/>
                    <a:pt x="20635" y="17996"/>
                    <a:pt x="20658" y="17983"/>
                  </a:cubicBezTo>
                  <a:cubicBezTo>
                    <a:pt x="20681" y="17971"/>
                    <a:pt x="20699" y="17934"/>
                    <a:pt x="20699" y="17901"/>
                  </a:cubicBezTo>
                  <a:cubicBezTo>
                    <a:pt x="20699" y="17867"/>
                    <a:pt x="20709" y="17830"/>
                    <a:pt x="20724" y="17830"/>
                  </a:cubicBezTo>
                  <a:cubicBezTo>
                    <a:pt x="20739" y="17830"/>
                    <a:pt x="20757" y="17804"/>
                    <a:pt x="20757" y="17770"/>
                  </a:cubicBezTo>
                  <a:cubicBezTo>
                    <a:pt x="20757" y="17737"/>
                    <a:pt x="20776" y="17700"/>
                    <a:pt x="20799" y="17687"/>
                  </a:cubicBezTo>
                  <a:cubicBezTo>
                    <a:pt x="20822" y="17675"/>
                    <a:pt x="20841" y="17642"/>
                    <a:pt x="20841" y="17616"/>
                  </a:cubicBezTo>
                  <a:cubicBezTo>
                    <a:pt x="20841" y="17547"/>
                    <a:pt x="20900" y="17356"/>
                    <a:pt x="20924" y="17356"/>
                  </a:cubicBezTo>
                  <a:cubicBezTo>
                    <a:pt x="20935" y="17356"/>
                    <a:pt x="20949" y="17339"/>
                    <a:pt x="20949" y="17309"/>
                  </a:cubicBezTo>
                  <a:cubicBezTo>
                    <a:pt x="20949" y="17279"/>
                    <a:pt x="20967" y="17229"/>
                    <a:pt x="20990" y="17202"/>
                  </a:cubicBezTo>
                  <a:cubicBezTo>
                    <a:pt x="21013" y="17175"/>
                    <a:pt x="21032" y="17099"/>
                    <a:pt x="21032" y="17036"/>
                  </a:cubicBezTo>
                  <a:cubicBezTo>
                    <a:pt x="21032" y="16974"/>
                    <a:pt x="21042" y="16918"/>
                    <a:pt x="21057" y="16918"/>
                  </a:cubicBezTo>
                  <a:cubicBezTo>
                    <a:pt x="21072" y="16918"/>
                    <a:pt x="21090" y="16888"/>
                    <a:pt x="21090" y="16847"/>
                  </a:cubicBezTo>
                  <a:cubicBezTo>
                    <a:pt x="21090" y="16806"/>
                    <a:pt x="21109" y="16765"/>
                    <a:pt x="21132" y="16752"/>
                  </a:cubicBezTo>
                  <a:cubicBezTo>
                    <a:pt x="21155" y="16740"/>
                    <a:pt x="21174" y="16689"/>
                    <a:pt x="21174" y="16646"/>
                  </a:cubicBezTo>
                  <a:cubicBezTo>
                    <a:pt x="21174" y="16603"/>
                    <a:pt x="21183" y="16564"/>
                    <a:pt x="21198" y="16551"/>
                  </a:cubicBezTo>
                  <a:cubicBezTo>
                    <a:pt x="21214" y="16537"/>
                    <a:pt x="21223" y="16487"/>
                    <a:pt x="21223" y="16444"/>
                  </a:cubicBezTo>
                  <a:cubicBezTo>
                    <a:pt x="21223" y="16367"/>
                    <a:pt x="21237" y="16346"/>
                    <a:pt x="21323" y="16101"/>
                  </a:cubicBezTo>
                  <a:cubicBezTo>
                    <a:pt x="21349" y="16028"/>
                    <a:pt x="21365" y="15915"/>
                    <a:pt x="21365" y="15852"/>
                  </a:cubicBezTo>
                  <a:cubicBezTo>
                    <a:pt x="21365" y="15790"/>
                    <a:pt x="21383" y="15724"/>
                    <a:pt x="21398" y="15710"/>
                  </a:cubicBezTo>
                  <a:cubicBezTo>
                    <a:pt x="21413" y="15697"/>
                    <a:pt x="21423" y="15616"/>
                    <a:pt x="21423" y="15521"/>
                  </a:cubicBezTo>
                  <a:cubicBezTo>
                    <a:pt x="21423" y="15425"/>
                    <a:pt x="21433" y="15333"/>
                    <a:pt x="21448" y="15320"/>
                  </a:cubicBezTo>
                  <a:cubicBezTo>
                    <a:pt x="21463" y="15306"/>
                    <a:pt x="21481" y="15209"/>
                    <a:pt x="21481" y="15107"/>
                  </a:cubicBezTo>
                  <a:cubicBezTo>
                    <a:pt x="21481" y="15004"/>
                    <a:pt x="21500" y="14873"/>
                    <a:pt x="21523" y="14811"/>
                  </a:cubicBezTo>
                  <a:cubicBezTo>
                    <a:pt x="21584" y="14644"/>
                    <a:pt x="21576" y="12345"/>
                    <a:pt x="21515" y="12230"/>
                  </a:cubicBezTo>
                  <a:cubicBezTo>
                    <a:pt x="21492" y="12187"/>
                    <a:pt x="21481" y="12074"/>
                    <a:pt x="21481" y="11981"/>
                  </a:cubicBezTo>
                  <a:cubicBezTo>
                    <a:pt x="21481" y="11888"/>
                    <a:pt x="21463" y="11805"/>
                    <a:pt x="21448" y="11792"/>
                  </a:cubicBezTo>
                  <a:cubicBezTo>
                    <a:pt x="21433" y="11778"/>
                    <a:pt x="21423" y="11700"/>
                    <a:pt x="21423" y="11614"/>
                  </a:cubicBezTo>
                  <a:cubicBezTo>
                    <a:pt x="21423" y="11528"/>
                    <a:pt x="21413" y="11448"/>
                    <a:pt x="21398" y="11448"/>
                  </a:cubicBezTo>
                  <a:cubicBezTo>
                    <a:pt x="21383" y="11448"/>
                    <a:pt x="21365" y="11405"/>
                    <a:pt x="21365" y="11342"/>
                  </a:cubicBezTo>
                  <a:cubicBezTo>
                    <a:pt x="21365" y="11278"/>
                    <a:pt x="21349" y="11166"/>
                    <a:pt x="21323" y="11093"/>
                  </a:cubicBezTo>
                  <a:cubicBezTo>
                    <a:pt x="21237" y="10849"/>
                    <a:pt x="21223" y="10816"/>
                    <a:pt x="21223" y="10738"/>
                  </a:cubicBezTo>
                  <a:cubicBezTo>
                    <a:pt x="21223" y="10695"/>
                    <a:pt x="21214" y="10657"/>
                    <a:pt x="21198" y="10643"/>
                  </a:cubicBezTo>
                  <a:cubicBezTo>
                    <a:pt x="21183" y="10630"/>
                    <a:pt x="21174" y="10565"/>
                    <a:pt x="21174" y="10501"/>
                  </a:cubicBezTo>
                  <a:cubicBezTo>
                    <a:pt x="21173" y="10437"/>
                    <a:pt x="21163" y="10383"/>
                    <a:pt x="21149" y="10383"/>
                  </a:cubicBezTo>
                  <a:cubicBezTo>
                    <a:pt x="21134" y="10383"/>
                    <a:pt x="21099" y="10311"/>
                    <a:pt x="21074" y="10229"/>
                  </a:cubicBezTo>
                  <a:cubicBezTo>
                    <a:pt x="20941" y="9807"/>
                    <a:pt x="20800" y="9436"/>
                    <a:pt x="20782" y="9436"/>
                  </a:cubicBezTo>
                  <a:cubicBezTo>
                    <a:pt x="20771" y="9436"/>
                    <a:pt x="20745" y="9370"/>
                    <a:pt x="20724" y="9294"/>
                  </a:cubicBezTo>
                  <a:cubicBezTo>
                    <a:pt x="20703" y="9217"/>
                    <a:pt x="20679" y="9152"/>
                    <a:pt x="20666" y="9152"/>
                  </a:cubicBezTo>
                  <a:cubicBezTo>
                    <a:pt x="20653" y="9152"/>
                    <a:pt x="20634" y="9130"/>
                    <a:pt x="20624" y="9092"/>
                  </a:cubicBezTo>
                  <a:cubicBezTo>
                    <a:pt x="20605" y="9021"/>
                    <a:pt x="20567" y="8950"/>
                    <a:pt x="20441" y="8749"/>
                  </a:cubicBezTo>
                  <a:cubicBezTo>
                    <a:pt x="20399" y="8681"/>
                    <a:pt x="20366" y="8602"/>
                    <a:pt x="20366" y="8583"/>
                  </a:cubicBezTo>
                  <a:cubicBezTo>
                    <a:pt x="20366" y="8565"/>
                    <a:pt x="20320" y="8501"/>
                    <a:pt x="20267" y="8429"/>
                  </a:cubicBezTo>
                  <a:cubicBezTo>
                    <a:pt x="20213" y="8357"/>
                    <a:pt x="20167" y="8278"/>
                    <a:pt x="20167" y="8264"/>
                  </a:cubicBezTo>
                  <a:cubicBezTo>
                    <a:pt x="20167" y="8233"/>
                    <a:pt x="19754" y="7651"/>
                    <a:pt x="19584" y="7447"/>
                  </a:cubicBezTo>
                  <a:cubicBezTo>
                    <a:pt x="19477" y="7317"/>
                    <a:pt x="19249" y="7090"/>
                    <a:pt x="19143" y="6997"/>
                  </a:cubicBezTo>
                  <a:cubicBezTo>
                    <a:pt x="19118" y="6975"/>
                    <a:pt x="19044" y="6896"/>
                    <a:pt x="18977" y="6831"/>
                  </a:cubicBezTo>
                  <a:cubicBezTo>
                    <a:pt x="18794" y="6655"/>
                    <a:pt x="18638" y="6534"/>
                    <a:pt x="18453" y="6393"/>
                  </a:cubicBezTo>
                  <a:cubicBezTo>
                    <a:pt x="18311" y="6286"/>
                    <a:pt x="18081" y="6144"/>
                    <a:pt x="18045" y="6144"/>
                  </a:cubicBezTo>
                  <a:cubicBezTo>
                    <a:pt x="18023" y="6144"/>
                    <a:pt x="17993" y="6129"/>
                    <a:pt x="17978" y="6109"/>
                  </a:cubicBezTo>
                  <a:cubicBezTo>
                    <a:pt x="17964" y="6088"/>
                    <a:pt x="17925" y="6061"/>
                    <a:pt x="17887" y="6050"/>
                  </a:cubicBezTo>
                  <a:cubicBezTo>
                    <a:pt x="17848" y="6038"/>
                    <a:pt x="17756" y="6003"/>
                    <a:pt x="17687" y="5967"/>
                  </a:cubicBezTo>
                  <a:cubicBezTo>
                    <a:pt x="17045" y="5629"/>
                    <a:pt x="16298" y="5488"/>
                    <a:pt x="15390" y="5552"/>
                  </a:cubicBezTo>
                  <a:cubicBezTo>
                    <a:pt x="14880" y="5589"/>
                    <a:pt x="14033" y="5885"/>
                    <a:pt x="13701" y="6133"/>
                  </a:cubicBezTo>
                  <a:cubicBezTo>
                    <a:pt x="13661" y="6163"/>
                    <a:pt x="13600" y="6180"/>
                    <a:pt x="13568" y="6180"/>
                  </a:cubicBezTo>
                  <a:cubicBezTo>
                    <a:pt x="13536" y="6180"/>
                    <a:pt x="13510" y="6206"/>
                    <a:pt x="13510" y="6227"/>
                  </a:cubicBezTo>
                  <a:cubicBezTo>
                    <a:pt x="13510" y="6249"/>
                    <a:pt x="13493" y="6263"/>
                    <a:pt x="13477" y="6263"/>
                  </a:cubicBezTo>
                  <a:cubicBezTo>
                    <a:pt x="13460" y="6263"/>
                    <a:pt x="13341" y="6328"/>
                    <a:pt x="13210" y="6417"/>
                  </a:cubicBezTo>
                  <a:cubicBezTo>
                    <a:pt x="12965" y="6582"/>
                    <a:pt x="12846" y="6605"/>
                    <a:pt x="12936" y="6464"/>
                  </a:cubicBezTo>
                  <a:cubicBezTo>
                    <a:pt x="12961" y="6425"/>
                    <a:pt x="12986" y="6370"/>
                    <a:pt x="12986" y="6346"/>
                  </a:cubicBezTo>
                  <a:cubicBezTo>
                    <a:pt x="12986" y="6322"/>
                    <a:pt x="13023" y="6237"/>
                    <a:pt x="13077" y="6156"/>
                  </a:cubicBezTo>
                  <a:cubicBezTo>
                    <a:pt x="13131" y="6075"/>
                    <a:pt x="13177" y="6004"/>
                    <a:pt x="13177" y="5991"/>
                  </a:cubicBezTo>
                  <a:cubicBezTo>
                    <a:pt x="13177" y="5977"/>
                    <a:pt x="13205" y="5939"/>
                    <a:pt x="13235" y="5908"/>
                  </a:cubicBezTo>
                  <a:cubicBezTo>
                    <a:pt x="13266" y="5876"/>
                    <a:pt x="13285" y="5830"/>
                    <a:pt x="13285" y="5801"/>
                  </a:cubicBezTo>
                  <a:cubicBezTo>
                    <a:pt x="13285" y="5773"/>
                    <a:pt x="13304" y="5731"/>
                    <a:pt x="13327" y="5718"/>
                  </a:cubicBezTo>
                  <a:cubicBezTo>
                    <a:pt x="13350" y="5706"/>
                    <a:pt x="13368" y="5674"/>
                    <a:pt x="13368" y="5647"/>
                  </a:cubicBezTo>
                  <a:cubicBezTo>
                    <a:pt x="13368" y="5621"/>
                    <a:pt x="13405" y="5556"/>
                    <a:pt x="13443" y="5505"/>
                  </a:cubicBezTo>
                  <a:cubicBezTo>
                    <a:pt x="13482" y="5454"/>
                    <a:pt x="13510" y="5406"/>
                    <a:pt x="13510" y="5387"/>
                  </a:cubicBezTo>
                  <a:cubicBezTo>
                    <a:pt x="13510" y="5368"/>
                    <a:pt x="13537" y="5303"/>
                    <a:pt x="13568" y="5257"/>
                  </a:cubicBezTo>
                  <a:cubicBezTo>
                    <a:pt x="13599" y="5210"/>
                    <a:pt x="13626" y="5150"/>
                    <a:pt x="13626" y="5114"/>
                  </a:cubicBezTo>
                  <a:cubicBezTo>
                    <a:pt x="13626" y="5079"/>
                    <a:pt x="13637" y="5015"/>
                    <a:pt x="13660" y="4972"/>
                  </a:cubicBezTo>
                  <a:cubicBezTo>
                    <a:pt x="13704" y="4890"/>
                    <a:pt x="13726" y="4321"/>
                    <a:pt x="13685" y="4321"/>
                  </a:cubicBezTo>
                  <a:cubicBezTo>
                    <a:pt x="13672" y="4321"/>
                    <a:pt x="13636" y="4232"/>
                    <a:pt x="13601" y="4120"/>
                  </a:cubicBezTo>
                  <a:cubicBezTo>
                    <a:pt x="13552" y="3961"/>
                    <a:pt x="13431" y="3756"/>
                    <a:pt x="13052" y="3220"/>
                  </a:cubicBezTo>
                  <a:cubicBezTo>
                    <a:pt x="12785" y="2842"/>
                    <a:pt x="12561" y="2529"/>
                    <a:pt x="12561" y="2522"/>
                  </a:cubicBezTo>
                  <a:cubicBezTo>
                    <a:pt x="12561" y="2495"/>
                    <a:pt x="12273" y="2093"/>
                    <a:pt x="12162" y="1965"/>
                  </a:cubicBezTo>
                  <a:cubicBezTo>
                    <a:pt x="12050" y="1837"/>
                    <a:pt x="11815" y="1705"/>
                    <a:pt x="11696" y="1705"/>
                  </a:cubicBezTo>
                  <a:cubicBezTo>
                    <a:pt x="11611" y="1705"/>
                    <a:pt x="11248" y="1824"/>
                    <a:pt x="11230" y="1859"/>
                  </a:cubicBezTo>
                  <a:cubicBezTo>
                    <a:pt x="11222" y="1874"/>
                    <a:pt x="11176" y="1919"/>
                    <a:pt x="11130" y="1953"/>
                  </a:cubicBezTo>
                  <a:cubicBezTo>
                    <a:pt x="11084" y="1987"/>
                    <a:pt x="10998" y="2077"/>
                    <a:pt x="10939" y="2155"/>
                  </a:cubicBezTo>
                  <a:cubicBezTo>
                    <a:pt x="10879" y="2233"/>
                    <a:pt x="10828" y="2297"/>
                    <a:pt x="10822" y="2297"/>
                  </a:cubicBezTo>
                  <a:cubicBezTo>
                    <a:pt x="10811" y="2297"/>
                    <a:pt x="10729" y="2387"/>
                    <a:pt x="10614" y="2534"/>
                  </a:cubicBezTo>
                  <a:cubicBezTo>
                    <a:pt x="10481" y="2703"/>
                    <a:pt x="10417" y="2770"/>
                    <a:pt x="10398" y="2770"/>
                  </a:cubicBezTo>
                  <a:cubicBezTo>
                    <a:pt x="10388" y="2770"/>
                    <a:pt x="10358" y="2807"/>
                    <a:pt x="10331" y="2841"/>
                  </a:cubicBezTo>
                  <a:cubicBezTo>
                    <a:pt x="10288" y="2897"/>
                    <a:pt x="10272" y="2893"/>
                    <a:pt x="10190" y="2841"/>
                  </a:cubicBezTo>
                  <a:cubicBezTo>
                    <a:pt x="9893" y="2657"/>
                    <a:pt x="9754" y="2581"/>
                    <a:pt x="9732" y="2581"/>
                  </a:cubicBezTo>
                  <a:cubicBezTo>
                    <a:pt x="9719" y="2581"/>
                    <a:pt x="9679" y="2551"/>
                    <a:pt x="9641" y="2522"/>
                  </a:cubicBezTo>
                  <a:cubicBezTo>
                    <a:pt x="9602" y="2493"/>
                    <a:pt x="9525" y="2453"/>
                    <a:pt x="9474" y="2439"/>
                  </a:cubicBezTo>
                  <a:cubicBezTo>
                    <a:pt x="9353" y="2404"/>
                    <a:pt x="9309" y="2313"/>
                    <a:pt x="9308" y="2107"/>
                  </a:cubicBezTo>
                  <a:cubicBezTo>
                    <a:pt x="9307" y="2016"/>
                    <a:pt x="9290" y="1931"/>
                    <a:pt x="9274" y="1918"/>
                  </a:cubicBezTo>
                  <a:cubicBezTo>
                    <a:pt x="9259" y="1904"/>
                    <a:pt x="9250" y="1792"/>
                    <a:pt x="9249" y="1657"/>
                  </a:cubicBezTo>
                  <a:cubicBezTo>
                    <a:pt x="9249" y="1505"/>
                    <a:pt x="9233" y="1374"/>
                    <a:pt x="9208" y="1326"/>
                  </a:cubicBezTo>
                  <a:cubicBezTo>
                    <a:pt x="9185" y="1284"/>
                    <a:pt x="9166" y="1182"/>
                    <a:pt x="9166" y="1089"/>
                  </a:cubicBezTo>
                  <a:cubicBezTo>
                    <a:pt x="9166" y="997"/>
                    <a:pt x="9157" y="901"/>
                    <a:pt x="9141" y="888"/>
                  </a:cubicBezTo>
                  <a:cubicBezTo>
                    <a:pt x="9126" y="874"/>
                    <a:pt x="9108" y="837"/>
                    <a:pt x="9108" y="793"/>
                  </a:cubicBezTo>
                  <a:cubicBezTo>
                    <a:pt x="9108" y="667"/>
                    <a:pt x="8940" y="354"/>
                    <a:pt x="8792" y="213"/>
                  </a:cubicBezTo>
                  <a:cubicBezTo>
                    <a:pt x="8581" y="13"/>
                    <a:pt x="8512" y="0"/>
                    <a:pt x="7602" y="0"/>
                  </a:cubicBezTo>
                  <a:close/>
                  <a:moveTo>
                    <a:pt x="7510" y="6381"/>
                  </a:moveTo>
                  <a:cubicBezTo>
                    <a:pt x="7609" y="6376"/>
                    <a:pt x="7687" y="6389"/>
                    <a:pt x="7727" y="6417"/>
                  </a:cubicBezTo>
                  <a:cubicBezTo>
                    <a:pt x="7759" y="6439"/>
                    <a:pt x="7868" y="6465"/>
                    <a:pt x="7968" y="6476"/>
                  </a:cubicBezTo>
                  <a:cubicBezTo>
                    <a:pt x="8160" y="6497"/>
                    <a:pt x="8384" y="6580"/>
                    <a:pt x="8384" y="6630"/>
                  </a:cubicBezTo>
                  <a:cubicBezTo>
                    <a:pt x="8384" y="6646"/>
                    <a:pt x="8416" y="6665"/>
                    <a:pt x="8451" y="6665"/>
                  </a:cubicBezTo>
                  <a:cubicBezTo>
                    <a:pt x="8485" y="6666"/>
                    <a:pt x="8564" y="6694"/>
                    <a:pt x="8625" y="6736"/>
                  </a:cubicBezTo>
                  <a:cubicBezTo>
                    <a:pt x="8687" y="6778"/>
                    <a:pt x="8739" y="6819"/>
                    <a:pt x="8750" y="6819"/>
                  </a:cubicBezTo>
                  <a:cubicBezTo>
                    <a:pt x="8768" y="6820"/>
                    <a:pt x="8951" y="6971"/>
                    <a:pt x="9016" y="7044"/>
                  </a:cubicBezTo>
                  <a:cubicBezTo>
                    <a:pt x="9032" y="7061"/>
                    <a:pt x="9107" y="7143"/>
                    <a:pt x="9191" y="7222"/>
                  </a:cubicBezTo>
                  <a:cubicBezTo>
                    <a:pt x="9430" y="7446"/>
                    <a:pt x="9807" y="7994"/>
                    <a:pt x="9807" y="8122"/>
                  </a:cubicBezTo>
                  <a:cubicBezTo>
                    <a:pt x="9807" y="8145"/>
                    <a:pt x="9835" y="8189"/>
                    <a:pt x="9865" y="8216"/>
                  </a:cubicBezTo>
                  <a:cubicBezTo>
                    <a:pt x="9896" y="8243"/>
                    <a:pt x="9915" y="8282"/>
                    <a:pt x="9915" y="8299"/>
                  </a:cubicBezTo>
                  <a:cubicBezTo>
                    <a:pt x="9915" y="8316"/>
                    <a:pt x="9952" y="8390"/>
                    <a:pt x="9990" y="8477"/>
                  </a:cubicBezTo>
                  <a:cubicBezTo>
                    <a:pt x="10028" y="8563"/>
                    <a:pt x="10057" y="8659"/>
                    <a:pt x="10057" y="8690"/>
                  </a:cubicBezTo>
                  <a:cubicBezTo>
                    <a:pt x="10057" y="8720"/>
                    <a:pt x="10075" y="8769"/>
                    <a:pt x="10098" y="8796"/>
                  </a:cubicBezTo>
                  <a:cubicBezTo>
                    <a:pt x="10121" y="8823"/>
                    <a:pt x="10140" y="8886"/>
                    <a:pt x="10140" y="8927"/>
                  </a:cubicBezTo>
                  <a:cubicBezTo>
                    <a:pt x="10140" y="8968"/>
                    <a:pt x="10149" y="8998"/>
                    <a:pt x="10165" y="8998"/>
                  </a:cubicBezTo>
                  <a:cubicBezTo>
                    <a:pt x="10180" y="8998"/>
                    <a:pt x="10198" y="9053"/>
                    <a:pt x="10198" y="9128"/>
                  </a:cubicBezTo>
                  <a:cubicBezTo>
                    <a:pt x="10198" y="9203"/>
                    <a:pt x="10208" y="9280"/>
                    <a:pt x="10223" y="9294"/>
                  </a:cubicBezTo>
                  <a:cubicBezTo>
                    <a:pt x="10238" y="9307"/>
                    <a:pt x="10248" y="9361"/>
                    <a:pt x="10248" y="9412"/>
                  </a:cubicBezTo>
                  <a:cubicBezTo>
                    <a:pt x="10248" y="9463"/>
                    <a:pt x="10267" y="9527"/>
                    <a:pt x="10290" y="9554"/>
                  </a:cubicBezTo>
                  <a:cubicBezTo>
                    <a:pt x="10322" y="9592"/>
                    <a:pt x="10339" y="9692"/>
                    <a:pt x="10339" y="9992"/>
                  </a:cubicBezTo>
                  <a:cubicBezTo>
                    <a:pt x="10339" y="10227"/>
                    <a:pt x="10348" y="10383"/>
                    <a:pt x="10364" y="10383"/>
                  </a:cubicBezTo>
                  <a:cubicBezTo>
                    <a:pt x="10380" y="10383"/>
                    <a:pt x="10389" y="10499"/>
                    <a:pt x="10389" y="10643"/>
                  </a:cubicBezTo>
                  <a:cubicBezTo>
                    <a:pt x="10389" y="10784"/>
                    <a:pt x="10380" y="10902"/>
                    <a:pt x="10364" y="10916"/>
                  </a:cubicBezTo>
                  <a:cubicBezTo>
                    <a:pt x="10349" y="10929"/>
                    <a:pt x="10339" y="11088"/>
                    <a:pt x="10339" y="11259"/>
                  </a:cubicBezTo>
                  <a:cubicBezTo>
                    <a:pt x="10339" y="11486"/>
                    <a:pt x="10320" y="11578"/>
                    <a:pt x="10290" y="11614"/>
                  </a:cubicBezTo>
                  <a:cubicBezTo>
                    <a:pt x="10267" y="11641"/>
                    <a:pt x="10248" y="11704"/>
                    <a:pt x="10248" y="11756"/>
                  </a:cubicBezTo>
                  <a:cubicBezTo>
                    <a:pt x="10248" y="11808"/>
                    <a:pt x="10241" y="11897"/>
                    <a:pt x="10223" y="11946"/>
                  </a:cubicBezTo>
                  <a:cubicBezTo>
                    <a:pt x="10163" y="12110"/>
                    <a:pt x="10151" y="12149"/>
                    <a:pt x="10131" y="12277"/>
                  </a:cubicBezTo>
                  <a:cubicBezTo>
                    <a:pt x="10121" y="12347"/>
                    <a:pt x="10096" y="12407"/>
                    <a:pt x="10082" y="12407"/>
                  </a:cubicBezTo>
                  <a:cubicBezTo>
                    <a:pt x="10067" y="12407"/>
                    <a:pt x="10057" y="12433"/>
                    <a:pt x="10057" y="12466"/>
                  </a:cubicBezTo>
                  <a:cubicBezTo>
                    <a:pt x="10057" y="12542"/>
                    <a:pt x="9994" y="12697"/>
                    <a:pt x="9948" y="12739"/>
                  </a:cubicBezTo>
                  <a:cubicBezTo>
                    <a:pt x="9929" y="12756"/>
                    <a:pt x="9915" y="12790"/>
                    <a:pt x="9915" y="12822"/>
                  </a:cubicBezTo>
                  <a:cubicBezTo>
                    <a:pt x="9915" y="12853"/>
                    <a:pt x="9905" y="12881"/>
                    <a:pt x="9890" y="12881"/>
                  </a:cubicBezTo>
                  <a:cubicBezTo>
                    <a:pt x="9875" y="12881"/>
                    <a:pt x="9865" y="12901"/>
                    <a:pt x="9865" y="12928"/>
                  </a:cubicBezTo>
                  <a:cubicBezTo>
                    <a:pt x="9865" y="12955"/>
                    <a:pt x="9824" y="13038"/>
                    <a:pt x="9782" y="13106"/>
                  </a:cubicBezTo>
                  <a:cubicBezTo>
                    <a:pt x="9740" y="13174"/>
                    <a:pt x="9670" y="13296"/>
                    <a:pt x="9624" y="13378"/>
                  </a:cubicBezTo>
                  <a:cubicBezTo>
                    <a:pt x="9514" y="13574"/>
                    <a:pt x="9364" y="13788"/>
                    <a:pt x="9266" y="13887"/>
                  </a:cubicBezTo>
                  <a:cubicBezTo>
                    <a:pt x="9223" y="13931"/>
                    <a:pt x="9148" y="14027"/>
                    <a:pt x="9100" y="14088"/>
                  </a:cubicBezTo>
                  <a:cubicBezTo>
                    <a:pt x="8993" y="14226"/>
                    <a:pt x="8469" y="14586"/>
                    <a:pt x="8376" y="14586"/>
                  </a:cubicBezTo>
                  <a:cubicBezTo>
                    <a:pt x="8339" y="14586"/>
                    <a:pt x="8294" y="14599"/>
                    <a:pt x="8284" y="14621"/>
                  </a:cubicBezTo>
                  <a:cubicBezTo>
                    <a:pt x="8275" y="14643"/>
                    <a:pt x="8237" y="14668"/>
                    <a:pt x="8193" y="14668"/>
                  </a:cubicBezTo>
                  <a:cubicBezTo>
                    <a:pt x="8149" y="14668"/>
                    <a:pt x="8078" y="14673"/>
                    <a:pt x="8043" y="14692"/>
                  </a:cubicBezTo>
                  <a:cubicBezTo>
                    <a:pt x="7867" y="14785"/>
                    <a:pt x="7153" y="14774"/>
                    <a:pt x="6895" y="14668"/>
                  </a:cubicBezTo>
                  <a:cubicBezTo>
                    <a:pt x="6833" y="14644"/>
                    <a:pt x="6736" y="14606"/>
                    <a:pt x="6678" y="14586"/>
                  </a:cubicBezTo>
                  <a:cubicBezTo>
                    <a:pt x="6620" y="14565"/>
                    <a:pt x="6555" y="14524"/>
                    <a:pt x="6528" y="14503"/>
                  </a:cubicBezTo>
                  <a:cubicBezTo>
                    <a:pt x="6502" y="14482"/>
                    <a:pt x="6395" y="14414"/>
                    <a:pt x="6295" y="14349"/>
                  </a:cubicBezTo>
                  <a:cubicBezTo>
                    <a:pt x="6196" y="14283"/>
                    <a:pt x="6057" y="14164"/>
                    <a:pt x="5988" y="14088"/>
                  </a:cubicBezTo>
                  <a:cubicBezTo>
                    <a:pt x="5919" y="14013"/>
                    <a:pt x="5854" y="13960"/>
                    <a:pt x="5838" y="13958"/>
                  </a:cubicBezTo>
                  <a:cubicBezTo>
                    <a:pt x="5802" y="13955"/>
                    <a:pt x="5462" y="13475"/>
                    <a:pt x="5314" y="13224"/>
                  </a:cubicBezTo>
                  <a:cubicBezTo>
                    <a:pt x="5213" y="13054"/>
                    <a:pt x="5154" y="12941"/>
                    <a:pt x="5106" y="12798"/>
                  </a:cubicBezTo>
                  <a:cubicBezTo>
                    <a:pt x="5095" y="12765"/>
                    <a:pt x="5081" y="12738"/>
                    <a:pt x="5072" y="12727"/>
                  </a:cubicBezTo>
                  <a:cubicBezTo>
                    <a:pt x="5039" y="12686"/>
                    <a:pt x="4989" y="12524"/>
                    <a:pt x="4989" y="12466"/>
                  </a:cubicBezTo>
                  <a:cubicBezTo>
                    <a:pt x="4989" y="12433"/>
                    <a:pt x="4977" y="12407"/>
                    <a:pt x="4964" y="12407"/>
                  </a:cubicBezTo>
                  <a:cubicBezTo>
                    <a:pt x="4933" y="12407"/>
                    <a:pt x="4848" y="12146"/>
                    <a:pt x="4848" y="12052"/>
                  </a:cubicBezTo>
                  <a:cubicBezTo>
                    <a:pt x="4848" y="12011"/>
                    <a:pt x="4838" y="11959"/>
                    <a:pt x="4823" y="11946"/>
                  </a:cubicBezTo>
                  <a:cubicBezTo>
                    <a:pt x="4807" y="11932"/>
                    <a:pt x="4789" y="11867"/>
                    <a:pt x="4789" y="11792"/>
                  </a:cubicBezTo>
                  <a:cubicBezTo>
                    <a:pt x="4789" y="11706"/>
                    <a:pt x="4774" y="11640"/>
                    <a:pt x="4748" y="11626"/>
                  </a:cubicBezTo>
                  <a:cubicBezTo>
                    <a:pt x="4721" y="11611"/>
                    <a:pt x="4706" y="11547"/>
                    <a:pt x="4706" y="11448"/>
                  </a:cubicBezTo>
                  <a:cubicBezTo>
                    <a:pt x="4706" y="11365"/>
                    <a:pt x="4696" y="11284"/>
                    <a:pt x="4681" y="11271"/>
                  </a:cubicBezTo>
                  <a:cubicBezTo>
                    <a:pt x="4665" y="11256"/>
                    <a:pt x="4656" y="11006"/>
                    <a:pt x="4656" y="10655"/>
                  </a:cubicBezTo>
                  <a:cubicBezTo>
                    <a:pt x="4656" y="10305"/>
                    <a:pt x="4665" y="10066"/>
                    <a:pt x="4681" y="10051"/>
                  </a:cubicBezTo>
                  <a:cubicBezTo>
                    <a:pt x="4696" y="10038"/>
                    <a:pt x="4706" y="9930"/>
                    <a:pt x="4706" y="9815"/>
                  </a:cubicBezTo>
                  <a:cubicBezTo>
                    <a:pt x="4706" y="9676"/>
                    <a:pt x="4720" y="9587"/>
                    <a:pt x="4748" y="9554"/>
                  </a:cubicBezTo>
                  <a:cubicBezTo>
                    <a:pt x="4771" y="9527"/>
                    <a:pt x="4789" y="9465"/>
                    <a:pt x="4789" y="9424"/>
                  </a:cubicBezTo>
                  <a:cubicBezTo>
                    <a:pt x="4789" y="9383"/>
                    <a:pt x="4800" y="9320"/>
                    <a:pt x="4814" y="9282"/>
                  </a:cubicBezTo>
                  <a:cubicBezTo>
                    <a:pt x="4828" y="9244"/>
                    <a:pt x="4861" y="9131"/>
                    <a:pt x="4881" y="9033"/>
                  </a:cubicBezTo>
                  <a:cubicBezTo>
                    <a:pt x="4900" y="8935"/>
                    <a:pt x="4927" y="8831"/>
                    <a:pt x="4947" y="8796"/>
                  </a:cubicBezTo>
                  <a:cubicBezTo>
                    <a:pt x="4968" y="8762"/>
                    <a:pt x="4989" y="8716"/>
                    <a:pt x="4989" y="8690"/>
                  </a:cubicBezTo>
                  <a:cubicBezTo>
                    <a:pt x="4989" y="8640"/>
                    <a:pt x="5043" y="8494"/>
                    <a:pt x="5089" y="8418"/>
                  </a:cubicBezTo>
                  <a:cubicBezTo>
                    <a:pt x="5104" y="8392"/>
                    <a:pt x="5132" y="8326"/>
                    <a:pt x="5155" y="8275"/>
                  </a:cubicBezTo>
                  <a:cubicBezTo>
                    <a:pt x="5178" y="8225"/>
                    <a:pt x="5221" y="8149"/>
                    <a:pt x="5255" y="8098"/>
                  </a:cubicBezTo>
                  <a:cubicBezTo>
                    <a:pt x="5290" y="8047"/>
                    <a:pt x="5322" y="7979"/>
                    <a:pt x="5322" y="7956"/>
                  </a:cubicBezTo>
                  <a:cubicBezTo>
                    <a:pt x="5322" y="7850"/>
                    <a:pt x="5880" y="7139"/>
                    <a:pt x="5963" y="7139"/>
                  </a:cubicBezTo>
                  <a:cubicBezTo>
                    <a:pt x="5977" y="7139"/>
                    <a:pt x="5988" y="7122"/>
                    <a:pt x="5988" y="7103"/>
                  </a:cubicBezTo>
                  <a:cubicBezTo>
                    <a:pt x="5988" y="7085"/>
                    <a:pt x="6034" y="7038"/>
                    <a:pt x="6087" y="6997"/>
                  </a:cubicBezTo>
                  <a:cubicBezTo>
                    <a:pt x="6141" y="6956"/>
                    <a:pt x="6187" y="6904"/>
                    <a:pt x="6187" y="6890"/>
                  </a:cubicBezTo>
                  <a:cubicBezTo>
                    <a:pt x="6187" y="6876"/>
                    <a:pt x="6229" y="6846"/>
                    <a:pt x="6279" y="6819"/>
                  </a:cubicBezTo>
                  <a:cubicBezTo>
                    <a:pt x="6329" y="6793"/>
                    <a:pt x="6390" y="6755"/>
                    <a:pt x="6420" y="6736"/>
                  </a:cubicBezTo>
                  <a:cubicBezTo>
                    <a:pt x="6723" y="6550"/>
                    <a:pt x="7215" y="6398"/>
                    <a:pt x="7510" y="6381"/>
                  </a:cubicBezTo>
                  <a:close/>
                </a:path>
              </a:pathLst>
            </a:custGeom>
            <a:ln w="12700" cap="flat">
              <a:noFill/>
              <a:miter lim="400000"/>
            </a:ln>
            <a:effectLst/>
          </p:spPr>
        </p:pic>
        <p:pic>
          <p:nvPicPr>
            <p:cNvPr id="353" name="9d6ed4e6-f024-4b82-a319-6c75fd0f3174.png" descr="9d6ed4e6-f024-4b82-a319-6c75fd0f3174.png"/>
            <p:cNvPicPr>
              <a:picLocks noChangeAspect="1"/>
            </p:cNvPicPr>
            <p:nvPr/>
          </p:nvPicPr>
          <p:blipFill>
            <a:blip r:embed="rId3"/>
            <a:srcRect l="17886" t="12377" r="18862" b="20862"/>
            <a:stretch>
              <a:fillRect/>
            </a:stretch>
          </p:blipFill>
          <p:spPr>
            <a:xfrm>
              <a:off x="5028733" y="549128"/>
              <a:ext cx="1028561" cy="723746"/>
            </a:xfrm>
            <a:custGeom>
              <a:avLst/>
              <a:gdLst/>
              <a:ahLst/>
              <a:cxnLst>
                <a:cxn ang="0">
                  <a:pos x="wd2" y="hd2"/>
                </a:cxn>
                <a:cxn ang="5400000">
                  <a:pos x="wd2" y="hd2"/>
                </a:cxn>
                <a:cxn ang="10800000">
                  <a:pos x="wd2" y="hd2"/>
                </a:cxn>
                <a:cxn ang="16200000">
                  <a:pos x="wd2" y="hd2"/>
                </a:cxn>
              </a:cxnLst>
              <a:rect l="0" t="0" r="r" b="b"/>
              <a:pathLst>
                <a:path w="21565" h="21590" extrusionOk="0">
                  <a:moveTo>
                    <a:pt x="7602" y="0"/>
                  </a:moveTo>
                  <a:cubicBezTo>
                    <a:pt x="7132" y="0"/>
                    <a:pt x="6736" y="17"/>
                    <a:pt x="6728" y="36"/>
                  </a:cubicBezTo>
                  <a:cubicBezTo>
                    <a:pt x="6720" y="54"/>
                    <a:pt x="6630" y="80"/>
                    <a:pt x="6528" y="95"/>
                  </a:cubicBezTo>
                  <a:cubicBezTo>
                    <a:pt x="6390" y="115"/>
                    <a:pt x="6321" y="144"/>
                    <a:pt x="6246" y="225"/>
                  </a:cubicBezTo>
                  <a:cubicBezTo>
                    <a:pt x="6116" y="364"/>
                    <a:pt x="5989" y="564"/>
                    <a:pt x="5988" y="627"/>
                  </a:cubicBezTo>
                  <a:cubicBezTo>
                    <a:pt x="5987" y="655"/>
                    <a:pt x="5978" y="714"/>
                    <a:pt x="5963" y="758"/>
                  </a:cubicBezTo>
                  <a:cubicBezTo>
                    <a:pt x="5947" y="801"/>
                    <a:pt x="5920" y="868"/>
                    <a:pt x="5904" y="912"/>
                  </a:cubicBezTo>
                  <a:cubicBezTo>
                    <a:pt x="5889" y="955"/>
                    <a:pt x="5879" y="1053"/>
                    <a:pt x="5879" y="1137"/>
                  </a:cubicBezTo>
                  <a:cubicBezTo>
                    <a:pt x="5879" y="1220"/>
                    <a:pt x="5860" y="1331"/>
                    <a:pt x="5838" y="1373"/>
                  </a:cubicBezTo>
                  <a:cubicBezTo>
                    <a:pt x="5810" y="1426"/>
                    <a:pt x="5797" y="1553"/>
                    <a:pt x="5796" y="1776"/>
                  </a:cubicBezTo>
                  <a:cubicBezTo>
                    <a:pt x="5796" y="1954"/>
                    <a:pt x="5787" y="2106"/>
                    <a:pt x="5771" y="2119"/>
                  </a:cubicBezTo>
                  <a:cubicBezTo>
                    <a:pt x="5756" y="2133"/>
                    <a:pt x="5738" y="2180"/>
                    <a:pt x="5738" y="2226"/>
                  </a:cubicBezTo>
                  <a:cubicBezTo>
                    <a:pt x="5738" y="2340"/>
                    <a:pt x="5659" y="2463"/>
                    <a:pt x="5580" y="2463"/>
                  </a:cubicBezTo>
                  <a:cubicBezTo>
                    <a:pt x="5544" y="2463"/>
                    <a:pt x="5471" y="2490"/>
                    <a:pt x="5413" y="2534"/>
                  </a:cubicBezTo>
                  <a:cubicBezTo>
                    <a:pt x="5356" y="2577"/>
                    <a:pt x="5292" y="2616"/>
                    <a:pt x="5272" y="2616"/>
                  </a:cubicBezTo>
                  <a:cubicBezTo>
                    <a:pt x="5252" y="2616"/>
                    <a:pt x="5186" y="2648"/>
                    <a:pt x="5122" y="2687"/>
                  </a:cubicBezTo>
                  <a:cubicBezTo>
                    <a:pt x="5058" y="2727"/>
                    <a:pt x="4946" y="2790"/>
                    <a:pt x="4881" y="2830"/>
                  </a:cubicBezTo>
                  <a:lnTo>
                    <a:pt x="4764" y="2901"/>
                  </a:lnTo>
                  <a:lnTo>
                    <a:pt x="4665" y="2806"/>
                  </a:lnTo>
                  <a:cubicBezTo>
                    <a:pt x="4607" y="2750"/>
                    <a:pt x="4522" y="2655"/>
                    <a:pt x="4481" y="2605"/>
                  </a:cubicBezTo>
                  <a:cubicBezTo>
                    <a:pt x="4441" y="2554"/>
                    <a:pt x="4376" y="2481"/>
                    <a:pt x="4340" y="2439"/>
                  </a:cubicBezTo>
                  <a:cubicBezTo>
                    <a:pt x="4304" y="2397"/>
                    <a:pt x="4209" y="2272"/>
                    <a:pt x="4124" y="2167"/>
                  </a:cubicBezTo>
                  <a:cubicBezTo>
                    <a:pt x="4038" y="2061"/>
                    <a:pt x="3961" y="1977"/>
                    <a:pt x="3949" y="1977"/>
                  </a:cubicBezTo>
                  <a:cubicBezTo>
                    <a:pt x="3937" y="1977"/>
                    <a:pt x="3881" y="1943"/>
                    <a:pt x="3832" y="1894"/>
                  </a:cubicBezTo>
                  <a:cubicBezTo>
                    <a:pt x="3753" y="1813"/>
                    <a:pt x="3718" y="1800"/>
                    <a:pt x="3408" y="1800"/>
                  </a:cubicBezTo>
                  <a:cubicBezTo>
                    <a:pt x="3188" y="1800"/>
                    <a:pt x="3055" y="1819"/>
                    <a:pt x="3042" y="1847"/>
                  </a:cubicBezTo>
                  <a:cubicBezTo>
                    <a:pt x="3031" y="1871"/>
                    <a:pt x="2988" y="1919"/>
                    <a:pt x="2942" y="1953"/>
                  </a:cubicBezTo>
                  <a:cubicBezTo>
                    <a:pt x="2896" y="1987"/>
                    <a:pt x="2810" y="2077"/>
                    <a:pt x="2751" y="2155"/>
                  </a:cubicBezTo>
                  <a:cubicBezTo>
                    <a:pt x="2691" y="2233"/>
                    <a:pt x="2639" y="2297"/>
                    <a:pt x="2634" y="2297"/>
                  </a:cubicBezTo>
                  <a:cubicBezTo>
                    <a:pt x="2614" y="2297"/>
                    <a:pt x="1539" y="3848"/>
                    <a:pt x="1469" y="3978"/>
                  </a:cubicBezTo>
                  <a:cubicBezTo>
                    <a:pt x="1427" y="4056"/>
                    <a:pt x="1394" y="4146"/>
                    <a:pt x="1394" y="4179"/>
                  </a:cubicBezTo>
                  <a:cubicBezTo>
                    <a:pt x="1394" y="4212"/>
                    <a:pt x="1385" y="4249"/>
                    <a:pt x="1369" y="4262"/>
                  </a:cubicBezTo>
                  <a:cubicBezTo>
                    <a:pt x="1354" y="4276"/>
                    <a:pt x="1336" y="4434"/>
                    <a:pt x="1336" y="4617"/>
                  </a:cubicBezTo>
                  <a:cubicBezTo>
                    <a:pt x="1336" y="4800"/>
                    <a:pt x="1354" y="4959"/>
                    <a:pt x="1369" y="4972"/>
                  </a:cubicBezTo>
                  <a:cubicBezTo>
                    <a:pt x="1385" y="4986"/>
                    <a:pt x="1394" y="5023"/>
                    <a:pt x="1394" y="5055"/>
                  </a:cubicBezTo>
                  <a:cubicBezTo>
                    <a:pt x="1394" y="5115"/>
                    <a:pt x="1611" y="5552"/>
                    <a:pt x="1652" y="5576"/>
                  </a:cubicBezTo>
                  <a:cubicBezTo>
                    <a:pt x="1665" y="5583"/>
                    <a:pt x="1669" y="5616"/>
                    <a:pt x="1669" y="5647"/>
                  </a:cubicBezTo>
                  <a:cubicBezTo>
                    <a:pt x="1669" y="5678"/>
                    <a:pt x="1687" y="5706"/>
                    <a:pt x="1702" y="5706"/>
                  </a:cubicBezTo>
                  <a:cubicBezTo>
                    <a:pt x="1718" y="5706"/>
                    <a:pt x="1727" y="5734"/>
                    <a:pt x="1727" y="5766"/>
                  </a:cubicBezTo>
                  <a:cubicBezTo>
                    <a:pt x="1727" y="5797"/>
                    <a:pt x="1741" y="5831"/>
                    <a:pt x="1760" y="5848"/>
                  </a:cubicBezTo>
                  <a:cubicBezTo>
                    <a:pt x="1780" y="5866"/>
                    <a:pt x="1832" y="5963"/>
                    <a:pt x="1877" y="6050"/>
                  </a:cubicBezTo>
                  <a:cubicBezTo>
                    <a:pt x="1922" y="6137"/>
                    <a:pt x="1973" y="6208"/>
                    <a:pt x="1985" y="6215"/>
                  </a:cubicBezTo>
                  <a:cubicBezTo>
                    <a:pt x="1997" y="6223"/>
                    <a:pt x="2010" y="6257"/>
                    <a:pt x="2010" y="6286"/>
                  </a:cubicBezTo>
                  <a:cubicBezTo>
                    <a:pt x="2010" y="6316"/>
                    <a:pt x="2025" y="6337"/>
                    <a:pt x="2043" y="6346"/>
                  </a:cubicBezTo>
                  <a:cubicBezTo>
                    <a:pt x="2064" y="6356"/>
                    <a:pt x="2071" y="6428"/>
                    <a:pt x="2068" y="6535"/>
                  </a:cubicBezTo>
                  <a:cubicBezTo>
                    <a:pt x="2064" y="6692"/>
                    <a:pt x="2035" y="6830"/>
                    <a:pt x="1910" y="7186"/>
                  </a:cubicBezTo>
                  <a:cubicBezTo>
                    <a:pt x="1889" y="7248"/>
                    <a:pt x="1869" y="7321"/>
                    <a:pt x="1869" y="7352"/>
                  </a:cubicBezTo>
                  <a:cubicBezTo>
                    <a:pt x="1869" y="7383"/>
                    <a:pt x="1859" y="7411"/>
                    <a:pt x="1844" y="7411"/>
                  </a:cubicBezTo>
                  <a:cubicBezTo>
                    <a:pt x="1828" y="7411"/>
                    <a:pt x="1810" y="7466"/>
                    <a:pt x="1810" y="7530"/>
                  </a:cubicBezTo>
                  <a:cubicBezTo>
                    <a:pt x="1810" y="7593"/>
                    <a:pt x="1792" y="7674"/>
                    <a:pt x="1769" y="7707"/>
                  </a:cubicBezTo>
                  <a:cubicBezTo>
                    <a:pt x="1746" y="7740"/>
                    <a:pt x="1727" y="7787"/>
                    <a:pt x="1727" y="7814"/>
                  </a:cubicBezTo>
                  <a:cubicBezTo>
                    <a:pt x="1727" y="7872"/>
                    <a:pt x="1599" y="8046"/>
                    <a:pt x="1552" y="8051"/>
                  </a:cubicBezTo>
                  <a:cubicBezTo>
                    <a:pt x="1416" y="8063"/>
                    <a:pt x="1264" y="8094"/>
                    <a:pt x="1228" y="8122"/>
                  </a:cubicBezTo>
                  <a:cubicBezTo>
                    <a:pt x="1204" y="8139"/>
                    <a:pt x="1112" y="8165"/>
                    <a:pt x="1028" y="8181"/>
                  </a:cubicBezTo>
                  <a:cubicBezTo>
                    <a:pt x="830" y="8217"/>
                    <a:pt x="476" y="8352"/>
                    <a:pt x="404" y="8418"/>
                  </a:cubicBezTo>
                  <a:cubicBezTo>
                    <a:pt x="321" y="8493"/>
                    <a:pt x="138" y="8753"/>
                    <a:pt x="138" y="8796"/>
                  </a:cubicBezTo>
                  <a:cubicBezTo>
                    <a:pt x="138" y="8817"/>
                    <a:pt x="128" y="8844"/>
                    <a:pt x="113" y="8844"/>
                  </a:cubicBezTo>
                  <a:cubicBezTo>
                    <a:pt x="98" y="8844"/>
                    <a:pt x="88" y="8865"/>
                    <a:pt x="88" y="8903"/>
                  </a:cubicBezTo>
                  <a:cubicBezTo>
                    <a:pt x="88" y="8941"/>
                    <a:pt x="69" y="9030"/>
                    <a:pt x="46" y="9092"/>
                  </a:cubicBezTo>
                  <a:cubicBezTo>
                    <a:pt x="-16" y="9262"/>
                    <a:pt x="-16" y="12132"/>
                    <a:pt x="46" y="12206"/>
                  </a:cubicBezTo>
                  <a:cubicBezTo>
                    <a:pt x="69" y="12233"/>
                    <a:pt x="88" y="12295"/>
                    <a:pt x="88" y="12336"/>
                  </a:cubicBezTo>
                  <a:cubicBezTo>
                    <a:pt x="88" y="12377"/>
                    <a:pt x="98" y="12407"/>
                    <a:pt x="113" y="12407"/>
                  </a:cubicBezTo>
                  <a:cubicBezTo>
                    <a:pt x="128" y="12407"/>
                    <a:pt x="138" y="12434"/>
                    <a:pt x="138" y="12466"/>
                  </a:cubicBezTo>
                  <a:cubicBezTo>
                    <a:pt x="138" y="12499"/>
                    <a:pt x="156" y="12526"/>
                    <a:pt x="171" y="12526"/>
                  </a:cubicBezTo>
                  <a:cubicBezTo>
                    <a:pt x="186" y="12526"/>
                    <a:pt x="196" y="12546"/>
                    <a:pt x="196" y="12573"/>
                  </a:cubicBezTo>
                  <a:cubicBezTo>
                    <a:pt x="198" y="12730"/>
                    <a:pt x="696" y="13005"/>
                    <a:pt x="1070" y="13058"/>
                  </a:cubicBezTo>
                  <a:cubicBezTo>
                    <a:pt x="1173" y="13073"/>
                    <a:pt x="1261" y="13098"/>
                    <a:pt x="1270" y="13118"/>
                  </a:cubicBezTo>
                  <a:cubicBezTo>
                    <a:pt x="1278" y="13137"/>
                    <a:pt x="1336" y="13153"/>
                    <a:pt x="1394" y="13153"/>
                  </a:cubicBezTo>
                  <a:cubicBezTo>
                    <a:pt x="1557" y="13153"/>
                    <a:pt x="1669" y="13199"/>
                    <a:pt x="1669" y="13260"/>
                  </a:cubicBezTo>
                  <a:cubicBezTo>
                    <a:pt x="1669" y="13290"/>
                    <a:pt x="1687" y="13319"/>
                    <a:pt x="1702" y="13319"/>
                  </a:cubicBezTo>
                  <a:cubicBezTo>
                    <a:pt x="1718" y="13319"/>
                    <a:pt x="1727" y="13352"/>
                    <a:pt x="1727" y="13390"/>
                  </a:cubicBezTo>
                  <a:cubicBezTo>
                    <a:pt x="1728" y="13428"/>
                    <a:pt x="1746" y="13490"/>
                    <a:pt x="1769" y="13532"/>
                  </a:cubicBezTo>
                  <a:cubicBezTo>
                    <a:pt x="1791" y="13574"/>
                    <a:pt x="1810" y="13645"/>
                    <a:pt x="1810" y="13686"/>
                  </a:cubicBezTo>
                  <a:cubicBezTo>
                    <a:pt x="1810" y="13727"/>
                    <a:pt x="1867" y="13924"/>
                    <a:pt x="1935" y="14124"/>
                  </a:cubicBezTo>
                  <a:cubicBezTo>
                    <a:pt x="2100" y="14603"/>
                    <a:pt x="2112" y="14720"/>
                    <a:pt x="1993" y="14917"/>
                  </a:cubicBezTo>
                  <a:cubicBezTo>
                    <a:pt x="1954" y="14983"/>
                    <a:pt x="1898" y="15081"/>
                    <a:pt x="1869" y="15130"/>
                  </a:cubicBezTo>
                  <a:cubicBezTo>
                    <a:pt x="1839" y="15179"/>
                    <a:pt x="1810" y="15238"/>
                    <a:pt x="1810" y="15260"/>
                  </a:cubicBezTo>
                  <a:cubicBezTo>
                    <a:pt x="1810" y="15283"/>
                    <a:pt x="1792" y="15307"/>
                    <a:pt x="1769" y="15320"/>
                  </a:cubicBezTo>
                  <a:cubicBezTo>
                    <a:pt x="1746" y="15332"/>
                    <a:pt x="1727" y="15374"/>
                    <a:pt x="1727" y="15403"/>
                  </a:cubicBezTo>
                  <a:cubicBezTo>
                    <a:pt x="1727" y="15431"/>
                    <a:pt x="1681" y="15516"/>
                    <a:pt x="1627" y="15592"/>
                  </a:cubicBezTo>
                  <a:cubicBezTo>
                    <a:pt x="1574" y="15668"/>
                    <a:pt x="1536" y="15741"/>
                    <a:pt x="1536" y="15758"/>
                  </a:cubicBezTo>
                  <a:cubicBezTo>
                    <a:pt x="1536" y="15774"/>
                    <a:pt x="1499" y="15840"/>
                    <a:pt x="1461" y="15912"/>
                  </a:cubicBezTo>
                  <a:cubicBezTo>
                    <a:pt x="1423" y="15983"/>
                    <a:pt x="1394" y="16068"/>
                    <a:pt x="1394" y="16101"/>
                  </a:cubicBezTo>
                  <a:cubicBezTo>
                    <a:pt x="1394" y="16134"/>
                    <a:pt x="1385" y="16170"/>
                    <a:pt x="1369" y="16184"/>
                  </a:cubicBezTo>
                  <a:cubicBezTo>
                    <a:pt x="1333" y="16216"/>
                    <a:pt x="1333" y="16918"/>
                    <a:pt x="1369" y="16918"/>
                  </a:cubicBezTo>
                  <a:cubicBezTo>
                    <a:pt x="1385" y="16918"/>
                    <a:pt x="1394" y="16947"/>
                    <a:pt x="1394" y="16977"/>
                  </a:cubicBezTo>
                  <a:cubicBezTo>
                    <a:pt x="1394" y="17007"/>
                    <a:pt x="1413" y="17047"/>
                    <a:pt x="1436" y="17060"/>
                  </a:cubicBezTo>
                  <a:cubicBezTo>
                    <a:pt x="1459" y="17073"/>
                    <a:pt x="1478" y="17109"/>
                    <a:pt x="1478" y="17143"/>
                  </a:cubicBezTo>
                  <a:cubicBezTo>
                    <a:pt x="1478" y="17176"/>
                    <a:pt x="1487" y="17202"/>
                    <a:pt x="1503" y="17202"/>
                  </a:cubicBezTo>
                  <a:cubicBezTo>
                    <a:pt x="1518" y="17202"/>
                    <a:pt x="1536" y="17222"/>
                    <a:pt x="1536" y="17249"/>
                  </a:cubicBezTo>
                  <a:cubicBezTo>
                    <a:pt x="1536" y="17277"/>
                    <a:pt x="1574" y="17357"/>
                    <a:pt x="1627" y="17427"/>
                  </a:cubicBezTo>
                  <a:cubicBezTo>
                    <a:pt x="1681" y="17497"/>
                    <a:pt x="1727" y="17570"/>
                    <a:pt x="1727" y="17581"/>
                  </a:cubicBezTo>
                  <a:cubicBezTo>
                    <a:pt x="1727" y="17592"/>
                    <a:pt x="1802" y="17700"/>
                    <a:pt x="1894" y="17830"/>
                  </a:cubicBezTo>
                  <a:cubicBezTo>
                    <a:pt x="1986" y="17959"/>
                    <a:pt x="2060" y="18080"/>
                    <a:pt x="2060" y="18102"/>
                  </a:cubicBezTo>
                  <a:cubicBezTo>
                    <a:pt x="2060" y="18123"/>
                    <a:pt x="2071" y="18154"/>
                    <a:pt x="2085" y="18161"/>
                  </a:cubicBezTo>
                  <a:cubicBezTo>
                    <a:pt x="2099" y="18168"/>
                    <a:pt x="2284" y="18399"/>
                    <a:pt x="2493" y="18682"/>
                  </a:cubicBezTo>
                  <a:cubicBezTo>
                    <a:pt x="2983" y="19349"/>
                    <a:pt x="3021" y="19380"/>
                    <a:pt x="3416" y="19380"/>
                  </a:cubicBezTo>
                  <a:cubicBezTo>
                    <a:pt x="3722" y="19380"/>
                    <a:pt x="3723" y="19380"/>
                    <a:pt x="3874" y="19238"/>
                  </a:cubicBezTo>
                  <a:cubicBezTo>
                    <a:pt x="3957" y="19160"/>
                    <a:pt x="4056" y="19054"/>
                    <a:pt x="4090" y="19002"/>
                  </a:cubicBezTo>
                  <a:cubicBezTo>
                    <a:pt x="4125" y="18949"/>
                    <a:pt x="4161" y="18907"/>
                    <a:pt x="4174" y="18907"/>
                  </a:cubicBezTo>
                  <a:cubicBezTo>
                    <a:pt x="4187" y="18907"/>
                    <a:pt x="4248" y="18841"/>
                    <a:pt x="4307" y="18765"/>
                  </a:cubicBezTo>
                  <a:cubicBezTo>
                    <a:pt x="4365" y="18688"/>
                    <a:pt x="4418" y="18623"/>
                    <a:pt x="4423" y="18623"/>
                  </a:cubicBezTo>
                  <a:cubicBezTo>
                    <a:pt x="4436" y="18623"/>
                    <a:pt x="4520" y="18519"/>
                    <a:pt x="4631" y="18374"/>
                  </a:cubicBezTo>
                  <a:cubicBezTo>
                    <a:pt x="4677" y="18314"/>
                    <a:pt x="4746" y="18268"/>
                    <a:pt x="4781" y="18268"/>
                  </a:cubicBezTo>
                  <a:cubicBezTo>
                    <a:pt x="4816" y="18268"/>
                    <a:pt x="4941" y="18346"/>
                    <a:pt x="5064" y="18433"/>
                  </a:cubicBezTo>
                  <a:cubicBezTo>
                    <a:pt x="5186" y="18520"/>
                    <a:pt x="5304" y="18587"/>
                    <a:pt x="5330" y="18587"/>
                  </a:cubicBezTo>
                  <a:cubicBezTo>
                    <a:pt x="5420" y="18587"/>
                    <a:pt x="5654" y="18758"/>
                    <a:pt x="5655" y="18824"/>
                  </a:cubicBezTo>
                  <a:cubicBezTo>
                    <a:pt x="5655" y="18859"/>
                    <a:pt x="5674" y="18924"/>
                    <a:pt x="5696" y="18966"/>
                  </a:cubicBezTo>
                  <a:cubicBezTo>
                    <a:pt x="5719" y="19008"/>
                    <a:pt x="5738" y="19110"/>
                    <a:pt x="5738" y="19203"/>
                  </a:cubicBezTo>
                  <a:cubicBezTo>
                    <a:pt x="5738" y="19295"/>
                    <a:pt x="5756" y="19391"/>
                    <a:pt x="5771" y="19404"/>
                  </a:cubicBezTo>
                  <a:cubicBezTo>
                    <a:pt x="5787" y="19418"/>
                    <a:pt x="5796" y="19556"/>
                    <a:pt x="5796" y="19724"/>
                  </a:cubicBezTo>
                  <a:cubicBezTo>
                    <a:pt x="5797" y="19929"/>
                    <a:pt x="5810" y="20063"/>
                    <a:pt x="5838" y="20114"/>
                  </a:cubicBezTo>
                  <a:cubicBezTo>
                    <a:pt x="5860" y="20157"/>
                    <a:pt x="5879" y="20256"/>
                    <a:pt x="5879" y="20339"/>
                  </a:cubicBezTo>
                  <a:cubicBezTo>
                    <a:pt x="5879" y="20422"/>
                    <a:pt x="5889" y="20493"/>
                    <a:pt x="5904" y="20493"/>
                  </a:cubicBezTo>
                  <a:cubicBezTo>
                    <a:pt x="5920" y="20493"/>
                    <a:pt x="5938" y="20521"/>
                    <a:pt x="5938" y="20564"/>
                  </a:cubicBezTo>
                  <a:cubicBezTo>
                    <a:pt x="5938" y="20608"/>
                    <a:pt x="5947" y="20647"/>
                    <a:pt x="5963" y="20647"/>
                  </a:cubicBezTo>
                  <a:cubicBezTo>
                    <a:pt x="5978" y="20647"/>
                    <a:pt x="5988" y="20667"/>
                    <a:pt x="5988" y="20695"/>
                  </a:cubicBezTo>
                  <a:cubicBezTo>
                    <a:pt x="5988" y="20782"/>
                    <a:pt x="6196" y="21065"/>
                    <a:pt x="6337" y="21168"/>
                  </a:cubicBezTo>
                  <a:lnTo>
                    <a:pt x="6470" y="21263"/>
                  </a:lnTo>
                  <a:lnTo>
                    <a:pt x="7519" y="21263"/>
                  </a:lnTo>
                  <a:lnTo>
                    <a:pt x="8567" y="21263"/>
                  </a:lnTo>
                  <a:lnTo>
                    <a:pt x="8709" y="21156"/>
                  </a:lnTo>
                  <a:cubicBezTo>
                    <a:pt x="8975" y="20956"/>
                    <a:pt x="9166" y="20607"/>
                    <a:pt x="9166" y="20328"/>
                  </a:cubicBezTo>
                  <a:cubicBezTo>
                    <a:pt x="9166" y="20267"/>
                    <a:pt x="9185" y="20201"/>
                    <a:pt x="9208" y="20174"/>
                  </a:cubicBezTo>
                  <a:cubicBezTo>
                    <a:pt x="9237" y="20139"/>
                    <a:pt x="9249" y="20046"/>
                    <a:pt x="9249" y="19854"/>
                  </a:cubicBezTo>
                  <a:cubicBezTo>
                    <a:pt x="9249" y="19705"/>
                    <a:pt x="9259" y="19571"/>
                    <a:pt x="9274" y="19558"/>
                  </a:cubicBezTo>
                  <a:cubicBezTo>
                    <a:pt x="9290" y="19545"/>
                    <a:pt x="9308" y="19423"/>
                    <a:pt x="9308" y="19286"/>
                  </a:cubicBezTo>
                  <a:cubicBezTo>
                    <a:pt x="9308" y="18853"/>
                    <a:pt x="9398" y="18727"/>
                    <a:pt x="9782" y="18611"/>
                  </a:cubicBezTo>
                  <a:cubicBezTo>
                    <a:pt x="9790" y="18609"/>
                    <a:pt x="9833" y="18577"/>
                    <a:pt x="9882" y="18540"/>
                  </a:cubicBezTo>
                  <a:cubicBezTo>
                    <a:pt x="9931" y="18503"/>
                    <a:pt x="9982" y="18469"/>
                    <a:pt x="9998" y="18469"/>
                  </a:cubicBezTo>
                  <a:cubicBezTo>
                    <a:pt x="10015" y="18469"/>
                    <a:pt x="10079" y="18419"/>
                    <a:pt x="10140" y="18362"/>
                  </a:cubicBezTo>
                  <a:cubicBezTo>
                    <a:pt x="10288" y="18223"/>
                    <a:pt x="10351" y="18248"/>
                    <a:pt x="10581" y="18540"/>
                  </a:cubicBezTo>
                  <a:cubicBezTo>
                    <a:pt x="10621" y="18591"/>
                    <a:pt x="10702" y="18684"/>
                    <a:pt x="10756" y="18741"/>
                  </a:cubicBezTo>
                  <a:cubicBezTo>
                    <a:pt x="10809" y="18798"/>
                    <a:pt x="10893" y="18894"/>
                    <a:pt x="10939" y="18954"/>
                  </a:cubicBezTo>
                  <a:cubicBezTo>
                    <a:pt x="10985" y="19014"/>
                    <a:pt x="11037" y="19072"/>
                    <a:pt x="11063" y="19084"/>
                  </a:cubicBezTo>
                  <a:cubicBezTo>
                    <a:pt x="11090" y="19097"/>
                    <a:pt x="11113" y="19126"/>
                    <a:pt x="11113" y="19144"/>
                  </a:cubicBezTo>
                  <a:cubicBezTo>
                    <a:pt x="11113" y="19161"/>
                    <a:pt x="11190" y="19216"/>
                    <a:pt x="11280" y="19274"/>
                  </a:cubicBezTo>
                  <a:cubicBezTo>
                    <a:pt x="11413" y="19359"/>
                    <a:pt x="11485" y="19380"/>
                    <a:pt x="11671" y="19380"/>
                  </a:cubicBezTo>
                  <a:lnTo>
                    <a:pt x="11896" y="19380"/>
                  </a:lnTo>
                  <a:lnTo>
                    <a:pt x="12070" y="19617"/>
                  </a:lnTo>
                  <a:cubicBezTo>
                    <a:pt x="12166" y="19748"/>
                    <a:pt x="12259" y="19854"/>
                    <a:pt x="12278" y="19854"/>
                  </a:cubicBezTo>
                  <a:cubicBezTo>
                    <a:pt x="12297" y="19854"/>
                    <a:pt x="12312" y="19872"/>
                    <a:pt x="12312" y="19889"/>
                  </a:cubicBezTo>
                  <a:cubicBezTo>
                    <a:pt x="12312" y="19907"/>
                    <a:pt x="12353" y="19955"/>
                    <a:pt x="12403" y="19996"/>
                  </a:cubicBezTo>
                  <a:cubicBezTo>
                    <a:pt x="12453" y="20037"/>
                    <a:pt x="12530" y="20122"/>
                    <a:pt x="12578" y="20185"/>
                  </a:cubicBezTo>
                  <a:cubicBezTo>
                    <a:pt x="12678" y="20318"/>
                    <a:pt x="12887" y="20493"/>
                    <a:pt x="12944" y="20493"/>
                  </a:cubicBezTo>
                  <a:cubicBezTo>
                    <a:pt x="12965" y="20493"/>
                    <a:pt x="12986" y="20499"/>
                    <a:pt x="12986" y="20517"/>
                  </a:cubicBezTo>
                  <a:cubicBezTo>
                    <a:pt x="12986" y="20535"/>
                    <a:pt x="13102" y="20638"/>
                    <a:pt x="13252" y="20742"/>
                  </a:cubicBezTo>
                  <a:cubicBezTo>
                    <a:pt x="13660" y="21026"/>
                    <a:pt x="13668" y="21035"/>
                    <a:pt x="13967" y="21168"/>
                  </a:cubicBezTo>
                  <a:cubicBezTo>
                    <a:pt x="14121" y="21236"/>
                    <a:pt x="14278" y="21302"/>
                    <a:pt x="14309" y="21322"/>
                  </a:cubicBezTo>
                  <a:cubicBezTo>
                    <a:pt x="14339" y="21342"/>
                    <a:pt x="14400" y="21370"/>
                    <a:pt x="14450" y="21381"/>
                  </a:cubicBezTo>
                  <a:cubicBezTo>
                    <a:pt x="14500" y="21393"/>
                    <a:pt x="14612" y="21428"/>
                    <a:pt x="14700" y="21464"/>
                  </a:cubicBezTo>
                  <a:cubicBezTo>
                    <a:pt x="14788" y="21500"/>
                    <a:pt x="14941" y="21544"/>
                    <a:pt x="15041" y="21559"/>
                  </a:cubicBezTo>
                  <a:cubicBezTo>
                    <a:pt x="15312" y="21600"/>
                    <a:pt x="16365" y="21600"/>
                    <a:pt x="16572" y="21559"/>
                  </a:cubicBezTo>
                  <a:cubicBezTo>
                    <a:pt x="16918" y="21490"/>
                    <a:pt x="17294" y="21385"/>
                    <a:pt x="17496" y="21298"/>
                  </a:cubicBezTo>
                  <a:cubicBezTo>
                    <a:pt x="17848" y="21146"/>
                    <a:pt x="18375" y="20841"/>
                    <a:pt x="18502" y="20718"/>
                  </a:cubicBezTo>
                  <a:cubicBezTo>
                    <a:pt x="18542" y="20680"/>
                    <a:pt x="18603" y="20638"/>
                    <a:pt x="18644" y="20624"/>
                  </a:cubicBezTo>
                  <a:cubicBezTo>
                    <a:pt x="18684" y="20609"/>
                    <a:pt x="18734" y="20571"/>
                    <a:pt x="18752" y="20541"/>
                  </a:cubicBezTo>
                  <a:cubicBezTo>
                    <a:pt x="18770" y="20510"/>
                    <a:pt x="18793" y="20483"/>
                    <a:pt x="18810" y="20481"/>
                  </a:cubicBezTo>
                  <a:cubicBezTo>
                    <a:pt x="18828" y="20480"/>
                    <a:pt x="18899" y="20426"/>
                    <a:pt x="18968" y="20351"/>
                  </a:cubicBezTo>
                  <a:cubicBezTo>
                    <a:pt x="19037" y="20276"/>
                    <a:pt x="19121" y="20194"/>
                    <a:pt x="19151" y="20174"/>
                  </a:cubicBezTo>
                  <a:cubicBezTo>
                    <a:pt x="19182" y="20154"/>
                    <a:pt x="19293" y="20046"/>
                    <a:pt x="19393" y="19925"/>
                  </a:cubicBezTo>
                  <a:cubicBezTo>
                    <a:pt x="19492" y="19804"/>
                    <a:pt x="19574" y="19700"/>
                    <a:pt x="19584" y="19700"/>
                  </a:cubicBezTo>
                  <a:cubicBezTo>
                    <a:pt x="19601" y="19700"/>
                    <a:pt x="20167" y="18907"/>
                    <a:pt x="20167" y="18883"/>
                  </a:cubicBezTo>
                  <a:cubicBezTo>
                    <a:pt x="20167" y="18877"/>
                    <a:pt x="20217" y="18805"/>
                    <a:pt x="20275" y="18717"/>
                  </a:cubicBezTo>
                  <a:cubicBezTo>
                    <a:pt x="20432" y="18477"/>
                    <a:pt x="20499" y="18343"/>
                    <a:pt x="20499" y="18303"/>
                  </a:cubicBezTo>
                  <a:cubicBezTo>
                    <a:pt x="20499" y="18283"/>
                    <a:pt x="20517" y="18268"/>
                    <a:pt x="20533" y="18268"/>
                  </a:cubicBezTo>
                  <a:cubicBezTo>
                    <a:pt x="20548" y="18268"/>
                    <a:pt x="20558" y="18241"/>
                    <a:pt x="20558" y="18208"/>
                  </a:cubicBezTo>
                  <a:cubicBezTo>
                    <a:pt x="20558" y="18176"/>
                    <a:pt x="20567" y="18149"/>
                    <a:pt x="20583" y="18149"/>
                  </a:cubicBezTo>
                  <a:cubicBezTo>
                    <a:pt x="20598" y="18149"/>
                    <a:pt x="20616" y="18119"/>
                    <a:pt x="20616" y="18078"/>
                  </a:cubicBezTo>
                  <a:cubicBezTo>
                    <a:pt x="20616" y="18037"/>
                    <a:pt x="20635" y="17996"/>
                    <a:pt x="20658" y="17983"/>
                  </a:cubicBezTo>
                  <a:cubicBezTo>
                    <a:pt x="20681" y="17971"/>
                    <a:pt x="20699" y="17934"/>
                    <a:pt x="20699" y="17901"/>
                  </a:cubicBezTo>
                  <a:cubicBezTo>
                    <a:pt x="20699" y="17867"/>
                    <a:pt x="20709" y="17830"/>
                    <a:pt x="20724" y="17830"/>
                  </a:cubicBezTo>
                  <a:cubicBezTo>
                    <a:pt x="20739" y="17830"/>
                    <a:pt x="20757" y="17804"/>
                    <a:pt x="20757" y="17770"/>
                  </a:cubicBezTo>
                  <a:cubicBezTo>
                    <a:pt x="20757" y="17737"/>
                    <a:pt x="20776" y="17700"/>
                    <a:pt x="20799" y="17687"/>
                  </a:cubicBezTo>
                  <a:cubicBezTo>
                    <a:pt x="20822" y="17675"/>
                    <a:pt x="20841" y="17642"/>
                    <a:pt x="20841" y="17616"/>
                  </a:cubicBezTo>
                  <a:cubicBezTo>
                    <a:pt x="20841" y="17547"/>
                    <a:pt x="20900" y="17356"/>
                    <a:pt x="20924" y="17356"/>
                  </a:cubicBezTo>
                  <a:cubicBezTo>
                    <a:pt x="20935" y="17356"/>
                    <a:pt x="20949" y="17339"/>
                    <a:pt x="20949" y="17309"/>
                  </a:cubicBezTo>
                  <a:cubicBezTo>
                    <a:pt x="20949" y="17279"/>
                    <a:pt x="20967" y="17229"/>
                    <a:pt x="20990" y="17202"/>
                  </a:cubicBezTo>
                  <a:cubicBezTo>
                    <a:pt x="21013" y="17175"/>
                    <a:pt x="21032" y="17099"/>
                    <a:pt x="21032" y="17036"/>
                  </a:cubicBezTo>
                  <a:cubicBezTo>
                    <a:pt x="21032" y="16974"/>
                    <a:pt x="21042" y="16918"/>
                    <a:pt x="21057" y="16918"/>
                  </a:cubicBezTo>
                  <a:cubicBezTo>
                    <a:pt x="21072" y="16918"/>
                    <a:pt x="21090" y="16888"/>
                    <a:pt x="21090" y="16847"/>
                  </a:cubicBezTo>
                  <a:cubicBezTo>
                    <a:pt x="21090" y="16806"/>
                    <a:pt x="21109" y="16765"/>
                    <a:pt x="21132" y="16752"/>
                  </a:cubicBezTo>
                  <a:cubicBezTo>
                    <a:pt x="21155" y="16740"/>
                    <a:pt x="21174" y="16689"/>
                    <a:pt x="21174" y="16646"/>
                  </a:cubicBezTo>
                  <a:cubicBezTo>
                    <a:pt x="21174" y="16603"/>
                    <a:pt x="21183" y="16564"/>
                    <a:pt x="21198" y="16551"/>
                  </a:cubicBezTo>
                  <a:cubicBezTo>
                    <a:pt x="21214" y="16537"/>
                    <a:pt x="21223" y="16487"/>
                    <a:pt x="21223" y="16444"/>
                  </a:cubicBezTo>
                  <a:cubicBezTo>
                    <a:pt x="21223" y="16367"/>
                    <a:pt x="21237" y="16346"/>
                    <a:pt x="21323" y="16101"/>
                  </a:cubicBezTo>
                  <a:cubicBezTo>
                    <a:pt x="21349" y="16028"/>
                    <a:pt x="21365" y="15915"/>
                    <a:pt x="21365" y="15852"/>
                  </a:cubicBezTo>
                  <a:cubicBezTo>
                    <a:pt x="21365" y="15790"/>
                    <a:pt x="21383" y="15724"/>
                    <a:pt x="21398" y="15710"/>
                  </a:cubicBezTo>
                  <a:cubicBezTo>
                    <a:pt x="21413" y="15697"/>
                    <a:pt x="21423" y="15616"/>
                    <a:pt x="21423" y="15521"/>
                  </a:cubicBezTo>
                  <a:cubicBezTo>
                    <a:pt x="21423" y="15425"/>
                    <a:pt x="21433" y="15333"/>
                    <a:pt x="21448" y="15320"/>
                  </a:cubicBezTo>
                  <a:cubicBezTo>
                    <a:pt x="21463" y="15306"/>
                    <a:pt x="21481" y="15209"/>
                    <a:pt x="21481" y="15107"/>
                  </a:cubicBezTo>
                  <a:cubicBezTo>
                    <a:pt x="21481" y="15004"/>
                    <a:pt x="21500" y="14873"/>
                    <a:pt x="21523" y="14811"/>
                  </a:cubicBezTo>
                  <a:cubicBezTo>
                    <a:pt x="21584" y="14644"/>
                    <a:pt x="21576" y="12345"/>
                    <a:pt x="21515" y="12230"/>
                  </a:cubicBezTo>
                  <a:cubicBezTo>
                    <a:pt x="21492" y="12187"/>
                    <a:pt x="21481" y="12074"/>
                    <a:pt x="21481" y="11981"/>
                  </a:cubicBezTo>
                  <a:cubicBezTo>
                    <a:pt x="21481" y="11888"/>
                    <a:pt x="21463" y="11805"/>
                    <a:pt x="21448" y="11792"/>
                  </a:cubicBezTo>
                  <a:cubicBezTo>
                    <a:pt x="21433" y="11778"/>
                    <a:pt x="21423" y="11700"/>
                    <a:pt x="21423" y="11614"/>
                  </a:cubicBezTo>
                  <a:cubicBezTo>
                    <a:pt x="21423" y="11528"/>
                    <a:pt x="21413" y="11448"/>
                    <a:pt x="21398" y="11448"/>
                  </a:cubicBezTo>
                  <a:cubicBezTo>
                    <a:pt x="21383" y="11448"/>
                    <a:pt x="21365" y="11405"/>
                    <a:pt x="21365" y="11342"/>
                  </a:cubicBezTo>
                  <a:cubicBezTo>
                    <a:pt x="21365" y="11278"/>
                    <a:pt x="21349" y="11166"/>
                    <a:pt x="21323" y="11093"/>
                  </a:cubicBezTo>
                  <a:cubicBezTo>
                    <a:pt x="21237" y="10849"/>
                    <a:pt x="21223" y="10816"/>
                    <a:pt x="21223" y="10738"/>
                  </a:cubicBezTo>
                  <a:cubicBezTo>
                    <a:pt x="21223" y="10695"/>
                    <a:pt x="21214" y="10657"/>
                    <a:pt x="21198" y="10643"/>
                  </a:cubicBezTo>
                  <a:cubicBezTo>
                    <a:pt x="21183" y="10630"/>
                    <a:pt x="21174" y="10565"/>
                    <a:pt x="21174" y="10501"/>
                  </a:cubicBezTo>
                  <a:cubicBezTo>
                    <a:pt x="21173" y="10437"/>
                    <a:pt x="21163" y="10383"/>
                    <a:pt x="21149" y="10383"/>
                  </a:cubicBezTo>
                  <a:cubicBezTo>
                    <a:pt x="21134" y="10383"/>
                    <a:pt x="21099" y="10311"/>
                    <a:pt x="21074" y="10229"/>
                  </a:cubicBezTo>
                  <a:cubicBezTo>
                    <a:pt x="20941" y="9807"/>
                    <a:pt x="20800" y="9436"/>
                    <a:pt x="20782" y="9436"/>
                  </a:cubicBezTo>
                  <a:cubicBezTo>
                    <a:pt x="20771" y="9436"/>
                    <a:pt x="20745" y="9370"/>
                    <a:pt x="20724" y="9294"/>
                  </a:cubicBezTo>
                  <a:cubicBezTo>
                    <a:pt x="20703" y="9217"/>
                    <a:pt x="20679" y="9152"/>
                    <a:pt x="20666" y="9152"/>
                  </a:cubicBezTo>
                  <a:cubicBezTo>
                    <a:pt x="20653" y="9152"/>
                    <a:pt x="20634" y="9130"/>
                    <a:pt x="20624" y="9092"/>
                  </a:cubicBezTo>
                  <a:cubicBezTo>
                    <a:pt x="20605" y="9021"/>
                    <a:pt x="20567" y="8950"/>
                    <a:pt x="20441" y="8749"/>
                  </a:cubicBezTo>
                  <a:cubicBezTo>
                    <a:pt x="20399" y="8681"/>
                    <a:pt x="20366" y="8602"/>
                    <a:pt x="20366" y="8583"/>
                  </a:cubicBezTo>
                  <a:cubicBezTo>
                    <a:pt x="20366" y="8565"/>
                    <a:pt x="20320" y="8501"/>
                    <a:pt x="20267" y="8429"/>
                  </a:cubicBezTo>
                  <a:cubicBezTo>
                    <a:pt x="20213" y="8357"/>
                    <a:pt x="20167" y="8278"/>
                    <a:pt x="20167" y="8264"/>
                  </a:cubicBezTo>
                  <a:cubicBezTo>
                    <a:pt x="20167" y="8233"/>
                    <a:pt x="19754" y="7651"/>
                    <a:pt x="19584" y="7447"/>
                  </a:cubicBezTo>
                  <a:cubicBezTo>
                    <a:pt x="19477" y="7317"/>
                    <a:pt x="19249" y="7090"/>
                    <a:pt x="19143" y="6997"/>
                  </a:cubicBezTo>
                  <a:cubicBezTo>
                    <a:pt x="19118" y="6975"/>
                    <a:pt x="19044" y="6896"/>
                    <a:pt x="18977" y="6831"/>
                  </a:cubicBezTo>
                  <a:cubicBezTo>
                    <a:pt x="18794" y="6655"/>
                    <a:pt x="18638" y="6534"/>
                    <a:pt x="18453" y="6393"/>
                  </a:cubicBezTo>
                  <a:cubicBezTo>
                    <a:pt x="18311" y="6286"/>
                    <a:pt x="18081" y="6144"/>
                    <a:pt x="18045" y="6144"/>
                  </a:cubicBezTo>
                  <a:cubicBezTo>
                    <a:pt x="18023" y="6144"/>
                    <a:pt x="17993" y="6129"/>
                    <a:pt x="17978" y="6109"/>
                  </a:cubicBezTo>
                  <a:cubicBezTo>
                    <a:pt x="17964" y="6088"/>
                    <a:pt x="17925" y="6061"/>
                    <a:pt x="17887" y="6050"/>
                  </a:cubicBezTo>
                  <a:cubicBezTo>
                    <a:pt x="17848" y="6038"/>
                    <a:pt x="17756" y="6003"/>
                    <a:pt x="17687" y="5967"/>
                  </a:cubicBezTo>
                  <a:cubicBezTo>
                    <a:pt x="17045" y="5629"/>
                    <a:pt x="16298" y="5488"/>
                    <a:pt x="15390" y="5552"/>
                  </a:cubicBezTo>
                  <a:cubicBezTo>
                    <a:pt x="14880" y="5589"/>
                    <a:pt x="14033" y="5885"/>
                    <a:pt x="13701" y="6133"/>
                  </a:cubicBezTo>
                  <a:cubicBezTo>
                    <a:pt x="13661" y="6163"/>
                    <a:pt x="13600" y="6180"/>
                    <a:pt x="13568" y="6180"/>
                  </a:cubicBezTo>
                  <a:cubicBezTo>
                    <a:pt x="13536" y="6180"/>
                    <a:pt x="13510" y="6206"/>
                    <a:pt x="13510" y="6227"/>
                  </a:cubicBezTo>
                  <a:cubicBezTo>
                    <a:pt x="13510" y="6249"/>
                    <a:pt x="13493" y="6263"/>
                    <a:pt x="13477" y="6263"/>
                  </a:cubicBezTo>
                  <a:cubicBezTo>
                    <a:pt x="13460" y="6263"/>
                    <a:pt x="13341" y="6328"/>
                    <a:pt x="13210" y="6417"/>
                  </a:cubicBezTo>
                  <a:cubicBezTo>
                    <a:pt x="12965" y="6582"/>
                    <a:pt x="12846" y="6605"/>
                    <a:pt x="12936" y="6464"/>
                  </a:cubicBezTo>
                  <a:cubicBezTo>
                    <a:pt x="12961" y="6425"/>
                    <a:pt x="12986" y="6370"/>
                    <a:pt x="12986" y="6346"/>
                  </a:cubicBezTo>
                  <a:cubicBezTo>
                    <a:pt x="12986" y="6322"/>
                    <a:pt x="13023" y="6237"/>
                    <a:pt x="13077" y="6156"/>
                  </a:cubicBezTo>
                  <a:cubicBezTo>
                    <a:pt x="13131" y="6075"/>
                    <a:pt x="13177" y="6004"/>
                    <a:pt x="13177" y="5991"/>
                  </a:cubicBezTo>
                  <a:cubicBezTo>
                    <a:pt x="13177" y="5977"/>
                    <a:pt x="13205" y="5939"/>
                    <a:pt x="13235" y="5908"/>
                  </a:cubicBezTo>
                  <a:cubicBezTo>
                    <a:pt x="13266" y="5876"/>
                    <a:pt x="13285" y="5830"/>
                    <a:pt x="13285" y="5801"/>
                  </a:cubicBezTo>
                  <a:cubicBezTo>
                    <a:pt x="13285" y="5773"/>
                    <a:pt x="13304" y="5731"/>
                    <a:pt x="13327" y="5718"/>
                  </a:cubicBezTo>
                  <a:cubicBezTo>
                    <a:pt x="13350" y="5706"/>
                    <a:pt x="13368" y="5674"/>
                    <a:pt x="13368" y="5647"/>
                  </a:cubicBezTo>
                  <a:cubicBezTo>
                    <a:pt x="13368" y="5621"/>
                    <a:pt x="13405" y="5556"/>
                    <a:pt x="13443" y="5505"/>
                  </a:cubicBezTo>
                  <a:cubicBezTo>
                    <a:pt x="13482" y="5454"/>
                    <a:pt x="13510" y="5406"/>
                    <a:pt x="13510" y="5387"/>
                  </a:cubicBezTo>
                  <a:cubicBezTo>
                    <a:pt x="13510" y="5368"/>
                    <a:pt x="13537" y="5303"/>
                    <a:pt x="13568" y="5257"/>
                  </a:cubicBezTo>
                  <a:cubicBezTo>
                    <a:pt x="13599" y="5210"/>
                    <a:pt x="13626" y="5150"/>
                    <a:pt x="13626" y="5114"/>
                  </a:cubicBezTo>
                  <a:cubicBezTo>
                    <a:pt x="13626" y="5079"/>
                    <a:pt x="13637" y="5015"/>
                    <a:pt x="13660" y="4972"/>
                  </a:cubicBezTo>
                  <a:cubicBezTo>
                    <a:pt x="13704" y="4890"/>
                    <a:pt x="13726" y="4321"/>
                    <a:pt x="13685" y="4321"/>
                  </a:cubicBezTo>
                  <a:cubicBezTo>
                    <a:pt x="13672" y="4321"/>
                    <a:pt x="13636" y="4232"/>
                    <a:pt x="13601" y="4120"/>
                  </a:cubicBezTo>
                  <a:cubicBezTo>
                    <a:pt x="13552" y="3961"/>
                    <a:pt x="13431" y="3756"/>
                    <a:pt x="13052" y="3220"/>
                  </a:cubicBezTo>
                  <a:cubicBezTo>
                    <a:pt x="12785" y="2842"/>
                    <a:pt x="12561" y="2529"/>
                    <a:pt x="12561" y="2522"/>
                  </a:cubicBezTo>
                  <a:cubicBezTo>
                    <a:pt x="12561" y="2495"/>
                    <a:pt x="12273" y="2093"/>
                    <a:pt x="12162" y="1965"/>
                  </a:cubicBezTo>
                  <a:cubicBezTo>
                    <a:pt x="12050" y="1837"/>
                    <a:pt x="11815" y="1705"/>
                    <a:pt x="11696" y="1705"/>
                  </a:cubicBezTo>
                  <a:cubicBezTo>
                    <a:pt x="11611" y="1705"/>
                    <a:pt x="11248" y="1824"/>
                    <a:pt x="11230" y="1859"/>
                  </a:cubicBezTo>
                  <a:cubicBezTo>
                    <a:pt x="11222" y="1874"/>
                    <a:pt x="11176" y="1919"/>
                    <a:pt x="11130" y="1953"/>
                  </a:cubicBezTo>
                  <a:cubicBezTo>
                    <a:pt x="11084" y="1987"/>
                    <a:pt x="10998" y="2077"/>
                    <a:pt x="10939" y="2155"/>
                  </a:cubicBezTo>
                  <a:cubicBezTo>
                    <a:pt x="10879" y="2233"/>
                    <a:pt x="10828" y="2297"/>
                    <a:pt x="10822" y="2297"/>
                  </a:cubicBezTo>
                  <a:cubicBezTo>
                    <a:pt x="10811" y="2297"/>
                    <a:pt x="10729" y="2387"/>
                    <a:pt x="10614" y="2534"/>
                  </a:cubicBezTo>
                  <a:cubicBezTo>
                    <a:pt x="10481" y="2703"/>
                    <a:pt x="10417" y="2770"/>
                    <a:pt x="10398" y="2770"/>
                  </a:cubicBezTo>
                  <a:cubicBezTo>
                    <a:pt x="10388" y="2770"/>
                    <a:pt x="10358" y="2807"/>
                    <a:pt x="10331" y="2841"/>
                  </a:cubicBezTo>
                  <a:cubicBezTo>
                    <a:pt x="10288" y="2897"/>
                    <a:pt x="10272" y="2893"/>
                    <a:pt x="10190" y="2841"/>
                  </a:cubicBezTo>
                  <a:cubicBezTo>
                    <a:pt x="9893" y="2657"/>
                    <a:pt x="9754" y="2581"/>
                    <a:pt x="9732" y="2581"/>
                  </a:cubicBezTo>
                  <a:cubicBezTo>
                    <a:pt x="9719" y="2581"/>
                    <a:pt x="9679" y="2551"/>
                    <a:pt x="9641" y="2522"/>
                  </a:cubicBezTo>
                  <a:cubicBezTo>
                    <a:pt x="9602" y="2493"/>
                    <a:pt x="9525" y="2453"/>
                    <a:pt x="9474" y="2439"/>
                  </a:cubicBezTo>
                  <a:cubicBezTo>
                    <a:pt x="9353" y="2404"/>
                    <a:pt x="9309" y="2313"/>
                    <a:pt x="9308" y="2107"/>
                  </a:cubicBezTo>
                  <a:cubicBezTo>
                    <a:pt x="9307" y="2016"/>
                    <a:pt x="9290" y="1931"/>
                    <a:pt x="9274" y="1918"/>
                  </a:cubicBezTo>
                  <a:cubicBezTo>
                    <a:pt x="9259" y="1904"/>
                    <a:pt x="9250" y="1792"/>
                    <a:pt x="9249" y="1657"/>
                  </a:cubicBezTo>
                  <a:cubicBezTo>
                    <a:pt x="9249" y="1505"/>
                    <a:pt x="9233" y="1374"/>
                    <a:pt x="9208" y="1326"/>
                  </a:cubicBezTo>
                  <a:cubicBezTo>
                    <a:pt x="9185" y="1284"/>
                    <a:pt x="9166" y="1182"/>
                    <a:pt x="9166" y="1089"/>
                  </a:cubicBezTo>
                  <a:cubicBezTo>
                    <a:pt x="9166" y="997"/>
                    <a:pt x="9157" y="901"/>
                    <a:pt x="9141" y="888"/>
                  </a:cubicBezTo>
                  <a:cubicBezTo>
                    <a:pt x="9126" y="874"/>
                    <a:pt x="9108" y="837"/>
                    <a:pt x="9108" y="793"/>
                  </a:cubicBezTo>
                  <a:cubicBezTo>
                    <a:pt x="9108" y="667"/>
                    <a:pt x="8940" y="354"/>
                    <a:pt x="8792" y="213"/>
                  </a:cubicBezTo>
                  <a:cubicBezTo>
                    <a:pt x="8581" y="13"/>
                    <a:pt x="8512" y="0"/>
                    <a:pt x="7602" y="0"/>
                  </a:cubicBezTo>
                  <a:close/>
                  <a:moveTo>
                    <a:pt x="7510" y="6381"/>
                  </a:moveTo>
                  <a:cubicBezTo>
                    <a:pt x="7609" y="6376"/>
                    <a:pt x="7687" y="6389"/>
                    <a:pt x="7727" y="6417"/>
                  </a:cubicBezTo>
                  <a:cubicBezTo>
                    <a:pt x="7759" y="6439"/>
                    <a:pt x="7868" y="6465"/>
                    <a:pt x="7968" y="6476"/>
                  </a:cubicBezTo>
                  <a:cubicBezTo>
                    <a:pt x="8160" y="6497"/>
                    <a:pt x="8384" y="6580"/>
                    <a:pt x="8384" y="6630"/>
                  </a:cubicBezTo>
                  <a:cubicBezTo>
                    <a:pt x="8384" y="6646"/>
                    <a:pt x="8416" y="6665"/>
                    <a:pt x="8451" y="6665"/>
                  </a:cubicBezTo>
                  <a:cubicBezTo>
                    <a:pt x="8485" y="6666"/>
                    <a:pt x="8564" y="6694"/>
                    <a:pt x="8625" y="6736"/>
                  </a:cubicBezTo>
                  <a:cubicBezTo>
                    <a:pt x="8687" y="6778"/>
                    <a:pt x="8739" y="6819"/>
                    <a:pt x="8750" y="6819"/>
                  </a:cubicBezTo>
                  <a:cubicBezTo>
                    <a:pt x="8768" y="6820"/>
                    <a:pt x="8951" y="6971"/>
                    <a:pt x="9016" y="7044"/>
                  </a:cubicBezTo>
                  <a:cubicBezTo>
                    <a:pt x="9032" y="7061"/>
                    <a:pt x="9107" y="7143"/>
                    <a:pt x="9191" y="7222"/>
                  </a:cubicBezTo>
                  <a:cubicBezTo>
                    <a:pt x="9430" y="7446"/>
                    <a:pt x="9807" y="7994"/>
                    <a:pt x="9807" y="8122"/>
                  </a:cubicBezTo>
                  <a:cubicBezTo>
                    <a:pt x="9807" y="8145"/>
                    <a:pt x="9835" y="8189"/>
                    <a:pt x="9865" y="8216"/>
                  </a:cubicBezTo>
                  <a:cubicBezTo>
                    <a:pt x="9896" y="8243"/>
                    <a:pt x="9915" y="8282"/>
                    <a:pt x="9915" y="8299"/>
                  </a:cubicBezTo>
                  <a:cubicBezTo>
                    <a:pt x="9915" y="8316"/>
                    <a:pt x="9952" y="8390"/>
                    <a:pt x="9990" y="8477"/>
                  </a:cubicBezTo>
                  <a:cubicBezTo>
                    <a:pt x="10028" y="8563"/>
                    <a:pt x="10057" y="8659"/>
                    <a:pt x="10057" y="8690"/>
                  </a:cubicBezTo>
                  <a:cubicBezTo>
                    <a:pt x="10057" y="8720"/>
                    <a:pt x="10075" y="8769"/>
                    <a:pt x="10098" y="8796"/>
                  </a:cubicBezTo>
                  <a:cubicBezTo>
                    <a:pt x="10121" y="8823"/>
                    <a:pt x="10140" y="8886"/>
                    <a:pt x="10140" y="8927"/>
                  </a:cubicBezTo>
                  <a:cubicBezTo>
                    <a:pt x="10140" y="8968"/>
                    <a:pt x="10149" y="8998"/>
                    <a:pt x="10165" y="8998"/>
                  </a:cubicBezTo>
                  <a:cubicBezTo>
                    <a:pt x="10180" y="8998"/>
                    <a:pt x="10198" y="9053"/>
                    <a:pt x="10198" y="9128"/>
                  </a:cubicBezTo>
                  <a:cubicBezTo>
                    <a:pt x="10198" y="9203"/>
                    <a:pt x="10208" y="9280"/>
                    <a:pt x="10223" y="9294"/>
                  </a:cubicBezTo>
                  <a:cubicBezTo>
                    <a:pt x="10238" y="9307"/>
                    <a:pt x="10248" y="9361"/>
                    <a:pt x="10248" y="9412"/>
                  </a:cubicBezTo>
                  <a:cubicBezTo>
                    <a:pt x="10248" y="9463"/>
                    <a:pt x="10267" y="9527"/>
                    <a:pt x="10290" y="9554"/>
                  </a:cubicBezTo>
                  <a:cubicBezTo>
                    <a:pt x="10322" y="9592"/>
                    <a:pt x="10339" y="9692"/>
                    <a:pt x="10339" y="9992"/>
                  </a:cubicBezTo>
                  <a:cubicBezTo>
                    <a:pt x="10339" y="10227"/>
                    <a:pt x="10348" y="10383"/>
                    <a:pt x="10364" y="10383"/>
                  </a:cubicBezTo>
                  <a:cubicBezTo>
                    <a:pt x="10380" y="10383"/>
                    <a:pt x="10389" y="10499"/>
                    <a:pt x="10389" y="10643"/>
                  </a:cubicBezTo>
                  <a:cubicBezTo>
                    <a:pt x="10389" y="10784"/>
                    <a:pt x="10380" y="10902"/>
                    <a:pt x="10364" y="10916"/>
                  </a:cubicBezTo>
                  <a:cubicBezTo>
                    <a:pt x="10349" y="10929"/>
                    <a:pt x="10339" y="11088"/>
                    <a:pt x="10339" y="11259"/>
                  </a:cubicBezTo>
                  <a:cubicBezTo>
                    <a:pt x="10339" y="11486"/>
                    <a:pt x="10320" y="11578"/>
                    <a:pt x="10290" y="11614"/>
                  </a:cubicBezTo>
                  <a:cubicBezTo>
                    <a:pt x="10267" y="11641"/>
                    <a:pt x="10248" y="11704"/>
                    <a:pt x="10248" y="11756"/>
                  </a:cubicBezTo>
                  <a:cubicBezTo>
                    <a:pt x="10248" y="11808"/>
                    <a:pt x="10241" y="11897"/>
                    <a:pt x="10223" y="11946"/>
                  </a:cubicBezTo>
                  <a:cubicBezTo>
                    <a:pt x="10163" y="12110"/>
                    <a:pt x="10151" y="12149"/>
                    <a:pt x="10131" y="12277"/>
                  </a:cubicBezTo>
                  <a:cubicBezTo>
                    <a:pt x="10121" y="12347"/>
                    <a:pt x="10096" y="12407"/>
                    <a:pt x="10082" y="12407"/>
                  </a:cubicBezTo>
                  <a:cubicBezTo>
                    <a:pt x="10067" y="12407"/>
                    <a:pt x="10057" y="12433"/>
                    <a:pt x="10057" y="12466"/>
                  </a:cubicBezTo>
                  <a:cubicBezTo>
                    <a:pt x="10057" y="12542"/>
                    <a:pt x="9994" y="12697"/>
                    <a:pt x="9948" y="12739"/>
                  </a:cubicBezTo>
                  <a:cubicBezTo>
                    <a:pt x="9929" y="12756"/>
                    <a:pt x="9915" y="12790"/>
                    <a:pt x="9915" y="12822"/>
                  </a:cubicBezTo>
                  <a:cubicBezTo>
                    <a:pt x="9915" y="12853"/>
                    <a:pt x="9905" y="12881"/>
                    <a:pt x="9890" y="12881"/>
                  </a:cubicBezTo>
                  <a:cubicBezTo>
                    <a:pt x="9875" y="12881"/>
                    <a:pt x="9865" y="12901"/>
                    <a:pt x="9865" y="12928"/>
                  </a:cubicBezTo>
                  <a:cubicBezTo>
                    <a:pt x="9865" y="12955"/>
                    <a:pt x="9824" y="13038"/>
                    <a:pt x="9782" y="13106"/>
                  </a:cubicBezTo>
                  <a:cubicBezTo>
                    <a:pt x="9740" y="13174"/>
                    <a:pt x="9670" y="13296"/>
                    <a:pt x="9624" y="13378"/>
                  </a:cubicBezTo>
                  <a:cubicBezTo>
                    <a:pt x="9514" y="13574"/>
                    <a:pt x="9364" y="13788"/>
                    <a:pt x="9266" y="13887"/>
                  </a:cubicBezTo>
                  <a:cubicBezTo>
                    <a:pt x="9223" y="13931"/>
                    <a:pt x="9148" y="14027"/>
                    <a:pt x="9100" y="14088"/>
                  </a:cubicBezTo>
                  <a:cubicBezTo>
                    <a:pt x="8993" y="14226"/>
                    <a:pt x="8469" y="14586"/>
                    <a:pt x="8376" y="14586"/>
                  </a:cubicBezTo>
                  <a:cubicBezTo>
                    <a:pt x="8339" y="14586"/>
                    <a:pt x="8294" y="14599"/>
                    <a:pt x="8284" y="14621"/>
                  </a:cubicBezTo>
                  <a:cubicBezTo>
                    <a:pt x="8275" y="14643"/>
                    <a:pt x="8237" y="14668"/>
                    <a:pt x="8193" y="14668"/>
                  </a:cubicBezTo>
                  <a:cubicBezTo>
                    <a:pt x="8149" y="14668"/>
                    <a:pt x="8078" y="14673"/>
                    <a:pt x="8043" y="14692"/>
                  </a:cubicBezTo>
                  <a:cubicBezTo>
                    <a:pt x="7867" y="14785"/>
                    <a:pt x="7153" y="14774"/>
                    <a:pt x="6895" y="14668"/>
                  </a:cubicBezTo>
                  <a:cubicBezTo>
                    <a:pt x="6833" y="14644"/>
                    <a:pt x="6736" y="14606"/>
                    <a:pt x="6678" y="14586"/>
                  </a:cubicBezTo>
                  <a:cubicBezTo>
                    <a:pt x="6620" y="14565"/>
                    <a:pt x="6555" y="14524"/>
                    <a:pt x="6528" y="14503"/>
                  </a:cubicBezTo>
                  <a:cubicBezTo>
                    <a:pt x="6502" y="14482"/>
                    <a:pt x="6395" y="14414"/>
                    <a:pt x="6295" y="14349"/>
                  </a:cubicBezTo>
                  <a:cubicBezTo>
                    <a:pt x="6196" y="14283"/>
                    <a:pt x="6057" y="14164"/>
                    <a:pt x="5988" y="14088"/>
                  </a:cubicBezTo>
                  <a:cubicBezTo>
                    <a:pt x="5919" y="14013"/>
                    <a:pt x="5854" y="13960"/>
                    <a:pt x="5838" y="13958"/>
                  </a:cubicBezTo>
                  <a:cubicBezTo>
                    <a:pt x="5802" y="13955"/>
                    <a:pt x="5462" y="13475"/>
                    <a:pt x="5314" y="13224"/>
                  </a:cubicBezTo>
                  <a:cubicBezTo>
                    <a:pt x="5213" y="13054"/>
                    <a:pt x="5154" y="12941"/>
                    <a:pt x="5106" y="12798"/>
                  </a:cubicBezTo>
                  <a:cubicBezTo>
                    <a:pt x="5095" y="12765"/>
                    <a:pt x="5081" y="12738"/>
                    <a:pt x="5072" y="12727"/>
                  </a:cubicBezTo>
                  <a:cubicBezTo>
                    <a:pt x="5039" y="12686"/>
                    <a:pt x="4989" y="12524"/>
                    <a:pt x="4989" y="12466"/>
                  </a:cubicBezTo>
                  <a:cubicBezTo>
                    <a:pt x="4989" y="12433"/>
                    <a:pt x="4977" y="12407"/>
                    <a:pt x="4964" y="12407"/>
                  </a:cubicBezTo>
                  <a:cubicBezTo>
                    <a:pt x="4933" y="12407"/>
                    <a:pt x="4848" y="12146"/>
                    <a:pt x="4848" y="12052"/>
                  </a:cubicBezTo>
                  <a:cubicBezTo>
                    <a:pt x="4848" y="12011"/>
                    <a:pt x="4838" y="11959"/>
                    <a:pt x="4823" y="11946"/>
                  </a:cubicBezTo>
                  <a:cubicBezTo>
                    <a:pt x="4807" y="11932"/>
                    <a:pt x="4789" y="11867"/>
                    <a:pt x="4789" y="11792"/>
                  </a:cubicBezTo>
                  <a:cubicBezTo>
                    <a:pt x="4789" y="11706"/>
                    <a:pt x="4774" y="11640"/>
                    <a:pt x="4748" y="11626"/>
                  </a:cubicBezTo>
                  <a:cubicBezTo>
                    <a:pt x="4721" y="11611"/>
                    <a:pt x="4706" y="11547"/>
                    <a:pt x="4706" y="11448"/>
                  </a:cubicBezTo>
                  <a:cubicBezTo>
                    <a:pt x="4706" y="11365"/>
                    <a:pt x="4696" y="11284"/>
                    <a:pt x="4681" y="11271"/>
                  </a:cubicBezTo>
                  <a:cubicBezTo>
                    <a:pt x="4665" y="11256"/>
                    <a:pt x="4656" y="11006"/>
                    <a:pt x="4656" y="10655"/>
                  </a:cubicBezTo>
                  <a:cubicBezTo>
                    <a:pt x="4656" y="10305"/>
                    <a:pt x="4665" y="10066"/>
                    <a:pt x="4681" y="10051"/>
                  </a:cubicBezTo>
                  <a:cubicBezTo>
                    <a:pt x="4696" y="10038"/>
                    <a:pt x="4706" y="9930"/>
                    <a:pt x="4706" y="9815"/>
                  </a:cubicBezTo>
                  <a:cubicBezTo>
                    <a:pt x="4706" y="9676"/>
                    <a:pt x="4720" y="9587"/>
                    <a:pt x="4748" y="9554"/>
                  </a:cubicBezTo>
                  <a:cubicBezTo>
                    <a:pt x="4771" y="9527"/>
                    <a:pt x="4789" y="9465"/>
                    <a:pt x="4789" y="9424"/>
                  </a:cubicBezTo>
                  <a:cubicBezTo>
                    <a:pt x="4789" y="9383"/>
                    <a:pt x="4800" y="9320"/>
                    <a:pt x="4814" y="9282"/>
                  </a:cubicBezTo>
                  <a:cubicBezTo>
                    <a:pt x="4828" y="9244"/>
                    <a:pt x="4861" y="9131"/>
                    <a:pt x="4881" y="9033"/>
                  </a:cubicBezTo>
                  <a:cubicBezTo>
                    <a:pt x="4900" y="8935"/>
                    <a:pt x="4927" y="8831"/>
                    <a:pt x="4947" y="8796"/>
                  </a:cubicBezTo>
                  <a:cubicBezTo>
                    <a:pt x="4968" y="8762"/>
                    <a:pt x="4989" y="8716"/>
                    <a:pt x="4989" y="8690"/>
                  </a:cubicBezTo>
                  <a:cubicBezTo>
                    <a:pt x="4989" y="8640"/>
                    <a:pt x="5043" y="8494"/>
                    <a:pt x="5089" y="8418"/>
                  </a:cubicBezTo>
                  <a:cubicBezTo>
                    <a:pt x="5104" y="8392"/>
                    <a:pt x="5132" y="8326"/>
                    <a:pt x="5155" y="8275"/>
                  </a:cubicBezTo>
                  <a:cubicBezTo>
                    <a:pt x="5178" y="8225"/>
                    <a:pt x="5221" y="8149"/>
                    <a:pt x="5255" y="8098"/>
                  </a:cubicBezTo>
                  <a:cubicBezTo>
                    <a:pt x="5290" y="8047"/>
                    <a:pt x="5322" y="7979"/>
                    <a:pt x="5322" y="7956"/>
                  </a:cubicBezTo>
                  <a:cubicBezTo>
                    <a:pt x="5322" y="7850"/>
                    <a:pt x="5880" y="7139"/>
                    <a:pt x="5963" y="7139"/>
                  </a:cubicBezTo>
                  <a:cubicBezTo>
                    <a:pt x="5977" y="7139"/>
                    <a:pt x="5988" y="7122"/>
                    <a:pt x="5988" y="7103"/>
                  </a:cubicBezTo>
                  <a:cubicBezTo>
                    <a:pt x="5988" y="7085"/>
                    <a:pt x="6034" y="7038"/>
                    <a:pt x="6087" y="6997"/>
                  </a:cubicBezTo>
                  <a:cubicBezTo>
                    <a:pt x="6141" y="6956"/>
                    <a:pt x="6187" y="6904"/>
                    <a:pt x="6187" y="6890"/>
                  </a:cubicBezTo>
                  <a:cubicBezTo>
                    <a:pt x="6187" y="6876"/>
                    <a:pt x="6229" y="6846"/>
                    <a:pt x="6279" y="6819"/>
                  </a:cubicBezTo>
                  <a:cubicBezTo>
                    <a:pt x="6329" y="6793"/>
                    <a:pt x="6390" y="6755"/>
                    <a:pt x="6420" y="6736"/>
                  </a:cubicBezTo>
                  <a:cubicBezTo>
                    <a:pt x="6723" y="6550"/>
                    <a:pt x="7215" y="6398"/>
                    <a:pt x="7510" y="6381"/>
                  </a:cubicBezTo>
                  <a:close/>
                </a:path>
              </a:pathLst>
            </a:custGeom>
            <a:ln w="12700" cap="flat">
              <a:noFill/>
              <a:miter lim="400000"/>
            </a:ln>
            <a:effectLst/>
          </p:spPr>
        </p:pic>
        <p:pic>
          <p:nvPicPr>
            <p:cNvPr id="354" name="9d6ed4e6-f024-4b82-a319-6c75fd0f3174.png" descr="9d6ed4e6-f024-4b82-a319-6c75fd0f3174.png"/>
            <p:cNvPicPr>
              <a:picLocks noChangeAspect="1"/>
            </p:cNvPicPr>
            <p:nvPr/>
          </p:nvPicPr>
          <p:blipFill>
            <a:blip r:embed="rId3"/>
            <a:srcRect l="17886" t="12377" r="18862" b="20862"/>
            <a:stretch>
              <a:fillRect/>
            </a:stretch>
          </p:blipFill>
          <p:spPr>
            <a:xfrm>
              <a:off x="7242329" y="549128"/>
              <a:ext cx="1028560" cy="723746"/>
            </a:xfrm>
            <a:custGeom>
              <a:avLst/>
              <a:gdLst/>
              <a:ahLst/>
              <a:cxnLst>
                <a:cxn ang="0">
                  <a:pos x="wd2" y="hd2"/>
                </a:cxn>
                <a:cxn ang="5400000">
                  <a:pos x="wd2" y="hd2"/>
                </a:cxn>
                <a:cxn ang="10800000">
                  <a:pos x="wd2" y="hd2"/>
                </a:cxn>
                <a:cxn ang="16200000">
                  <a:pos x="wd2" y="hd2"/>
                </a:cxn>
              </a:cxnLst>
              <a:rect l="0" t="0" r="r" b="b"/>
              <a:pathLst>
                <a:path w="21565" h="21590" extrusionOk="0">
                  <a:moveTo>
                    <a:pt x="7602" y="0"/>
                  </a:moveTo>
                  <a:cubicBezTo>
                    <a:pt x="7132" y="0"/>
                    <a:pt x="6736" y="17"/>
                    <a:pt x="6728" y="36"/>
                  </a:cubicBezTo>
                  <a:cubicBezTo>
                    <a:pt x="6720" y="54"/>
                    <a:pt x="6630" y="80"/>
                    <a:pt x="6528" y="95"/>
                  </a:cubicBezTo>
                  <a:cubicBezTo>
                    <a:pt x="6390" y="115"/>
                    <a:pt x="6321" y="144"/>
                    <a:pt x="6246" y="225"/>
                  </a:cubicBezTo>
                  <a:cubicBezTo>
                    <a:pt x="6116" y="364"/>
                    <a:pt x="5989" y="564"/>
                    <a:pt x="5988" y="627"/>
                  </a:cubicBezTo>
                  <a:cubicBezTo>
                    <a:pt x="5987" y="655"/>
                    <a:pt x="5978" y="714"/>
                    <a:pt x="5963" y="758"/>
                  </a:cubicBezTo>
                  <a:cubicBezTo>
                    <a:pt x="5947" y="801"/>
                    <a:pt x="5920" y="868"/>
                    <a:pt x="5904" y="912"/>
                  </a:cubicBezTo>
                  <a:cubicBezTo>
                    <a:pt x="5889" y="955"/>
                    <a:pt x="5879" y="1053"/>
                    <a:pt x="5879" y="1137"/>
                  </a:cubicBezTo>
                  <a:cubicBezTo>
                    <a:pt x="5879" y="1220"/>
                    <a:pt x="5860" y="1331"/>
                    <a:pt x="5838" y="1373"/>
                  </a:cubicBezTo>
                  <a:cubicBezTo>
                    <a:pt x="5810" y="1426"/>
                    <a:pt x="5797" y="1553"/>
                    <a:pt x="5796" y="1776"/>
                  </a:cubicBezTo>
                  <a:cubicBezTo>
                    <a:pt x="5796" y="1954"/>
                    <a:pt x="5787" y="2106"/>
                    <a:pt x="5771" y="2119"/>
                  </a:cubicBezTo>
                  <a:cubicBezTo>
                    <a:pt x="5756" y="2133"/>
                    <a:pt x="5738" y="2180"/>
                    <a:pt x="5738" y="2226"/>
                  </a:cubicBezTo>
                  <a:cubicBezTo>
                    <a:pt x="5738" y="2340"/>
                    <a:pt x="5659" y="2463"/>
                    <a:pt x="5580" y="2463"/>
                  </a:cubicBezTo>
                  <a:cubicBezTo>
                    <a:pt x="5544" y="2463"/>
                    <a:pt x="5471" y="2490"/>
                    <a:pt x="5413" y="2534"/>
                  </a:cubicBezTo>
                  <a:cubicBezTo>
                    <a:pt x="5356" y="2577"/>
                    <a:pt x="5292" y="2616"/>
                    <a:pt x="5272" y="2616"/>
                  </a:cubicBezTo>
                  <a:cubicBezTo>
                    <a:pt x="5252" y="2616"/>
                    <a:pt x="5186" y="2648"/>
                    <a:pt x="5122" y="2687"/>
                  </a:cubicBezTo>
                  <a:cubicBezTo>
                    <a:pt x="5058" y="2727"/>
                    <a:pt x="4946" y="2790"/>
                    <a:pt x="4881" y="2830"/>
                  </a:cubicBezTo>
                  <a:lnTo>
                    <a:pt x="4764" y="2901"/>
                  </a:lnTo>
                  <a:lnTo>
                    <a:pt x="4665" y="2806"/>
                  </a:lnTo>
                  <a:cubicBezTo>
                    <a:pt x="4607" y="2750"/>
                    <a:pt x="4522" y="2655"/>
                    <a:pt x="4481" y="2605"/>
                  </a:cubicBezTo>
                  <a:cubicBezTo>
                    <a:pt x="4441" y="2554"/>
                    <a:pt x="4376" y="2481"/>
                    <a:pt x="4340" y="2439"/>
                  </a:cubicBezTo>
                  <a:cubicBezTo>
                    <a:pt x="4304" y="2397"/>
                    <a:pt x="4209" y="2272"/>
                    <a:pt x="4124" y="2167"/>
                  </a:cubicBezTo>
                  <a:cubicBezTo>
                    <a:pt x="4038" y="2061"/>
                    <a:pt x="3961" y="1977"/>
                    <a:pt x="3949" y="1977"/>
                  </a:cubicBezTo>
                  <a:cubicBezTo>
                    <a:pt x="3937" y="1977"/>
                    <a:pt x="3881" y="1943"/>
                    <a:pt x="3832" y="1894"/>
                  </a:cubicBezTo>
                  <a:cubicBezTo>
                    <a:pt x="3753" y="1813"/>
                    <a:pt x="3718" y="1800"/>
                    <a:pt x="3408" y="1800"/>
                  </a:cubicBezTo>
                  <a:cubicBezTo>
                    <a:pt x="3188" y="1800"/>
                    <a:pt x="3055" y="1819"/>
                    <a:pt x="3042" y="1847"/>
                  </a:cubicBezTo>
                  <a:cubicBezTo>
                    <a:pt x="3031" y="1871"/>
                    <a:pt x="2988" y="1919"/>
                    <a:pt x="2942" y="1953"/>
                  </a:cubicBezTo>
                  <a:cubicBezTo>
                    <a:pt x="2896" y="1987"/>
                    <a:pt x="2810" y="2077"/>
                    <a:pt x="2751" y="2155"/>
                  </a:cubicBezTo>
                  <a:cubicBezTo>
                    <a:pt x="2691" y="2233"/>
                    <a:pt x="2639" y="2297"/>
                    <a:pt x="2634" y="2297"/>
                  </a:cubicBezTo>
                  <a:cubicBezTo>
                    <a:pt x="2614" y="2297"/>
                    <a:pt x="1539" y="3848"/>
                    <a:pt x="1469" y="3978"/>
                  </a:cubicBezTo>
                  <a:cubicBezTo>
                    <a:pt x="1427" y="4056"/>
                    <a:pt x="1394" y="4146"/>
                    <a:pt x="1394" y="4179"/>
                  </a:cubicBezTo>
                  <a:cubicBezTo>
                    <a:pt x="1394" y="4212"/>
                    <a:pt x="1385" y="4249"/>
                    <a:pt x="1369" y="4262"/>
                  </a:cubicBezTo>
                  <a:cubicBezTo>
                    <a:pt x="1354" y="4276"/>
                    <a:pt x="1336" y="4434"/>
                    <a:pt x="1336" y="4617"/>
                  </a:cubicBezTo>
                  <a:cubicBezTo>
                    <a:pt x="1336" y="4800"/>
                    <a:pt x="1354" y="4959"/>
                    <a:pt x="1369" y="4972"/>
                  </a:cubicBezTo>
                  <a:cubicBezTo>
                    <a:pt x="1385" y="4986"/>
                    <a:pt x="1394" y="5023"/>
                    <a:pt x="1394" y="5055"/>
                  </a:cubicBezTo>
                  <a:cubicBezTo>
                    <a:pt x="1394" y="5115"/>
                    <a:pt x="1611" y="5552"/>
                    <a:pt x="1652" y="5576"/>
                  </a:cubicBezTo>
                  <a:cubicBezTo>
                    <a:pt x="1665" y="5583"/>
                    <a:pt x="1669" y="5616"/>
                    <a:pt x="1669" y="5647"/>
                  </a:cubicBezTo>
                  <a:cubicBezTo>
                    <a:pt x="1669" y="5678"/>
                    <a:pt x="1687" y="5706"/>
                    <a:pt x="1702" y="5706"/>
                  </a:cubicBezTo>
                  <a:cubicBezTo>
                    <a:pt x="1718" y="5706"/>
                    <a:pt x="1727" y="5734"/>
                    <a:pt x="1727" y="5766"/>
                  </a:cubicBezTo>
                  <a:cubicBezTo>
                    <a:pt x="1727" y="5797"/>
                    <a:pt x="1741" y="5831"/>
                    <a:pt x="1760" y="5848"/>
                  </a:cubicBezTo>
                  <a:cubicBezTo>
                    <a:pt x="1780" y="5866"/>
                    <a:pt x="1832" y="5963"/>
                    <a:pt x="1877" y="6050"/>
                  </a:cubicBezTo>
                  <a:cubicBezTo>
                    <a:pt x="1922" y="6137"/>
                    <a:pt x="1973" y="6208"/>
                    <a:pt x="1985" y="6215"/>
                  </a:cubicBezTo>
                  <a:cubicBezTo>
                    <a:pt x="1997" y="6223"/>
                    <a:pt x="2010" y="6257"/>
                    <a:pt x="2010" y="6286"/>
                  </a:cubicBezTo>
                  <a:cubicBezTo>
                    <a:pt x="2010" y="6316"/>
                    <a:pt x="2025" y="6337"/>
                    <a:pt x="2043" y="6346"/>
                  </a:cubicBezTo>
                  <a:cubicBezTo>
                    <a:pt x="2064" y="6356"/>
                    <a:pt x="2071" y="6428"/>
                    <a:pt x="2068" y="6535"/>
                  </a:cubicBezTo>
                  <a:cubicBezTo>
                    <a:pt x="2064" y="6692"/>
                    <a:pt x="2035" y="6830"/>
                    <a:pt x="1910" y="7186"/>
                  </a:cubicBezTo>
                  <a:cubicBezTo>
                    <a:pt x="1889" y="7248"/>
                    <a:pt x="1869" y="7321"/>
                    <a:pt x="1869" y="7352"/>
                  </a:cubicBezTo>
                  <a:cubicBezTo>
                    <a:pt x="1869" y="7383"/>
                    <a:pt x="1859" y="7411"/>
                    <a:pt x="1844" y="7411"/>
                  </a:cubicBezTo>
                  <a:cubicBezTo>
                    <a:pt x="1828" y="7411"/>
                    <a:pt x="1810" y="7466"/>
                    <a:pt x="1810" y="7530"/>
                  </a:cubicBezTo>
                  <a:cubicBezTo>
                    <a:pt x="1810" y="7593"/>
                    <a:pt x="1792" y="7674"/>
                    <a:pt x="1769" y="7707"/>
                  </a:cubicBezTo>
                  <a:cubicBezTo>
                    <a:pt x="1746" y="7740"/>
                    <a:pt x="1727" y="7787"/>
                    <a:pt x="1727" y="7814"/>
                  </a:cubicBezTo>
                  <a:cubicBezTo>
                    <a:pt x="1727" y="7872"/>
                    <a:pt x="1599" y="8046"/>
                    <a:pt x="1552" y="8051"/>
                  </a:cubicBezTo>
                  <a:cubicBezTo>
                    <a:pt x="1416" y="8063"/>
                    <a:pt x="1264" y="8094"/>
                    <a:pt x="1228" y="8122"/>
                  </a:cubicBezTo>
                  <a:cubicBezTo>
                    <a:pt x="1204" y="8139"/>
                    <a:pt x="1112" y="8165"/>
                    <a:pt x="1028" y="8181"/>
                  </a:cubicBezTo>
                  <a:cubicBezTo>
                    <a:pt x="830" y="8217"/>
                    <a:pt x="476" y="8352"/>
                    <a:pt x="404" y="8418"/>
                  </a:cubicBezTo>
                  <a:cubicBezTo>
                    <a:pt x="321" y="8493"/>
                    <a:pt x="138" y="8753"/>
                    <a:pt x="138" y="8796"/>
                  </a:cubicBezTo>
                  <a:cubicBezTo>
                    <a:pt x="138" y="8817"/>
                    <a:pt x="128" y="8844"/>
                    <a:pt x="113" y="8844"/>
                  </a:cubicBezTo>
                  <a:cubicBezTo>
                    <a:pt x="98" y="8844"/>
                    <a:pt x="88" y="8865"/>
                    <a:pt x="88" y="8903"/>
                  </a:cubicBezTo>
                  <a:cubicBezTo>
                    <a:pt x="88" y="8941"/>
                    <a:pt x="69" y="9030"/>
                    <a:pt x="46" y="9092"/>
                  </a:cubicBezTo>
                  <a:cubicBezTo>
                    <a:pt x="-16" y="9262"/>
                    <a:pt x="-16" y="12132"/>
                    <a:pt x="46" y="12206"/>
                  </a:cubicBezTo>
                  <a:cubicBezTo>
                    <a:pt x="69" y="12233"/>
                    <a:pt x="88" y="12295"/>
                    <a:pt x="88" y="12336"/>
                  </a:cubicBezTo>
                  <a:cubicBezTo>
                    <a:pt x="88" y="12377"/>
                    <a:pt x="98" y="12407"/>
                    <a:pt x="113" y="12407"/>
                  </a:cubicBezTo>
                  <a:cubicBezTo>
                    <a:pt x="128" y="12407"/>
                    <a:pt x="138" y="12434"/>
                    <a:pt x="138" y="12466"/>
                  </a:cubicBezTo>
                  <a:cubicBezTo>
                    <a:pt x="138" y="12499"/>
                    <a:pt x="156" y="12526"/>
                    <a:pt x="171" y="12526"/>
                  </a:cubicBezTo>
                  <a:cubicBezTo>
                    <a:pt x="186" y="12526"/>
                    <a:pt x="196" y="12546"/>
                    <a:pt x="196" y="12573"/>
                  </a:cubicBezTo>
                  <a:cubicBezTo>
                    <a:pt x="198" y="12730"/>
                    <a:pt x="696" y="13005"/>
                    <a:pt x="1070" y="13058"/>
                  </a:cubicBezTo>
                  <a:cubicBezTo>
                    <a:pt x="1173" y="13073"/>
                    <a:pt x="1261" y="13098"/>
                    <a:pt x="1270" y="13118"/>
                  </a:cubicBezTo>
                  <a:cubicBezTo>
                    <a:pt x="1278" y="13137"/>
                    <a:pt x="1336" y="13153"/>
                    <a:pt x="1394" y="13153"/>
                  </a:cubicBezTo>
                  <a:cubicBezTo>
                    <a:pt x="1557" y="13153"/>
                    <a:pt x="1669" y="13199"/>
                    <a:pt x="1669" y="13260"/>
                  </a:cubicBezTo>
                  <a:cubicBezTo>
                    <a:pt x="1669" y="13290"/>
                    <a:pt x="1687" y="13319"/>
                    <a:pt x="1702" y="13319"/>
                  </a:cubicBezTo>
                  <a:cubicBezTo>
                    <a:pt x="1718" y="13319"/>
                    <a:pt x="1727" y="13352"/>
                    <a:pt x="1727" y="13390"/>
                  </a:cubicBezTo>
                  <a:cubicBezTo>
                    <a:pt x="1728" y="13428"/>
                    <a:pt x="1746" y="13490"/>
                    <a:pt x="1769" y="13532"/>
                  </a:cubicBezTo>
                  <a:cubicBezTo>
                    <a:pt x="1791" y="13574"/>
                    <a:pt x="1810" y="13645"/>
                    <a:pt x="1810" y="13686"/>
                  </a:cubicBezTo>
                  <a:cubicBezTo>
                    <a:pt x="1810" y="13727"/>
                    <a:pt x="1867" y="13924"/>
                    <a:pt x="1935" y="14124"/>
                  </a:cubicBezTo>
                  <a:cubicBezTo>
                    <a:pt x="2100" y="14603"/>
                    <a:pt x="2112" y="14720"/>
                    <a:pt x="1993" y="14917"/>
                  </a:cubicBezTo>
                  <a:cubicBezTo>
                    <a:pt x="1954" y="14983"/>
                    <a:pt x="1898" y="15081"/>
                    <a:pt x="1869" y="15130"/>
                  </a:cubicBezTo>
                  <a:cubicBezTo>
                    <a:pt x="1839" y="15179"/>
                    <a:pt x="1810" y="15238"/>
                    <a:pt x="1810" y="15260"/>
                  </a:cubicBezTo>
                  <a:cubicBezTo>
                    <a:pt x="1810" y="15283"/>
                    <a:pt x="1792" y="15307"/>
                    <a:pt x="1769" y="15320"/>
                  </a:cubicBezTo>
                  <a:cubicBezTo>
                    <a:pt x="1746" y="15332"/>
                    <a:pt x="1727" y="15374"/>
                    <a:pt x="1727" y="15403"/>
                  </a:cubicBezTo>
                  <a:cubicBezTo>
                    <a:pt x="1727" y="15431"/>
                    <a:pt x="1681" y="15516"/>
                    <a:pt x="1627" y="15592"/>
                  </a:cubicBezTo>
                  <a:cubicBezTo>
                    <a:pt x="1574" y="15668"/>
                    <a:pt x="1536" y="15741"/>
                    <a:pt x="1536" y="15758"/>
                  </a:cubicBezTo>
                  <a:cubicBezTo>
                    <a:pt x="1536" y="15774"/>
                    <a:pt x="1499" y="15840"/>
                    <a:pt x="1461" y="15912"/>
                  </a:cubicBezTo>
                  <a:cubicBezTo>
                    <a:pt x="1423" y="15983"/>
                    <a:pt x="1394" y="16068"/>
                    <a:pt x="1394" y="16101"/>
                  </a:cubicBezTo>
                  <a:cubicBezTo>
                    <a:pt x="1394" y="16134"/>
                    <a:pt x="1385" y="16170"/>
                    <a:pt x="1369" y="16184"/>
                  </a:cubicBezTo>
                  <a:cubicBezTo>
                    <a:pt x="1333" y="16216"/>
                    <a:pt x="1333" y="16918"/>
                    <a:pt x="1369" y="16918"/>
                  </a:cubicBezTo>
                  <a:cubicBezTo>
                    <a:pt x="1385" y="16918"/>
                    <a:pt x="1394" y="16947"/>
                    <a:pt x="1394" y="16977"/>
                  </a:cubicBezTo>
                  <a:cubicBezTo>
                    <a:pt x="1394" y="17007"/>
                    <a:pt x="1413" y="17047"/>
                    <a:pt x="1436" y="17060"/>
                  </a:cubicBezTo>
                  <a:cubicBezTo>
                    <a:pt x="1459" y="17073"/>
                    <a:pt x="1478" y="17109"/>
                    <a:pt x="1478" y="17143"/>
                  </a:cubicBezTo>
                  <a:cubicBezTo>
                    <a:pt x="1478" y="17176"/>
                    <a:pt x="1487" y="17202"/>
                    <a:pt x="1503" y="17202"/>
                  </a:cubicBezTo>
                  <a:cubicBezTo>
                    <a:pt x="1518" y="17202"/>
                    <a:pt x="1536" y="17222"/>
                    <a:pt x="1536" y="17249"/>
                  </a:cubicBezTo>
                  <a:cubicBezTo>
                    <a:pt x="1536" y="17277"/>
                    <a:pt x="1574" y="17357"/>
                    <a:pt x="1627" y="17427"/>
                  </a:cubicBezTo>
                  <a:cubicBezTo>
                    <a:pt x="1681" y="17497"/>
                    <a:pt x="1727" y="17570"/>
                    <a:pt x="1727" y="17581"/>
                  </a:cubicBezTo>
                  <a:cubicBezTo>
                    <a:pt x="1727" y="17592"/>
                    <a:pt x="1802" y="17700"/>
                    <a:pt x="1894" y="17830"/>
                  </a:cubicBezTo>
                  <a:cubicBezTo>
                    <a:pt x="1986" y="17959"/>
                    <a:pt x="2060" y="18080"/>
                    <a:pt x="2060" y="18102"/>
                  </a:cubicBezTo>
                  <a:cubicBezTo>
                    <a:pt x="2060" y="18123"/>
                    <a:pt x="2071" y="18154"/>
                    <a:pt x="2085" y="18161"/>
                  </a:cubicBezTo>
                  <a:cubicBezTo>
                    <a:pt x="2099" y="18168"/>
                    <a:pt x="2284" y="18399"/>
                    <a:pt x="2493" y="18682"/>
                  </a:cubicBezTo>
                  <a:cubicBezTo>
                    <a:pt x="2983" y="19349"/>
                    <a:pt x="3021" y="19380"/>
                    <a:pt x="3416" y="19380"/>
                  </a:cubicBezTo>
                  <a:cubicBezTo>
                    <a:pt x="3722" y="19380"/>
                    <a:pt x="3723" y="19380"/>
                    <a:pt x="3874" y="19238"/>
                  </a:cubicBezTo>
                  <a:cubicBezTo>
                    <a:pt x="3957" y="19160"/>
                    <a:pt x="4056" y="19054"/>
                    <a:pt x="4090" y="19002"/>
                  </a:cubicBezTo>
                  <a:cubicBezTo>
                    <a:pt x="4125" y="18949"/>
                    <a:pt x="4161" y="18907"/>
                    <a:pt x="4174" y="18907"/>
                  </a:cubicBezTo>
                  <a:cubicBezTo>
                    <a:pt x="4187" y="18907"/>
                    <a:pt x="4248" y="18841"/>
                    <a:pt x="4307" y="18765"/>
                  </a:cubicBezTo>
                  <a:cubicBezTo>
                    <a:pt x="4365" y="18688"/>
                    <a:pt x="4418" y="18623"/>
                    <a:pt x="4423" y="18623"/>
                  </a:cubicBezTo>
                  <a:cubicBezTo>
                    <a:pt x="4436" y="18623"/>
                    <a:pt x="4520" y="18519"/>
                    <a:pt x="4631" y="18374"/>
                  </a:cubicBezTo>
                  <a:cubicBezTo>
                    <a:pt x="4677" y="18314"/>
                    <a:pt x="4746" y="18268"/>
                    <a:pt x="4781" y="18268"/>
                  </a:cubicBezTo>
                  <a:cubicBezTo>
                    <a:pt x="4816" y="18268"/>
                    <a:pt x="4941" y="18346"/>
                    <a:pt x="5064" y="18433"/>
                  </a:cubicBezTo>
                  <a:cubicBezTo>
                    <a:pt x="5186" y="18520"/>
                    <a:pt x="5304" y="18587"/>
                    <a:pt x="5330" y="18587"/>
                  </a:cubicBezTo>
                  <a:cubicBezTo>
                    <a:pt x="5420" y="18587"/>
                    <a:pt x="5654" y="18758"/>
                    <a:pt x="5655" y="18824"/>
                  </a:cubicBezTo>
                  <a:cubicBezTo>
                    <a:pt x="5655" y="18859"/>
                    <a:pt x="5674" y="18924"/>
                    <a:pt x="5696" y="18966"/>
                  </a:cubicBezTo>
                  <a:cubicBezTo>
                    <a:pt x="5719" y="19008"/>
                    <a:pt x="5738" y="19110"/>
                    <a:pt x="5738" y="19203"/>
                  </a:cubicBezTo>
                  <a:cubicBezTo>
                    <a:pt x="5738" y="19295"/>
                    <a:pt x="5756" y="19391"/>
                    <a:pt x="5771" y="19404"/>
                  </a:cubicBezTo>
                  <a:cubicBezTo>
                    <a:pt x="5787" y="19418"/>
                    <a:pt x="5796" y="19556"/>
                    <a:pt x="5796" y="19724"/>
                  </a:cubicBezTo>
                  <a:cubicBezTo>
                    <a:pt x="5797" y="19929"/>
                    <a:pt x="5810" y="20063"/>
                    <a:pt x="5838" y="20114"/>
                  </a:cubicBezTo>
                  <a:cubicBezTo>
                    <a:pt x="5860" y="20157"/>
                    <a:pt x="5879" y="20256"/>
                    <a:pt x="5879" y="20339"/>
                  </a:cubicBezTo>
                  <a:cubicBezTo>
                    <a:pt x="5879" y="20422"/>
                    <a:pt x="5889" y="20493"/>
                    <a:pt x="5904" y="20493"/>
                  </a:cubicBezTo>
                  <a:cubicBezTo>
                    <a:pt x="5920" y="20493"/>
                    <a:pt x="5938" y="20521"/>
                    <a:pt x="5938" y="20564"/>
                  </a:cubicBezTo>
                  <a:cubicBezTo>
                    <a:pt x="5938" y="20608"/>
                    <a:pt x="5947" y="20647"/>
                    <a:pt x="5963" y="20647"/>
                  </a:cubicBezTo>
                  <a:cubicBezTo>
                    <a:pt x="5978" y="20647"/>
                    <a:pt x="5988" y="20667"/>
                    <a:pt x="5988" y="20695"/>
                  </a:cubicBezTo>
                  <a:cubicBezTo>
                    <a:pt x="5988" y="20782"/>
                    <a:pt x="6196" y="21065"/>
                    <a:pt x="6337" y="21168"/>
                  </a:cubicBezTo>
                  <a:lnTo>
                    <a:pt x="6470" y="21263"/>
                  </a:lnTo>
                  <a:lnTo>
                    <a:pt x="7519" y="21263"/>
                  </a:lnTo>
                  <a:lnTo>
                    <a:pt x="8567" y="21263"/>
                  </a:lnTo>
                  <a:lnTo>
                    <a:pt x="8709" y="21156"/>
                  </a:lnTo>
                  <a:cubicBezTo>
                    <a:pt x="8975" y="20956"/>
                    <a:pt x="9166" y="20607"/>
                    <a:pt x="9166" y="20328"/>
                  </a:cubicBezTo>
                  <a:cubicBezTo>
                    <a:pt x="9166" y="20267"/>
                    <a:pt x="9185" y="20201"/>
                    <a:pt x="9208" y="20174"/>
                  </a:cubicBezTo>
                  <a:cubicBezTo>
                    <a:pt x="9237" y="20139"/>
                    <a:pt x="9249" y="20046"/>
                    <a:pt x="9249" y="19854"/>
                  </a:cubicBezTo>
                  <a:cubicBezTo>
                    <a:pt x="9249" y="19705"/>
                    <a:pt x="9259" y="19571"/>
                    <a:pt x="9274" y="19558"/>
                  </a:cubicBezTo>
                  <a:cubicBezTo>
                    <a:pt x="9290" y="19545"/>
                    <a:pt x="9308" y="19423"/>
                    <a:pt x="9308" y="19286"/>
                  </a:cubicBezTo>
                  <a:cubicBezTo>
                    <a:pt x="9308" y="18853"/>
                    <a:pt x="9398" y="18727"/>
                    <a:pt x="9782" y="18611"/>
                  </a:cubicBezTo>
                  <a:cubicBezTo>
                    <a:pt x="9790" y="18609"/>
                    <a:pt x="9833" y="18577"/>
                    <a:pt x="9882" y="18540"/>
                  </a:cubicBezTo>
                  <a:cubicBezTo>
                    <a:pt x="9931" y="18503"/>
                    <a:pt x="9982" y="18469"/>
                    <a:pt x="9998" y="18469"/>
                  </a:cubicBezTo>
                  <a:cubicBezTo>
                    <a:pt x="10015" y="18469"/>
                    <a:pt x="10079" y="18419"/>
                    <a:pt x="10140" y="18362"/>
                  </a:cubicBezTo>
                  <a:cubicBezTo>
                    <a:pt x="10288" y="18223"/>
                    <a:pt x="10351" y="18248"/>
                    <a:pt x="10581" y="18540"/>
                  </a:cubicBezTo>
                  <a:cubicBezTo>
                    <a:pt x="10621" y="18591"/>
                    <a:pt x="10702" y="18684"/>
                    <a:pt x="10756" y="18741"/>
                  </a:cubicBezTo>
                  <a:cubicBezTo>
                    <a:pt x="10809" y="18798"/>
                    <a:pt x="10893" y="18894"/>
                    <a:pt x="10939" y="18954"/>
                  </a:cubicBezTo>
                  <a:cubicBezTo>
                    <a:pt x="10985" y="19014"/>
                    <a:pt x="11037" y="19072"/>
                    <a:pt x="11063" y="19084"/>
                  </a:cubicBezTo>
                  <a:cubicBezTo>
                    <a:pt x="11090" y="19097"/>
                    <a:pt x="11113" y="19126"/>
                    <a:pt x="11113" y="19144"/>
                  </a:cubicBezTo>
                  <a:cubicBezTo>
                    <a:pt x="11113" y="19161"/>
                    <a:pt x="11190" y="19216"/>
                    <a:pt x="11280" y="19274"/>
                  </a:cubicBezTo>
                  <a:cubicBezTo>
                    <a:pt x="11413" y="19359"/>
                    <a:pt x="11485" y="19380"/>
                    <a:pt x="11671" y="19380"/>
                  </a:cubicBezTo>
                  <a:lnTo>
                    <a:pt x="11896" y="19380"/>
                  </a:lnTo>
                  <a:lnTo>
                    <a:pt x="12070" y="19617"/>
                  </a:lnTo>
                  <a:cubicBezTo>
                    <a:pt x="12166" y="19748"/>
                    <a:pt x="12259" y="19854"/>
                    <a:pt x="12278" y="19854"/>
                  </a:cubicBezTo>
                  <a:cubicBezTo>
                    <a:pt x="12297" y="19854"/>
                    <a:pt x="12312" y="19872"/>
                    <a:pt x="12312" y="19889"/>
                  </a:cubicBezTo>
                  <a:cubicBezTo>
                    <a:pt x="12312" y="19907"/>
                    <a:pt x="12353" y="19955"/>
                    <a:pt x="12403" y="19996"/>
                  </a:cubicBezTo>
                  <a:cubicBezTo>
                    <a:pt x="12453" y="20037"/>
                    <a:pt x="12530" y="20122"/>
                    <a:pt x="12578" y="20185"/>
                  </a:cubicBezTo>
                  <a:cubicBezTo>
                    <a:pt x="12678" y="20318"/>
                    <a:pt x="12887" y="20493"/>
                    <a:pt x="12944" y="20493"/>
                  </a:cubicBezTo>
                  <a:cubicBezTo>
                    <a:pt x="12965" y="20493"/>
                    <a:pt x="12986" y="20499"/>
                    <a:pt x="12986" y="20517"/>
                  </a:cubicBezTo>
                  <a:cubicBezTo>
                    <a:pt x="12986" y="20535"/>
                    <a:pt x="13102" y="20638"/>
                    <a:pt x="13252" y="20742"/>
                  </a:cubicBezTo>
                  <a:cubicBezTo>
                    <a:pt x="13660" y="21026"/>
                    <a:pt x="13668" y="21035"/>
                    <a:pt x="13967" y="21168"/>
                  </a:cubicBezTo>
                  <a:cubicBezTo>
                    <a:pt x="14121" y="21236"/>
                    <a:pt x="14278" y="21302"/>
                    <a:pt x="14309" y="21322"/>
                  </a:cubicBezTo>
                  <a:cubicBezTo>
                    <a:pt x="14339" y="21342"/>
                    <a:pt x="14400" y="21370"/>
                    <a:pt x="14450" y="21381"/>
                  </a:cubicBezTo>
                  <a:cubicBezTo>
                    <a:pt x="14500" y="21393"/>
                    <a:pt x="14612" y="21428"/>
                    <a:pt x="14700" y="21464"/>
                  </a:cubicBezTo>
                  <a:cubicBezTo>
                    <a:pt x="14788" y="21500"/>
                    <a:pt x="14941" y="21544"/>
                    <a:pt x="15041" y="21559"/>
                  </a:cubicBezTo>
                  <a:cubicBezTo>
                    <a:pt x="15312" y="21600"/>
                    <a:pt x="16365" y="21600"/>
                    <a:pt x="16572" y="21559"/>
                  </a:cubicBezTo>
                  <a:cubicBezTo>
                    <a:pt x="16918" y="21490"/>
                    <a:pt x="17294" y="21385"/>
                    <a:pt x="17496" y="21298"/>
                  </a:cubicBezTo>
                  <a:cubicBezTo>
                    <a:pt x="17848" y="21146"/>
                    <a:pt x="18375" y="20841"/>
                    <a:pt x="18502" y="20718"/>
                  </a:cubicBezTo>
                  <a:cubicBezTo>
                    <a:pt x="18542" y="20680"/>
                    <a:pt x="18603" y="20638"/>
                    <a:pt x="18644" y="20624"/>
                  </a:cubicBezTo>
                  <a:cubicBezTo>
                    <a:pt x="18684" y="20609"/>
                    <a:pt x="18734" y="20571"/>
                    <a:pt x="18752" y="20541"/>
                  </a:cubicBezTo>
                  <a:cubicBezTo>
                    <a:pt x="18770" y="20510"/>
                    <a:pt x="18793" y="20483"/>
                    <a:pt x="18810" y="20481"/>
                  </a:cubicBezTo>
                  <a:cubicBezTo>
                    <a:pt x="18828" y="20480"/>
                    <a:pt x="18899" y="20426"/>
                    <a:pt x="18968" y="20351"/>
                  </a:cubicBezTo>
                  <a:cubicBezTo>
                    <a:pt x="19037" y="20276"/>
                    <a:pt x="19121" y="20194"/>
                    <a:pt x="19151" y="20174"/>
                  </a:cubicBezTo>
                  <a:cubicBezTo>
                    <a:pt x="19182" y="20154"/>
                    <a:pt x="19293" y="20046"/>
                    <a:pt x="19393" y="19925"/>
                  </a:cubicBezTo>
                  <a:cubicBezTo>
                    <a:pt x="19492" y="19804"/>
                    <a:pt x="19574" y="19700"/>
                    <a:pt x="19584" y="19700"/>
                  </a:cubicBezTo>
                  <a:cubicBezTo>
                    <a:pt x="19601" y="19700"/>
                    <a:pt x="20167" y="18907"/>
                    <a:pt x="20167" y="18883"/>
                  </a:cubicBezTo>
                  <a:cubicBezTo>
                    <a:pt x="20167" y="18877"/>
                    <a:pt x="20217" y="18805"/>
                    <a:pt x="20275" y="18717"/>
                  </a:cubicBezTo>
                  <a:cubicBezTo>
                    <a:pt x="20432" y="18477"/>
                    <a:pt x="20499" y="18343"/>
                    <a:pt x="20499" y="18303"/>
                  </a:cubicBezTo>
                  <a:cubicBezTo>
                    <a:pt x="20499" y="18283"/>
                    <a:pt x="20517" y="18268"/>
                    <a:pt x="20533" y="18268"/>
                  </a:cubicBezTo>
                  <a:cubicBezTo>
                    <a:pt x="20548" y="18268"/>
                    <a:pt x="20558" y="18241"/>
                    <a:pt x="20558" y="18208"/>
                  </a:cubicBezTo>
                  <a:cubicBezTo>
                    <a:pt x="20558" y="18176"/>
                    <a:pt x="20567" y="18149"/>
                    <a:pt x="20583" y="18149"/>
                  </a:cubicBezTo>
                  <a:cubicBezTo>
                    <a:pt x="20598" y="18149"/>
                    <a:pt x="20616" y="18119"/>
                    <a:pt x="20616" y="18078"/>
                  </a:cubicBezTo>
                  <a:cubicBezTo>
                    <a:pt x="20616" y="18037"/>
                    <a:pt x="20635" y="17996"/>
                    <a:pt x="20658" y="17983"/>
                  </a:cubicBezTo>
                  <a:cubicBezTo>
                    <a:pt x="20681" y="17971"/>
                    <a:pt x="20699" y="17934"/>
                    <a:pt x="20699" y="17901"/>
                  </a:cubicBezTo>
                  <a:cubicBezTo>
                    <a:pt x="20699" y="17867"/>
                    <a:pt x="20709" y="17830"/>
                    <a:pt x="20724" y="17830"/>
                  </a:cubicBezTo>
                  <a:cubicBezTo>
                    <a:pt x="20739" y="17830"/>
                    <a:pt x="20757" y="17804"/>
                    <a:pt x="20757" y="17770"/>
                  </a:cubicBezTo>
                  <a:cubicBezTo>
                    <a:pt x="20757" y="17737"/>
                    <a:pt x="20776" y="17700"/>
                    <a:pt x="20799" y="17687"/>
                  </a:cubicBezTo>
                  <a:cubicBezTo>
                    <a:pt x="20822" y="17675"/>
                    <a:pt x="20841" y="17642"/>
                    <a:pt x="20841" y="17616"/>
                  </a:cubicBezTo>
                  <a:cubicBezTo>
                    <a:pt x="20841" y="17547"/>
                    <a:pt x="20900" y="17356"/>
                    <a:pt x="20924" y="17356"/>
                  </a:cubicBezTo>
                  <a:cubicBezTo>
                    <a:pt x="20935" y="17356"/>
                    <a:pt x="20949" y="17339"/>
                    <a:pt x="20949" y="17309"/>
                  </a:cubicBezTo>
                  <a:cubicBezTo>
                    <a:pt x="20949" y="17279"/>
                    <a:pt x="20967" y="17229"/>
                    <a:pt x="20990" y="17202"/>
                  </a:cubicBezTo>
                  <a:cubicBezTo>
                    <a:pt x="21013" y="17175"/>
                    <a:pt x="21032" y="17099"/>
                    <a:pt x="21032" y="17036"/>
                  </a:cubicBezTo>
                  <a:cubicBezTo>
                    <a:pt x="21032" y="16974"/>
                    <a:pt x="21042" y="16918"/>
                    <a:pt x="21057" y="16918"/>
                  </a:cubicBezTo>
                  <a:cubicBezTo>
                    <a:pt x="21072" y="16918"/>
                    <a:pt x="21090" y="16888"/>
                    <a:pt x="21090" y="16847"/>
                  </a:cubicBezTo>
                  <a:cubicBezTo>
                    <a:pt x="21090" y="16806"/>
                    <a:pt x="21109" y="16765"/>
                    <a:pt x="21132" y="16752"/>
                  </a:cubicBezTo>
                  <a:cubicBezTo>
                    <a:pt x="21155" y="16740"/>
                    <a:pt x="21174" y="16689"/>
                    <a:pt x="21174" y="16646"/>
                  </a:cubicBezTo>
                  <a:cubicBezTo>
                    <a:pt x="21174" y="16603"/>
                    <a:pt x="21183" y="16564"/>
                    <a:pt x="21198" y="16551"/>
                  </a:cubicBezTo>
                  <a:cubicBezTo>
                    <a:pt x="21214" y="16537"/>
                    <a:pt x="21223" y="16487"/>
                    <a:pt x="21223" y="16444"/>
                  </a:cubicBezTo>
                  <a:cubicBezTo>
                    <a:pt x="21223" y="16367"/>
                    <a:pt x="21237" y="16346"/>
                    <a:pt x="21323" y="16101"/>
                  </a:cubicBezTo>
                  <a:cubicBezTo>
                    <a:pt x="21349" y="16028"/>
                    <a:pt x="21365" y="15915"/>
                    <a:pt x="21365" y="15852"/>
                  </a:cubicBezTo>
                  <a:cubicBezTo>
                    <a:pt x="21365" y="15790"/>
                    <a:pt x="21383" y="15724"/>
                    <a:pt x="21398" y="15710"/>
                  </a:cubicBezTo>
                  <a:cubicBezTo>
                    <a:pt x="21413" y="15697"/>
                    <a:pt x="21423" y="15616"/>
                    <a:pt x="21423" y="15521"/>
                  </a:cubicBezTo>
                  <a:cubicBezTo>
                    <a:pt x="21423" y="15425"/>
                    <a:pt x="21433" y="15333"/>
                    <a:pt x="21448" y="15320"/>
                  </a:cubicBezTo>
                  <a:cubicBezTo>
                    <a:pt x="21463" y="15306"/>
                    <a:pt x="21481" y="15209"/>
                    <a:pt x="21481" y="15107"/>
                  </a:cubicBezTo>
                  <a:cubicBezTo>
                    <a:pt x="21481" y="15004"/>
                    <a:pt x="21500" y="14873"/>
                    <a:pt x="21523" y="14811"/>
                  </a:cubicBezTo>
                  <a:cubicBezTo>
                    <a:pt x="21584" y="14644"/>
                    <a:pt x="21576" y="12345"/>
                    <a:pt x="21515" y="12230"/>
                  </a:cubicBezTo>
                  <a:cubicBezTo>
                    <a:pt x="21492" y="12187"/>
                    <a:pt x="21481" y="12074"/>
                    <a:pt x="21481" y="11981"/>
                  </a:cubicBezTo>
                  <a:cubicBezTo>
                    <a:pt x="21481" y="11888"/>
                    <a:pt x="21463" y="11805"/>
                    <a:pt x="21448" y="11792"/>
                  </a:cubicBezTo>
                  <a:cubicBezTo>
                    <a:pt x="21433" y="11778"/>
                    <a:pt x="21423" y="11700"/>
                    <a:pt x="21423" y="11614"/>
                  </a:cubicBezTo>
                  <a:cubicBezTo>
                    <a:pt x="21423" y="11528"/>
                    <a:pt x="21413" y="11448"/>
                    <a:pt x="21398" y="11448"/>
                  </a:cubicBezTo>
                  <a:cubicBezTo>
                    <a:pt x="21383" y="11448"/>
                    <a:pt x="21365" y="11405"/>
                    <a:pt x="21365" y="11342"/>
                  </a:cubicBezTo>
                  <a:cubicBezTo>
                    <a:pt x="21365" y="11278"/>
                    <a:pt x="21349" y="11166"/>
                    <a:pt x="21323" y="11093"/>
                  </a:cubicBezTo>
                  <a:cubicBezTo>
                    <a:pt x="21237" y="10849"/>
                    <a:pt x="21223" y="10816"/>
                    <a:pt x="21223" y="10738"/>
                  </a:cubicBezTo>
                  <a:cubicBezTo>
                    <a:pt x="21223" y="10695"/>
                    <a:pt x="21214" y="10657"/>
                    <a:pt x="21198" y="10643"/>
                  </a:cubicBezTo>
                  <a:cubicBezTo>
                    <a:pt x="21183" y="10630"/>
                    <a:pt x="21174" y="10565"/>
                    <a:pt x="21174" y="10501"/>
                  </a:cubicBezTo>
                  <a:cubicBezTo>
                    <a:pt x="21173" y="10437"/>
                    <a:pt x="21163" y="10383"/>
                    <a:pt x="21149" y="10383"/>
                  </a:cubicBezTo>
                  <a:cubicBezTo>
                    <a:pt x="21134" y="10383"/>
                    <a:pt x="21099" y="10311"/>
                    <a:pt x="21074" y="10229"/>
                  </a:cubicBezTo>
                  <a:cubicBezTo>
                    <a:pt x="20941" y="9807"/>
                    <a:pt x="20800" y="9436"/>
                    <a:pt x="20782" y="9436"/>
                  </a:cubicBezTo>
                  <a:cubicBezTo>
                    <a:pt x="20771" y="9436"/>
                    <a:pt x="20745" y="9370"/>
                    <a:pt x="20724" y="9294"/>
                  </a:cubicBezTo>
                  <a:cubicBezTo>
                    <a:pt x="20703" y="9217"/>
                    <a:pt x="20679" y="9152"/>
                    <a:pt x="20666" y="9152"/>
                  </a:cubicBezTo>
                  <a:cubicBezTo>
                    <a:pt x="20653" y="9152"/>
                    <a:pt x="20634" y="9130"/>
                    <a:pt x="20624" y="9092"/>
                  </a:cubicBezTo>
                  <a:cubicBezTo>
                    <a:pt x="20605" y="9021"/>
                    <a:pt x="20567" y="8950"/>
                    <a:pt x="20441" y="8749"/>
                  </a:cubicBezTo>
                  <a:cubicBezTo>
                    <a:pt x="20399" y="8681"/>
                    <a:pt x="20366" y="8602"/>
                    <a:pt x="20366" y="8583"/>
                  </a:cubicBezTo>
                  <a:cubicBezTo>
                    <a:pt x="20366" y="8565"/>
                    <a:pt x="20320" y="8501"/>
                    <a:pt x="20267" y="8429"/>
                  </a:cubicBezTo>
                  <a:cubicBezTo>
                    <a:pt x="20213" y="8357"/>
                    <a:pt x="20167" y="8278"/>
                    <a:pt x="20167" y="8264"/>
                  </a:cubicBezTo>
                  <a:cubicBezTo>
                    <a:pt x="20167" y="8233"/>
                    <a:pt x="19754" y="7651"/>
                    <a:pt x="19584" y="7447"/>
                  </a:cubicBezTo>
                  <a:cubicBezTo>
                    <a:pt x="19477" y="7317"/>
                    <a:pt x="19249" y="7090"/>
                    <a:pt x="19143" y="6997"/>
                  </a:cubicBezTo>
                  <a:cubicBezTo>
                    <a:pt x="19118" y="6975"/>
                    <a:pt x="19044" y="6896"/>
                    <a:pt x="18977" y="6831"/>
                  </a:cubicBezTo>
                  <a:cubicBezTo>
                    <a:pt x="18794" y="6655"/>
                    <a:pt x="18638" y="6534"/>
                    <a:pt x="18453" y="6393"/>
                  </a:cubicBezTo>
                  <a:cubicBezTo>
                    <a:pt x="18311" y="6286"/>
                    <a:pt x="18081" y="6144"/>
                    <a:pt x="18045" y="6144"/>
                  </a:cubicBezTo>
                  <a:cubicBezTo>
                    <a:pt x="18023" y="6144"/>
                    <a:pt x="17993" y="6129"/>
                    <a:pt x="17978" y="6109"/>
                  </a:cubicBezTo>
                  <a:cubicBezTo>
                    <a:pt x="17964" y="6088"/>
                    <a:pt x="17925" y="6061"/>
                    <a:pt x="17887" y="6050"/>
                  </a:cubicBezTo>
                  <a:cubicBezTo>
                    <a:pt x="17848" y="6038"/>
                    <a:pt x="17756" y="6003"/>
                    <a:pt x="17687" y="5967"/>
                  </a:cubicBezTo>
                  <a:cubicBezTo>
                    <a:pt x="17045" y="5629"/>
                    <a:pt x="16298" y="5488"/>
                    <a:pt x="15390" y="5552"/>
                  </a:cubicBezTo>
                  <a:cubicBezTo>
                    <a:pt x="14880" y="5589"/>
                    <a:pt x="14033" y="5885"/>
                    <a:pt x="13701" y="6133"/>
                  </a:cubicBezTo>
                  <a:cubicBezTo>
                    <a:pt x="13661" y="6163"/>
                    <a:pt x="13600" y="6180"/>
                    <a:pt x="13568" y="6180"/>
                  </a:cubicBezTo>
                  <a:cubicBezTo>
                    <a:pt x="13536" y="6180"/>
                    <a:pt x="13510" y="6206"/>
                    <a:pt x="13510" y="6227"/>
                  </a:cubicBezTo>
                  <a:cubicBezTo>
                    <a:pt x="13510" y="6249"/>
                    <a:pt x="13493" y="6263"/>
                    <a:pt x="13477" y="6263"/>
                  </a:cubicBezTo>
                  <a:cubicBezTo>
                    <a:pt x="13460" y="6263"/>
                    <a:pt x="13341" y="6328"/>
                    <a:pt x="13210" y="6417"/>
                  </a:cubicBezTo>
                  <a:cubicBezTo>
                    <a:pt x="12965" y="6582"/>
                    <a:pt x="12846" y="6605"/>
                    <a:pt x="12936" y="6464"/>
                  </a:cubicBezTo>
                  <a:cubicBezTo>
                    <a:pt x="12961" y="6425"/>
                    <a:pt x="12986" y="6370"/>
                    <a:pt x="12986" y="6346"/>
                  </a:cubicBezTo>
                  <a:cubicBezTo>
                    <a:pt x="12986" y="6322"/>
                    <a:pt x="13023" y="6237"/>
                    <a:pt x="13077" y="6156"/>
                  </a:cubicBezTo>
                  <a:cubicBezTo>
                    <a:pt x="13131" y="6075"/>
                    <a:pt x="13177" y="6004"/>
                    <a:pt x="13177" y="5991"/>
                  </a:cubicBezTo>
                  <a:cubicBezTo>
                    <a:pt x="13177" y="5977"/>
                    <a:pt x="13205" y="5939"/>
                    <a:pt x="13235" y="5908"/>
                  </a:cubicBezTo>
                  <a:cubicBezTo>
                    <a:pt x="13266" y="5876"/>
                    <a:pt x="13285" y="5830"/>
                    <a:pt x="13285" y="5801"/>
                  </a:cubicBezTo>
                  <a:cubicBezTo>
                    <a:pt x="13285" y="5773"/>
                    <a:pt x="13304" y="5731"/>
                    <a:pt x="13327" y="5718"/>
                  </a:cubicBezTo>
                  <a:cubicBezTo>
                    <a:pt x="13350" y="5706"/>
                    <a:pt x="13368" y="5674"/>
                    <a:pt x="13368" y="5647"/>
                  </a:cubicBezTo>
                  <a:cubicBezTo>
                    <a:pt x="13368" y="5621"/>
                    <a:pt x="13405" y="5556"/>
                    <a:pt x="13443" y="5505"/>
                  </a:cubicBezTo>
                  <a:cubicBezTo>
                    <a:pt x="13482" y="5454"/>
                    <a:pt x="13510" y="5406"/>
                    <a:pt x="13510" y="5387"/>
                  </a:cubicBezTo>
                  <a:cubicBezTo>
                    <a:pt x="13510" y="5368"/>
                    <a:pt x="13537" y="5303"/>
                    <a:pt x="13568" y="5257"/>
                  </a:cubicBezTo>
                  <a:cubicBezTo>
                    <a:pt x="13599" y="5210"/>
                    <a:pt x="13626" y="5150"/>
                    <a:pt x="13626" y="5114"/>
                  </a:cubicBezTo>
                  <a:cubicBezTo>
                    <a:pt x="13626" y="5079"/>
                    <a:pt x="13637" y="5015"/>
                    <a:pt x="13660" y="4972"/>
                  </a:cubicBezTo>
                  <a:cubicBezTo>
                    <a:pt x="13704" y="4890"/>
                    <a:pt x="13726" y="4321"/>
                    <a:pt x="13685" y="4321"/>
                  </a:cubicBezTo>
                  <a:cubicBezTo>
                    <a:pt x="13672" y="4321"/>
                    <a:pt x="13636" y="4232"/>
                    <a:pt x="13601" y="4120"/>
                  </a:cubicBezTo>
                  <a:cubicBezTo>
                    <a:pt x="13552" y="3961"/>
                    <a:pt x="13431" y="3756"/>
                    <a:pt x="13052" y="3220"/>
                  </a:cubicBezTo>
                  <a:cubicBezTo>
                    <a:pt x="12785" y="2842"/>
                    <a:pt x="12561" y="2529"/>
                    <a:pt x="12561" y="2522"/>
                  </a:cubicBezTo>
                  <a:cubicBezTo>
                    <a:pt x="12561" y="2495"/>
                    <a:pt x="12273" y="2093"/>
                    <a:pt x="12162" y="1965"/>
                  </a:cubicBezTo>
                  <a:cubicBezTo>
                    <a:pt x="12050" y="1837"/>
                    <a:pt x="11815" y="1705"/>
                    <a:pt x="11696" y="1705"/>
                  </a:cubicBezTo>
                  <a:cubicBezTo>
                    <a:pt x="11611" y="1705"/>
                    <a:pt x="11248" y="1824"/>
                    <a:pt x="11230" y="1859"/>
                  </a:cubicBezTo>
                  <a:cubicBezTo>
                    <a:pt x="11222" y="1874"/>
                    <a:pt x="11176" y="1919"/>
                    <a:pt x="11130" y="1953"/>
                  </a:cubicBezTo>
                  <a:cubicBezTo>
                    <a:pt x="11084" y="1987"/>
                    <a:pt x="10998" y="2077"/>
                    <a:pt x="10939" y="2155"/>
                  </a:cubicBezTo>
                  <a:cubicBezTo>
                    <a:pt x="10879" y="2233"/>
                    <a:pt x="10828" y="2297"/>
                    <a:pt x="10822" y="2297"/>
                  </a:cubicBezTo>
                  <a:cubicBezTo>
                    <a:pt x="10811" y="2297"/>
                    <a:pt x="10729" y="2387"/>
                    <a:pt x="10614" y="2534"/>
                  </a:cubicBezTo>
                  <a:cubicBezTo>
                    <a:pt x="10481" y="2703"/>
                    <a:pt x="10417" y="2770"/>
                    <a:pt x="10398" y="2770"/>
                  </a:cubicBezTo>
                  <a:cubicBezTo>
                    <a:pt x="10388" y="2770"/>
                    <a:pt x="10358" y="2807"/>
                    <a:pt x="10331" y="2841"/>
                  </a:cubicBezTo>
                  <a:cubicBezTo>
                    <a:pt x="10288" y="2897"/>
                    <a:pt x="10272" y="2893"/>
                    <a:pt x="10190" y="2841"/>
                  </a:cubicBezTo>
                  <a:cubicBezTo>
                    <a:pt x="9893" y="2657"/>
                    <a:pt x="9754" y="2581"/>
                    <a:pt x="9732" y="2581"/>
                  </a:cubicBezTo>
                  <a:cubicBezTo>
                    <a:pt x="9719" y="2581"/>
                    <a:pt x="9679" y="2551"/>
                    <a:pt x="9641" y="2522"/>
                  </a:cubicBezTo>
                  <a:cubicBezTo>
                    <a:pt x="9602" y="2493"/>
                    <a:pt x="9525" y="2453"/>
                    <a:pt x="9474" y="2439"/>
                  </a:cubicBezTo>
                  <a:cubicBezTo>
                    <a:pt x="9353" y="2404"/>
                    <a:pt x="9309" y="2313"/>
                    <a:pt x="9308" y="2107"/>
                  </a:cubicBezTo>
                  <a:cubicBezTo>
                    <a:pt x="9307" y="2016"/>
                    <a:pt x="9290" y="1931"/>
                    <a:pt x="9274" y="1918"/>
                  </a:cubicBezTo>
                  <a:cubicBezTo>
                    <a:pt x="9259" y="1904"/>
                    <a:pt x="9250" y="1792"/>
                    <a:pt x="9249" y="1657"/>
                  </a:cubicBezTo>
                  <a:cubicBezTo>
                    <a:pt x="9249" y="1505"/>
                    <a:pt x="9233" y="1374"/>
                    <a:pt x="9208" y="1326"/>
                  </a:cubicBezTo>
                  <a:cubicBezTo>
                    <a:pt x="9185" y="1284"/>
                    <a:pt x="9166" y="1182"/>
                    <a:pt x="9166" y="1089"/>
                  </a:cubicBezTo>
                  <a:cubicBezTo>
                    <a:pt x="9166" y="997"/>
                    <a:pt x="9157" y="901"/>
                    <a:pt x="9141" y="888"/>
                  </a:cubicBezTo>
                  <a:cubicBezTo>
                    <a:pt x="9126" y="874"/>
                    <a:pt x="9108" y="837"/>
                    <a:pt x="9108" y="793"/>
                  </a:cubicBezTo>
                  <a:cubicBezTo>
                    <a:pt x="9108" y="667"/>
                    <a:pt x="8940" y="354"/>
                    <a:pt x="8792" y="213"/>
                  </a:cubicBezTo>
                  <a:cubicBezTo>
                    <a:pt x="8581" y="13"/>
                    <a:pt x="8512" y="0"/>
                    <a:pt x="7602" y="0"/>
                  </a:cubicBezTo>
                  <a:close/>
                  <a:moveTo>
                    <a:pt x="7510" y="6381"/>
                  </a:moveTo>
                  <a:cubicBezTo>
                    <a:pt x="7609" y="6376"/>
                    <a:pt x="7687" y="6389"/>
                    <a:pt x="7727" y="6417"/>
                  </a:cubicBezTo>
                  <a:cubicBezTo>
                    <a:pt x="7759" y="6439"/>
                    <a:pt x="7868" y="6465"/>
                    <a:pt x="7968" y="6476"/>
                  </a:cubicBezTo>
                  <a:cubicBezTo>
                    <a:pt x="8160" y="6497"/>
                    <a:pt x="8384" y="6580"/>
                    <a:pt x="8384" y="6630"/>
                  </a:cubicBezTo>
                  <a:cubicBezTo>
                    <a:pt x="8384" y="6646"/>
                    <a:pt x="8416" y="6665"/>
                    <a:pt x="8451" y="6665"/>
                  </a:cubicBezTo>
                  <a:cubicBezTo>
                    <a:pt x="8485" y="6666"/>
                    <a:pt x="8564" y="6694"/>
                    <a:pt x="8625" y="6736"/>
                  </a:cubicBezTo>
                  <a:cubicBezTo>
                    <a:pt x="8687" y="6778"/>
                    <a:pt x="8739" y="6819"/>
                    <a:pt x="8750" y="6819"/>
                  </a:cubicBezTo>
                  <a:cubicBezTo>
                    <a:pt x="8768" y="6820"/>
                    <a:pt x="8951" y="6971"/>
                    <a:pt x="9016" y="7044"/>
                  </a:cubicBezTo>
                  <a:cubicBezTo>
                    <a:pt x="9032" y="7061"/>
                    <a:pt x="9107" y="7143"/>
                    <a:pt x="9191" y="7222"/>
                  </a:cubicBezTo>
                  <a:cubicBezTo>
                    <a:pt x="9430" y="7446"/>
                    <a:pt x="9807" y="7994"/>
                    <a:pt x="9807" y="8122"/>
                  </a:cubicBezTo>
                  <a:cubicBezTo>
                    <a:pt x="9807" y="8145"/>
                    <a:pt x="9835" y="8189"/>
                    <a:pt x="9865" y="8216"/>
                  </a:cubicBezTo>
                  <a:cubicBezTo>
                    <a:pt x="9896" y="8243"/>
                    <a:pt x="9915" y="8282"/>
                    <a:pt x="9915" y="8299"/>
                  </a:cubicBezTo>
                  <a:cubicBezTo>
                    <a:pt x="9915" y="8316"/>
                    <a:pt x="9952" y="8390"/>
                    <a:pt x="9990" y="8477"/>
                  </a:cubicBezTo>
                  <a:cubicBezTo>
                    <a:pt x="10028" y="8563"/>
                    <a:pt x="10057" y="8659"/>
                    <a:pt x="10057" y="8690"/>
                  </a:cubicBezTo>
                  <a:cubicBezTo>
                    <a:pt x="10057" y="8720"/>
                    <a:pt x="10075" y="8769"/>
                    <a:pt x="10098" y="8796"/>
                  </a:cubicBezTo>
                  <a:cubicBezTo>
                    <a:pt x="10121" y="8823"/>
                    <a:pt x="10140" y="8886"/>
                    <a:pt x="10140" y="8927"/>
                  </a:cubicBezTo>
                  <a:cubicBezTo>
                    <a:pt x="10140" y="8968"/>
                    <a:pt x="10149" y="8998"/>
                    <a:pt x="10165" y="8998"/>
                  </a:cubicBezTo>
                  <a:cubicBezTo>
                    <a:pt x="10180" y="8998"/>
                    <a:pt x="10198" y="9053"/>
                    <a:pt x="10198" y="9128"/>
                  </a:cubicBezTo>
                  <a:cubicBezTo>
                    <a:pt x="10198" y="9203"/>
                    <a:pt x="10208" y="9280"/>
                    <a:pt x="10223" y="9294"/>
                  </a:cubicBezTo>
                  <a:cubicBezTo>
                    <a:pt x="10238" y="9307"/>
                    <a:pt x="10248" y="9361"/>
                    <a:pt x="10248" y="9412"/>
                  </a:cubicBezTo>
                  <a:cubicBezTo>
                    <a:pt x="10248" y="9463"/>
                    <a:pt x="10267" y="9527"/>
                    <a:pt x="10290" y="9554"/>
                  </a:cubicBezTo>
                  <a:cubicBezTo>
                    <a:pt x="10322" y="9592"/>
                    <a:pt x="10339" y="9692"/>
                    <a:pt x="10339" y="9992"/>
                  </a:cubicBezTo>
                  <a:cubicBezTo>
                    <a:pt x="10339" y="10227"/>
                    <a:pt x="10348" y="10383"/>
                    <a:pt x="10364" y="10383"/>
                  </a:cubicBezTo>
                  <a:cubicBezTo>
                    <a:pt x="10380" y="10383"/>
                    <a:pt x="10389" y="10499"/>
                    <a:pt x="10389" y="10643"/>
                  </a:cubicBezTo>
                  <a:cubicBezTo>
                    <a:pt x="10389" y="10784"/>
                    <a:pt x="10380" y="10902"/>
                    <a:pt x="10364" y="10916"/>
                  </a:cubicBezTo>
                  <a:cubicBezTo>
                    <a:pt x="10349" y="10929"/>
                    <a:pt x="10339" y="11088"/>
                    <a:pt x="10339" y="11259"/>
                  </a:cubicBezTo>
                  <a:cubicBezTo>
                    <a:pt x="10339" y="11486"/>
                    <a:pt x="10320" y="11578"/>
                    <a:pt x="10290" y="11614"/>
                  </a:cubicBezTo>
                  <a:cubicBezTo>
                    <a:pt x="10267" y="11641"/>
                    <a:pt x="10248" y="11704"/>
                    <a:pt x="10248" y="11756"/>
                  </a:cubicBezTo>
                  <a:cubicBezTo>
                    <a:pt x="10248" y="11808"/>
                    <a:pt x="10241" y="11897"/>
                    <a:pt x="10223" y="11946"/>
                  </a:cubicBezTo>
                  <a:cubicBezTo>
                    <a:pt x="10163" y="12110"/>
                    <a:pt x="10151" y="12149"/>
                    <a:pt x="10131" y="12277"/>
                  </a:cubicBezTo>
                  <a:cubicBezTo>
                    <a:pt x="10121" y="12347"/>
                    <a:pt x="10096" y="12407"/>
                    <a:pt x="10082" y="12407"/>
                  </a:cubicBezTo>
                  <a:cubicBezTo>
                    <a:pt x="10067" y="12407"/>
                    <a:pt x="10057" y="12433"/>
                    <a:pt x="10057" y="12466"/>
                  </a:cubicBezTo>
                  <a:cubicBezTo>
                    <a:pt x="10057" y="12542"/>
                    <a:pt x="9994" y="12697"/>
                    <a:pt x="9948" y="12739"/>
                  </a:cubicBezTo>
                  <a:cubicBezTo>
                    <a:pt x="9929" y="12756"/>
                    <a:pt x="9915" y="12790"/>
                    <a:pt x="9915" y="12822"/>
                  </a:cubicBezTo>
                  <a:cubicBezTo>
                    <a:pt x="9915" y="12853"/>
                    <a:pt x="9905" y="12881"/>
                    <a:pt x="9890" y="12881"/>
                  </a:cubicBezTo>
                  <a:cubicBezTo>
                    <a:pt x="9875" y="12881"/>
                    <a:pt x="9865" y="12901"/>
                    <a:pt x="9865" y="12928"/>
                  </a:cubicBezTo>
                  <a:cubicBezTo>
                    <a:pt x="9865" y="12955"/>
                    <a:pt x="9824" y="13038"/>
                    <a:pt x="9782" y="13106"/>
                  </a:cubicBezTo>
                  <a:cubicBezTo>
                    <a:pt x="9740" y="13174"/>
                    <a:pt x="9670" y="13296"/>
                    <a:pt x="9624" y="13378"/>
                  </a:cubicBezTo>
                  <a:cubicBezTo>
                    <a:pt x="9514" y="13574"/>
                    <a:pt x="9364" y="13788"/>
                    <a:pt x="9266" y="13887"/>
                  </a:cubicBezTo>
                  <a:cubicBezTo>
                    <a:pt x="9223" y="13931"/>
                    <a:pt x="9148" y="14027"/>
                    <a:pt x="9100" y="14088"/>
                  </a:cubicBezTo>
                  <a:cubicBezTo>
                    <a:pt x="8993" y="14226"/>
                    <a:pt x="8469" y="14586"/>
                    <a:pt x="8376" y="14586"/>
                  </a:cubicBezTo>
                  <a:cubicBezTo>
                    <a:pt x="8339" y="14586"/>
                    <a:pt x="8294" y="14599"/>
                    <a:pt x="8284" y="14621"/>
                  </a:cubicBezTo>
                  <a:cubicBezTo>
                    <a:pt x="8275" y="14643"/>
                    <a:pt x="8237" y="14668"/>
                    <a:pt x="8193" y="14668"/>
                  </a:cubicBezTo>
                  <a:cubicBezTo>
                    <a:pt x="8149" y="14668"/>
                    <a:pt x="8078" y="14673"/>
                    <a:pt x="8043" y="14692"/>
                  </a:cubicBezTo>
                  <a:cubicBezTo>
                    <a:pt x="7867" y="14785"/>
                    <a:pt x="7153" y="14774"/>
                    <a:pt x="6895" y="14668"/>
                  </a:cubicBezTo>
                  <a:cubicBezTo>
                    <a:pt x="6833" y="14644"/>
                    <a:pt x="6736" y="14606"/>
                    <a:pt x="6678" y="14586"/>
                  </a:cubicBezTo>
                  <a:cubicBezTo>
                    <a:pt x="6620" y="14565"/>
                    <a:pt x="6555" y="14524"/>
                    <a:pt x="6528" y="14503"/>
                  </a:cubicBezTo>
                  <a:cubicBezTo>
                    <a:pt x="6502" y="14482"/>
                    <a:pt x="6395" y="14414"/>
                    <a:pt x="6295" y="14349"/>
                  </a:cubicBezTo>
                  <a:cubicBezTo>
                    <a:pt x="6196" y="14283"/>
                    <a:pt x="6057" y="14164"/>
                    <a:pt x="5988" y="14088"/>
                  </a:cubicBezTo>
                  <a:cubicBezTo>
                    <a:pt x="5919" y="14013"/>
                    <a:pt x="5854" y="13960"/>
                    <a:pt x="5838" y="13958"/>
                  </a:cubicBezTo>
                  <a:cubicBezTo>
                    <a:pt x="5802" y="13955"/>
                    <a:pt x="5462" y="13475"/>
                    <a:pt x="5314" y="13224"/>
                  </a:cubicBezTo>
                  <a:cubicBezTo>
                    <a:pt x="5213" y="13054"/>
                    <a:pt x="5154" y="12941"/>
                    <a:pt x="5106" y="12798"/>
                  </a:cubicBezTo>
                  <a:cubicBezTo>
                    <a:pt x="5095" y="12765"/>
                    <a:pt x="5081" y="12738"/>
                    <a:pt x="5072" y="12727"/>
                  </a:cubicBezTo>
                  <a:cubicBezTo>
                    <a:pt x="5039" y="12686"/>
                    <a:pt x="4989" y="12524"/>
                    <a:pt x="4989" y="12466"/>
                  </a:cubicBezTo>
                  <a:cubicBezTo>
                    <a:pt x="4989" y="12433"/>
                    <a:pt x="4977" y="12407"/>
                    <a:pt x="4964" y="12407"/>
                  </a:cubicBezTo>
                  <a:cubicBezTo>
                    <a:pt x="4933" y="12407"/>
                    <a:pt x="4848" y="12146"/>
                    <a:pt x="4848" y="12052"/>
                  </a:cubicBezTo>
                  <a:cubicBezTo>
                    <a:pt x="4848" y="12011"/>
                    <a:pt x="4838" y="11959"/>
                    <a:pt x="4823" y="11946"/>
                  </a:cubicBezTo>
                  <a:cubicBezTo>
                    <a:pt x="4807" y="11932"/>
                    <a:pt x="4789" y="11867"/>
                    <a:pt x="4789" y="11792"/>
                  </a:cubicBezTo>
                  <a:cubicBezTo>
                    <a:pt x="4789" y="11706"/>
                    <a:pt x="4774" y="11640"/>
                    <a:pt x="4748" y="11626"/>
                  </a:cubicBezTo>
                  <a:cubicBezTo>
                    <a:pt x="4721" y="11611"/>
                    <a:pt x="4706" y="11547"/>
                    <a:pt x="4706" y="11448"/>
                  </a:cubicBezTo>
                  <a:cubicBezTo>
                    <a:pt x="4706" y="11365"/>
                    <a:pt x="4696" y="11284"/>
                    <a:pt x="4681" y="11271"/>
                  </a:cubicBezTo>
                  <a:cubicBezTo>
                    <a:pt x="4665" y="11256"/>
                    <a:pt x="4656" y="11006"/>
                    <a:pt x="4656" y="10655"/>
                  </a:cubicBezTo>
                  <a:cubicBezTo>
                    <a:pt x="4656" y="10305"/>
                    <a:pt x="4665" y="10066"/>
                    <a:pt x="4681" y="10051"/>
                  </a:cubicBezTo>
                  <a:cubicBezTo>
                    <a:pt x="4696" y="10038"/>
                    <a:pt x="4706" y="9930"/>
                    <a:pt x="4706" y="9815"/>
                  </a:cubicBezTo>
                  <a:cubicBezTo>
                    <a:pt x="4706" y="9676"/>
                    <a:pt x="4720" y="9587"/>
                    <a:pt x="4748" y="9554"/>
                  </a:cubicBezTo>
                  <a:cubicBezTo>
                    <a:pt x="4771" y="9527"/>
                    <a:pt x="4789" y="9465"/>
                    <a:pt x="4789" y="9424"/>
                  </a:cubicBezTo>
                  <a:cubicBezTo>
                    <a:pt x="4789" y="9383"/>
                    <a:pt x="4800" y="9320"/>
                    <a:pt x="4814" y="9282"/>
                  </a:cubicBezTo>
                  <a:cubicBezTo>
                    <a:pt x="4828" y="9244"/>
                    <a:pt x="4861" y="9131"/>
                    <a:pt x="4881" y="9033"/>
                  </a:cubicBezTo>
                  <a:cubicBezTo>
                    <a:pt x="4900" y="8935"/>
                    <a:pt x="4927" y="8831"/>
                    <a:pt x="4947" y="8796"/>
                  </a:cubicBezTo>
                  <a:cubicBezTo>
                    <a:pt x="4968" y="8762"/>
                    <a:pt x="4989" y="8716"/>
                    <a:pt x="4989" y="8690"/>
                  </a:cubicBezTo>
                  <a:cubicBezTo>
                    <a:pt x="4989" y="8640"/>
                    <a:pt x="5043" y="8494"/>
                    <a:pt x="5089" y="8418"/>
                  </a:cubicBezTo>
                  <a:cubicBezTo>
                    <a:pt x="5104" y="8392"/>
                    <a:pt x="5132" y="8326"/>
                    <a:pt x="5155" y="8275"/>
                  </a:cubicBezTo>
                  <a:cubicBezTo>
                    <a:pt x="5178" y="8225"/>
                    <a:pt x="5221" y="8149"/>
                    <a:pt x="5255" y="8098"/>
                  </a:cubicBezTo>
                  <a:cubicBezTo>
                    <a:pt x="5290" y="8047"/>
                    <a:pt x="5322" y="7979"/>
                    <a:pt x="5322" y="7956"/>
                  </a:cubicBezTo>
                  <a:cubicBezTo>
                    <a:pt x="5322" y="7850"/>
                    <a:pt x="5880" y="7139"/>
                    <a:pt x="5963" y="7139"/>
                  </a:cubicBezTo>
                  <a:cubicBezTo>
                    <a:pt x="5977" y="7139"/>
                    <a:pt x="5988" y="7122"/>
                    <a:pt x="5988" y="7103"/>
                  </a:cubicBezTo>
                  <a:cubicBezTo>
                    <a:pt x="5988" y="7085"/>
                    <a:pt x="6034" y="7038"/>
                    <a:pt x="6087" y="6997"/>
                  </a:cubicBezTo>
                  <a:cubicBezTo>
                    <a:pt x="6141" y="6956"/>
                    <a:pt x="6187" y="6904"/>
                    <a:pt x="6187" y="6890"/>
                  </a:cubicBezTo>
                  <a:cubicBezTo>
                    <a:pt x="6187" y="6876"/>
                    <a:pt x="6229" y="6846"/>
                    <a:pt x="6279" y="6819"/>
                  </a:cubicBezTo>
                  <a:cubicBezTo>
                    <a:pt x="6329" y="6793"/>
                    <a:pt x="6390" y="6755"/>
                    <a:pt x="6420" y="6736"/>
                  </a:cubicBezTo>
                  <a:cubicBezTo>
                    <a:pt x="6723" y="6550"/>
                    <a:pt x="7215" y="6398"/>
                    <a:pt x="7510" y="6381"/>
                  </a:cubicBezTo>
                  <a:close/>
                </a:path>
              </a:pathLst>
            </a:custGeom>
            <a:ln w="12700" cap="flat">
              <a:noFill/>
              <a:miter lim="400000"/>
            </a:ln>
            <a:effectLst/>
          </p:spPr>
        </p:pic>
        <p:pic>
          <p:nvPicPr>
            <p:cNvPr id="355" name="pasted-movie.png" descr="pasted-movie.png"/>
            <p:cNvPicPr>
              <a:picLocks noChangeAspect="1"/>
            </p:cNvPicPr>
            <p:nvPr/>
          </p:nvPicPr>
          <p:blipFill>
            <a:blip r:embed="rId4"/>
            <a:srcRect l="4221" t="5740" r="69555" b="30193"/>
            <a:stretch>
              <a:fillRect/>
            </a:stretch>
          </p:blipFill>
          <p:spPr>
            <a:xfrm>
              <a:off x="329086" y="433068"/>
              <a:ext cx="1232694" cy="2007805"/>
            </a:xfrm>
            <a:custGeom>
              <a:avLst/>
              <a:gdLst/>
              <a:ahLst/>
              <a:cxnLst>
                <a:cxn ang="0">
                  <a:pos x="wd2" y="hd2"/>
                </a:cxn>
                <a:cxn ang="5400000">
                  <a:pos x="wd2" y="hd2"/>
                </a:cxn>
                <a:cxn ang="10800000">
                  <a:pos x="wd2" y="hd2"/>
                </a:cxn>
                <a:cxn ang="16200000">
                  <a:pos x="wd2" y="hd2"/>
                </a:cxn>
              </a:cxnLst>
              <a:rect l="0" t="0" r="r" b="b"/>
              <a:pathLst>
                <a:path w="21600" h="21596" extrusionOk="0">
                  <a:moveTo>
                    <a:pt x="12219" y="0"/>
                  </a:moveTo>
                  <a:cubicBezTo>
                    <a:pt x="12063" y="1"/>
                    <a:pt x="11890" y="12"/>
                    <a:pt x="11697" y="30"/>
                  </a:cubicBezTo>
                  <a:cubicBezTo>
                    <a:pt x="10524" y="135"/>
                    <a:pt x="9744" y="441"/>
                    <a:pt x="9486" y="896"/>
                  </a:cubicBezTo>
                  <a:cubicBezTo>
                    <a:pt x="9419" y="1014"/>
                    <a:pt x="9284" y="1089"/>
                    <a:pt x="8957" y="1187"/>
                  </a:cubicBezTo>
                  <a:cubicBezTo>
                    <a:pt x="7688" y="1568"/>
                    <a:pt x="7406" y="2699"/>
                    <a:pt x="8449" y="3227"/>
                  </a:cubicBezTo>
                  <a:cubicBezTo>
                    <a:pt x="8772" y="3390"/>
                    <a:pt x="8775" y="3395"/>
                    <a:pt x="8748" y="3714"/>
                  </a:cubicBezTo>
                  <a:cubicBezTo>
                    <a:pt x="8713" y="4145"/>
                    <a:pt x="8916" y="4338"/>
                    <a:pt x="9653" y="4568"/>
                  </a:cubicBezTo>
                  <a:cubicBezTo>
                    <a:pt x="10090" y="4704"/>
                    <a:pt x="10290" y="4734"/>
                    <a:pt x="10717" y="4734"/>
                  </a:cubicBezTo>
                  <a:cubicBezTo>
                    <a:pt x="11178" y="4734"/>
                    <a:pt x="11299" y="4755"/>
                    <a:pt x="11683" y="4913"/>
                  </a:cubicBezTo>
                  <a:cubicBezTo>
                    <a:pt x="11924" y="5013"/>
                    <a:pt x="12295" y="5131"/>
                    <a:pt x="12511" y="5174"/>
                  </a:cubicBezTo>
                  <a:cubicBezTo>
                    <a:pt x="13315" y="5333"/>
                    <a:pt x="14736" y="5162"/>
                    <a:pt x="15348" y="4832"/>
                  </a:cubicBezTo>
                  <a:cubicBezTo>
                    <a:pt x="15502" y="4749"/>
                    <a:pt x="15684" y="4587"/>
                    <a:pt x="15758" y="4474"/>
                  </a:cubicBezTo>
                  <a:cubicBezTo>
                    <a:pt x="15846" y="4339"/>
                    <a:pt x="15944" y="4269"/>
                    <a:pt x="16044" y="4269"/>
                  </a:cubicBezTo>
                  <a:cubicBezTo>
                    <a:pt x="16306" y="4269"/>
                    <a:pt x="17031" y="4019"/>
                    <a:pt x="17219" y="3863"/>
                  </a:cubicBezTo>
                  <a:cubicBezTo>
                    <a:pt x="17679" y="3481"/>
                    <a:pt x="17788" y="2812"/>
                    <a:pt x="17434" y="2519"/>
                  </a:cubicBezTo>
                  <a:cubicBezTo>
                    <a:pt x="17289" y="2398"/>
                    <a:pt x="17266" y="2323"/>
                    <a:pt x="17302" y="2011"/>
                  </a:cubicBezTo>
                  <a:cubicBezTo>
                    <a:pt x="17344" y="1650"/>
                    <a:pt x="17229" y="1200"/>
                    <a:pt x="17038" y="986"/>
                  </a:cubicBezTo>
                  <a:cubicBezTo>
                    <a:pt x="16768" y="684"/>
                    <a:pt x="16431" y="488"/>
                    <a:pt x="15932" y="337"/>
                  </a:cubicBezTo>
                  <a:cubicBezTo>
                    <a:pt x="15441" y="189"/>
                    <a:pt x="15344" y="174"/>
                    <a:pt x="14743" y="192"/>
                  </a:cubicBezTo>
                  <a:cubicBezTo>
                    <a:pt x="14374" y="203"/>
                    <a:pt x="13971" y="249"/>
                    <a:pt x="13825" y="294"/>
                  </a:cubicBezTo>
                  <a:cubicBezTo>
                    <a:pt x="13574" y="373"/>
                    <a:pt x="13558" y="370"/>
                    <a:pt x="13304" y="230"/>
                  </a:cubicBezTo>
                  <a:cubicBezTo>
                    <a:pt x="13009" y="69"/>
                    <a:pt x="12686" y="-4"/>
                    <a:pt x="12219" y="0"/>
                  </a:cubicBezTo>
                  <a:close/>
                  <a:moveTo>
                    <a:pt x="18178" y="1020"/>
                  </a:moveTo>
                  <a:cubicBezTo>
                    <a:pt x="17829" y="1029"/>
                    <a:pt x="17747" y="1051"/>
                    <a:pt x="17747" y="1084"/>
                  </a:cubicBezTo>
                  <a:cubicBezTo>
                    <a:pt x="17747" y="1127"/>
                    <a:pt x="17785" y="1174"/>
                    <a:pt x="17831" y="1191"/>
                  </a:cubicBezTo>
                  <a:cubicBezTo>
                    <a:pt x="17876" y="1208"/>
                    <a:pt x="18920" y="1225"/>
                    <a:pt x="20147" y="1225"/>
                  </a:cubicBezTo>
                  <a:cubicBezTo>
                    <a:pt x="20931" y="1225"/>
                    <a:pt x="21189" y="1238"/>
                    <a:pt x="21600" y="1251"/>
                  </a:cubicBezTo>
                  <a:lnTo>
                    <a:pt x="21600" y="1054"/>
                  </a:lnTo>
                  <a:cubicBezTo>
                    <a:pt x="21130" y="1042"/>
                    <a:pt x="20958" y="1025"/>
                    <a:pt x="20223" y="1020"/>
                  </a:cubicBezTo>
                  <a:cubicBezTo>
                    <a:pt x="19145" y="1013"/>
                    <a:pt x="18528" y="1011"/>
                    <a:pt x="18178" y="1020"/>
                  </a:cubicBezTo>
                  <a:close/>
                  <a:moveTo>
                    <a:pt x="0" y="1071"/>
                  </a:moveTo>
                  <a:lnTo>
                    <a:pt x="0" y="1298"/>
                  </a:lnTo>
                  <a:lnTo>
                    <a:pt x="3595" y="1285"/>
                  </a:lnTo>
                  <a:cubicBezTo>
                    <a:pt x="5886" y="1280"/>
                    <a:pt x="7883" y="1264"/>
                    <a:pt x="8039" y="1246"/>
                  </a:cubicBezTo>
                  <a:cubicBezTo>
                    <a:pt x="8205" y="1227"/>
                    <a:pt x="8309" y="1189"/>
                    <a:pt x="8290" y="1152"/>
                  </a:cubicBezTo>
                  <a:cubicBezTo>
                    <a:pt x="8264" y="1106"/>
                    <a:pt x="7142" y="1087"/>
                    <a:pt x="3700" y="1080"/>
                  </a:cubicBezTo>
                  <a:lnTo>
                    <a:pt x="0" y="1071"/>
                  </a:lnTo>
                  <a:close/>
                  <a:moveTo>
                    <a:pt x="5216" y="2924"/>
                  </a:moveTo>
                  <a:cubicBezTo>
                    <a:pt x="4713" y="2922"/>
                    <a:pt x="4352" y="3029"/>
                    <a:pt x="3999" y="3283"/>
                  </a:cubicBezTo>
                  <a:cubicBezTo>
                    <a:pt x="3800" y="3425"/>
                    <a:pt x="3677" y="3480"/>
                    <a:pt x="3637" y="3441"/>
                  </a:cubicBezTo>
                  <a:cubicBezTo>
                    <a:pt x="3544" y="3348"/>
                    <a:pt x="2912" y="3186"/>
                    <a:pt x="2636" y="3184"/>
                  </a:cubicBezTo>
                  <a:cubicBezTo>
                    <a:pt x="2193" y="3182"/>
                    <a:pt x="1678" y="3378"/>
                    <a:pt x="1433" y="3641"/>
                  </a:cubicBezTo>
                  <a:cubicBezTo>
                    <a:pt x="1072" y="4029"/>
                    <a:pt x="1079" y="4025"/>
                    <a:pt x="800" y="3880"/>
                  </a:cubicBezTo>
                  <a:cubicBezTo>
                    <a:pt x="560" y="3756"/>
                    <a:pt x="365" y="3717"/>
                    <a:pt x="0" y="3697"/>
                  </a:cubicBezTo>
                  <a:lnTo>
                    <a:pt x="0" y="3846"/>
                  </a:lnTo>
                  <a:cubicBezTo>
                    <a:pt x="327" y="3882"/>
                    <a:pt x="700" y="4001"/>
                    <a:pt x="932" y="4188"/>
                  </a:cubicBezTo>
                  <a:cubicBezTo>
                    <a:pt x="1197" y="4401"/>
                    <a:pt x="1321" y="4421"/>
                    <a:pt x="1321" y="4252"/>
                  </a:cubicBezTo>
                  <a:cubicBezTo>
                    <a:pt x="1321" y="4050"/>
                    <a:pt x="1765" y="3578"/>
                    <a:pt x="2072" y="3453"/>
                  </a:cubicBezTo>
                  <a:cubicBezTo>
                    <a:pt x="2465" y="3294"/>
                    <a:pt x="2827" y="3308"/>
                    <a:pt x="3241" y="3492"/>
                  </a:cubicBezTo>
                  <a:cubicBezTo>
                    <a:pt x="3428" y="3575"/>
                    <a:pt x="3607" y="3666"/>
                    <a:pt x="3637" y="3697"/>
                  </a:cubicBezTo>
                  <a:cubicBezTo>
                    <a:pt x="3737" y="3796"/>
                    <a:pt x="3841" y="3757"/>
                    <a:pt x="4006" y="3560"/>
                  </a:cubicBezTo>
                  <a:cubicBezTo>
                    <a:pt x="4262" y="3254"/>
                    <a:pt x="4546" y="3122"/>
                    <a:pt x="5007" y="3095"/>
                  </a:cubicBezTo>
                  <a:cubicBezTo>
                    <a:pt x="5523" y="3064"/>
                    <a:pt x="6126" y="3225"/>
                    <a:pt x="6447" y="3483"/>
                  </a:cubicBezTo>
                  <a:cubicBezTo>
                    <a:pt x="6640" y="3639"/>
                    <a:pt x="6678" y="3729"/>
                    <a:pt x="6704" y="4072"/>
                  </a:cubicBezTo>
                  <a:lnTo>
                    <a:pt x="6732" y="4474"/>
                  </a:lnTo>
                  <a:lnTo>
                    <a:pt x="7170" y="4469"/>
                  </a:lnTo>
                  <a:cubicBezTo>
                    <a:pt x="7685" y="4462"/>
                    <a:pt x="7998" y="4563"/>
                    <a:pt x="8150" y="4790"/>
                  </a:cubicBezTo>
                  <a:cubicBezTo>
                    <a:pt x="8207" y="4873"/>
                    <a:pt x="8284" y="4939"/>
                    <a:pt x="8324" y="4939"/>
                  </a:cubicBezTo>
                  <a:cubicBezTo>
                    <a:pt x="8479" y="4939"/>
                    <a:pt x="8394" y="4630"/>
                    <a:pt x="8199" y="4491"/>
                  </a:cubicBezTo>
                  <a:cubicBezTo>
                    <a:pt x="8033" y="4372"/>
                    <a:pt x="7909" y="4342"/>
                    <a:pt x="7504" y="4320"/>
                  </a:cubicBezTo>
                  <a:lnTo>
                    <a:pt x="7010" y="4294"/>
                  </a:lnTo>
                  <a:lnTo>
                    <a:pt x="6996" y="4098"/>
                  </a:lnTo>
                  <a:cubicBezTo>
                    <a:pt x="6972" y="3727"/>
                    <a:pt x="6881" y="3560"/>
                    <a:pt x="6572" y="3338"/>
                  </a:cubicBezTo>
                  <a:cubicBezTo>
                    <a:pt x="6205" y="3075"/>
                    <a:pt x="5714" y="2926"/>
                    <a:pt x="5216" y="2924"/>
                  </a:cubicBezTo>
                  <a:close/>
                  <a:moveTo>
                    <a:pt x="20202" y="4440"/>
                  </a:moveTo>
                  <a:cubicBezTo>
                    <a:pt x="20075" y="4439"/>
                    <a:pt x="19945" y="4452"/>
                    <a:pt x="19806" y="4474"/>
                  </a:cubicBezTo>
                  <a:cubicBezTo>
                    <a:pt x="18699" y="4645"/>
                    <a:pt x="17942" y="5083"/>
                    <a:pt x="17789" y="5643"/>
                  </a:cubicBezTo>
                  <a:cubicBezTo>
                    <a:pt x="17694" y="5991"/>
                    <a:pt x="17697" y="5988"/>
                    <a:pt x="17393" y="5891"/>
                  </a:cubicBezTo>
                  <a:cubicBezTo>
                    <a:pt x="17079" y="5791"/>
                    <a:pt x="16383" y="5782"/>
                    <a:pt x="15953" y="5870"/>
                  </a:cubicBezTo>
                  <a:cubicBezTo>
                    <a:pt x="15602" y="5941"/>
                    <a:pt x="15271" y="6144"/>
                    <a:pt x="15098" y="6399"/>
                  </a:cubicBezTo>
                  <a:cubicBezTo>
                    <a:pt x="14960" y="6602"/>
                    <a:pt x="14922" y="6914"/>
                    <a:pt x="15028" y="6979"/>
                  </a:cubicBezTo>
                  <a:cubicBezTo>
                    <a:pt x="15063" y="7001"/>
                    <a:pt x="15115" y="6910"/>
                    <a:pt x="15146" y="6779"/>
                  </a:cubicBezTo>
                  <a:cubicBezTo>
                    <a:pt x="15270" y="6257"/>
                    <a:pt x="15779" y="5976"/>
                    <a:pt x="16586" y="5976"/>
                  </a:cubicBezTo>
                  <a:cubicBezTo>
                    <a:pt x="17127" y="5976"/>
                    <a:pt x="17333" y="6022"/>
                    <a:pt x="17685" y="6224"/>
                  </a:cubicBezTo>
                  <a:cubicBezTo>
                    <a:pt x="17959" y="6381"/>
                    <a:pt x="17973" y="6359"/>
                    <a:pt x="18025" y="5831"/>
                  </a:cubicBezTo>
                  <a:cubicBezTo>
                    <a:pt x="18055" y="5537"/>
                    <a:pt x="18108" y="5413"/>
                    <a:pt x="18283" y="5251"/>
                  </a:cubicBezTo>
                  <a:cubicBezTo>
                    <a:pt x="18577" y="4977"/>
                    <a:pt x="19284" y="4695"/>
                    <a:pt x="19854" y="4623"/>
                  </a:cubicBezTo>
                  <a:cubicBezTo>
                    <a:pt x="20481" y="4544"/>
                    <a:pt x="20825" y="4637"/>
                    <a:pt x="21301" y="5016"/>
                  </a:cubicBezTo>
                  <a:cubicBezTo>
                    <a:pt x="21431" y="5119"/>
                    <a:pt x="21508" y="5153"/>
                    <a:pt x="21600" y="5204"/>
                  </a:cubicBezTo>
                  <a:lnTo>
                    <a:pt x="21600" y="4947"/>
                  </a:lnTo>
                  <a:lnTo>
                    <a:pt x="21294" y="4768"/>
                  </a:lnTo>
                  <a:cubicBezTo>
                    <a:pt x="20921" y="4545"/>
                    <a:pt x="20583" y="4442"/>
                    <a:pt x="20202" y="4440"/>
                  </a:cubicBezTo>
                  <a:close/>
                  <a:moveTo>
                    <a:pt x="11961" y="5460"/>
                  </a:moveTo>
                  <a:cubicBezTo>
                    <a:pt x="11494" y="5460"/>
                    <a:pt x="11235" y="5548"/>
                    <a:pt x="11043" y="5776"/>
                  </a:cubicBezTo>
                  <a:cubicBezTo>
                    <a:pt x="10807" y="6056"/>
                    <a:pt x="11082" y="6383"/>
                    <a:pt x="11648" y="6493"/>
                  </a:cubicBezTo>
                  <a:cubicBezTo>
                    <a:pt x="12302" y="6620"/>
                    <a:pt x="12967" y="6430"/>
                    <a:pt x="13011" y="6104"/>
                  </a:cubicBezTo>
                  <a:cubicBezTo>
                    <a:pt x="13068" y="5693"/>
                    <a:pt x="12687" y="5460"/>
                    <a:pt x="11961" y="5460"/>
                  </a:cubicBezTo>
                  <a:close/>
                  <a:moveTo>
                    <a:pt x="5452" y="6715"/>
                  </a:moveTo>
                  <a:cubicBezTo>
                    <a:pt x="5211" y="6717"/>
                    <a:pt x="5220" y="6882"/>
                    <a:pt x="5598" y="7031"/>
                  </a:cubicBezTo>
                  <a:cubicBezTo>
                    <a:pt x="5772" y="7099"/>
                    <a:pt x="6061" y="7251"/>
                    <a:pt x="6245" y="7368"/>
                  </a:cubicBezTo>
                  <a:cubicBezTo>
                    <a:pt x="6578" y="7580"/>
                    <a:pt x="6737" y="7609"/>
                    <a:pt x="6780" y="7470"/>
                  </a:cubicBezTo>
                  <a:cubicBezTo>
                    <a:pt x="6811" y="7372"/>
                    <a:pt x="6089" y="6871"/>
                    <a:pt x="5772" y="6770"/>
                  </a:cubicBezTo>
                  <a:cubicBezTo>
                    <a:pt x="5641" y="6729"/>
                    <a:pt x="5532" y="6714"/>
                    <a:pt x="5452" y="6715"/>
                  </a:cubicBezTo>
                  <a:close/>
                  <a:moveTo>
                    <a:pt x="10744" y="6723"/>
                  </a:moveTo>
                  <a:cubicBezTo>
                    <a:pt x="10678" y="6730"/>
                    <a:pt x="10613" y="6745"/>
                    <a:pt x="10550" y="6770"/>
                  </a:cubicBezTo>
                  <a:cubicBezTo>
                    <a:pt x="10162" y="6926"/>
                    <a:pt x="10195" y="7270"/>
                    <a:pt x="10612" y="7372"/>
                  </a:cubicBezTo>
                  <a:cubicBezTo>
                    <a:pt x="10829" y="7425"/>
                    <a:pt x="11082" y="7389"/>
                    <a:pt x="11287" y="7278"/>
                  </a:cubicBezTo>
                  <a:cubicBezTo>
                    <a:pt x="11681" y="7066"/>
                    <a:pt x="11208" y="6680"/>
                    <a:pt x="10744" y="6723"/>
                  </a:cubicBezTo>
                  <a:close/>
                  <a:moveTo>
                    <a:pt x="3637" y="7219"/>
                  </a:moveTo>
                  <a:cubicBezTo>
                    <a:pt x="3554" y="7224"/>
                    <a:pt x="3512" y="7255"/>
                    <a:pt x="3512" y="7308"/>
                  </a:cubicBezTo>
                  <a:cubicBezTo>
                    <a:pt x="3512" y="7373"/>
                    <a:pt x="3711" y="7463"/>
                    <a:pt x="4180" y="7603"/>
                  </a:cubicBezTo>
                  <a:cubicBezTo>
                    <a:pt x="4548" y="7713"/>
                    <a:pt x="4961" y="7858"/>
                    <a:pt x="5091" y="7923"/>
                  </a:cubicBezTo>
                  <a:cubicBezTo>
                    <a:pt x="5357" y="8057"/>
                    <a:pt x="5619" y="8080"/>
                    <a:pt x="5619" y="7970"/>
                  </a:cubicBezTo>
                  <a:cubicBezTo>
                    <a:pt x="5619" y="7865"/>
                    <a:pt x="5089" y="7610"/>
                    <a:pt x="4430" y="7398"/>
                  </a:cubicBezTo>
                  <a:cubicBezTo>
                    <a:pt x="4035" y="7271"/>
                    <a:pt x="3776" y="7210"/>
                    <a:pt x="3637" y="7219"/>
                  </a:cubicBezTo>
                  <a:close/>
                  <a:moveTo>
                    <a:pt x="16544" y="7791"/>
                  </a:moveTo>
                  <a:cubicBezTo>
                    <a:pt x="16497" y="7786"/>
                    <a:pt x="16482" y="7810"/>
                    <a:pt x="16482" y="7859"/>
                  </a:cubicBezTo>
                  <a:cubicBezTo>
                    <a:pt x="16482" y="8103"/>
                    <a:pt x="17444" y="8261"/>
                    <a:pt x="18102" y="8124"/>
                  </a:cubicBezTo>
                  <a:lnTo>
                    <a:pt x="18498" y="8042"/>
                  </a:lnTo>
                  <a:lnTo>
                    <a:pt x="18874" y="8217"/>
                  </a:lnTo>
                  <a:cubicBezTo>
                    <a:pt x="19355" y="8443"/>
                    <a:pt x="19777" y="8528"/>
                    <a:pt x="20251" y="8495"/>
                  </a:cubicBezTo>
                  <a:cubicBezTo>
                    <a:pt x="20649" y="8467"/>
                    <a:pt x="20991" y="8311"/>
                    <a:pt x="21120" y="8106"/>
                  </a:cubicBezTo>
                  <a:lnTo>
                    <a:pt x="21197" y="7991"/>
                  </a:lnTo>
                  <a:lnTo>
                    <a:pt x="21524" y="8098"/>
                  </a:lnTo>
                  <a:cubicBezTo>
                    <a:pt x="21545" y="8105"/>
                    <a:pt x="21576" y="8104"/>
                    <a:pt x="21600" y="8111"/>
                  </a:cubicBezTo>
                  <a:lnTo>
                    <a:pt x="21600" y="7923"/>
                  </a:lnTo>
                  <a:cubicBezTo>
                    <a:pt x="21572" y="7910"/>
                    <a:pt x="21516" y="7902"/>
                    <a:pt x="21496" y="7889"/>
                  </a:cubicBezTo>
                  <a:cubicBezTo>
                    <a:pt x="21277" y="7740"/>
                    <a:pt x="21145" y="7758"/>
                    <a:pt x="20988" y="7961"/>
                  </a:cubicBezTo>
                  <a:cubicBezTo>
                    <a:pt x="20612" y="8448"/>
                    <a:pt x="19720" y="8461"/>
                    <a:pt x="18818" y="7987"/>
                  </a:cubicBezTo>
                  <a:lnTo>
                    <a:pt x="18505" y="7816"/>
                  </a:lnTo>
                  <a:lnTo>
                    <a:pt x="18116" y="7936"/>
                  </a:lnTo>
                  <a:cubicBezTo>
                    <a:pt x="17659" y="8076"/>
                    <a:pt x="17180" y="8061"/>
                    <a:pt x="16808" y="7893"/>
                  </a:cubicBezTo>
                  <a:cubicBezTo>
                    <a:pt x="16669" y="7830"/>
                    <a:pt x="16591" y="7795"/>
                    <a:pt x="16544" y="7791"/>
                  </a:cubicBezTo>
                  <a:close/>
                  <a:moveTo>
                    <a:pt x="9034" y="7812"/>
                  </a:moveTo>
                  <a:cubicBezTo>
                    <a:pt x="8284" y="7812"/>
                    <a:pt x="8138" y="7827"/>
                    <a:pt x="7719" y="7953"/>
                  </a:cubicBezTo>
                  <a:cubicBezTo>
                    <a:pt x="7080" y="8145"/>
                    <a:pt x="6660" y="8410"/>
                    <a:pt x="6349" y="8815"/>
                  </a:cubicBezTo>
                  <a:cubicBezTo>
                    <a:pt x="6125" y="9107"/>
                    <a:pt x="6084" y="9211"/>
                    <a:pt x="6085" y="9566"/>
                  </a:cubicBezTo>
                  <a:cubicBezTo>
                    <a:pt x="6086" y="9903"/>
                    <a:pt x="6129" y="10035"/>
                    <a:pt x="6308" y="10271"/>
                  </a:cubicBezTo>
                  <a:cubicBezTo>
                    <a:pt x="6706" y="10798"/>
                    <a:pt x="7420" y="11170"/>
                    <a:pt x="8290" y="11295"/>
                  </a:cubicBezTo>
                  <a:cubicBezTo>
                    <a:pt x="9791" y="11512"/>
                    <a:pt x="11374" y="11004"/>
                    <a:pt x="11843" y="10151"/>
                  </a:cubicBezTo>
                  <a:cubicBezTo>
                    <a:pt x="12322" y="9281"/>
                    <a:pt x="11738" y="8373"/>
                    <a:pt x="10445" y="7983"/>
                  </a:cubicBezTo>
                  <a:cubicBezTo>
                    <a:pt x="9914" y="7822"/>
                    <a:pt x="9819" y="7812"/>
                    <a:pt x="9034" y="7812"/>
                  </a:cubicBezTo>
                  <a:close/>
                  <a:moveTo>
                    <a:pt x="4180" y="8439"/>
                  </a:moveTo>
                  <a:cubicBezTo>
                    <a:pt x="4008" y="8432"/>
                    <a:pt x="3887" y="8457"/>
                    <a:pt x="3867" y="8516"/>
                  </a:cubicBezTo>
                  <a:cubicBezTo>
                    <a:pt x="3845" y="8580"/>
                    <a:pt x="3967" y="8628"/>
                    <a:pt x="4333" y="8704"/>
                  </a:cubicBezTo>
                  <a:cubicBezTo>
                    <a:pt x="4601" y="8760"/>
                    <a:pt x="4903" y="8807"/>
                    <a:pt x="5007" y="8811"/>
                  </a:cubicBezTo>
                  <a:cubicBezTo>
                    <a:pt x="5329" y="8822"/>
                    <a:pt x="5225" y="8679"/>
                    <a:pt x="4819" y="8559"/>
                  </a:cubicBezTo>
                  <a:cubicBezTo>
                    <a:pt x="4579" y="8488"/>
                    <a:pt x="4351" y="8447"/>
                    <a:pt x="4180" y="8439"/>
                  </a:cubicBezTo>
                  <a:close/>
                  <a:moveTo>
                    <a:pt x="1078" y="9263"/>
                  </a:moveTo>
                  <a:cubicBezTo>
                    <a:pt x="589" y="9255"/>
                    <a:pt x="193" y="9272"/>
                    <a:pt x="167" y="9319"/>
                  </a:cubicBezTo>
                  <a:cubicBezTo>
                    <a:pt x="145" y="9358"/>
                    <a:pt x="307" y="9391"/>
                    <a:pt x="626" y="9413"/>
                  </a:cubicBezTo>
                  <a:cubicBezTo>
                    <a:pt x="1761" y="9490"/>
                    <a:pt x="4408" y="9869"/>
                    <a:pt x="4590" y="9980"/>
                  </a:cubicBezTo>
                  <a:cubicBezTo>
                    <a:pt x="4659" y="10023"/>
                    <a:pt x="4931" y="10012"/>
                    <a:pt x="4979" y="9963"/>
                  </a:cubicBezTo>
                  <a:cubicBezTo>
                    <a:pt x="5004" y="9939"/>
                    <a:pt x="4962" y="9883"/>
                    <a:pt x="4882" y="9840"/>
                  </a:cubicBezTo>
                  <a:cubicBezTo>
                    <a:pt x="4701" y="9741"/>
                    <a:pt x="3443" y="9481"/>
                    <a:pt x="2545" y="9357"/>
                  </a:cubicBezTo>
                  <a:cubicBezTo>
                    <a:pt x="2152" y="9303"/>
                    <a:pt x="1567" y="9271"/>
                    <a:pt x="1078" y="9263"/>
                  </a:cubicBezTo>
                  <a:close/>
                  <a:moveTo>
                    <a:pt x="17420" y="10228"/>
                  </a:moveTo>
                  <a:cubicBezTo>
                    <a:pt x="17238" y="10227"/>
                    <a:pt x="17048" y="10244"/>
                    <a:pt x="16857" y="10284"/>
                  </a:cubicBezTo>
                  <a:cubicBezTo>
                    <a:pt x="16290" y="10402"/>
                    <a:pt x="15947" y="10584"/>
                    <a:pt x="15696" y="10894"/>
                  </a:cubicBezTo>
                  <a:cubicBezTo>
                    <a:pt x="15473" y="11168"/>
                    <a:pt x="15382" y="11662"/>
                    <a:pt x="15557" y="11662"/>
                  </a:cubicBezTo>
                  <a:cubicBezTo>
                    <a:pt x="15603" y="11662"/>
                    <a:pt x="15646" y="11573"/>
                    <a:pt x="15647" y="11466"/>
                  </a:cubicBezTo>
                  <a:cubicBezTo>
                    <a:pt x="15650" y="11181"/>
                    <a:pt x="15904" y="10883"/>
                    <a:pt x="16356" y="10638"/>
                  </a:cubicBezTo>
                  <a:cubicBezTo>
                    <a:pt x="17015" y="10282"/>
                    <a:pt x="17671" y="10284"/>
                    <a:pt x="18290" y="10634"/>
                  </a:cubicBezTo>
                  <a:cubicBezTo>
                    <a:pt x="18488" y="10746"/>
                    <a:pt x="18742" y="10941"/>
                    <a:pt x="18853" y="11069"/>
                  </a:cubicBezTo>
                  <a:cubicBezTo>
                    <a:pt x="18964" y="11197"/>
                    <a:pt x="19095" y="11300"/>
                    <a:pt x="19152" y="11300"/>
                  </a:cubicBezTo>
                  <a:cubicBezTo>
                    <a:pt x="19209" y="11300"/>
                    <a:pt x="19426" y="11196"/>
                    <a:pt x="19632" y="11069"/>
                  </a:cubicBezTo>
                  <a:cubicBezTo>
                    <a:pt x="20222" y="10707"/>
                    <a:pt x="20867" y="10671"/>
                    <a:pt x="21377" y="10971"/>
                  </a:cubicBezTo>
                  <a:lnTo>
                    <a:pt x="21600" y="11099"/>
                  </a:lnTo>
                  <a:lnTo>
                    <a:pt x="21600" y="10821"/>
                  </a:lnTo>
                  <a:cubicBezTo>
                    <a:pt x="21536" y="10807"/>
                    <a:pt x="21472" y="10793"/>
                    <a:pt x="21364" y="10749"/>
                  </a:cubicBezTo>
                  <a:cubicBezTo>
                    <a:pt x="20760" y="10504"/>
                    <a:pt x="20171" y="10554"/>
                    <a:pt x="19465" y="10911"/>
                  </a:cubicBezTo>
                  <a:lnTo>
                    <a:pt x="19201" y="11043"/>
                  </a:lnTo>
                  <a:lnTo>
                    <a:pt x="18895" y="10787"/>
                  </a:lnTo>
                  <a:cubicBezTo>
                    <a:pt x="18466" y="10421"/>
                    <a:pt x="17968" y="10232"/>
                    <a:pt x="17420" y="10228"/>
                  </a:cubicBezTo>
                  <a:close/>
                  <a:moveTo>
                    <a:pt x="522" y="11274"/>
                  </a:moveTo>
                  <a:cubicBezTo>
                    <a:pt x="283" y="11274"/>
                    <a:pt x="118" y="11281"/>
                    <a:pt x="0" y="11295"/>
                  </a:cubicBezTo>
                  <a:lnTo>
                    <a:pt x="0" y="11457"/>
                  </a:lnTo>
                  <a:cubicBezTo>
                    <a:pt x="35" y="11453"/>
                    <a:pt x="36" y="11456"/>
                    <a:pt x="76" y="11449"/>
                  </a:cubicBezTo>
                  <a:cubicBezTo>
                    <a:pt x="873" y="11318"/>
                    <a:pt x="1545" y="11556"/>
                    <a:pt x="1801" y="12055"/>
                  </a:cubicBezTo>
                  <a:cubicBezTo>
                    <a:pt x="1880" y="12209"/>
                    <a:pt x="1989" y="12333"/>
                    <a:pt x="2045" y="12333"/>
                  </a:cubicBezTo>
                  <a:cubicBezTo>
                    <a:pt x="2101" y="12333"/>
                    <a:pt x="2309" y="12291"/>
                    <a:pt x="2510" y="12234"/>
                  </a:cubicBezTo>
                  <a:cubicBezTo>
                    <a:pt x="2724" y="12175"/>
                    <a:pt x="3067" y="12128"/>
                    <a:pt x="3324" y="12128"/>
                  </a:cubicBezTo>
                  <a:cubicBezTo>
                    <a:pt x="3715" y="12127"/>
                    <a:pt x="3805" y="12150"/>
                    <a:pt x="4103" y="12316"/>
                  </a:cubicBezTo>
                  <a:cubicBezTo>
                    <a:pt x="4288" y="12418"/>
                    <a:pt x="4437" y="12544"/>
                    <a:pt x="4437" y="12597"/>
                  </a:cubicBezTo>
                  <a:cubicBezTo>
                    <a:pt x="4437" y="12731"/>
                    <a:pt x="4514" y="12724"/>
                    <a:pt x="5077" y="12516"/>
                  </a:cubicBezTo>
                  <a:cubicBezTo>
                    <a:pt x="5996" y="12176"/>
                    <a:pt x="6942" y="12307"/>
                    <a:pt x="7260" y="12819"/>
                  </a:cubicBezTo>
                  <a:cubicBezTo>
                    <a:pt x="7403" y="13048"/>
                    <a:pt x="7386" y="13183"/>
                    <a:pt x="7163" y="13669"/>
                  </a:cubicBezTo>
                  <a:lnTo>
                    <a:pt x="7107" y="13793"/>
                  </a:lnTo>
                  <a:lnTo>
                    <a:pt x="7754" y="13754"/>
                  </a:lnTo>
                  <a:cubicBezTo>
                    <a:pt x="8327" y="13721"/>
                    <a:pt x="8423" y="13733"/>
                    <a:pt x="8693" y="13835"/>
                  </a:cubicBezTo>
                  <a:cubicBezTo>
                    <a:pt x="9251" y="14047"/>
                    <a:pt x="9417" y="14478"/>
                    <a:pt x="9041" y="14727"/>
                  </a:cubicBezTo>
                  <a:cubicBezTo>
                    <a:pt x="8653" y="14984"/>
                    <a:pt x="7937" y="15121"/>
                    <a:pt x="7511" y="15022"/>
                  </a:cubicBezTo>
                  <a:cubicBezTo>
                    <a:pt x="7299" y="14973"/>
                    <a:pt x="7243" y="14985"/>
                    <a:pt x="6968" y="15150"/>
                  </a:cubicBezTo>
                  <a:cubicBezTo>
                    <a:pt x="6547" y="15403"/>
                    <a:pt x="6169" y="15401"/>
                    <a:pt x="5716" y="15150"/>
                  </a:cubicBezTo>
                  <a:cubicBezTo>
                    <a:pt x="5366" y="14956"/>
                    <a:pt x="5217" y="14931"/>
                    <a:pt x="5146" y="15043"/>
                  </a:cubicBezTo>
                  <a:cubicBezTo>
                    <a:pt x="5059" y="15182"/>
                    <a:pt x="4389" y="15426"/>
                    <a:pt x="3999" y="15462"/>
                  </a:cubicBezTo>
                  <a:cubicBezTo>
                    <a:pt x="3496" y="15508"/>
                    <a:pt x="3115" y="15430"/>
                    <a:pt x="2768" y="15210"/>
                  </a:cubicBezTo>
                  <a:lnTo>
                    <a:pt x="2490" y="15035"/>
                  </a:lnTo>
                  <a:lnTo>
                    <a:pt x="1947" y="15261"/>
                  </a:lnTo>
                  <a:cubicBezTo>
                    <a:pt x="1286" y="15533"/>
                    <a:pt x="824" y="15585"/>
                    <a:pt x="229" y="15466"/>
                  </a:cubicBezTo>
                  <a:cubicBezTo>
                    <a:pt x="102" y="15440"/>
                    <a:pt x="72" y="15436"/>
                    <a:pt x="0" y="15423"/>
                  </a:cubicBezTo>
                  <a:lnTo>
                    <a:pt x="0" y="15551"/>
                  </a:lnTo>
                  <a:cubicBezTo>
                    <a:pt x="134" y="15587"/>
                    <a:pt x="297" y="15624"/>
                    <a:pt x="459" y="15641"/>
                  </a:cubicBezTo>
                  <a:cubicBezTo>
                    <a:pt x="1016" y="15698"/>
                    <a:pt x="1595" y="15609"/>
                    <a:pt x="2052" y="15402"/>
                  </a:cubicBezTo>
                  <a:lnTo>
                    <a:pt x="2316" y="15282"/>
                  </a:lnTo>
                  <a:lnTo>
                    <a:pt x="2879" y="15462"/>
                  </a:lnTo>
                  <a:cubicBezTo>
                    <a:pt x="3682" y="15719"/>
                    <a:pt x="4302" y="15687"/>
                    <a:pt x="4924" y="15355"/>
                  </a:cubicBezTo>
                  <a:lnTo>
                    <a:pt x="5244" y="15188"/>
                  </a:lnTo>
                  <a:lnTo>
                    <a:pt x="5424" y="15291"/>
                  </a:lnTo>
                  <a:cubicBezTo>
                    <a:pt x="5884" y="15552"/>
                    <a:pt x="6695" y="15564"/>
                    <a:pt x="7121" y="15317"/>
                  </a:cubicBezTo>
                  <a:cubicBezTo>
                    <a:pt x="7313" y="15205"/>
                    <a:pt x="7421" y="15185"/>
                    <a:pt x="7851" y="15188"/>
                  </a:cubicBezTo>
                  <a:cubicBezTo>
                    <a:pt x="8763" y="15195"/>
                    <a:pt x="9404" y="14887"/>
                    <a:pt x="9472" y="14407"/>
                  </a:cubicBezTo>
                  <a:cubicBezTo>
                    <a:pt x="9542" y="13909"/>
                    <a:pt x="8895" y="13553"/>
                    <a:pt x="7977" y="13583"/>
                  </a:cubicBezTo>
                  <a:lnTo>
                    <a:pt x="7518" y="13600"/>
                  </a:lnTo>
                  <a:lnTo>
                    <a:pt x="7545" y="13203"/>
                  </a:lnTo>
                  <a:cubicBezTo>
                    <a:pt x="7572" y="12849"/>
                    <a:pt x="7550" y="12778"/>
                    <a:pt x="7358" y="12576"/>
                  </a:cubicBezTo>
                  <a:cubicBezTo>
                    <a:pt x="6956" y="12155"/>
                    <a:pt x="6063" y="12045"/>
                    <a:pt x="5132" y="12307"/>
                  </a:cubicBezTo>
                  <a:lnTo>
                    <a:pt x="4659" y="12439"/>
                  </a:lnTo>
                  <a:lnTo>
                    <a:pt x="4465" y="12290"/>
                  </a:lnTo>
                  <a:cubicBezTo>
                    <a:pt x="4077" y="11985"/>
                    <a:pt x="3193" y="11886"/>
                    <a:pt x="2524" y="12072"/>
                  </a:cubicBezTo>
                  <a:lnTo>
                    <a:pt x="2170" y="12175"/>
                  </a:lnTo>
                  <a:lnTo>
                    <a:pt x="1892" y="11829"/>
                  </a:lnTo>
                  <a:cubicBezTo>
                    <a:pt x="1516" y="11360"/>
                    <a:pt x="1307" y="11274"/>
                    <a:pt x="522" y="11274"/>
                  </a:cubicBezTo>
                  <a:close/>
                  <a:moveTo>
                    <a:pt x="10341" y="11889"/>
                  </a:moveTo>
                  <a:cubicBezTo>
                    <a:pt x="10284" y="11896"/>
                    <a:pt x="10251" y="11921"/>
                    <a:pt x="10251" y="11970"/>
                  </a:cubicBezTo>
                  <a:cubicBezTo>
                    <a:pt x="10251" y="11994"/>
                    <a:pt x="10612" y="12240"/>
                    <a:pt x="11057" y="12516"/>
                  </a:cubicBezTo>
                  <a:lnTo>
                    <a:pt x="11871" y="13020"/>
                  </a:lnTo>
                  <a:lnTo>
                    <a:pt x="12386" y="12986"/>
                  </a:lnTo>
                  <a:cubicBezTo>
                    <a:pt x="12670" y="12968"/>
                    <a:pt x="13097" y="12939"/>
                    <a:pt x="13331" y="12922"/>
                  </a:cubicBezTo>
                  <a:cubicBezTo>
                    <a:pt x="13701" y="12894"/>
                    <a:pt x="13786" y="12910"/>
                    <a:pt x="13985" y="13016"/>
                  </a:cubicBezTo>
                  <a:cubicBezTo>
                    <a:pt x="14210" y="13135"/>
                    <a:pt x="14214" y="13141"/>
                    <a:pt x="14096" y="13344"/>
                  </a:cubicBezTo>
                  <a:cubicBezTo>
                    <a:pt x="14030" y="13459"/>
                    <a:pt x="13817" y="13744"/>
                    <a:pt x="13623" y="13980"/>
                  </a:cubicBezTo>
                  <a:cubicBezTo>
                    <a:pt x="13028" y="14708"/>
                    <a:pt x="12992" y="15111"/>
                    <a:pt x="13505" y="15317"/>
                  </a:cubicBezTo>
                  <a:cubicBezTo>
                    <a:pt x="13708" y="15398"/>
                    <a:pt x="13938" y="15410"/>
                    <a:pt x="15341" y="15410"/>
                  </a:cubicBezTo>
                  <a:cubicBezTo>
                    <a:pt x="16805" y="15410"/>
                    <a:pt x="16970" y="15420"/>
                    <a:pt x="17240" y="15517"/>
                  </a:cubicBezTo>
                  <a:cubicBezTo>
                    <a:pt x="17705" y="15684"/>
                    <a:pt x="17688" y="15885"/>
                    <a:pt x="17149" y="16563"/>
                  </a:cubicBezTo>
                  <a:cubicBezTo>
                    <a:pt x="16613" y="17238"/>
                    <a:pt x="16541" y="17496"/>
                    <a:pt x="16836" y="17677"/>
                  </a:cubicBezTo>
                  <a:cubicBezTo>
                    <a:pt x="16950" y="17747"/>
                    <a:pt x="17266" y="17842"/>
                    <a:pt x="17539" y="17891"/>
                  </a:cubicBezTo>
                  <a:cubicBezTo>
                    <a:pt x="18476" y="18058"/>
                    <a:pt x="18839" y="18222"/>
                    <a:pt x="18839" y="18480"/>
                  </a:cubicBezTo>
                  <a:cubicBezTo>
                    <a:pt x="18839" y="18537"/>
                    <a:pt x="18691" y="18785"/>
                    <a:pt x="18505" y="19030"/>
                  </a:cubicBezTo>
                  <a:cubicBezTo>
                    <a:pt x="18164" y="19482"/>
                    <a:pt x="18084" y="19752"/>
                    <a:pt x="18276" y="19795"/>
                  </a:cubicBezTo>
                  <a:cubicBezTo>
                    <a:pt x="18436" y="19830"/>
                    <a:pt x="18589" y="19728"/>
                    <a:pt x="18589" y="19590"/>
                  </a:cubicBezTo>
                  <a:cubicBezTo>
                    <a:pt x="18589" y="19521"/>
                    <a:pt x="18698" y="19330"/>
                    <a:pt x="18832" y="19167"/>
                  </a:cubicBezTo>
                  <a:cubicBezTo>
                    <a:pt x="19523" y="18327"/>
                    <a:pt x="19303" y="17972"/>
                    <a:pt x="17928" y="17711"/>
                  </a:cubicBezTo>
                  <a:cubicBezTo>
                    <a:pt x="17311" y="17594"/>
                    <a:pt x="17073" y="17488"/>
                    <a:pt x="17073" y="17331"/>
                  </a:cubicBezTo>
                  <a:cubicBezTo>
                    <a:pt x="17073" y="17273"/>
                    <a:pt x="17264" y="16977"/>
                    <a:pt x="17497" y="16674"/>
                  </a:cubicBezTo>
                  <a:cubicBezTo>
                    <a:pt x="17747" y="16349"/>
                    <a:pt x="17940" y="16014"/>
                    <a:pt x="17970" y="15859"/>
                  </a:cubicBezTo>
                  <a:cubicBezTo>
                    <a:pt x="18017" y="15616"/>
                    <a:pt x="18006" y="15586"/>
                    <a:pt x="17775" y="15445"/>
                  </a:cubicBezTo>
                  <a:cubicBezTo>
                    <a:pt x="17420" y="15227"/>
                    <a:pt x="16935" y="15158"/>
                    <a:pt x="15849" y="15176"/>
                  </a:cubicBezTo>
                  <a:cubicBezTo>
                    <a:pt x="13997" y="15206"/>
                    <a:pt x="14071" y="15212"/>
                    <a:pt x="13818" y="15095"/>
                  </a:cubicBezTo>
                  <a:cubicBezTo>
                    <a:pt x="13458" y="14927"/>
                    <a:pt x="13503" y="14691"/>
                    <a:pt x="14027" y="14010"/>
                  </a:cubicBezTo>
                  <a:cubicBezTo>
                    <a:pt x="14667" y="13178"/>
                    <a:pt x="14700" y="12929"/>
                    <a:pt x="14194" y="12768"/>
                  </a:cubicBezTo>
                  <a:cubicBezTo>
                    <a:pt x="13980" y="12700"/>
                    <a:pt x="13787" y="12692"/>
                    <a:pt x="13248" y="12717"/>
                  </a:cubicBezTo>
                  <a:cubicBezTo>
                    <a:pt x="12875" y="12734"/>
                    <a:pt x="12468" y="12759"/>
                    <a:pt x="12344" y="12777"/>
                  </a:cubicBezTo>
                  <a:cubicBezTo>
                    <a:pt x="12170" y="12801"/>
                    <a:pt x="12069" y="12780"/>
                    <a:pt x="11920" y="12683"/>
                  </a:cubicBezTo>
                  <a:cubicBezTo>
                    <a:pt x="11813" y="12613"/>
                    <a:pt x="11539" y="12437"/>
                    <a:pt x="11315" y="12290"/>
                  </a:cubicBezTo>
                  <a:cubicBezTo>
                    <a:pt x="10903" y="12020"/>
                    <a:pt x="10512" y="11866"/>
                    <a:pt x="10341" y="11889"/>
                  </a:cubicBezTo>
                  <a:close/>
                  <a:moveTo>
                    <a:pt x="10035" y="16465"/>
                  </a:moveTo>
                  <a:cubicBezTo>
                    <a:pt x="9613" y="16474"/>
                    <a:pt x="9136" y="16547"/>
                    <a:pt x="8700" y="16678"/>
                  </a:cubicBezTo>
                  <a:cubicBezTo>
                    <a:pt x="8012" y="16886"/>
                    <a:pt x="7219" y="17325"/>
                    <a:pt x="7219" y="17498"/>
                  </a:cubicBezTo>
                  <a:cubicBezTo>
                    <a:pt x="7219" y="17602"/>
                    <a:pt x="7268" y="17581"/>
                    <a:pt x="7615" y="17344"/>
                  </a:cubicBezTo>
                  <a:cubicBezTo>
                    <a:pt x="8570" y="16692"/>
                    <a:pt x="10110" y="16371"/>
                    <a:pt x="10724" y="16695"/>
                  </a:cubicBezTo>
                  <a:cubicBezTo>
                    <a:pt x="11071" y="16879"/>
                    <a:pt x="11025" y="17082"/>
                    <a:pt x="10508" y="17635"/>
                  </a:cubicBezTo>
                  <a:cubicBezTo>
                    <a:pt x="10042" y="18132"/>
                    <a:pt x="9947" y="18287"/>
                    <a:pt x="10028" y="18416"/>
                  </a:cubicBezTo>
                  <a:cubicBezTo>
                    <a:pt x="10074" y="18489"/>
                    <a:pt x="10111" y="18486"/>
                    <a:pt x="10355" y="18394"/>
                  </a:cubicBezTo>
                  <a:cubicBezTo>
                    <a:pt x="10505" y="18338"/>
                    <a:pt x="10949" y="18172"/>
                    <a:pt x="11335" y="18027"/>
                  </a:cubicBezTo>
                  <a:cubicBezTo>
                    <a:pt x="12268" y="17679"/>
                    <a:pt x="13650" y="17348"/>
                    <a:pt x="14173" y="17348"/>
                  </a:cubicBezTo>
                  <a:cubicBezTo>
                    <a:pt x="14920" y="17348"/>
                    <a:pt x="15094" y="17645"/>
                    <a:pt x="14618" y="18104"/>
                  </a:cubicBezTo>
                  <a:cubicBezTo>
                    <a:pt x="14291" y="18419"/>
                    <a:pt x="14043" y="18740"/>
                    <a:pt x="14041" y="18860"/>
                  </a:cubicBezTo>
                  <a:cubicBezTo>
                    <a:pt x="14038" y="18986"/>
                    <a:pt x="14278" y="18978"/>
                    <a:pt x="14813" y="18826"/>
                  </a:cubicBezTo>
                  <a:cubicBezTo>
                    <a:pt x="15447" y="18644"/>
                    <a:pt x="15980" y="18647"/>
                    <a:pt x="16329" y="18838"/>
                  </a:cubicBezTo>
                  <a:cubicBezTo>
                    <a:pt x="16602" y="18988"/>
                    <a:pt x="16663" y="19162"/>
                    <a:pt x="16530" y="19406"/>
                  </a:cubicBezTo>
                  <a:cubicBezTo>
                    <a:pt x="16491" y="19479"/>
                    <a:pt x="16495" y="19521"/>
                    <a:pt x="16551" y="19521"/>
                  </a:cubicBezTo>
                  <a:cubicBezTo>
                    <a:pt x="16601" y="19521"/>
                    <a:pt x="16691" y="19430"/>
                    <a:pt x="16746" y="19316"/>
                  </a:cubicBezTo>
                  <a:cubicBezTo>
                    <a:pt x="17034" y="18726"/>
                    <a:pt x="16178" y="18390"/>
                    <a:pt x="15007" y="18633"/>
                  </a:cubicBezTo>
                  <a:cubicBezTo>
                    <a:pt x="14720" y="18693"/>
                    <a:pt x="14473" y="18719"/>
                    <a:pt x="14430" y="18693"/>
                  </a:cubicBezTo>
                  <a:cubicBezTo>
                    <a:pt x="14387" y="18667"/>
                    <a:pt x="14518" y="18476"/>
                    <a:pt x="14743" y="18241"/>
                  </a:cubicBezTo>
                  <a:cubicBezTo>
                    <a:pt x="15499" y="17449"/>
                    <a:pt x="15155" y="17076"/>
                    <a:pt x="13818" y="17246"/>
                  </a:cubicBezTo>
                  <a:cubicBezTo>
                    <a:pt x="13547" y="17280"/>
                    <a:pt x="13142" y="17353"/>
                    <a:pt x="12914" y="17408"/>
                  </a:cubicBezTo>
                  <a:cubicBezTo>
                    <a:pt x="12356" y="17543"/>
                    <a:pt x="11028" y="17953"/>
                    <a:pt x="10730" y="18083"/>
                  </a:cubicBezTo>
                  <a:cubicBezTo>
                    <a:pt x="10284" y="18278"/>
                    <a:pt x="10292" y="18121"/>
                    <a:pt x="10751" y="17630"/>
                  </a:cubicBezTo>
                  <a:cubicBezTo>
                    <a:pt x="11236" y="17111"/>
                    <a:pt x="11311" y="16812"/>
                    <a:pt x="11009" y="16627"/>
                  </a:cubicBezTo>
                  <a:cubicBezTo>
                    <a:pt x="10817" y="16510"/>
                    <a:pt x="10457" y="16455"/>
                    <a:pt x="10035" y="16465"/>
                  </a:cubicBezTo>
                  <a:close/>
                  <a:moveTo>
                    <a:pt x="2441" y="17306"/>
                  </a:moveTo>
                  <a:cubicBezTo>
                    <a:pt x="2070" y="17276"/>
                    <a:pt x="1655" y="17312"/>
                    <a:pt x="1273" y="17421"/>
                  </a:cubicBezTo>
                  <a:cubicBezTo>
                    <a:pt x="911" y="17524"/>
                    <a:pt x="366" y="17827"/>
                    <a:pt x="0" y="18074"/>
                  </a:cubicBezTo>
                  <a:lnTo>
                    <a:pt x="0" y="18224"/>
                  </a:lnTo>
                  <a:lnTo>
                    <a:pt x="97" y="18160"/>
                  </a:lnTo>
                  <a:cubicBezTo>
                    <a:pt x="976" y="17599"/>
                    <a:pt x="1374" y="17448"/>
                    <a:pt x="2038" y="17417"/>
                  </a:cubicBezTo>
                  <a:cubicBezTo>
                    <a:pt x="2476" y="17396"/>
                    <a:pt x="2585" y="17409"/>
                    <a:pt x="2837" y="17515"/>
                  </a:cubicBezTo>
                  <a:cubicBezTo>
                    <a:pt x="3022" y="17592"/>
                    <a:pt x="3175" y="17712"/>
                    <a:pt x="3241" y="17835"/>
                  </a:cubicBezTo>
                  <a:cubicBezTo>
                    <a:pt x="3336" y="18013"/>
                    <a:pt x="3322" y="18059"/>
                    <a:pt x="3122" y="18347"/>
                  </a:cubicBezTo>
                  <a:cubicBezTo>
                    <a:pt x="2862" y="18724"/>
                    <a:pt x="2778" y="19005"/>
                    <a:pt x="2921" y="19005"/>
                  </a:cubicBezTo>
                  <a:cubicBezTo>
                    <a:pt x="2975" y="19005"/>
                    <a:pt x="3327" y="18912"/>
                    <a:pt x="3707" y="18800"/>
                  </a:cubicBezTo>
                  <a:cubicBezTo>
                    <a:pt x="4390" y="18597"/>
                    <a:pt x="4792" y="18523"/>
                    <a:pt x="5550" y="18463"/>
                  </a:cubicBezTo>
                  <a:cubicBezTo>
                    <a:pt x="5890" y="18436"/>
                    <a:pt x="5977" y="18453"/>
                    <a:pt x="6203" y="18569"/>
                  </a:cubicBezTo>
                  <a:cubicBezTo>
                    <a:pt x="6538" y="18742"/>
                    <a:pt x="6538" y="18902"/>
                    <a:pt x="6210" y="19308"/>
                  </a:cubicBezTo>
                  <a:cubicBezTo>
                    <a:pt x="5901" y="19691"/>
                    <a:pt x="5884" y="19829"/>
                    <a:pt x="6148" y="19829"/>
                  </a:cubicBezTo>
                  <a:cubicBezTo>
                    <a:pt x="6252" y="19829"/>
                    <a:pt x="6453" y="19786"/>
                    <a:pt x="6600" y="19731"/>
                  </a:cubicBezTo>
                  <a:cubicBezTo>
                    <a:pt x="6990" y="19584"/>
                    <a:pt x="7651" y="19474"/>
                    <a:pt x="7858" y="19521"/>
                  </a:cubicBezTo>
                  <a:cubicBezTo>
                    <a:pt x="8022" y="19559"/>
                    <a:pt x="8132" y="19634"/>
                    <a:pt x="8561" y="19987"/>
                  </a:cubicBezTo>
                  <a:lnTo>
                    <a:pt x="8721" y="20115"/>
                  </a:lnTo>
                  <a:lnTo>
                    <a:pt x="9124" y="20025"/>
                  </a:lnTo>
                  <a:cubicBezTo>
                    <a:pt x="9695" y="19899"/>
                    <a:pt x="9810" y="19909"/>
                    <a:pt x="10132" y="20119"/>
                  </a:cubicBezTo>
                  <a:cubicBezTo>
                    <a:pt x="10369" y="20273"/>
                    <a:pt x="10428" y="20289"/>
                    <a:pt x="10473" y="20217"/>
                  </a:cubicBezTo>
                  <a:cubicBezTo>
                    <a:pt x="10508" y="20162"/>
                    <a:pt x="10450" y="20084"/>
                    <a:pt x="10306" y="19995"/>
                  </a:cubicBezTo>
                  <a:cubicBezTo>
                    <a:pt x="10121" y="19881"/>
                    <a:pt x="10003" y="19859"/>
                    <a:pt x="9639" y="19859"/>
                  </a:cubicBezTo>
                  <a:cubicBezTo>
                    <a:pt x="9396" y="19859"/>
                    <a:pt x="9119" y="19875"/>
                    <a:pt x="9020" y="19897"/>
                  </a:cubicBezTo>
                  <a:cubicBezTo>
                    <a:pt x="8869" y="19931"/>
                    <a:pt x="8793" y="19896"/>
                    <a:pt x="8540" y="19679"/>
                  </a:cubicBezTo>
                  <a:cubicBezTo>
                    <a:pt x="8142" y="19339"/>
                    <a:pt x="7881" y="19306"/>
                    <a:pt x="6989" y="19483"/>
                  </a:cubicBezTo>
                  <a:cubicBezTo>
                    <a:pt x="6629" y="19554"/>
                    <a:pt x="6305" y="19606"/>
                    <a:pt x="6273" y="19594"/>
                  </a:cubicBezTo>
                  <a:cubicBezTo>
                    <a:pt x="6241" y="19582"/>
                    <a:pt x="6331" y="19425"/>
                    <a:pt x="6467" y="19248"/>
                  </a:cubicBezTo>
                  <a:cubicBezTo>
                    <a:pt x="6738" y="18897"/>
                    <a:pt x="6763" y="18766"/>
                    <a:pt x="6614" y="18565"/>
                  </a:cubicBezTo>
                  <a:cubicBezTo>
                    <a:pt x="6399" y="18276"/>
                    <a:pt x="5396" y="18284"/>
                    <a:pt x="4006" y="18586"/>
                  </a:cubicBezTo>
                  <a:cubicBezTo>
                    <a:pt x="3596" y="18675"/>
                    <a:pt x="3271" y="18720"/>
                    <a:pt x="3227" y="18693"/>
                  </a:cubicBezTo>
                  <a:cubicBezTo>
                    <a:pt x="3183" y="18666"/>
                    <a:pt x="3214" y="18565"/>
                    <a:pt x="3303" y="18450"/>
                  </a:cubicBezTo>
                  <a:cubicBezTo>
                    <a:pt x="3388" y="18342"/>
                    <a:pt x="3472" y="18140"/>
                    <a:pt x="3491" y="17997"/>
                  </a:cubicBezTo>
                  <a:cubicBezTo>
                    <a:pt x="3520" y="17786"/>
                    <a:pt x="3494" y="17709"/>
                    <a:pt x="3338" y="17588"/>
                  </a:cubicBezTo>
                  <a:cubicBezTo>
                    <a:pt x="3137" y="17431"/>
                    <a:pt x="2812" y="17336"/>
                    <a:pt x="2441" y="17306"/>
                  </a:cubicBezTo>
                  <a:close/>
                  <a:moveTo>
                    <a:pt x="15605" y="20977"/>
                  </a:moveTo>
                  <a:cubicBezTo>
                    <a:pt x="15294" y="20981"/>
                    <a:pt x="14987" y="21018"/>
                    <a:pt x="14597" y="21097"/>
                  </a:cubicBezTo>
                  <a:cubicBezTo>
                    <a:pt x="13818" y="21253"/>
                    <a:pt x="13505" y="21256"/>
                    <a:pt x="12594" y="21122"/>
                  </a:cubicBezTo>
                  <a:cubicBezTo>
                    <a:pt x="11709" y="20992"/>
                    <a:pt x="11418" y="20996"/>
                    <a:pt x="10619" y="21131"/>
                  </a:cubicBezTo>
                  <a:cubicBezTo>
                    <a:pt x="10107" y="21217"/>
                    <a:pt x="9841" y="21233"/>
                    <a:pt x="9333" y="21208"/>
                  </a:cubicBezTo>
                  <a:cubicBezTo>
                    <a:pt x="7523" y="21118"/>
                    <a:pt x="6905" y="21112"/>
                    <a:pt x="6454" y="21190"/>
                  </a:cubicBezTo>
                  <a:cubicBezTo>
                    <a:pt x="5594" y="21340"/>
                    <a:pt x="5332" y="21344"/>
                    <a:pt x="4639" y="21225"/>
                  </a:cubicBezTo>
                  <a:cubicBezTo>
                    <a:pt x="4117" y="21135"/>
                    <a:pt x="3869" y="21121"/>
                    <a:pt x="3394" y="21148"/>
                  </a:cubicBezTo>
                  <a:cubicBezTo>
                    <a:pt x="2718" y="21185"/>
                    <a:pt x="2575" y="21188"/>
                    <a:pt x="1871" y="21186"/>
                  </a:cubicBezTo>
                  <a:cubicBezTo>
                    <a:pt x="1593" y="21186"/>
                    <a:pt x="1215" y="21186"/>
                    <a:pt x="1029" y="21186"/>
                  </a:cubicBezTo>
                  <a:cubicBezTo>
                    <a:pt x="695" y="21187"/>
                    <a:pt x="313" y="21161"/>
                    <a:pt x="0" y="21131"/>
                  </a:cubicBezTo>
                  <a:lnTo>
                    <a:pt x="0" y="21596"/>
                  </a:lnTo>
                  <a:lnTo>
                    <a:pt x="21600" y="21596"/>
                  </a:lnTo>
                  <a:lnTo>
                    <a:pt x="21600" y="21037"/>
                  </a:lnTo>
                  <a:cubicBezTo>
                    <a:pt x="21365" y="21032"/>
                    <a:pt x="21165" y="21039"/>
                    <a:pt x="20974" y="21067"/>
                  </a:cubicBezTo>
                  <a:cubicBezTo>
                    <a:pt x="20648" y="21113"/>
                    <a:pt x="20476" y="21112"/>
                    <a:pt x="20105" y="21050"/>
                  </a:cubicBezTo>
                  <a:cubicBezTo>
                    <a:pt x="19487" y="20946"/>
                    <a:pt x="19165" y="20948"/>
                    <a:pt x="18464" y="21071"/>
                  </a:cubicBezTo>
                  <a:cubicBezTo>
                    <a:pt x="18140" y="21128"/>
                    <a:pt x="17734" y="21173"/>
                    <a:pt x="17560" y="21173"/>
                  </a:cubicBezTo>
                  <a:cubicBezTo>
                    <a:pt x="17385" y="21173"/>
                    <a:pt x="16962" y="21128"/>
                    <a:pt x="16628" y="21071"/>
                  </a:cubicBezTo>
                  <a:cubicBezTo>
                    <a:pt x="16227" y="21003"/>
                    <a:pt x="15916" y="20973"/>
                    <a:pt x="15605" y="20977"/>
                  </a:cubicBezTo>
                  <a:close/>
                </a:path>
              </a:pathLst>
            </a:custGeom>
            <a:ln w="12700" cap="flat">
              <a:noFill/>
              <a:miter lim="400000"/>
            </a:ln>
            <a:effectLst/>
          </p:spPr>
        </p:pic>
        <p:pic>
          <p:nvPicPr>
            <p:cNvPr id="356" name="pasted-movie.png" descr="pasted-movie.png"/>
            <p:cNvPicPr>
              <a:picLocks noChangeAspect="1"/>
            </p:cNvPicPr>
            <p:nvPr/>
          </p:nvPicPr>
          <p:blipFill>
            <a:blip r:embed="rId5">
              <a:alphaModFix amt="72301"/>
            </a:blip>
            <a:srcRect l="51929" t="54372" r="40725" b="34557"/>
            <a:stretch>
              <a:fillRect/>
            </a:stretch>
          </p:blipFill>
          <p:spPr>
            <a:xfrm>
              <a:off x="1144693" y="1149672"/>
              <a:ext cx="345298" cy="346933"/>
            </a:xfrm>
            <a:custGeom>
              <a:avLst/>
              <a:gdLst/>
              <a:ahLst/>
              <a:cxnLst>
                <a:cxn ang="0">
                  <a:pos x="wd2" y="hd2"/>
                </a:cxn>
                <a:cxn ang="5400000">
                  <a:pos x="wd2" y="hd2"/>
                </a:cxn>
                <a:cxn ang="10800000">
                  <a:pos x="wd2" y="hd2"/>
                </a:cxn>
                <a:cxn ang="16200000">
                  <a:pos x="wd2" y="hd2"/>
                </a:cxn>
              </a:cxnLst>
              <a:rect l="0" t="0" r="r" b="b"/>
              <a:pathLst>
                <a:path w="21418" h="21511" extrusionOk="0">
                  <a:moveTo>
                    <a:pt x="10914" y="0"/>
                  </a:moveTo>
                  <a:cubicBezTo>
                    <a:pt x="8802" y="15"/>
                    <a:pt x="6317" y="627"/>
                    <a:pt x="5277" y="1501"/>
                  </a:cubicBezTo>
                  <a:cubicBezTo>
                    <a:pt x="4892" y="1824"/>
                    <a:pt x="4587" y="2024"/>
                    <a:pt x="4587" y="1944"/>
                  </a:cubicBezTo>
                  <a:cubicBezTo>
                    <a:pt x="4587" y="1645"/>
                    <a:pt x="1784" y="4568"/>
                    <a:pt x="1732" y="4922"/>
                  </a:cubicBezTo>
                  <a:cubicBezTo>
                    <a:pt x="1702" y="5125"/>
                    <a:pt x="1578" y="5354"/>
                    <a:pt x="1461" y="5438"/>
                  </a:cubicBezTo>
                  <a:cubicBezTo>
                    <a:pt x="1128" y="5678"/>
                    <a:pt x="542" y="6927"/>
                    <a:pt x="575" y="7308"/>
                  </a:cubicBezTo>
                  <a:cubicBezTo>
                    <a:pt x="591" y="7497"/>
                    <a:pt x="497" y="7789"/>
                    <a:pt x="378" y="7948"/>
                  </a:cubicBezTo>
                  <a:cubicBezTo>
                    <a:pt x="-152" y="8656"/>
                    <a:pt x="-113" y="12714"/>
                    <a:pt x="427" y="13608"/>
                  </a:cubicBezTo>
                  <a:cubicBezTo>
                    <a:pt x="503" y="13734"/>
                    <a:pt x="589" y="14022"/>
                    <a:pt x="624" y="14248"/>
                  </a:cubicBezTo>
                  <a:cubicBezTo>
                    <a:pt x="723" y="14885"/>
                    <a:pt x="1623" y="16575"/>
                    <a:pt x="1978" y="16782"/>
                  </a:cubicBezTo>
                  <a:cubicBezTo>
                    <a:pt x="2153" y="16884"/>
                    <a:pt x="2240" y="17045"/>
                    <a:pt x="2175" y="17151"/>
                  </a:cubicBezTo>
                  <a:cubicBezTo>
                    <a:pt x="1757" y="17826"/>
                    <a:pt x="7526" y="21536"/>
                    <a:pt x="8181" y="21015"/>
                  </a:cubicBezTo>
                  <a:cubicBezTo>
                    <a:pt x="8347" y="20883"/>
                    <a:pt x="8511" y="20896"/>
                    <a:pt x="8600" y="21039"/>
                  </a:cubicBezTo>
                  <a:cubicBezTo>
                    <a:pt x="8686" y="21179"/>
                    <a:pt x="9297" y="21220"/>
                    <a:pt x="10175" y="21138"/>
                  </a:cubicBezTo>
                  <a:cubicBezTo>
                    <a:pt x="11144" y="21047"/>
                    <a:pt x="11693" y="21088"/>
                    <a:pt x="11800" y="21261"/>
                  </a:cubicBezTo>
                  <a:cubicBezTo>
                    <a:pt x="12000" y="21584"/>
                    <a:pt x="12322" y="21595"/>
                    <a:pt x="12514" y="21285"/>
                  </a:cubicBezTo>
                  <a:cubicBezTo>
                    <a:pt x="12594" y="21156"/>
                    <a:pt x="12760" y="21060"/>
                    <a:pt x="12908" y="21088"/>
                  </a:cubicBezTo>
                  <a:cubicBezTo>
                    <a:pt x="13316" y="21166"/>
                    <a:pt x="14278" y="20820"/>
                    <a:pt x="14730" y="20424"/>
                  </a:cubicBezTo>
                  <a:cubicBezTo>
                    <a:pt x="14950" y="20230"/>
                    <a:pt x="15148" y="20151"/>
                    <a:pt x="15148" y="20227"/>
                  </a:cubicBezTo>
                  <a:cubicBezTo>
                    <a:pt x="15148" y="20655"/>
                    <a:pt x="16658" y="19711"/>
                    <a:pt x="17954" y="18480"/>
                  </a:cubicBezTo>
                  <a:cubicBezTo>
                    <a:pt x="19369" y="17138"/>
                    <a:pt x="19980" y="16301"/>
                    <a:pt x="20096" y="15601"/>
                  </a:cubicBezTo>
                  <a:cubicBezTo>
                    <a:pt x="20124" y="15432"/>
                    <a:pt x="20286" y="15122"/>
                    <a:pt x="20465" y="14912"/>
                  </a:cubicBezTo>
                  <a:cubicBezTo>
                    <a:pt x="20948" y="14349"/>
                    <a:pt x="21172" y="13727"/>
                    <a:pt x="21253" y="12574"/>
                  </a:cubicBezTo>
                  <a:cubicBezTo>
                    <a:pt x="21293" y="12007"/>
                    <a:pt x="21354" y="11195"/>
                    <a:pt x="21401" y="10753"/>
                  </a:cubicBezTo>
                  <a:cubicBezTo>
                    <a:pt x="21448" y="10312"/>
                    <a:pt x="21398" y="9828"/>
                    <a:pt x="21278" y="9671"/>
                  </a:cubicBezTo>
                  <a:cubicBezTo>
                    <a:pt x="21157" y="9514"/>
                    <a:pt x="21110" y="9150"/>
                    <a:pt x="21179" y="8883"/>
                  </a:cubicBezTo>
                  <a:cubicBezTo>
                    <a:pt x="21249" y="8617"/>
                    <a:pt x="21193" y="8134"/>
                    <a:pt x="21056" y="7801"/>
                  </a:cubicBezTo>
                  <a:cubicBezTo>
                    <a:pt x="20919" y="7468"/>
                    <a:pt x="20758" y="6995"/>
                    <a:pt x="20712" y="6742"/>
                  </a:cubicBezTo>
                  <a:cubicBezTo>
                    <a:pt x="20666" y="6490"/>
                    <a:pt x="20420" y="6001"/>
                    <a:pt x="20170" y="5660"/>
                  </a:cubicBezTo>
                  <a:cubicBezTo>
                    <a:pt x="19920" y="5318"/>
                    <a:pt x="19727" y="4921"/>
                    <a:pt x="19727" y="4774"/>
                  </a:cubicBezTo>
                  <a:cubicBezTo>
                    <a:pt x="19727" y="4502"/>
                    <a:pt x="17617" y="2335"/>
                    <a:pt x="16945" y="1919"/>
                  </a:cubicBezTo>
                  <a:cubicBezTo>
                    <a:pt x="16043" y="1361"/>
                    <a:pt x="14580" y="624"/>
                    <a:pt x="14237" y="541"/>
                  </a:cubicBezTo>
                  <a:cubicBezTo>
                    <a:pt x="14031" y="492"/>
                    <a:pt x="13402" y="338"/>
                    <a:pt x="12834" y="197"/>
                  </a:cubicBezTo>
                  <a:cubicBezTo>
                    <a:pt x="12282" y="60"/>
                    <a:pt x="11618" y="-5"/>
                    <a:pt x="10914" y="0"/>
                  </a:cubicBezTo>
                  <a:close/>
                </a:path>
              </a:pathLst>
            </a:custGeom>
            <a:ln w="12700" cap="flat">
              <a:noFill/>
              <a:miter lim="400000"/>
            </a:ln>
            <a:effectLst/>
          </p:spPr>
        </p:pic>
        <p:pic>
          <p:nvPicPr>
            <p:cNvPr id="357" name="pasted-movie.png" descr="pasted-movie.png"/>
            <p:cNvPicPr>
              <a:picLocks noChangeAspect="1"/>
            </p:cNvPicPr>
            <p:nvPr/>
          </p:nvPicPr>
          <p:blipFill>
            <a:blip r:embed="rId5">
              <a:alphaModFix amt="47617"/>
            </a:blip>
            <a:srcRect l="51929" t="54372" r="40725" b="34557"/>
            <a:stretch>
              <a:fillRect/>
            </a:stretch>
          </p:blipFill>
          <p:spPr>
            <a:xfrm>
              <a:off x="772882" y="1591317"/>
              <a:ext cx="345298" cy="346933"/>
            </a:xfrm>
            <a:custGeom>
              <a:avLst/>
              <a:gdLst/>
              <a:ahLst/>
              <a:cxnLst>
                <a:cxn ang="0">
                  <a:pos x="wd2" y="hd2"/>
                </a:cxn>
                <a:cxn ang="5400000">
                  <a:pos x="wd2" y="hd2"/>
                </a:cxn>
                <a:cxn ang="10800000">
                  <a:pos x="wd2" y="hd2"/>
                </a:cxn>
                <a:cxn ang="16200000">
                  <a:pos x="wd2" y="hd2"/>
                </a:cxn>
              </a:cxnLst>
              <a:rect l="0" t="0" r="r" b="b"/>
              <a:pathLst>
                <a:path w="21418" h="21511" extrusionOk="0">
                  <a:moveTo>
                    <a:pt x="10914" y="0"/>
                  </a:moveTo>
                  <a:cubicBezTo>
                    <a:pt x="8802" y="15"/>
                    <a:pt x="6317" y="627"/>
                    <a:pt x="5277" y="1501"/>
                  </a:cubicBezTo>
                  <a:cubicBezTo>
                    <a:pt x="4892" y="1824"/>
                    <a:pt x="4587" y="2024"/>
                    <a:pt x="4587" y="1944"/>
                  </a:cubicBezTo>
                  <a:cubicBezTo>
                    <a:pt x="4587" y="1645"/>
                    <a:pt x="1784" y="4568"/>
                    <a:pt x="1732" y="4922"/>
                  </a:cubicBezTo>
                  <a:cubicBezTo>
                    <a:pt x="1702" y="5125"/>
                    <a:pt x="1578" y="5354"/>
                    <a:pt x="1461" y="5438"/>
                  </a:cubicBezTo>
                  <a:cubicBezTo>
                    <a:pt x="1128" y="5678"/>
                    <a:pt x="542" y="6927"/>
                    <a:pt x="575" y="7308"/>
                  </a:cubicBezTo>
                  <a:cubicBezTo>
                    <a:pt x="591" y="7497"/>
                    <a:pt x="497" y="7789"/>
                    <a:pt x="378" y="7948"/>
                  </a:cubicBezTo>
                  <a:cubicBezTo>
                    <a:pt x="-152" y="8656"/>
                    <a:pt x="-113" y="12714"/>
                    <a:pt x="427" y="13608"/>
                  </a:cubicBezTo>
                  <a:cubicBezTo>
                    <a:pt x="503" y="13734"/>
                    <a:pt x="589" y="14022"/>
                    <a:pt x="624" y="14248"/>
                  </a:cubicBezTo>
                  <a:cubicBezTo>
                    <a:pt x="723" y="14885"/>
                    <a:pt x="1623" y="16575"/>
                    <a:pt x="1978" y="16782"/>
                  </a:cubicBezTo>
                  <a:cubicBezTo>
                    <a:pt x="2153" y="16884"/>
                    <a:pt x="2240" y="17045"/>
                    <a:pt x="2175" y="17151"/>
                  </a:cubicBezTo>
                  <a:cubicBezTo>
                    <a:pt x="1757" y="17826"/>
                    <a:pt x="7526" y="21536"/>
                    <a:pt x="8181" y="21015"/>
                  </a:cubicBezTo>
                  <a:cubicBezTo>
                    <a:pt x="8347" y="20883"/>
                    <a:pt x="8511" y="20896"/>
                    <a:pt x="8600" y="21039"/>
                  </a:cubicBezTo>
                  <a:cubicBezTo>
                    <a:pt x="8686" y="21179"/>
                    <a:pt x="9297" y="21220"/>
                    <a:pt x="10175" y="21138"/>
                  </a:cubicBezTo>
                  <a:cubicBezTo>
                    <a:pt x="11144" y="21047"/>
                    <a:pt x="11693" y="21088"/>
                    <a:pt x="11800" y="21261"/>
                  </a:cubicBezTo>
                  <a:cubicBezTo>
                    <a:pt x="12000" y="21584"/>
                    <a:pt x="12322" y="21595"/>
                    <a:pt x="12514" y="21285"/>
                  </a:cubicBezTo>
                  <a:cubicBezTo>
                    <a:pt x="12594" y="21156"/>
                    <a:pt x="12760" y="21060"/>
                    <a:pt x="12908" y="21088"/>
                  </a:cubicBezTo>
                  <a:cubicBezTo>
                    <a:pt x="13316" y="21166"/>
                    <a:pt x="14278" y="20820"/>
                    <a:pt x="14730" y="20424"/>
                  </a:cubicBezTo>
                  <a:cubicBezTo>
                    <a:pt x="14950" y="20230"/>
                    <a:pt x="15148" y="20151"/>
                    <a:pt x="15148" y="20227"/>
                  </a:cubicBezTo>
                  <a:cubicBezTo>
                    <a:pt x="15148" y="20655"/>
                    <a:pt x="16658" y="19711"/>
                    <a:pt x="17954" y="18480"/>
                  </a:cubicBezTo>
                  <a:cubicBezTo>
                    <a:pt x="19369" y="17138"/>
                    <a:pt x="19980" y="16301"/>
                    <a:pt x="20096" y="15601"/>
                  </a:cubicBezTo>
                  <a:cubicBezTo>
                    <a:pt x="20124" y="15432"/>
                    <a:pt x="20286" y="15122"/>
                    <a:pt x="20465" y="14912"/>
                  </a:cubicBezTo>
                  <a:cubicBezTo>
                    <a:pt x="20948" y="14349"/>
                    <a:pt x="21172" y="13727"/>
                    <a:pt x="21253" y="12574"/>
                  </a:cubicBezTo>
                  <a:cubicBezTo>
                    <a:pt x="21293" y="12007"/>
                    <a:pt x="21354" y="11195"/>
                    <a:pt x="21401" y="10753"/>
                  </a:cubicBezTo>
                  <a:cubicBezTo>
                    <a:pt x="21448" y="10312"/>
                    <a:pt x="21398" y="9828"/>
                    <a:pt x="21278" y="9671"/>
                  </a:cubicBezTo>
                  <a:cubicBezTo>
                    <a:pt x="21157" y="9514"/>
                    <a:pt x="21110" y="9150"/>
                    <a:pt x="21179" y="8883"/>
                  </a:cubicBezTo>
                  <a:cubicBezTo>
                    <a:pt x="21249" y="8617"/>
                    <a:pt x="21193" y="8134"/>
                    <a:pt x="21056" y="7801"/>
                  </a:cubicBezTo>
                  <a:cubicBezTo>
                    <a:pt x="20919" y="7468"/>
                    <a:pt x="20758" y="6995"/>
                    <a:pt x="20712" y="6742"/>
                  </a:cubicBezTo>
                  <a:cubicBezTo>
                    <a:pt x="20666" y="6490"/>
                    <a:pt x="20420" y="6001"/>
                    <a:pt x="20170" y="5660"/>
                  </a:cubicBezTo>
                  <a:cubicBezTo>
                    <a:pt x="19920" y="5318"/>
                    <a:pt x="19727" y="4921"/>
                    <a:pt x="19727" y="4774"/>
                  </a:cubicBezTo>
                  <a:cubicBezTo>
                    <a:pt x="19727" y="4502"/>
                    <a:pt x="17617" y="2335"/>
                    <a:pt x="16945" y="1919"/>
                  </a:cubicBezTo>
                  <a:cubicBezTo>
                    <a:pt x="16043" y="1361"/>
                    <a:pt x="14580" y="624"/>
                    <a:pt x="14237" y="541"/>
                  </a:cubicBezTo>
                  <a:cubicBezTo>
                    <a:pt x="14031" y="492"/>
                    <a:pt x="13402" y="338"/>
                    <a:pt x="12834" y="197"/>
                  </a:cubicBezTo>
                  <a:cubicBezTo>
                    <a:pt x="12282" y="60"/>
                    <a:pt x="11618" y="-5"/>
                    <a:pt x="10914" y="0"/>
                  </a:cubicBezTo>
                  <a:close/>
                </a:path>
              </a:pathLst>
            </a:custGeom>
            <a:ln w="12700" cap="flat">
              <a:noFill/>
              <a:miter lim="400000"/>
            </a:ln>
            <a:effectLst/>
          </p:spPr>
        </p:pic>
        <p:pic>
          <p:nvPicPr>
            <p:cNvPr id="358" name="pasted-movie.png" descr="pasted-movie.png"/>
            <p:cNvPicPr>
              <a:picLocks noChangeAspect="1"/>
            </p:cNvPicPr>
            <p:nvPr/>
          </p:nvPicPr>
          <p:blipFill>
            <a:blip r:embed="rId5">
              <a:alphaModFix amt="24309"/>
            </a:blip>
            <a:srcRect l="51929" t="54372" r="40725" b="34557"/>
            <a:stretch>
              <a:fillRect/>
            </a:stretch>
          </p:blipFill>
          <p:spPr>
            <a:xfrm>
              <a:off x="1240148" y="1591317"/>
              <a:ext cx="345298" cy="346933"/>
            </a:xfrm>
            <a:custGeom>
              <a:avLst/>
              <a:gdLst/>
              <a:ahLst/>
              <a:cxnLst>
                <a:cxn ang="0">
                  <a:pos x="wd2" y="hd2"/>
                </a:cxn>
                <a:cxn ang="5400000">
                  <a:pos x="wd2" y="hd2"/>
                </a:cxn>
                <a:cxn ang="10800000">
                  <a:pos x="wd2" y="hd2"/>
                </a:cxn>
                <a:cxn ang="16200000">
                  <a:pos x="wd2" y="hd2"/>
                </a:cxn>
              </a:cxnLst>
              <a:rect l="0" t="0" r="r" b="b"/>
              <a:pathLst>
                <a:path w="21418" h="21511" extrusionOk="0">
                  <a:moveTo>
                    <a:pt x="10914" y="0"/>
                  </a:moveTo>
                  <a:cubicBezTo>
                    <a:pt x="8802" y="15"/>
                    <a:pt x="6317" y="627"/>
                    <a:pt x="5277" y="1501"/>
                  </a:cubicBezTo>
                  <a:cubicBezTo>
                    <a:pt x="4892" y="1824"/>
                    <a:pt x="4587" y="2024"/>
                    <a:pt x="4587" y="1944"/>
                  </a:cubicBezTo>
                  <a:cubicBezTo>
                    <a:pt x="4587" y="1645"/>
                    <a:pt x="1784" y="4568"/>
                    <a:pt x="1732" y="4922"/>
                  </a:cubicBezTo>
                  <a:cubicBezTo>
                    <a:pt x="1702" y="5125"/>
                    <a:pt x="1578" y="5354"/>
                    <a:pt x="1461" y="5438"/>
                  </a:cubicBezTo>
                  <a:cubicBezTo>
                    <a:pt x="1128" y="5678"/>
                    <a:pt x="542" y="6927"/>
                    <a:pt x="575" y="7308"/>
                  </a:cubicBezTo>
                  <a:cubicBezTo>
                    <a:pt x="591" y="7497"/>
                    <a:pt x="497" y="7789"/>
                    <a:pt x="378" y="7948"/>
                  </a:cubicBezTo>
                  <a:cubicBezTo>
                    <a:pt x="-152" y="8656"/>
                    <a:pt x="-113" y="12714"/>
                    <a:pt x="427" y="13608"/>
                  </a:cubicBezTo>
                  <a:cubicBezTo>
                    <a:pt x="503" y="13734"/>
                    <a:pt x="589" y="14022"/>
                    <a:pt x="624" y="14248"/>
                  </a:cubicBezTo>
                  <a:cubicBezTo>
                    <a:pt x="723" y="14885"/>
                    <a:pt x="1623" y="16575"/>
                    <a:pt x="1978" y="16782"/>
                  </a:cubicBezTo>
                  <a:cubicBezTo>
                    <a:pt x="2153" y="16884"/>
                    <a:pt x="2240" y="17045"/>
                    <a:pt x="2175" y="17151"/>
                  </a:cubicBezTo>
                  <a:cubicBezTo>
                    <a:pt x="1757" y="17826"/>
                    <a:pt x="7526" y="21536"/>
                    <a:pt x="8181" y="21015"/>
                  </a:cubicBezTo>
                  <a:cubicBezTo>
                    <a:pt x="8347" y="20883"/>
                    <a:pt x="8511" y="20896"/>
                    <a:pt x="8600" y="21039"/>
                  </a:cubicBezTo>
                  <a:cubicBezTo>
                    <a:pt x="8686" y="21179"/>
                    <a:pt x="9297" y="21220"/>
                    <a:pt x="10175" y="21138"/>
                  </a:cubicBezTo>
                  <a:cubicBezTo>
                    <a:pt x="11144" y="21047"/>
                    <a:pt x="11693" y="21088"/>
                    <a:pt x="11800" y="21261"/>
                  </a:cubicBezTo>
                  <a:cubicBezTo>
                    <a:pt x="12000" y="21584"/>
                    <a:pt x="12322" y="21595"/>
                    <a:pt x="12514" y="21285"/>
                  </a:cubicBezTo>
                  <a:cubicBezTo>
                    <a:pt x="12594" y="21156"/>
                    <a:pt x="12760" y="21060"/>
                    <a:pt x="12908" y="21088"/>
                  </a:cubicBezTo>
                  <a:cubicBezTo>
                    <a:pt x="13316" y="21166"/>
                    <a:pt x="14278" y="20820"/>
                    <a:pt x="14730" y="20424"/>
                  </a:cubicBezTo>
                  <a:cubicBezTo>
                    <a:pt x="14950" y="20230"/>
                    <a:pt x="15148" y="20151"/>
                    <a:pt x="15148" y="20227"/>
                  </a:cubicBezTo>
                  <a:cubicBezTo>
                    <a:pt x="15148" y="20655"/>
                    <a:pt x="16658" y="19711"/>
                    <a:pt x="17954" y="18480"/>
                  </a:cubicBezTo>
                  <a:cubicBezTo>
                    <a:pt x="19369" y="17138"/>
                    <a:pt x="19980" y="16301"/>
                    <a:pt x="20096" y="15601"/>
                  </a:cubicBezTo>
                  <a:cubicBezTo>
                    <a:pt x="20124" y="15432"/>
                    <a:pt x="20286" y="15122"/>
                    <a:pt x="20465" y="14912"/>
                  </a:cubicBezTo>
                  <a:cubicBezTo>
                    <a:pt x="20948" y="14349"/>
                    <a:pt x="21172" y="13727"/>
                    <a:pt x="21253" y="12574"/>
                  </a:cubicBezTo>
                  <a:cubicBezTo>
                    <a:pt x="21293" y="12007"/>
                    <a:pt x="21354" y="11195"/>
                    <a:pt x="21401" y="10753"/>
                  </a:cubicBezTo>
                  <a:cubicBezTo>
                    <a:pt x="21448" y="10312"/>
                    <a:pt x="21398" y="9828"/>
                    <a:pt x="21278" y="9671"/>
                  </a:cubicBezTo>
                  <a:cubicBezTo>
                    <a:pt x="21157" y="9514"/>
                    <a:pt x="21110" y="9150"/>
                    <a:pt x="21179" y="8883"/>
                  </a:cubicBezTo>
                  <a:cubicBezTo>
                    <a:pt x="21249" y="8617"/>
                    <a:pt x="21193" y="8134"/>
                    <a:pt x="21056" y="7801"/>
                  </a:cubicBezTo>
                  <a:cubicBezTo>
                    <a:pt x="20919" y="7468"/>
                    <a:pt x="20758" y="6995"/>
                    <a:pt x="20712" y="6742"/>
                  </a:cubicBezTo>
                  <a:cubicBezTo>
                    <a:pt x="20666" y="6490"/>
                    <a:pt x="20420" y="6001"/>
                    <a:pt x="20170" y="5660"/>
                  </a:cubicBezTo>
                  <a:cubicBezTo>
                    <a:pt x="19920" y="5318"/>
                    <a:pt x="19727" y="4921"/>
                    <a:pt x="19727" y="4774"/>
                  </a:cubicBezTo>
                  <a:cubicBezTo>
                    <a:pt x="19727" y="4502"/>
                    <a:pt x="17617" y="2335"/>
                    <a:pt x="16945" y="1919"/>
                  </a:cubicBezTo>
                  <a:cubicBezTo>
                    <a:pt x="16043" y="1361"/>
                    <a:pt x="14580" y="624"/>
                    <a:pt x="14237" y="541"/>
                  </a:cubicBezTo>
                  <a:cubicBezTo>
                    <a:pt x="14031" y="492"/>
                    <a:pt x="13402" y="338"/>
                    <a:pt x="12834" y="197"/>
                  </a:cubicBezTo>
                  <a:cubicBezTo>
                    <a:pt x="12282" y="60"/>
                    <a:pt x="11618" y="-5"/>
                    <a:pt x="10914" y="0"/>
                  </a:cubicBezTo>
                  <a:close/>
                </a:path>
              </a:pathLst>
            </a:custGeom>
            <a:ln w="12700" cap="flat">
              <a:noFill/>
              <a:miter lim="400000"/>
            </a:ln>
            <a:effectLst/>
          </p:spPr>
        </p:pic>
        <p:pic>
          <p:nvPicPr>
            <p:cNvPr id="359" name="pasted-movie.png" descr="pasted-movie.png"/>
            <p:cNvPicPr>
              <a:picLocks noChangeAspect="1"/>
            </p:cNvPicPr>
            <p:nvPr/>
          </p:nvPicPr>
          <p:blipFill>
            <a:blip r:embed="rId5">
              <a:alphaModFix amt="24171"/>
            </a:blip>
            <a:srcRect l="51929" t="54372" r="40725" b="34557"/>
            <a:stretch>
              <a:fillRect/>
            </a:stretch>
          </p:blipFill>
          <p:spPr>
            <a:xfrm>
              <a:off x="1144693" y="1968595"/>
              <a:ext cx="345298" cy="346933"/>
            </a:xfrm>
            <a:custGeom>
              <a:avLst/>
              <a:gdLst/>
              <a:ahLst/>
              <a:cxnLst>
                <a:cxn ang="0">
                  <a:pos x="wd2" y="hd2"/>
                </a:cxn>
                <a:cxn ang="5400000">
                  <a:pos x="wd2" y="hd2"/>
                </a:cxn>
                <a:cxn ang="10800000">
                  <a:pos x="wd2" y="hd2"/>
                </a:cxn>
                <a:cxn ang="16200000">
                  <a:pos x="wd2" y="hd2"/>
                </a:cxn>
              </a:cxnLst>
              <a:rect l="0" t="0" r="r" b="b"/>
              <a:pathLst>
                <a:path w="21418" h="21511" extrusionOk="0">
                  <a:moveTo>
                    <a:pt x="10914" y="0"/>
                  </a:moveTo>
                  <a:cubicBezTo>
                    <a:pt x="8802" y="15"/>
                    <a:pt x="6317" y="627"/>
                    <a:pt x="5277" y="1501"/>
                  </a:cubicBezTo>
                  <a:cubicBezTo>
                    <a:pt x="4892" y="1824"/>
                    <a:pt x="4587" y="2024"/>
                    <a:pt x="4587" y="1944"/>
                  </a:cubicBezTo>
                  <a:cubicBezTo>
                    <a:pt x="4587" y="1645"/>
                    <a:pt x="1784" y="4568"/>
                    <a:pt x="1732" y="4922"/>
                  </a:cubicBezTo>
                  <a:cubicBezTo>
                    <a:pt x="1702" y="5125"/>
                    <a:pt x="1578" y="5354"/>
                    <a:pt x="1461" y="5438"/>
                  </a:cubicBezTo>
                  <a:cubicBezTo>
                    <a:pt x="1128" y="5678"/>
                    <a:pt x="542" y="6927"/>
                    <a:pt x="575" y="7308"/>
                  </a:cubicBezTo>
                  <a:cubicBezTo>
                    <a:pt x="591" y="7497"/>
                    <a:pt x="497" y="7789"/>
                    <a:pt x="378" y="7948"/>
                  </a:cubicBezTo>
                  <a:cubicBezTo>
                    <a:pt x="-152" y="8656"/>
                    <a:pt x="-113" y="12714"/>
                    <a:pt x="427" y="13608"/>
                  </a:cubicBezTo>
                  <a:cubicBezTo>
                    <a:pt x="503" y="13734"/>
                    <a:pt x="589" y="14022"/>
                    <a:pt x="624" y="14248"/>
                  </a:cubicBezTo>
                  <a:cubicBezTo>
                    <a:pt x="723" y="14885"/>
                    <a:pt x="1623" y="16575"/>
                    <a:pt x="1978" y="16782"/>
                  </a:cubicBezTo>
                  <a:cubicBezTo>
                    <a:pt x="2153" y="16884"/>
                    <a:pt x="2240" y="17045"/>
                    <a:pt x="2175" y="17151"/>
                  </a:cubicBezTo>
                  <a:cubicBezTo>
                    <a:pt x="1757" y="17826"/>
                    <a:pt x="7526" y="21536"/>
                    <a:pt x="8181" y="21015"/>
                  </a:cubicBezTo>
                  <a:cubicBezTo>
                    <a:pt x="8347" y="20883"/>
                    <a:pt x="8511" y="20896"/>
                    <a:pt x="8600" y="21039"/>
                  </a:cubicBezTo>
                  <a:cubicBezTo>
                    <a:pt x="8686" y="21179"/>
                    <a:pt x="9297" y="21220"/>
                    <a:pt x="10175" y="21138"/>
                  </a:cubicBezTo>
                  <a:cubicBezTo>
                    <a:pt x="11144" y="21047"/>
                    <a:pt x="11693" y="21088"/>
                    <a:pt x="11800" y="21261"/>
                  </a:cubicBezTo>
                  <a:cubicBezTo>
                    <a:pt x="12000" y="21584"/>
                    <a:pt x="12322" y="21595"/>
                    <a:pt x="12514" y="21285"/>
                  </a:cubicBezTo>
                  <a:cubicBezTo>
                    <a:pt x="12594" y="21156"/>
                    <a:pt x="12760" y="21060"/>
                    <a:pt x="12908" y="21088"/>
                  </a:cubicBezTo>
                  <a:cubicBezTo>
                    <a:pt x="13316" y="21166"/>
                    <a:pt x="14278" y="20820"/>
                    <a:pt x="14730" y="20424"/>
                  </a:cubicBezTo>
                  <a:cubicBezTo>
                    <a:pt x="14950" y="20230"/>
                    <a:pt x="15148" y="20151"/>
                    <a:pt x="15148" y="20227"/>
                  </a:cubicBezTo>
                  <a:cubicBezTo>
                    <a:pt x="15148" y="20655"/>
                    <a:pt x="16658" y="19711"/>
                    <a:pt x="17954" y="18480"/>
                  </a:cubicBezTo>
                  <a:cubicBezTo>
                    <a:pt x="19369" y="17138"/>
                    <a:pt x="19980" y="16301"/>
                    <a:pt x="20096" y="15601"/>
                  </a:cubicBezTo>
                  <a:cubicBezTo>
                    <a:pt x="20124" y="15432"/>
                    <a:pt x="20286" y="15122"/>
                    <a:pt x="20465" y="14912"/>
                  </a:cubicBezTo>
                  <a:cubicBezTo>
                    <a:pt x="20948" y="14349"/>
                    <a:pt x="21172" y="13727"/>
                    <a:pt x="21253" y="12574"/>
                  </a:cubicBezTo>
                  <a:cubicBezTo>
                    <a:pt x="21293" y="12007"/>
                    <a:pt x="21354" y="11195"/>
                    <a:pt x="21401" y="10753"/>
                  </a:cubicBezTo>
                  <a:cubicBezTo>
                    <a:pt x="21448" y="10312"/>
                    <a:pt x="21398" y="9828"/>
                    <a:pt x="21278" y="9671"/>
                  </a:cubicBezTo>
                  <a:cubicBezTo>
                    <a:pt x="21157" y="9514"/>
                    <a:pt x="21110" y="9150"/>
                    <a:pt x="21179" y="8883"/>
                  </a:cubicBezTo>
                  <a:cubicBezTo>
                    <a:pt x="21249" y="8617"/>
                    <a:pt x="21193" y="8134"/>
                    <a:pt x="21056" y="7801"/>
                  </a:cubicBezTo>
                  <a:cubicBezTo>
                    <a:pt x="20919" y="7468"/>
                    <a:pt x="20758" y="6995"/>
                    <a:pt x="20712" y="6742"/>
                  </a:cubicBezTo>
                  <a:cubicBezTo>
                    <a:pt x="20666" y="6490"/>
                    <a:pt x="20420" y="6001"/>
                    <a:pt x="20170" y="5660"/>
                  </a:cubicBezTo>
                  <a:cubicBezTo>
                    <a:pt x="19920" y="5318"/>
                    <a:pt x="19727" y="4921"/>
                    <a:pt x="19727" y="4774"/>
                  </a:cubicBezTo>
                  <a:cubicBezTo>
                    <a:pt x="19727" y="4502"/>
                    <a:pt x="17617" y="2335"/>
                    <a:pt x="16945" y="1919"/>
                  </a:cubicBezTo>
                  <a:cubicBezTo>
                    <a:pt x="16043" y="1361"/>
                    <a:pt x="14580" y="624"/>
                    <a:pt x="14237" y="541"/>
                  </a:cubicBezTo>
                  <a:cubicBezTo>
                    <a:pt x="14031" y="492"/>
                    <a:pt x="13402" y="338"/>
                    <a:pt x="12834" y="197"/>
                  </a:cubicBezTo>
                  <a:cubicBezTo>
                    <a:pt x="12282" y="60"/>
                    <a:pt x="11618" y="-5"/>
                    <a:pt x="10914" y="0"/>
                  </a:cubicBezTo>
                  <a:close/>
                </a:path>
              </a:pathLst>
            </a:custGeom>
            <a:ln w="12700" cap="flat">
              <a:noFill/>
              <a:miter lim="400000"/>
            </a:ln>
            <a:effectLst/>
          </p:spPr>
        </p:pic>
        <p:pic>
          <p:nvPicPr>
            <p:cNvPr id="360" name="pasted-movie.png" descr="pasted-movie.png"/>
            <p:cNvPicPr>
              <a:picLocks noChangeAspect="1"/>
            </p:cNvPicPr>
            <p:nvPr/>
          </p:nvPicPr>
          <p:blipFill>
            <a:blip r:embed="rId5">
              <a:alphaModFix amt="16565"/>
            </a:blip>
            <a:srcRect l="51929" t="54372" r="40725" b="34557"/>
            <a:stretch>
              <a:fillRect/>
            </a:stretch>
          </p:blipFill>
          <p:spPr>
            <a:xfrm>
              <a:off x="1516504" y="1968595"/>
              <a:ext cx="345298" cy="346933"/>
            </a:xfrm>
            <a:custGeom>
              <a:avLst/>
              <a:gdLst/>
              <a:ahLst/>
              <a:cxnLst>
                <a:cxn ang="0">
                  <a:pos x="wd2" y="hd2"/>
                </a:cxn>
                <a:cxn ang="5400000">
                  <a:pos x="wd2" y="hd2"/>
                </a:cxn>
                <a:cxn ang="10800000">
                  <a:pos x="wd2" y="hd2"/>
                </a:cxn>
                <a:cxn ang="16200000">
                  <a:pos x="wd2" y="hd2"/>
                </a:cxn>
              </a:cxnLst>
              <a:rect l="0" t="0" r="r" b="b"/>
              <a:pathLst>
                <a:path w="21418" h="21511" extrusionOk="0">
                  <a:moveTo>
                    <a:pt x="10914" y="0"/>
                  </a:moveTo>
                  <a:cubicBezTo>
                    <a:pt x="8802" y="15"/>
                    <a:pt x="6317" y="627"/>
                    <a:pt x="5277" y="1501"/>
                  </a:cubicBezTo>
                  <a:cubicBezTo>
                    <a:pt x="4892" y="1824"/>
                    <a:pt x="4587" y="2024"/>
                    <a:pt x="4587" y="1944"/>
                  </a:cubicBezTo>
                  <a:cubicBezTo>
                    <a:pt x="4587" y="1645"/>
                    <a:pt x="1784" y="4568"/>
                    <a:pt x="1732" y="4922"/>
                  </a:cubicBezTo>
                  <a:cubicBezTo>
                    <a:pt x="1702" y="5125"/>
                    <a:pt x="1578" y="5354"/>
                    <a:pt x="1461" y="5438"/>
                  </a:cubicBezTo>
                  <a:cubicBezTo>
                    <a:pt x="1128" y="5678"/>
                    <a:pt x="542" y="6927"/>
                    <a:pt x="575" y="7308"/>
                  </a:cubicBezTo>
                  <a:cubicBezTo>
                    <a:pt x="591" y="7497"/>
                    <a:pt x="497" y="7789"/>
                    <a:pt x="378" y="7948"/>
                  </a:cubicBezTo>
                  <a:cubicBezTo>
                    <a:pt x="-152" y="8656"/>
                    <a:pt x="-113" y="12714"/>
                    <a:pt x="427" y="13608"/>
                  </a:cubicBezTo>
                  <a:cubicBezTo>
                    <a:pt x="503" y="13734"/>
                    <a:pt x="589" y="14022"/>
                    <a:pt x="624" y="14248"/>
                  </a:cubicBezTo>
                  <a:cubicBezTo>
                    <a:pt x="723" y="14885"/>
                    <a:pt x="1623" y="16575"/>
                    <a:pt x="1978" y="16782"/>
                  </a:cubicBezTo>
                  <a:cubicBezTo>
                    <a:pt x="2153" y="16884"/>
                    <a:pt x="2240" y="17045"/>
                    <a:pt x="2175" y="17151"/>
                  </a:cubicBezTo>
                  <a:cubicBezTo>
                    <a:pt x="1757" y="17826"/>
                    <a:pt x="7526" y="21536"/>
                    <a:pt x="8181" y="21015"/>
                  </a:cubicBezTo>
                  <a:cubicBezTo>
                    <a:pt x="8347" y="20883"/>
                    <a:pt x="8511" y="20896"/>
                    <a:pt x="8600" y="21039"/>
                  </a:cubicBezTo>
                  <a:cubicBezTo>
                    <a:pt x="8686" y="21179"/>
                    <a:pt x="9297" y="21220"/>
                    <a:pt x="10175" y="21138"/>
                  </a:cubicBezTo>
                  <a:cubicBezTo>
                    <a:pt x="11144" y="21047"/>
                    <a:pt x="11693" y="21088"/>
                    <a:pt x="11800" y="21261"/>
                  </a:cubicBezTo>
                  <a:cubicBezTo>
                    <a:pt x="12000" y="21584"/>
                    <a:pt x="12322" y="21595"/>
                    <a:pt x="12514" y="21285"/>
                  </a:cubicBezTo>
                  <a:cubicBezTo>
                    <a:pt x="12594" y="21156"/>
                    <a:pt x="12760" y="21060"/>
                    <a:pt x="12908" y="21088"/>
                  </a:cubicBezTo>
                  <a:cubicBezTo>
                    <a:pt x="13316" y="21166"/>
                    <a:pt x="14278" y="20820"/>
                    <a:pt x="14730" y="20424"/>
                  </a:cubicBezTo>
                  <a:cubicBezTo>
                    <a:pt x="14950" y="20230"/>
                    <a:pt x="15148" y="20151"/>
                    <a:pt x="15148" y="20227"/>
                  </a:cubicBezTo>
                  <a:cubicBezTo>
                    <a:pt x="15148" y="20655"/>
                    <a:pt x="16658" y="19711"/>
                    <a:pt x="17954" y="18480"/>
                  </a:cubicBezTo>
                  <a:cubicBezTo>
                    <a:pt x="19369" y="17138"/>
                    <a:pt x="19980" y="16301"/>
                    <a:pt x="20096" y="15601"/>
                  </a:cubicBezTo>
                  <a:cubicBezTo>
                    <a:pt x="20124" y="15432"/>
                    <a:pt x="20286" y="15122"/>
                    <a:pt x="20465" y="14912"/>
                  </a:cubicBezTo>
                  <a:cubicBezTo>
                    <a:pt x="20948" y="14349"/>
                    <a:pt x="21172" y="13727"/>
                    <a:pt x="21253" y="12574"/>
                  </a:cubicBezTo>
                  <a:cubicBezTo>
                    <a:pt x="21293" y="12007"/>
                    <a:pt x="21354" y="11195"/>
                    <a:pt x="21401" y="10753"/>
                  </a:cubicBezTo>
                  <a:cubicBezTo>
                    <a:pt x="21448" y="10312"/>
                    <a:pt x="21398" y="9828"/>
                    <a:pt x="21278" y="9671"/>
                  </a:cubicBezTo>
                  <a:cubicBezTo>
                    <a:pt x="21157" y="9514"/>
                    <a:pt x="21110" y="9150"/>
                    <a:pt x="21179" y="8883"/>
                  </a:cubicBezTo>
                  <a:cubicBezTo>
                    <a:pt x="21249" y="8617"/>
                    <a:pt x="21193" y="8134"/>
                    <a:pt x="21056" y="7801"/>
                  </a:cubicBezTo>
                  <a:cubicBezTo>
                    <a:pt x="20919" y="7468"/>
                    <a:pt x="20758" y="6995"/>
                    <a:pt x="20712" y="6742"/>
                  </a:cubicBezTo>
                  <a:cubicBezTo>
                    <a:pt x="20666" y="6490"/>
                    <a:pt x="20420" y="6001"/>
                    <a:pt x="20170" y="5660"/>
                  </a:cubicBezTo>
                  <a:cubicBezTo>
                    <a:pt x="19920" y="5318"/>
                    <a:pt x="19727" y="4921"/>
                    <a:pt x="19727" y="4774"/>
                  </a:cubicBezTo>
                  <a:cubicBezTo>
                    <a:pt x="19727" y="4502"/>
                    <a:pt x="17617" y="2335"/>
                    <a:pt x="16945" y="1919"/>
                  </a:cubicBezTo>
                  <a:cubicBezTo>
                    <a:pt x="16043" y="1361"/>
                    <a:pt x="14580" y="624"/>
                    <a:pt x="14237" y="541"/>
                  </a:cubicBezTo>
                  <a:cubicBezTo>
                    <a:pt x="14031" y="492"/>
                    <a:pt x="13402" y="338"/>
                    <a:pt x="12834" y="197"/>
                  </a:cubicBezTo>
                  <a:cubicBezTo>
                    <a:pt x="12282" y="60"/>
                    <a:pt x="11618" y="-5"/>
                    <a:pt x="10914" y="0"/>
                  </a:cubicBezTo>
                  <a:close/>
                </a:path>
              </a:pathLst>
            </a:custGeom>
            <a:ln w="12700" cap="flat">
              <a:noFill/>
              <a:miter lim="400000"/>
            </a:ln>
            <a:effectLst/>
          </p:spPr>
        </p:pic>
        <p:pic>
          <p:nvPicPr>
            <p:cNvPr id="361" name="pasted-movie.png" descr="pasted-movie.png"/>
            <p:cNvPicPr>
              <a:picLocks noChangeAspect="1"/>
            </p:cNvPicPr>
            <p:nvPr/>
          </p:nvPicPr>
          <p:blipFill>
            <a:blip r:embed="rId4"/>
            <a:srcRect l="36890" t="15740" r="36887" b="31021"/>
            <a:stretch>
              <a:fillRect/>
            </a:stretch>
          </p:blipFill>
          <p:spPr>
            <a:xfrm>
              <a:off x="3387996" y="761094"/>
              <a:ext cx="1232694" cy="166846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95"/>
                  </a:lnTo>
                  <a:cubicBezTo>
                    <a:pt x="1729" y="251"/>
                    <a:pt x="4609" y="1127"/>
                    <a:pt x="6572" y="2220"/>
                  </a:cubicBezTo>
                  <a:cubicBezTo>
                    <a:pt x="7254" y="2599"/>
                    <a:pt x="7535" y="2675"/>
                    <a:pt x="7434" y="2446"/>
                  </a:cubicBezTo>
                  <a:cubicBezTo>
                    <a:pt x="7245" y="2018"/>
                    <a:pt x="4465" y="818"/>
                    <a:pt x="2587" y="355"/>
                  </a:cubicBezTo>
                  <a:cubicBezTo>
                    <a:pt x="1752" y="148"/>
                    <a:pt x="685" y="24"/>
                    <a:pt x="0" y="0"/>
                  </a:cubicBezTo>
                  <a:close/>
                  <a:moveTo>
                    <a:pt x="0" y="2415"/>
                  </a:moveTo>
                  <a:lnTo>
                    <a:pt x="0" y="2610"/>
                  </a:lnTo>
                  <a:cubicBezTo>
                    <a:pt x="168" y="2656"/>
                    <a:pt x="287" y="2702"/>
                    <a:pt x="542" y="2749"/>
                  </a:cubicBezTo>
                  <a:cubicBezTo>
                    <a:pt x="1977" y="3009"/>
                    <a:pt x="3370" y="3544"/>
                    <a:pt x="4597" y="4306"/>
                  </a:cubicBezTo>
                  <a:cubicBezTo>
                    <a:pt x="5714" y="4999"/>
                    <a:pt x="7065" y="6168"/>
                    <a:pt x="6933" y="6325"/>
                  </a:cubicBezTo>
                  <a:cubicBezTo>
                    <a:pt x="6888" y="6379"/>
                    <a:pt x="6655" y="6389"/>
                    <a:pt x="6419" y="6351"/>
                  </a:cubicBezTo>
                  <a:cubicBezTo>
                    <a:pt x="5708" y="6235"/>
                    <a:pt x="5941" y="6440"/>
                    <a:pt x="6996" y="6864"/>
                  </a:cubicBezTo>
                  <a:cubicBezTo>
                    <a:pt x="7544" y="7085"/>
                    <a:pt x="8058" y="7270"/>
                    <a:pt x="8143" y="7275"/>
                  </a:cubicBezTo>
                  <a:cubicBezTo>
                    <a:pt x="8247" y="7281"/>
                    <a:pt x="8263" y="7072"/>
                    <a:pt x="8192" y="6654"/>
                  </a:cubicBezTo>
                  <a:cubicBezTo>
                    <a:pt x="8134" y="6308"/>
                    <a:pt x="8081" y="5916"/>
                    <a:pt x="8074" y="5780"/>
                  </a:cubicBezTo>
                  <a:cubicBezTo>
                    <a:pt x="8055" y="5412"/>
                    <a:pt x="7768" y="5485"/>
                    <a:pt x="7768" y="5857"/>
                  </a:cubicBezTo>
                  <a:cubicBezTo>
                    <a:pt x="7768" y="6369"/>
                    <a:pt x="7534" y="6342"/>
                    <a:pt x="7038" y="5770"/>
                  </a:cubicBezTo>
                  <a:cubicBezTo>
                    <a:pt x="5670" y="4194"/>
                    <a:pt x="2654" y="2733"/>
                    <a:pt x="111" y="2420"/>
                  </a:cubicBezTo>
                  <a:cubicBezTo>
                    <a:pt x="57" y="2413"/>
                    <a:pt x="47" y="2420"/>
                    <a:pt x="0" y="2415"/>
                  </a:cubicBezTo>
                  <a:close/>
                  <a:moveTo>
                    <a:pt x="8032" y="2913"/>
                  </a:moveTo>
                  <a:cubicBezTo>
                    <a:pt x="8008" y="2917"/>
                    <a:pt x="7987" y="2926"/>
                    <a:pt x="7970" y="2939"/>
                  </a:cubicBezTo>
                  <a:cubicBezTo>
                    <a:pt x="7911" y="2982"/>
                    <a:pt x="8022" y="3143"/>
                    <a:pt x="8213" y="3293"/>
                  </a:cubicBezTo>
                  <a:cubicBezTo>
                    <a:pt x="8404" y="3444"/>
                    <a:pt x="8652" y="3566"/>
                    <a:pt x="8769" y="3566"/>
                  </a:cubicBezTo>
                  <a:cubicBezTo>
                    <a:pt x="8956" y="3566"/>
                    <a:pt x="8957" y="3533"/>
                    <a:pt x="8769" y="3324"/>
                  </a:cubicBezTo>
                  <a:cubicBezTo>
                    <a:pt x="8533" y="3062"/>
                    <a:pt x="8204" y="2884"/>
                    <a:pt x="8032" y="2913"/>
                  </a:cubicBezTo>
                  <a:close/>
                  <a:moveTo>
                    <a:pt x="9534" y="4110"/>
                  </a:moveTo>
                  <a:cubicBezTo>
                    <a:pt x="9321" y="4110"/>
                    <a:pt x="9368" y="4320"/>
                    <a:pt x="9653" y="4609"/>
                  </a:cubicBezTo>
                  <a:cubicBezTo>
                    <a:pt x="9887" y="4847"/>
                    <a:pt x="10278" y="4976"/>
                    <a:pt x="10278" y="4814"/>
                  </a:cubicBezTo>
                  <a:cubicBezTo>
                    <a:pt x="10278" y="4687"/>
                    <a:pt x="9670" y="4110"/>
                    <a:pt x="9534" y="4110"/>
                  </a:cubicBezTo>
                  <a:close/>
                  <a:moveTo>
                    <a:pt x="10772" y="5426"/>
                  </a:moveTo>
                  <a:cubicBezTo>
                    <a:pt x="10511" y="5426"/>
                    <a:pt x="10524" y="5474"/>
                    <a:pt x="10911" y="5975"/>
                  </a:cubicBezTo>
                  <a:cubicBezTo>
                    <a:pt x="11230" y="6388"/>
                    <a:pt x="11461" y="6529"/>
                    <a:pt x="11461" y="6304"/>
                  </a:cubicBezTo>
                  <a:cubicBezTo>
                    <a:pt x="11461" y="6073"/>
                    <a:pt x="10955" y="5426"/>
                    <a:pt x="10772" y="5426"/>
                  </a:cubicBezTo>
                  <a:close/>
                  <a:moveTo>
                    <a:pt x="11906" y="6957"/>
                  </a:moveTo>
                  <a:cubicBezTo>
                    <a:pt x="11873" y="6953"/>
                    <a:pt x="11839" y="6959"/>
                    <a:pt x="11794" y="6972"/>
                  </a:cubicBezTo>
                  <a:cubicBezTo>
                    <a:pt x="11721" y="6994"/>
                    <a:pt x="11787" y="7218"/>
                    <a:pt x="11941" y="7476"/>
                  </a:cubicBezTo>
                  <a:cubicBezTo>
                    <a:pt x="12280" y="8046"/>
                    <a:pt x="12598" y="7992"/>
                    <a:pt x="12274" y="7419"/>
                  </a:cubicBezTo>
                  <a:cubicBezTo>
                    <a:pt x="12077" y="7071"/>
                    <a:pt x="12004" y="6967"/>
                    <a:pt x="11906" y="6957"/>
                  </a:cubicBezTo>
                  <a:close/>
                  <a:moveTo>
                    <a:pt x="12712" y="8421"/>
                  </a:moveTo>
                  <a:cubicBezTo>
                    <a:pt x="12693" y="8418"/>
                    <a:pt x="12674" y="8419"/>
                    <a:pt x="12657" y="8426"/>
                  </a:cubicBezTo>
                  <a:cubicBezTo>
                    <a:pt x="12575" y="8464"/>
                    <a:pt x="12614" y="8692"/>
                    <a:pt x="12747" y="8981"/>
                  </a:cubicBezTo>
                  <a:cubicBezTo>
                    <a:pt x="12983" y="9492"/>
                    <a:pt x="13339" y="9675"/>
                    <a:pt x="13178" y="9202"/>
                  </a:cubicBezTo>
                  <a:cubicBezTo>
                    <a:pt x="13021" y="8738"/>
                    <a:pt x="12845" y="8445"/>
                    <a:pt x="12712" y="8421"/>
                  </a:cubicBezTo>
                  <a:close/>
                  <a:moveTo>
                    <a:pt x="13290" y="10004"/>
                  </a:moveTo>
                  <a:cubicBezTo>
                    <a:pt x="13260" y="10015"/>
                    <a:pt x="13241" y="10051"/>
                    <a:pt x="13241" y="10112"/>
                  </a:cubicBezTo>
                  <a:cubicBezTo>
                    <a:pt x="13241" y="10204"/>
                    <a:pt x="13479" y="10802"/>
                    <a:pt x="13644" y="11113"/>
                  </a:cubicBezTo>
                  <a:cubicBezTo>
                    <a:pt x="13819" y="11443"/>
                    <a:pt x="13851" y="10785"/>
                    <a:pt x="13679" y="10399"/>
                  </a:cubicBezTo>
                  <a:cubicBezTo>
                    <a:pt x="13565" y="10144"/>
                    <a:pt x="13379" y="9971"/>
                    <a:pt x="13290" y="10004"/>
                  </a:cubicBezTo>
                  <a:close/>
                  <a:moveTo>
                    <a:pt x="14034" y="11828"/>
                  </a:moveTo>
                  <a:cubicBezTo>
                    <a:pt x="13930" y="11810"/>
                    <a:pt x="13884" y="12052"/>
                    <a:pt x="13999" y="12449"/>
                  </a:cubicBezTo>
                  <a:cubicBezTo>
                    <a:pt x="14082" y="12735"/>
                    <a:pt x="14209" y="12968"/>
                    <a:pt x="14284" y="12968"/>
                  </a:cubicBezTo>
                  <a:cubicBezTo>
                    <a:pt x="14463" y="12968"/>
                    <a:pt x="14459" y="12687"/>
                    <a:pt x="14263" y="12167"/>
                  </a:cubicBezTo>
                  <a:cubicBezTo>
                    <a:pt x="14180" y="11944"/>
                    <a:pt x="14096" y="11838"/>
                    <a:pt x="14034" y="11828"/>
                  </a:cubicBezTo>
                  <a:close/>
                  <a:moveTo>
                    <a:pt x="14381" y="13539"/>
                  </a:moveTo>
                  <a:cubicBezTo>
                    <a:pt x="14262" y="13572"/>
                    <a:pt x="14305" y="13871"/>
                    <a:pt x="14521" y="14433"/>
                  </a:cubicBezTo>
                  <a:cubicBezTo>
                    <a:pt x="14568" y="14556"/>
                    <a:pt x="14653" y="14592"/>
                    <a:pt x="14736" y="14530"/>
                  </a:cubicBezTo>
                  <a:cubicBezTo>
                    <a:pt x="14922" y="14392"/>
                    <a:pt x="14683" y="13599"/>
                    <a:pt x="14437" y="13539"/>
                  </a:cubicBezTo>
                  <a:cubicBezTo>
                    <a:pt x="14413" y="13533"/>
                    <a:pt x="14398" y="13534"/>
                    <a:pt x="14381" y="13539"/>
                  </a:cubicBezTo>
                  <a:close/>
                  <a:moveTo>
                    <a:pt x="15439" y="15748"/>
                  </a:moveTo>
                  <a:cubicBezTo>
                    <a:pt x="13882" y="15729"/>
                    <a:pt x="12504" y="16603"/>
                    <a:pt x="12504" y="17890"/>
                  </a:cubicBezTo>
                  <a:cubicBezTo>
                    <a:pt x="12504" y="18843"/>
                    <a:pt x="13267" y="19641"/>
                    <a:pt x="14444" y="19920"/>
                  </a:cubicBezTo>
                  <a:cubicBezTo>
                    <a:pt x="15262" y="20114"/>
                    <a:pt x="16237" y="20030"/>
                    <a:pt x="17010" y="19699"/>
                  </a:cubicBezTo>
                  <a:cubicBezTo>
                    <a:pt x="18737" y="18959"/>
                    <a:pt x="18737" y="16830"/>
                    <a:pt x="17010" y="16082"/>
                  </a:cubicBezTo>
                  <a:cubicBezTo>
                    <a:pt x="16496" y="15859"/>
                    <a:pt x="15957" y="15754"/>
                    <a:pt x="15439" y="15748"/>
                  </a:cubicBezTo>
                  <a:close/>
                  <a:moveTo>
                    <a:pt x="21600" y="21230"/>
                  </a:moveTo>
                  <a:cubicBezTo>
                    <a:pt x="21125" y="21252"/>
                    <a:pt x="16433" y="21292"/>
                    <a:pt x="10313" y="21323"/>
                  </a:cubicBezTo>
                  <a:cubicBezTo>
                    <a:pt x="3772" y="21355"/>
                    <a:pt x="1254" y="21339"/>
                    <a:pt x="0" y="21297"/>
                  </a:cubicBezTo>
                  <a:lnTo>
                    <a:pt x="0" y="21600"/>
                  </a:lnTo>
                  <a:lnTo>
                    <a:pt x="21600" y="21600"/>
                  </a:lnTo>
                  <a:lnTo>
                    <a:pt x="21600" y="21230"/>
                  </a:lnTo>
                  <a:close/>
                </a:path>
              </a:pathLst>
            </a:custGeom>
            <a:ln w="12700" cap="flat">
              <a:noFill/>
              <a:miter lim="400000"/>
            </a:ln>
            <a:effectLst/>
          </p:spPr>
        </p:pic>
        <p:pic>
          <p:nvPicPr>
            <p:cNvPr id="362" name="pasted-movie.png" descr="pasted-movie.png"/>
            <p:cNvPicPr>
              <a:picLocks noChangeAspect="1"/>
            </p:cNvPicPr>
            <p:nvPr/>
          </p:nvPicPr>
          <p:blipFill>
            <a:blip r:embed="rId4"/>
            <a:srcRect l="67495" t="19057" r="6721" b="30977"/>
            <a:stretch>
              <a:fillRect/>
            </a:stretch>
          </p:blipFill>
          <p:spPr>
            <a:xfrm>
              <a:off x="8467235" y="812426"/>
              <a:ext cx="1212057" cy="1565876"/>
            </a:xfrm>
            <a:custGeom>
              <a:avLst/>
              <a:gdLst/>
              <a:ahLst/>
              <a:cxnLst>
                <a:cxn ang="0">
                  <a:pos x="wd2" y="hd2"/>
                </a:cxn>
                <a:cxn ang="5400000">
                  <a:pos x="wd2" y="hd2"/>
                </a:cxn>
                <a:cxn ang="10800000">
                  <a:pos x="wd2" y="hd2"/>
                </a:cxn>
                <a:cxn ang="16200000">
                  <a:pos x="wd2" y="hd2"/>
                </a:cxn>
              </a:cxnLst>
              <a:rect l="0" t="0" r="r" b="b"/>
              <a:pathLst>
                <a:path w="21600" h="21590" extrusionOk="0">
                  <a:moveTo>
                    <a:pt x="820" y="2"/>
                  </a:moveTo>
                  <a:cubicBezTo>
                    <a:pt x="550" y="-10"/>
                    <a:pt x="409" y="18"/>
                    <a:pt x="509" y="95"/>
                  </a:cubicBezTo>
                  <a:cubicBezTo>
                    <a:pt x="533" y="114"/>
                    <a:pt x="948" y="207"/>
                    <a:pt x="1429" y="303"/>
                  </a:cubicBezTo>
                  <a:cubicBezTo>
                    <a:pt x="3204" y="660"/>
                    <a:pt x="5192" y="1373"/>
                    <a:pt x="6457" y="2109"/>
                  </a:cubicBezTo>
                  <a:cubicBezTo>
                    <a:pt x="7442" y="2682"/>
                    <a:pt x="8928" y="3804"/>
                    <a:pt x="9739" y="4588"/>
                  </a:cubicBezTo>
                  <a:cubicBezTo>
                    <a:pt x="12433" y="7190"/>
                    <a:pt x="14237" y="10323"/>
                    <a:pt x="15574" y="14739"/>
                  </a:cubicBezTo>
                  <a:cubicBezTo>
                    <a:pt x="15791" y="15455"/>
                    <a:pt x="15985" y="16072"/>
                    <a:pt x="16013" y="16107"/>
                  </a:cubicBezTo>
                  <a:cubicBezTo>
                    <a:pt x="16091" y="16204"/>
                    <a:pt x="16212" y="16183"/>
                    <a:pt x="16274" y="16058"/>
                  </a:cubicBezTo>
                  <a:cubicBezTo>
                    <a:pt x="16386" y="15832"/>
                    <a:pt x="15663" y="13378"/>
                    <a:pt x="15008" y="11746"/>
                  </a:cubicBezTo>
                  <a:cubicBezTo>
                    <a:pt x="13415" y="7776"/>
                    <a:pt x="10845" y="4482"/>
                    <a:pt x="7745" y="2448"/>
                  </a:cubicBezTo>
                  <a:cubicBezTo>
                    <a:pt x="6363" y="1542"/>
                    <a:pt x="4685" y="825"/>
                    <a:pt x="2822" y="342"/>
                  </a:cubicBezTo>
                  <a:cubicBezTo>
                    <a:pt x="2094" y="153"/>
                    <a:pt x="1272" y="23"/>
                    <a:pt x="820" y="2"/>
                  </a:cubicBezTo>
                  <a:close/>
                  <a:moveTo>
                    <a:pt x="12292" y="16309"/>
                  </a:moveTo>
                  <a:cubicBezTo>
                    <a:pt x="12000" y="16309"/>
                    <a:pt x="12028" y="16437"/>
                    <a:pt x="12363" y="16632"/>
                  </a:cubicBezTo>
                  <a:cubicBezTo>
                    <a:pt x="12546" y="16739"/>
                    <a:pt x="12935" y="17005"/>
                    <a:pt x="13233" y="17223"/>
                  </a:cubicBezTo>
                  <a:cubicBezTo>
                    <a:pt x="14047" y="17819"/>
                    <a:pt x="14277" y="17742"/>
                    <a:pt x="13629" y="17092"/>
                  </a:cubicBezTo>
                  <a:cubicBezTo>
                    <a:pt x="13247" y="16709"/>
                    <a:pt x="12564" y="16309"/>
                    <a:pt x="12292" y="16309"/>
                  </a:cubicBezTo>
                  <a:close/>
                  <a:moveTo>
                    <a:pt x="17576" y="16972"/>
                  </a:moveTo>
                  <a:cubicBezTo>
                    <a:pt x="16508" y="16969"/>
                    <a:pt x="15643" y="17301"/>
                    <a:pt x="15114" y="17924"/>
                  </a:cubicBezTo>
                  <a:cubicBezTo>
                    <a:pt x="14306" y="18876"/>
                    <a:pt x="14414" y="20099"/>
                    <a:pt x="15376" y="20922"/>
                  </a:cubicBezTo>
                  <a:cubicBezTo>
                    <a:pt x="15553" y="21074"/>
                    <a:pt x="15670" y="21215"/>
                    <a:pt x="15638" y="21240"/>
                  </a:cubicBezTo>
                  <a:cubicBezTo>
                    <a:pt x="15556" y="21303"/>
                    <a:pt x="366" y="21296"/>
                    <a:pt x="0" y="21234"/>
                  </a:cubicBezTo>
                  <a:lnTo>
                    <a:pt x="0" y="21590"/>
                  </a:lnTo>
                  <a:lnTo>
                    <a:pt x="10602" y="21590"/>
                  </a:lnTo>
                  <a:cubicBezTo>
                    <a:pt x="16527" y="21586"/>
                    <a:pt x="21425" y="21579"/>
                    <a:pt x="21487" y="21574"/>
                  </a:cubicBezTo>
                  <a:cubicBezTo>
                    <a:pt x="21548" y="21568"/>
                    <a:pt x="21600" y="21516"/>
                    <a:pt x="21600" y="21459"/>
                  </a:cubicBezTo>
                  <a:cubicBezTo>
                    <a:pt x="21600" y="21372"/>
                    <a:pt x="21407" y="21355"/>
                    <a:pt x="20447" y="21355"/>
                  </a:cubicBezTo>
                  <a:cubicBezTo>
                    <a:pt x="19816" y="21355"/>
                    <a:pt x="19277" y="21336"/>
                    <a:pt x="19245" y="21311"/>
                  </a:cubicBezTo>
                  <a:cubicBezTo>
                    <a:pt x="19212" y="21286"/>
                    <a:pt x="19340" y="21161"/>
                    <a:pt x="19528" y="21037"/>
                  </a:cubicBezTo>
                  <a:cubicBezTo>
                    <a:pt x="19715" y="20913"/>
                    <a:pt x="20003" y="20616"/>
                    <a:pt x="20171" y="20375"/>
                  </a:cubicBezTo>
                  <a:cubicBezTo>
                    <a:pt x="20459" y="19964"/>
                    <a:pt x="20483" y="19898"/>
                    <a:pt x="20483" y="19281"/>
                  </a:cubicBezTo>
                  <a:cubicBezTo>
                    <a:pt x="20483" y="18701"/>
                    <a:pt x="20449" y="18578"/>
                    <a:pt x="20228" y="18230"/>
                  </a:cubicBezTo>
                  <a:cubicBezTo>
                    <a:pt x="19726" y="17439"/>
                    <a:pt x="18745" y="16974"/>
                    <a:pt x="17576" y="16972"/>
                  </a:cubicBezTo>
                  <a:close/>
                  <a:moveTo>
                    <a:pt x="11903" y="17978"/>
                  </a:moveTo>
                  <a:cubicBezTo>
                    <a:pt x="11771" y="17970"/>
                    <a:pt x="11676" y="17980"/>
                    <a:pt x="11642" y="18022"/>
                  </a:cubicBezTo>
                  <a:cubicBezTo>
                    <a:pt x="11561" y="18123"/>
                    <a:pt x="11716" y="18215"/>
                    <a:pt x="12123" y="18307"/>
                  </a:cubicBezTo>
                  <a:cubicBezTo>
                    <a:pt x="12344" y="18357"/>
                    <a:pt x="12708" y="18469"/>
                    <a:pt x="12929" y="18558"/>
                  </a:cubicBezTo>
                  <a:cubicBezTo>
                    <a:pt x="13547" y="18807"/>
                    <a:pt x="13760" y="18760"/>
                    <a:pt x="13353" y="18465"/>
                  </a:cubicBezTo>
                  <a:cubicBezTo>
                    <a:pt x="13022" y="18225"/>
                    <a:pt x="12300" y="18005"/>
                    <a:pt x="11903" y="17978"/>
                  </a:cubicBezTo>
                  <a:close/>
                  <a:moveTo>
                    <a:pt x="12342" y="19500"/>
                  </a:moveTo>
                  <a:cubicBezTo>
                    <a:pt x="12300" y="19510"/>
                    <a:pt x="12300" y="19539"/>
                    <a:pt x="12314" y="19593"/>
                  </a:cubicBezTo>
                  <a:cubicBezTo>
                    <a:pt x="12333" y="19670"/>
                    <a:pt x="12509" y="19763"/>
                    <a:pt x="12787" y="19839"/>
                  </a:cubicBezTo>
                  <a:cubicBezTo>
                    <a:pt x="13335" y="19988"/>
                    <a:pt x="13551" y="20002"/>
                    <a:pt x="13551" y="19883"/>
                  </a:cubicBezTo>
                  <a:cubicBezTo>
                    <a:pt x="13551" y="19773"/>
                    <a:pt x="13065" y="19587"/>
                    <a:pt x="12611" y="19522"/>
                  </a:cubicBezTo>
                  <a:cubicBezTo>
                    <a:pt x="12467" y="19501"/>
                    <a:pt x="12384" y="19489"/>
                    <a:pt x="12342" y="19500"/>
                  </a:cubicBezTo>
                  <a:close/>
                </a:path>
              </a:pathLst>
            </a:custGeom>
            <a:ln w="12700" cap="flat">
              <a:noFill/>
              <a:miter lim="400000"/>
            </a:ln>
            <a:effectLst/>
          </p:spPr>
        </p:pic>
        <p:pic>
          <p:nvPicPr>
            <p:cNvPr id="363" name="pasted-movie.png" descr="pasted-movie.png"/>
            <p:cNvPicPr>
              <a:picLocks noChangeAspect="1"/>
            </p:cNvPicPr>
            <p:nvPr/>
          </p:nvPicPr>
          <p:blipFill>
            <a:blip r:embed="rId6">
              <a:alphaModFix amt="47617"/>
            </a:blip>
            <a:srcRect l="51929" t="54372" r="40725" b="34557"/>
            <a:stretch>
              <a:fillRect/>
            </a:stretch>
          </p:blipFill>
          <p:spPr>
            <a:xfrm>
              <a:off x="4015485" y="1591317"/>
              <a:ext cx="345298" cy="346933"/>
            </a:xfrm>
            <a:custGeom>
              <a:avLst/>
              <a:gdLst/>
              <a:ahLst/>
              <a:cxnLst>
                <a:cxn ang="0">
                  <a:pos x="wd2" y="hd2"/>
                </a:cxn>
                <a:cxn ang="5400000">
                  <a:pos x="wd2" y="hd2"/>
                </a:cxn>
                <a:cxn ang="10800000">
                  <a:pos x="wd2" y="hd2"/>
                </a:cxn>
                <a:cxn ang="16200000">
                  <a:pos x="wd2" y="hd2"/>
                </a:cxn>
              </a:cxnLst>
              <a:rect l="0" t="0" r="r" b="b"/>
              <a:pathLst>
                <a:path w="21418" h="21511" extrusionOk="0">
                  <a:moveTo>
                    <a:pt x="10914" y="0"/>
                  </a:moveTo>
                  <a:cubicBezTo>
                    <a:pt x="8802" y="15"/>
                    <a:pt x="6317" y="627"/>
                    <a:pt x="5277" y="1501"/>
                  </a:cubicBezTo>
                  <a:cubicBezTo>
                    <a:pt x="4892" y="1824"/>
                    <a:pt x="4587" y="2024"/>
                    <a:pt x="4587" y="1944"/>
                  </a:cubicBezTo>
                  <a:cubicBezTo>
                    <a:pt x="4587" y="1645"/>
                    <a:pt x="1784" y="4568"/>
                    <a:pt x="1732" y="4922"/>
                  </a:cubicBezTo>
                  <a:cubicBezTo>
                    <a:pt x="1702" y="5125"/>
                    <a:pt x="1578" y="5354"/>
                    <a:pt x="1461" y="5438"/>
                  </a:cubicBezTo>
                  <a:cubicBezTo>
                    <a:pt x="1128" y="5678"/>
                    <a:pt x="542" y="6927"/>
                    <a:pt x="575" y="7308"/>
                  </a:cubicBezTo>
                  <a:cubicBezTo>
                    <a:pt x="591" y="7497"/>
                    <a:pt x="497" y="7789"/>
                    <a:pt x="378" y="7948"/>
                  </a:cubicBezTo>
                  <a:cubicBezTo>
                    <a:pt x="-152" y="8656"/>
                    <a:pt x="-113" y="12714"/>
                    <a:pt x="427" y="13608"/>
                  </a:cubicBezTo>
                  <a:cubicBezTo>
                    <a:pt x="503" y="13734"/>
                    <a:pt x="589" y="14022"/>
                    <a:pt x="624" y="14248"/>
                  </a:cubicBezTo>
                  <a:cubicBezTo>
                    <a:pt x="723" y="14885"/>
                    <a:pt x="1623" y="16575"/>
                    <a:pt x="1978" y="16782"/>
                  </a:cubicBezTo>
                  <a:cubicBezTo>
                    <a:pt x="2153" y="16884"/>
                    <a:pt x="2240" y="17045"/>
                    <a:pt x="2175" y="17151"/>
                  </a:cubicBezTo>
                  <a:cubicBezTo>
                    <a:pt x="1757" y="17826"/>
                    <a:pt x="7526" y="21536"/>
                    <a:pt x="8181" y="21015"/>
                  </a:cubicBezTo>
                  <a:cubicBezTo>
                    <a:pt x="8347" y="20883"/>
                    <a:pt x="8511" y="20896"/>
                    <a:pt x="8600" y="21039"/>
                  </a:cubicBezTo>
                  <a:cubicBezTo>
                    <a:pt x="8686" y="21179"/>
                    <a:pt x="9297" y="21220"/>
                    <a:pt x="10175" y="21138"/>
                  </a:cubicBezTo>
                  <a:cubicBezTo>
                    <a:pt x="11144" y="21047"/>
                    <a:pt x="11693" y="21088"/>
                    <a:pt x="11800" y="21261"/>
                  </a:cubicBezTo>
                  <a:cubicBezTo>
                    <a:pt x="12000" y="21584"/>
                    <a:pt x="12322" y="21595"/>
                    <a:pt x="12514" y="21285"/>
                  </a:cubicBezTo>
                  <a:cubicBezTo>
                    <a:pt x="12594" y="21156"/>
                    <a:pt x="12760" y="21060"/>
                    <a:pt x="12908" y="21088"/>
                  </a:cubicBezTo>
                  <a:cubicBezTo>
                    <a:pt x="13316" y="21166"/>
                    <a:pt x="14278" y="20820"/>
                    <a:pt x="14730" y="20424"/>
                  </a:cubicBezTo>
                  <a:cubicBezTo>
                    <a:pt x="14950" y="20230"/>
                    <a:pt x="15148" y="20151"/>
                    <a:pt x="15148" y="20227"/>
                  </a:cubicBezTo>
                  <a:cubicBezTo>
                    <a:pt x="15148" y="20655"/>
                    <a:pt x="16658" y="19711"/>
                    <a:pt x="17954" y="18480"/>
                  </a:cubicBezTo>
                  <a:cubicBezTo>
                    <a:pt x="19369" y="17138"/>
                    <a:pt x="19980" y="16301"/>
                    <a:pt x="20096" y="15601"/>
                  </a:cubicBezTo>
                  <a:cubicBezTo>
                    <a:pt x="20124" y="15432"/>
                    <a:pt x="20286" y="15122"/>
                    <a:pt x="20465" y="14912"/>
                  </a:cubicBezTo>
                  <a:cubicBezTo>
                    <a:pt x="20948" y="14349"/>
                    <a:pt x="21172" y="13727"/>
                    <a:pt x="21253" y="12574"/>
                  </a:cubicBezTo>
                  <a:cubicBezTo>
                    <a:pt x="21293" y="12007"/>
                    <a:pt x="21354" y="11195"/>
                    <a:pt x="21401" y="10753"/>
                  </a:cubicBezTo>
                  <a:cubicBezTo>
                    <a:pt x="21448" y="10312"/>
                    <a:pt x="21398" y="9828"/>
                    <a:pt x="21278" y="9671"/>
                  </a:cubicBezTo>
                  <a:cubicBezTo>
                    <a:pt x="21157" y="9514"/>
                    <a:pt x="21110" y="9150"/>
                    <a:pt x="21179" y="8883"/>
                  </a:cubicBezTo>
                  <a:cubicBezTo>
                    <a:pt x="21249" y="8617"/>
                    <a:pt x="21193" y="8134"/>
                    <a:pt x="21056" y="7801"/>
                  </a:cubicBezTo>
                  <a:cubicBezTo>
                    <a:pt x="20919" y="7468"/>
                    <a:pt x="20758" y="6995"/>
                    <a:pt x="20712" y="6742"/>
                  </a:cubicBezTo>
                  <a:cubicBezTo>
                    <a:pt x="20666" y="6490"/>
                    <a:pt x="20420" y="6001"/>
                    <a:pt x="20170" y="5660"/>
                  </a:cubicBezTo>
                  <a:cubicBezTo>
                    <a:pt x="19920" y="5318"/>
                    <a:pt x="19727" y="4921"/>
                    <a:pt x="19727" y="4774"/>
                  </a:cubicBezTo>
                  <a:cubicBezTo>
                    <a:pt x="19727" y="4502"/>
                    <a:pt x="17617" y="2335"/>
                    <a:pt x="16945" y="1919"/>
                  </a:cubicBezTo>
                  <a:cubicBezTo>
                    <a:pt x="16043" y="1361"/>
                    <a:pt x="14580" y="624"/>
                    <a:pt x="14237" y="541"/>
                  </a:cubicBezTo>
                  <a:cubicBezTo>
                    <a:pt x="14031" y="492"/>
                    <a:pt x="13402" y="338"/>
                    <a:pt x="12834" y="197"/>
                  </a:cubicBezTo>
                  <a:cubicBezTo>
                    <a:pt x="12282" y="60"/>
                    <a:pt x="11618" y="-5"/>
                    <a:pt x="10914" y="0"/>
                  </a:cubicBezTo>
                  <a:close/>
                </a:path>
              </a:pathLst>
            </a:custGeom>
            <a:ln w="12700" cap="flat">
              <a:noFill/>
              <a:miter lim="400000"/>
            </a:ln>
            <a:effectLst/>
          </p:spPr>
        </p:pic>
        <p:pic>
          <p:nvPicPr>
            <p:cNvPr id="364" name="pasted-movie.png" descr="pasted-movie.png"/>
            <p:cNvPicPr>
              <a:picLocks noChangeAspect="1"/>
            </p:cNvPicPr>
            <p:nvPr/>
          </p:nvPicPr>
          <p:blipFill>
            <a:blip r:embed="rId6">
              <a:alphaModFix amt="24309"/>
            </a:blip>
            <a:srcRect l="51929" t="54372" r="40725" b="34557"/>
            <a:stretch>
              <a:fillRect/>
            </a:stretch>
          </p:blipFill>
          <p:spPr>
            <a:xfrm>
              <a:off x="4198036" y="1360436"/>
              <a:ext cx="345298" cy="346933"/>
            </a:xfrm>
            <a:custGeom>
              <a:avLst/>
              <a:gdLst/>
              <a:ahLst/>
              <a:cxnLst>
                <a:cxn ang="0">
                  <a:pos x="wd2" y="hd2"/>
                </a:cxn>
                <a:cxn ang="5400000">
                  <a:pos x="wd2" y="hd2"/>
                </a:cxn>
                <a:cxn ang="10800000">
                  <a:pos x="wd2" y="hd2"/>
                </a:cxn>
                <a:cxn ang="16200000">
                  <a:pos x="wd2" y="hd2"/>
                </a:cxn>
              </a:cxnLst>
              <a:rect l="0" t="0" r="r" b="b"/>
              <a:pathLst>
                <a:path w="21418" h="21511" extrusionOk="0">
                  <a:moveTo>
                    <a:pt x="10914" y="0"/>
                  </a:moveTo>
                  <a:cubicBezTo>
                    <a:pt x="8802" y="15"/>
                    <a:pt x="6317" y="627"/>
                    <a:pt x="5277" y="1501"/>
                  </a:cubicBezTo>
                  <a:cubicBezTo>
                    <a:pt x="4892" y="1824"/>
                    <a:pt x="4587" y="2024"/>
                    <a:pt x="4587" y="1944"/>
                  </a:cubicBezTo>
                  <a:cubicBezTo>
                    <a:pt x="4587" y="1645"/>
                    <a:pt x="1784" y="4568"/>
                    <a:pt x="1732" y="4922"/>
                  </a:cubicBezTo>
                  <a:cubicBezTo>
                    <a:pt x="1702" y="5125"/>
                    <a:pt x="1578" y="5354"/>
                    <a:pt x="1461" y="5438"/>
                  </a:cubicBezTo>
                  <a:cubicBezTo>
                    <a:pt x="1128" y="5678"/>
                    <a:pt x="542" y="6927"/>
                    <a:pt x="575" y="7308"/>
                  </a:cubicBezTo>
                  <a:cubicBezTo>
                    <a:pt x="591" y="7497"/>
                    <a:pt x="497" y="7789"/>
                    <a:pt x="378" y="7948"/>
                  </a:cubicBezTo>
                  <a:cubicBezTo>
                    <a:pt x="-152" y="8656"/>
                    <a:pt x="-113" y="12714"/>
                    <a:pt x="427" y="13608"/>
                  </a:cubicBezTo>
                  <a:cubicBezTo>
                    <a:pt x="503" y="13734"/>
                    <a:pt x="589" y="14022"/>
                    <a:pt x="624" y="14248"/>
                  </a:cubicBezTo>
                  <a:cubicBezTo>
                    <a:pt x="723" y="14885"/>
                    <a:pt x="1623" y="16575"/>
                    <a:pt x="1978" y="16782"/>
                  </a:cubicBezTo>
                  <a:cubicBezTo>
                    <a:pt x="2153" y="16884"/>
                    <a:pt x="2240" y="17045"/>
                    <a:pt x="2175" y="17151"/>
                  </a:cubicBezTo>
                  <a:cubicBezTo>
                    <a:pt x="1757" y="17826"/>
                    <a:pt x="7526" y="21536"/>
                    <a:pt x="8181" y="21015"/>
                  </a:cubicBezTo>
                  <a:cubicBezTo>
                    <a:pt x="8347" y="20883"/>
                    <a:pt x="8511" y="20896"/>
                    <a:pt x="8600" y="21039"/>
                  </a:cubicBezTo>
                  <a:cubicBezTo>
                    <a:pt x="8686" y="21179"/>
                    <a:pt x="9297" y="21220"/>
                    <a:pt x="10175" y="21138"/>
                  </a:cubicBezTo>
                  <a:cubicBezTo>
                    <a:pt x="11144" y="21047"/>
                    <a:pt x="11693" y="21088"/>
                    <a:pt x="11800" y="21261"/>
                  </a:cubicBezTo>
                  <a:cubicBezTo>
                    <a:pt x="12000" y="21584"/>
                    <a:pt x="12322" y="21595"/>
                    <a:pt x="12514" y="21285"/>
                  </a:cubicBezTo>
                  <a:cubicBezTo>
                    <a:pt x="12594" y="21156"/>
                    <a:pt x="12760" y="21060"/>
                    <a:pt x="12908" y="21088"/>
                  </a:cubicBezTo>
                  <a:cubicBezTo>
                    <a:pt x="13316" y="21166"/>
                    <a:pt x="14278" y="20820"/>
                    <a:pt x="14730" y="20424"/>
                  </a:cubicBezTo>
                  <a:cubicBezTo>
                    <a:pt x="14950" y="20230"/>
                    <a:pt x="15148" y="20151"/>
                    <a:pt x="15148" y="20227"/>
                  </a:cubicBezTo>
                  <a:cubicBezTo>
                    <a:pt x="15148" y="20655"/>
                    <a:pt x="16658" y="19711"/>
                    <a:pt x="17954" y="18480"/>
                  </a:cubicBezTo>
                  <a:cubicBezTo>
                    <a:pt x="19369" y="17138"/>
                    <a:pt x="19980" y="16301"/>
                    <a:pt x="20096" y="15601"/>
                  </a:cubicBezTo>
                  <a:cubicBezTo>
                    <a:pt x="20124" y="15432"/>
                    <a:pt x="20286" y="15122"/>
                    <a:pt x="20465" y="14912"/>
                  </a:cubicBezTo>
                  <a:cubicBezTo>
                    <a:pt x="20948" y="14349"/>
                    <a:pt x="21172" y="13727"/>
                    <a:pt x="21253" y="12574"/>
                  </a:cubicBezTo>
                  <a:cubicBezTo>
                    <a:pt x="21293" y="12007"/>
                    <a:pt x="21354" y="11195"/>
                    <a:pt x="21401" y="10753"/>
                  </a:cubicBezTo>
                  <a:cubicBezTo>
                    <a:pt x="21448" y="10312"/>
                    <a:pt x="21398" y="9828"/>
                    <a:pt x="21278" y="9671"/>
                  </a:cubicBezTo>
                  <a:cubicBezTo>
                    <a:pt x="21157" y="9514"/>
                    <a:pt x="21110" y="9150"/>
                    <a:pt x="21179" y="8883"/>
                  </a:cubicBezTo>
                  <a:cubicBezTo>
                    <a:pt x="21249" y="8617"/>
                    <a:pt x="21193" y="8134"/>
                    <a:pt x="21056" y="7801"/>
                  </a:cubicBezTo>
                  <a:cubicBezTo>
                    <a:pt x="20919" y="7468"/>
                    <a:pt x="20758" y="6995"/>
                    <a:pt x="20712" y="6742"/>
                  </a:cubicBezTo>
                  <a:cubicBezTo>
                    <a:pt x="20666" y="6490"/>
                    <a:pt x="20420" y="6001"/>
                    <a:pt x="20170" y="5660"/>
                  </a:cubicBezTo>
                  <a:cubicBezTo>
                    <a:pt x="19920" y="5318"/>
                    <a:pt x="19727" y="4921"/>
                    <a:pt x="19727" y="4774"/>
                  </a:cubicBezTo>
                  <a:cubicBezTo>
                    <a:pt x="19727" y="4502"/>
                    <a:pt x="17617" y="2335"/>
                    <a:pt x="16945" y="1919"/>
                  </a:cubicBezTo>
                  <a:cubicBezTo>
                    <a:pt x="16043" y="1361"/>
                    <a:pt x="14580" y="624"/>
                    <a:pt x="14237" y="541"/>
                  </a:cubicBezTo>
                  <a:cubicBezTo>
                    <a:pt x="14031" y="492"/>
                    <a:pt x="13402" y="338"/>
                    <a:pt x="12834" y="197"/>
                  </a:cubicBezTo>
                  <a:cubicBezTo>
                    <a:pt x="12282" y="60"/>
                    <a:pt x="11618" y="-5"/>
                    <a:pt x="10914" y="0"/>
                  </a:cubicBezTo>
                  <a:close/>
                </a:path>
              </a:pathLst>
            </a:custGeom>
            <a:ln w="12700" cap="flat">
              <a:noFill/>
              <a:miter lim="400000"/>
            </a:ln>
            <a:effectLst/>
          </p:spPr>
        </p:pic>
        <p:pic>
          <p:nvPicPr>
            <p:cNvPr id="365" name="pasted-movie.png" descr="pasted-movie.png"/>
            <p:cNvPicPr>
              <a:picLocks noChangeAspect="1"/>
            </p:cNvPicPr>
            <p:nvPr/>
          </p:nvPicPr>
          <p:blipFill>
            <a:blip r:embed="rId6">
              <a:alphaModFix amt="24171"/>
            </a:blip>
            <a:srcRect l="51929" t="54372" r="40725" b="34557"/>
            <a:stretch>
              <a:fillRect/>
            </a:stretch>
          </p:blipFill>
          <p:spPr>
            <a:xfrm>
              <a:off x="3938038" y="1149672"/>
              <a:ext cx="345298" cy="346933"/>
            </a:xfrm>
            <a:custGeom>
              <a:avLst/>
              <a:gdLst/>
              <a:ahLst/>
              <a:cxnLst>
                <a:cxn ang="0">
                  <a:pos x="wd2" y="hd2"/>
                </a:cxn>
                <a:cxn ang="5400000">
                  <a:pos x="wd2" y="hd2"/>
                </a:cxn>
                <a:cxn ang="10800000">
                  <a:pos x="wd2" y="hd2"/>
                </a:cxn>
                <a:cxn ang="16200000">
                  <a:pos x="wd2" y="hd2"/>
                </a:cxn>
              </a:cxnLst>
              <a:rect l="0" t="0" r="r" b="b"/>
              <a:pathLst>
                <a:path w="21418" h="21511" extrusionOk="0">
                  <a:moveTo>
                    <a:pt x="10914" y="0"/>
                  </a:moveTo>
                  <a:cubicBezTo>
                    <a:pt x="8802" y="15"/>
                    <a:pt x="6317" y="627"/>
                    <a:pt x="5277" y="1501"/>
                  </a:cubicBezTo>
                  <a:cubicBezTo>
                    <a:pt x="4892" y="1824"/>
                    <a:pt x="4587" y="2024"/>
                    <a:pt x="4587" y="1944"/>
                  </a:cubicBezTo>
                  <a:cubicBezTo>
                    <a:pt x="4587" y="1645"/>
                    <a:pt x="1784" y="4568"/>
                    <a:pt x="1732" y="4922"/>
                  </a:cubicBezTo>
                  <a:cubicBezTo>
                    <a:pt x="1702" y="5125"/>
                    <a:pt x="1578" y="5354"/>
                    <a:pt x="1461" y="5438"/>
                  </a:cubicBezTo>
                  <a:cubicBezTo>
                    <a:pt x="1128" y="5678"/>
                    <a:pt x="542" y="6927"/>
                    <a:pt x="575" y="7308"/>
                  </a:cubicBezTo>
                  <a:cubicBezTo>
                    <a:pt x="591" y="7497"/>
                    <a:pt x="497" y="7789"/>
                    <a:pt x="378" y="7948"/>
                  </a:cubicBezTo>
                  <a:cubicBezTo>
                    <a:pt x="-152" y="8656"/>
                    <a:pt x="-113" y="12714"/>
                    <a:pt x="427" y="13608"/>
                  </a:cubicBezTo>
                  <a:cubicBezTo>
                    <a:pt x="503" y="13734"/>
                    <a:pt x="589" y="14022"/>
                    <a:pt x="624" y="14248"/>
                  </a:cubicBezTo>
                  <a:cubicBezTo>
                    <a:pt x="723" y="14885"/>
                    <a:pt x="1623" y="16575"/>
                    <a:pt x="1978" y="16782"/>
                  </a:cubicBezTo>
                  <a:cubicBezTo>
                    <a:pt x="2153" y="16884"/>
                    <a:pt x="2240" y="17045"/>
                    <a:pt x="2175" y="17151"/>
                  </a:cubicBezTo>
                  <a:cubicBezTo>
                    <a:pt x="1757" y="17826"/>
                    <a:pt x="7526" y="21536"/>
                    <a:pt x="8181" y="21015"/>
                  </a:cubicBezTo>
                  <a:cubicBezTo>
                    <a:pt x="8347" y="20883"/>
                    <a:pt x="8511" y="20896"/>
                    <a:pt x="8600" y="21039"/>
                  </a:cubicBezTo>
                  <a:cubicBezTo>
                    <a:pt x="8686" y="21179"/>
                    <a:pt x="9297" y="21220"/>
                    <a:pt x="10175" y="21138"/>
                  </a:cubicBezTo>
                  <a:cubicBezTo>
                    <a:pt x="11144" y="21047"/>
                    <a:pt x="11693" y="21088"/>
                    <a:pt x="11800" y="21261"/>
                  </a:cubicBezTo>
                  <a:cubicBezTo>
                    <a:pt x="12000" y="21584"/>
                    <a:pt x="12322" y="21595"/>
                    <a:pt x="12514" y="21285"/>
                  </a:cubicBezTo>
                  <a:cubicBezTo>
                    <a:pt x="12594" y="21156"/>
                    <a:pt x="12760" y="21060"/>
                    <a:pt x="12908" y="21088"/>
                  </a:cubicBezTo>
                  <a:cubicBezTo>
                    <a:pt x="13316" y="21166"/>
                    <a:pt x="14278" y="20820"/>
                    <a:pt x="14730" y="20424"/>
                  </a:cubicBezTo>
                  <a:cubicBezTo>
                    <a:pt x="14950" y="20230"/>
                    <a:pt x="15148" y="20151"/>
                    <a:pt x="15148" y="20227"/>
                  </a:cubicBezTo>
                  <a:cubicBezTo>
                    <a:pt x="15148" y="20655"/>
                    <a:pt x="16658" y="19711"/>
                    <a:pt x="17954" y="18480"/>
                  </a:cubicBezTo>
                  <a:cubicBezTo>
                    <a:pt x="19369" y="17138"/>
                    <a:pt x="19980" y="16301"/>
                    <a:pt x="20096" y="15601"/>
                  </a:cubicBezTo>
                  <a:cubicBezTo>
                    <a:pt x="20124" y="15432"/>
                    <a:pt x="20286" y="15122"/>
                    <a:pt x="20465" y="14912"/>
                  </a:cubicBezTo>
                  <a:cubicBezTo>
                    <a:pt x="20948" y="14349"/>
                    <a:pt x="21172" y="13727"/>
                    <a:pt x="21253" y="12574"/>
                  </a:cubicBezTo>
                  <a:cubicBezTo>
                    <a:pt x="21293" y="12007"/>
                    <a:pt x="21354" y="11195"/>
                    <a:pt x="21401" y="10753"/>
                  </a:cubicBezTo>
                  <a:cubicBezTo>
                    <a:pt x="21448" y="10312"/>
                    <a:pt x="21398" y="9828"/>
                    <a:pt x="21278" y="9671"/>
                  </a:cubicBezTo>
                  <a:cubicBezTo>
                    <a:pt x="21157" y="9514"/>
                    <a:pt x="21110" y="9150"/>
                    <a:pt x="21179" y="8883"/>
                  </a:cubicBezTo>
                  <a:cubicBezTo>
                    <a:pt x="21249" y="8617"/>
                    <a:pt x="21193" y="8134"/>
                    <a:pt x="21056" y="7801"/>
                  </a:cubicBezTo>
                  <a:cubicBezTo>
                    <a:pt x="20919" y="7468"/>
                    <a:pt x="20758" y="6995"/>
                    <a:pt x="20712" y="6742"/>
                  </a:cubicBezTo>
                  <a:cubicBezTo>
                    <a:pt x="20666" y="6490"/>
                    <a:pt x="20420" y="6001"/>
                    <a:pt x="20170" y="5660"/>
                  </a:cubicBezTo>
                  <a:cubicBezTo>
                    <a:pt x="19920" y="5318"/>
                    <a:pt x="19727" y="4921"/>
                    <a:pt x="19727" y="4774"/>
                  </a:cubicBezTo>
                  <a:cubicBezTo>
                    <a:pt x="19727" y="4502"/>
                    <a:pt x="17617" y="2335"/>
                    <a:pt x="16945" y="1919"/>
                  </a:cubicBezTo>
                  <a:cubicBezTo>
                    <a:pt x="16043" y="1361"/>
                    <a:pt x="14580" y="624"/>
                    <a:pt x="14237" y="541"/>
                  </a:cubicBezTo>
                  <a:cubicBezTo>
                    <a:pt x="14031" y="492"/>
                    <a:pt x="13402" y="338"/>
                    <a:pt x="12834" y="197"/>
                  </a:cubicBezTo>
                  <a:cubicBezTo>
                    <a:pt x="12282" y="60"/>
                    <a:pt x="11618" y="-5"/>
                    <a:pt x="10914" y="0"/>
                  </a:cubicBezTo>
                  <a:close/>
                </a:path>
              </a:pathLst>
            </a:custGeom>
            <a:ln w="12700" cap="flat">
              <a:noFill/>
              <a:miter lim="400000"/>
            </a:ln>
            <a:effectLst/>
          </p:spPr>
        </p:pic>
        <p:pic>
          <p:nvPicPr>
            <p:cNvPr id="366" name="pasted-movie.png" descr="pasted-movie.png"/>
            <p:cNvPicPr>
              <a:picLocks noChangeAspect="1"/>
            </p:cNvPicPr>
            <p:nvPr/>
          </p:nvPicPr>
          <p:blipFill>
            <a:blip r:embed="rId6">
              <a:alphaModFix amt="16565"/>
            </a:blip>
            <a:srcRect l="51929" t="54372" r="40725" b="34557"/>
            <a:stretch>
              <a:fillRect/>
            </a:stretch>
          </p:blipFill>
          <p:spPr>
            <a:xfrm>
              <a:off x="3656111" y="812254"/>
              <a:ext cx="345298" cy="346933"/>
            </a:xfrm>
            <a:custGeom>
              <a:avLst/>
              <a:gdLst/>
              <a:ahLst/>
              <a:cxnLst>
                <a:cxn ang="0">
                  <a:pos x="wd2" y="hd2"/>
                </a:cxn>
                <a:cxn ang="5400000">
                  <a:pos x="wd2" y="hd2"/>
                </a:cxn>
                <a:cxn ang="10800000">
                  <a:pos x="wd2" y="hd2"/>
                </a:cxn>
                <a:cxn ang="16200000">
                  <a:pos x="wd2" y="hd2"/>
                </a:cxn>
              </a:cxnLst>
              <a:rect l="0" t="0" r="r" b="b"/>
              <a:pathLst>
                <a:path w="21418" h="21511" extrusionOk="0">
                  <a:moveTo>
                    <a:pt x="10914" y="0"/>
                  </a:moveTo>
                  <a:cubicBezTo>
                    <a:pt x="8802" y="15"/>
                    <a:pt x="6317" y="627"/>
                    <a:pt x="5277" y="1501"/>
                  </a:cubicBezTo>
                  <a:cubicBezTo>
                    <a:pt x="4892" y="1824"/>
                    <a:pt x="4587" y="2024"/>
                    <a:pt x="4587" y="1944"/>
                  </a:cubicBezTo>
                  <a:cubicBezTo>
                    <a:pt x="4587" y="1645"/>
                    <a:pt x="1784" y="4568"/>
                    <a:pt x="1732" y="4922"/>
                  </a:cubicBezTo>
                  <a:cubicBezTo>
                    <a:pt x="1702" y="5125"/>
                    <a:pt x="1578" y="5354"/>
                    <a:pt x="1461" y="5438"/>
                  </a:cubicBezTo>
                  <a:cubicBezTo>
                    <a:pt x="1128" y="5678"/>
                    <a:pt x="542" y="6927"/>
                    <a:pt x="575" y="7308"/>
                  </a:cubicBezTo>
                  <a:cubicBezTo>
                    <a:pt x="591" y="7497"/>
                    <a:pt x="497" y="7789"/>
                    <a:pt x="378" y="7948"/>
                  </a:cubicBezTo>
                  <a:cubicBezTo>
                    <a:pt x="-152" y="8656"/>
                    <a:pt x="-113" y="12714"/>
                    <a:pt x="427" y="13608"/>
                  </a:cubicBezTo>
                  <a:cubicBezTo>
                    <a:pt x="503" y="13734"/>
                    <a:pt x="589" y="14022"/>
                    <a:pt x="624" y="14248"/>
                  </a:cubicBezTo>
                  <a:cubicBezTo>
                    <a:pt x="723" y="14885"/>
                    <a:pt x="1623" y="16575"/>
                    <a:pt x="1978" y="16782"/>
                  </a:cubicBezTo>
                  <a:cubicBezTo>
                    <a:pt x="2153" y="16884"/>
                    <a:pt x="2240" y="17045"/>
                    <a:pt x="2175" y="17151"/>
                  </a:cubicBezTo>
                  <a:cubicBezTo>
                    <a:pt x="1757" y="17826"/>
                    <a:pt x="7526" y="21536"/>
                    <a:pt x="8181" y="21015"/>
                  </a:cubicBezTo>
                  <a:cubicBezTo>
                    <a:pt x="8347" y="20883"/>
                    <a:pt x="8511" y="20896"/>
                    <a:pt x="8600" y="21039"/>
                  </a:cubicBezTo>
                  <a:cubicBezTo>
                    <a:pt x="8686" y="21179"/>
                    <a:pt x="9297" y="21220"/>
                    <a:pt x="10175" y="21138"/>
                  </a:cubicBezTo>
                  <a:cubicBezTo>
                    <a:pt x="11144" y="21047"/>
                    <a:pt x="11693" y="21088"/>
                    <a:pt x="11800" y="21261"/>
                  </a:cubicBezTo>
                  <a:cubicBezTo>
                    <a:pt x="12000" y="21584"/>
                    <a:pt x="12322" y="21595"/>
                    <a:pt x="12514" y="21285"/>
                  </a:cubicBezTo>
                  <a:cubicBezTo>
                    <a:pt x="12594" y="21156"/>
                    <a:pt x="12760" y="21060"/>
                    <a:pt x="12908" y="21088"/>
                  </a:cubicBezTo>
                  <a:cubicBezTo>
                    <a:pt x="13316" y="21166"/>
                    <a:pt x="14278" y="20820"/>
                    <a:pt x="14730" y="20424"/>
                  </a:cubicBezTo>
                  <a:cubicBezTo>
                    <a:pt x="14950" y="20230"/>
                    <a:pt x="15148" y="20151"/>
                    <a:pt x="15148" y="20227"/>
                  </a:cubicBezTo>
                  <a:cubicBezTo>
                    <a:pt x="15148" y="20655"/>
                    <a:pt x="16658" y="19711"/>
                    <a:pt x="17954" y="18480"/>
                  </a:cubicBezTo>
                  <a:cubicBezTo>
                    <a:pt x="19369" y="17138"/>
                    <a:pt x="19980" y="16301"/>
                    <a:pt x="20096" y="15601"/>
                  </a:cubicBezTo>
                  <a:cubicBezTo>
                    <a:pt x="20124" y="15432"/>
                    <a:pt x="20286" y="15122"/>
                    <a:pt x="20465" y="14912"/>
                  </a:cubicBezTo>
                  <a:cubicBezTo>
                    <a:pt x="20948" y="14349"/>
                    <a:pt x="21172" y="13727"/>
                    <a:pt x="21253" y="12574"/>
                  </a:cubicBezTo>
                  <a:cubicBezTo>
                    <a:pt x="21293" y="12007"/>
                    <a:pt x="21354" y="11195"/>
                    <a:pt x="21401" y="10753"/>
                  </a:cubicBezTo>
                  <a:cubicBezTo>
                    <a:pt x="21448" y="10312"/>
                    <a:pt x="21398" y="9828"/>
                    <a:pt x="21278" y="9671"/>
                  </a:cubicBezTo>
                  <a:cubicBezTo>
                    <a:pt x="21157" y="9514"/>
                    <a:pt x="21110" y="9150"/>
                    <a:pt x="21179" y="8883"/>
                  </a:cubicBezTo>
                  <a:cubicBezTo>
                    <a:pt x="21249" y="8617"/>
                    <a:pt x="21193" y="8134"/>
                    <a:pt x="21056" y="7801"/>
                  </a:cubicBezTo>
                  <a:cubicBezTo>
                    <a:pt x="20919" y="7468"/>
                    <a:pt x="20758" y="6995"/>
                    <a:pt x="20712" y="6742"/>
                  </a:cubicBezTo>
                  <a:cubicBezTo>
                    <a:pt x="20666" y="6490"/>
                    <a:pt x="20420" y="6001"/>
                    <a:pt x="20170" y="5660"/>
                  </a:cubicBezTo>
                  <a:cubicBezTo>
                    <a:pt x="19920" y="5318"/>
                    <a:pt x="19727" y="4921"/>
                    <a:pt x="19727" y="4774"/>
                  </a:cubicBezTo>
                  <a:cubicBezTo>
                    <a:pt x="19727" y="4502"/>
                    <a:pt x="17617" y="2335"/>
                    <a:pt x="16945" y="1919"/>
                  </a:cubicBezTo>
                  <a:cubicBezTo>
                    <a:pt x="16043" y="1361"/>
                    <a:pt x="14580" y="624"/>
                    <a:pt x="14237" y="541"/>
                  </a:cubicBezTo>
                  <a:cubicBezTo>
                    <a:pt x="14031" y="492"/>
                    <a:pt x="13402" y="338"/>
                    <a:pt x="12834" y="197"/>
                  </a:cubicBezTo>
                  <a:cubicBezTo>
                    <a:pt x="12282" y="60"/>
                    <a:pt x="11618" y="-5"/>
                    <a:pt x="10914" y="0"/>
                  </a:cubicBezTo>
                  <a:close/>
                </a:path>
              </a:pathLst>
            </a:custGeom>
            <a:ln w="12700" cap="flat">
              <a:noFill/>
              <a:miter lim="400000"/>
            </a:ln>
            <a:effectLst/>
          </p:spPr>
        </p:pic>
        <p:pic>
          <p:nvPicPr>
            <p:cNvPr id="367" name="pasted-movie.png" descr="pasted-movie.png"/>
            <p:cNvPicPr>
              <a:picLocks noChangeAspect="1"/>
            </p:cNvPicPr>
            <p:nvPr/>
          </p:nvPicPr>
          <p:blipFill>
            <a:blip r:embed="rId6">
              <a:alphaModFix amt="47617"/>
            </a:blip>
            <a:srcRect l="51929" t="54372" r="40725" b="34557"/>
            <a:stretch>
              <a:fillRect/>
            </a:stretch>
          </p:blipFill>
          <p:spPr>
            <a:xfrm>
              <a:off x="9125746" y="1546931"/>
              <a:ext cx="345299" cy="346933"/>
            </a:xfrm>
            <a:custGeom>
              <a:avLst/>
              <a:gdLst/>
              <a:ahLst/>
              <a:cxnLst>
                <a:cxn ang="0">
                  <a:pos x="wd2" y="hd2"/>
                </a:cxn>
                <a:cxn ang="5400000">
                  <a:pos x="wd2" y="hd2"/>
                </a:cxn>
                <a:cxn ang="10800000">
                  <a:pos x="wd2" y="hd2"/>
                </a:cxn>
                <a:cxn ang="16200000">
                  <a:pos x="wd2" y="hd2"/>
                </a:cxn>
              </a:cxnLst>
              <a:rect l="0" t="0" r="r" b="b"/>
              <a:pathLst>
                <a:path w="21418" h="21511" extrusionOk="0">
                  <a:moveTo>
                    <a:pt x="10914" y="0"/>
                  </a:moveTo>
                  <a:cubicBezTo>
                    <a:pt x="8802" y="15"/>
                    <a:pt x="6317" y="627"/>
                    <a:pt x="5277" y="1501"/>
                  </a:cubicBezTo>
                  <a:cubicBezTo>
                    <a:pt x="4892" y="1824"/>
                    <a:pt x="4587" y="2024"/>
                    <a:pt x="4587" y="1944"/>
                  </a:cubicBezTo>
                  <a:cubicBezTo>
                    <a:pt x="4587" y="1645"/>
                    <a:pt x="1784" y="4568"/>
                    <a:pt x="1732" y="4922"/>
                  </a:cubicBezTo>
                  <a:cubicBezTo>
                    <a:pt x="1702" y="5125"/>
                    <a:pt x="1578" y="5354"/>
                    <a:pt x="1461" y="5438"/>
                  </a:cubicBezTo>
                  <a:cubicBezTo>
                    <a:pt x="1128" y="5678"/>
                    <a:pt x="542" y="6927"/>
                    <a:pt x="575" y="7308"/>
                  </a:cubicBezTo>
                  <a:cubicBezTo>
                    <a:pt x="591" y="7497"/>
                    <a:pt x="497" y="7789"/>
                    <a:pt x="378" y="7948"/>
                  </a:cubicBezTo>
                  <a:cubicBezTo>
                    <a:pt x="-152" y="8656"/>
                    <a:pt x="-113" y="12714"/>
                    <a:pt x="427" y="13608"/>
                  </a:cubicBezTo>
                  <a:cubicBezTo>
                    <a:pt x="503" y="13734"/>
                    <a:pt x="589" y="14022"/>
                    <a:pt x="624" y="14248"/>
                  </a:cubicBezTo>
                  <a:cubicBezTo>
                    <a:pt x="723" y="14885"/>
                    <a:pt x="1623" y="16575"/>
                    <a:pt x="1978" y="16782"/>
                  </a:cubicBezTo>
                  <a:cubicBezTo>
                    <a:pt x="2153" y="16884"/>
                    <a:pt x="2240" y="17045"/>
                    <a:pt x="2175" y="17151"/>
                  </a:cubicBezTo>
                  <a:cubicBezTo>
                    <a:pt x="1757" y="17826"/>
                    <a:pt x="7526" y="21536"/>
                    <a:pt x="8181" y="21015"/>
                  </a:cubicBezTo>
                  <a:cubicBezTo>
                    <a:pt x="8347" y="20883"/>
                    <a:pt x="8511" y="20896"/>
                    <a:pt x="8600" y="21039"/>
                  </a:cubicBezTo>
                  <a:cubicBezTo>
                    <a:pt x="8686" y="21179"/>
                    <a:pt x="9297" y="21220"/>
                    <a:pt x="10175" y="21138"/>
                  </a:cubicBezTo>
                  <a:cubicBezTo>
                    <a:pt x="11144" y="21047"/>
                    <a:pt x="11693" y="21088"/>
                    <a:pt x="11800" y="21261"/>
                  </a:cubicBezTo>
                  <a:cubicBezTo>
                    <a:pt x="12000" y="21584"/>
                    <a:pt x="12322" y="21595"/>
                    <a:pt x="12514" y="21285"/>
                  </a:cubicBezTo>
                  <a:cubicBezTo>
                    <a:pt x="12594" y="21156"/>
                    <a:pt x="12760" y="21060"/>
                    <a:pt x="12908" y="21088"/>
                  </a:cubicBezTo>
                  <a:cubicBezTo>
                    <a:pt x="13316" y="21166"/>
                    <a:pt x="14278" y="20820"/>
                    <a:pt x="14730" y="20424"/>
                  </a:cubicBezTo>
                  <a:cubicBezTo>
                    <a:pt x="14950" y="20230"/>
                    <a:pt x="15148" y="20151"/>
                    <a:pt x="15148" y="20227"/>
                  </a:cubicBezTo>
                  <a:cubicBezTo>
                    <a:pt x="15148" y="20655"/>
                    <a:pt x="16658" y="19711"/>
                    <a:pt x="17954" y="18480"/>
                  </a:cubicBezTo>
                  <a:cubicBezTo>
                    <a:pt x="19369" y="17138"/>
                    <a:pt x="19980" y="16301"/>
                    <a:pt x="20096" y="15601"/>
                  </a:cubicBezTo>
                  <a:cubicBezTo>
                    <a:pt x="20124" y="15432"/>
                    <a:pt x="20286" y="15122"/>
                    <a:pt x="20465" y="14912"/>
                  </a:cubicBezTo>
                  <a:cubicBezTo>
                    <a:pt x="20948" y="14349"/>
                    <a:pt x="21172" y="13727"/>
                    <a:pt x="21253" y="12574"/>
                  </a:cubicBezTo>
                  <a:cubicBezTo>
                    <a:pt x="21293" y="12007"/>
                    <a:pt x="21354" y="11195"/>
                    <a:pt x="21401" y="10753"/>
                  </a:cubicBezTo>
                  <a:cubicBezTo>
                    <a:pt x="21448" y="10312"/>
                    <a:pt x="21398" y="9828"/>
                    <a:pt x="21278" y="9671"/>
                  </a:cubicBezTo>
                  <a:cubicBezTo>
                    <a:pt x="21157" y="9514"/>
                    <a:pt x="21110" y="9150"/>
                    <a:pt x="21179" y="8883"/>
                  </a:cubicBezTo>
                  <a:cubicBezTo>
                    <a:pt x="21249" y="8617"/>
                    <a:pt x="21193" y="8134"/>
                    <a:pt x="21056" y="7801"/>
                  </a:cubicBezTo>
                  <a:cubicBezTo>
                    <a:pt x="20919" y="7468"/>
                    <a:pt x="20758" y="6995"/>
                    <a:pt x="20712" y="6742"/>
                  </a:cubicBezTo>
                  <a:cubicBezTo>
                    <a:pt x="20666" y="6490"/>
                    <a:pt x="20420" y="6001"/>
                    <a:pt x="20170" y="5660"/>
                  </a:cubicBezTo>
                  <a:cubicBezTo>
                    <a:pt x="19920" y="5318"/>
                    <a:pt x="19727" y="4921"/>
                    <a:pt x="19727" y="4774"/>
                  </a:cubicBezTo>
                  <a:cubicBezTo>
                    <a:pt x="19727" y="4502"/>
                    <a:pt x="17617" y="2335"/>
                    <a:pt x="16945" y="1919"/>
                  </a:cubicBezTo>
                  <a:cubicBezTo>
                    <a:pt x="16043" y="1361"/>
                    <a:pt x="14580" y="624"/>
                    <a:pt x="14237" y="541"/>
                  </a:cubicBezTo>
                  <a:cubicBezTo>
                    <a:pt x="14031" y="492"/>
                    <a:pt x="13402" y="338"/>
                    <a:pt x="12834" y="197"/>
                  </a:cubicBezTo>
                  <a:cubicBezTo>
                    <a:pt x="12282" y="60"/>
                    <a:pt x="11618" y="-5"/>
                    <a:pt x="10914" y="0"/>
                  </a:cubicBezTo>
                  <a:close/>
                </a:path>
              </a:pathLst>
            </a:custGeom>
            <a:ln w="12700" cap="flat">
              <a:noFill/>
              <a:miter lim="400000"/>
            </a:ln>
            <a:effectLst/>
          </p:spPr>
        </p:pic>
        <p:pic>
          <p:nvPicPr>
            <p:cNvPr id="368" name="pasted-movie.png" descr="pasted-movie.png"/>
            <p:cNvPicPr>
              <a:picLocks noChangeAspect="1"/>
            </p:cNvPicPr>
            <p:nvPr/>
          </p:nvPicPr>
          <p:blipFill>
            <a:blip r:embed="rId6">
              <a:alphaModFix amt="24309"/>
            </a:blip>
            <a:srcRect l="51929" t="54372" r="40725" b="34557"/>
            <a:stretch>
              <a:fillRect/>
            </a:stretch>
          </p:blipFill>
          <p:spPr>
            <a:xfrm>
              <a:off x="8974146" y="1134877"/>
              <a:ext cx="345298" cy="346933"/>
            </a:xfrm>
            <a:custGeom>
              <a:avLst/>
              <a:gdLst/>
              <a:ahLst/>
              <a:cxnLst>
                <a:cxn ang="0">
                  <a:pos x="wd2" y="hd2"/>
                </a:cxn>
                <a:cxn ang="5400000">
                  <a:pos x="wd2" y="hd2"/>
                </a:cxn>
                <a:cxn ang="10800000">
                  <a:pos x="wd2" y="hd2"/>
                </a:cxn>
                <a:cxn ang="16200000">
                  <a:pos x="wd2" y="hd2"/>
                </a:cxn>
              </a:cxnLst>
              <a:rect l="0" t="0" r="r" b="b"/>
              <a:pathLst>
                <a:path w="21418" h="21511" extrusionOk="0">
                  <a:moveTo>
                    <a:pt x="10914" y="0"/>
                  </a:moveTo>
                  <a:cubicBezTo>
                    <a:pt x="8802" y="15"/>
                    <a:pt x="6317" y="627"/>
                    <a:pt x="5277" y="1501"/>
                  </a:cubicBezTo>
                  <a:cubicBezTo>
                    <a:pt x="4892" y="1824"/>
                    <a:pt x="4587" y="2024"/>
                    <a:pt x="4587" y="1944"/>
                  </a:cubicBezTo>
                  <a:cubicBezTo>
                    <a:pt x="4587" y="1645"/>
                    <a:pt x="1784" y="4568"/>
                    <a:pt x="1732" y="4922"/>
                  </a:cubicBezTo>
                  <a:cubicBezTo>
                    <a:pt x="1702" y="5125"/>
                    <a:pt x="1578" y="5354"/>
                    <a:pt x="1461" y="5438"/>
                  </a:cubicBezTo>
                  <a:cubicBezTo>
                    <a:pt x="1128" y="5678"/>
                    <a:pt x="542" y="6927"/>
                    <a:pt x="575" y="7308"/>
                  </a:cubicBezTo>
                  <a:cubicBezTo>
                    <a:pt x="591" y="7497"/>
                    <a:pt x="497" y="7789"/>
                    <a:pt x="378" y="7948"/>
                  </a:cubicBezTo>
                  <a:cubicBezTo>
                    <a:pt x="-152" y="8656"/>
                    <a:pt x="-113" y="12714"/>
                    <a:pt x="427" y="13608"/>
                  </a:cubicBezTo>
                  <a:cubicBezTo>
                    <a:pt x="503" y="13734"/>
                    <a:pt x="589" y="14022"/>
                    <a:pt x="624" y="14248"/>
                  </a:cubicBezTo>
                  <a:cubicBezTo>
                    <a:pt x="723" y="14885"/>
                    <a:pt x="1623" y="16575"/>
                    <a:pt x="1978" y="16782"/>
                  </a:cubicBezTo>
                  <a:cubicBezTo>
                    <a:pt x="2153" y="16884"/>
                    <a:pt x="2240" y="17045"/>
                    <a:pt x="2175" y="17151"/>
                  </a:cubicBezTo>
                  <a:cubicBezTo>
                    <a:pt x="1757" y="17826"/>
                    <a:pt x="7526" y="21536"/>
                    <a:pt x="8181" y="21015"/>
                  </a:cubicBezTo>
                  <a:cubicBezTo>
                    <a:pt x="8347" y="20883"/>
                    <a:pt x="8511" y="20896"/>
                    <a:pt x="8600" y="21039"/>
                  </a:cubicBezTo>
                  <a:cubicBezTo>
                    <a:pt x="8686" y="21179"/>
                    <a:pt x="9297" y="21220"/>
                    <a:pt x="10175" y="21138"/>
                  </a:cubicBezTo>
                  <a:cubicBezTo>
                    <a:pt x="11144" y="21047"/>
                    <a:pt x="11693" y="21088"/>
                    <a:pt x="11800" y="21261"/>
                  </a:cubicBezTo>
                  <a:cubicBezTo>
                    <a:pt x="12000" y="21584"/>
                    <a:pt x="12322" y="21595"/>
                    <a:pt x="12514" y="21285"/>
                  </a:cubicBezTo>
                  <a:cubicBezTo>
                    <a:pt x="12594" y="21156"/>
                    <a:pt x="12760" y="21060"/>
                    <a:pt x="12908" y="21088"/>
                  </a:cubicBezTo>
                  <a:cubicBezTo>
                    <a:pt x="13316" y="21166"/>
                    <a:pt x="14278" y="20820"/>
                    <a:pt x="14730" y="20424"/>
                  </a:cubicBezTo>
                  <a:cubicBezTo>
                    <a:pt x="14950" y="20230"/>
                    <a:pt x="15148" y="20151"/>
                    <a:pt x="15148" y="20227"/>
                  </a:cubicBezTo>
                  <a:cubicBezTo>
                    <a:pt x="15148" y="20655"/>
                    <a:pt x="16658" y="19711"/>
                    <a:pt x="17954" y="18480"/>
                  </a:cubicBezTo>
                  <a:cubicBezTo>
                    <a:pt x="19369" y="17138"/>
                    <a:pt x="19980" y="16301"/>
                    <a:pt x="20096" y="15601"/>
                  </a:cubicBezTo>
                  <a:cubicBezTo>
                    <a:pt x="20124" y="15432"/>
                    <a:pt x="20286" y="15122"/>
                    <a:pt x="20465" y="14912"/>
                  </a:cubicBezTo>
                  <a:cubicBezTo>
                    <a:pt x="20948" y="14349"/>
                    <a:pt x="21172" y="13727"/>
                    <a:pt x="21253" y="12574"/>
                  </a:cubicBezTo>
                  <a:cubicBezTo>
                    <a:pt x="21293" y="12007"/>
                    <a:pt x="21354" y="11195"/>
                    <a:pt x="21401" y="10753"/>
                  </a:cubicBezTo>
                  <a:cubicBezTo>
                    <a:pt x="21448" y="10312"/>
                    <a:pt x="21398" y="9828"/>
                    <a:pt x="21278" y="9671"/>
                  </a:cubicBezTo>
                  <a:cubicBezTo>
                    <a:pt x="21157" y="9514"/>
                    <a:pt x="21110" y="9150"/>
                    <a:pt x="21179" y="8883"/>
                  </a:cubicBezTo>
                  <a:cubicBezTo>
                    <a:pt x="21249" y="8617"/>
                    <a:pt x="21193" y="8134"/>
                    <a:pt x="21056" y="7801"/>
                  </a:cubicBezTo>
                  <a:cubicBezTo>
                    <a:pt x="20919" y="7468"/>
                    <a:pt x="20758" y="6995"/>
                    <a:pt x="20712" y="6742"/>
                  </a:cubicBezTo>
                  <a:cubicBezTo>
                    <a:pt x="20666" y="6490"/>
                    <a:pt x="20420" y="6001"/>
                    <a:pt x="20170" y="5660"/>
                  </a:cubicBezTo>
                  <a:cubicBezTo>
                    <a:pt x="19920" y="5318"/>
                    <a:pt x="19727" y="4921"/>
                    <a:pt x="19727" y="4774"/>
                  </a:cubicBezTo>
                  <a:cubicBezTo>
                    <a:pt x="19727" y="4502"/>
                    <a:pt x="17617" y="2335"/>
                    <a:pt x="16945" y="1919"/>
                  </a:cubicBezTo>
                  <a:cubicBezTo>
                    <a:pt x="16043" y="1361"/>
                    <a:pt x="14580" y="624"/>
                    <a:pt x="14237" y="541"/>
                  </a:cubicBezTo>
                  <a:cubicBezTo>
                    <a:pt x="14031" y="492"/>
                    <a:pt x="13402" y="338"/>
                    <a:pt x="12834" y="197"/>
                  </a:cubicBezTo>
                  <a:cubicBezTo>
                    <a:pt x="12282" y="60"/>
                    <a:pt x="11618" y="-5"/>
                    <a:pt x="10914" y="0"/>
                  </a:cubicBezTo>
                  <a:close/>
                </a:path>
              </a:pathLst>
            </a:custGeom>
            <a:ln w="12700" cap="flat">
              <a:noFill/>
              <a:miter lim="400000"/>
            </a:ln>
            <a:effectLst/>
          </p:spPr>
        </p:pic>
        <p:pic>
          <p:nvPicPr>
            <p:cNvPr id="369" name="pasted-movie.png" descr="pasted-movie.png"/>
            <p:cNvPicPr>
              <a:picLocks noChangeAspect="1"/>
            </p:cNvPicPr>
            <p:nvPr/>
          </p:nvPicPr>
          <p:blipFill>
            <a:blip r:embed="rId6">
              <a:alphaModFix amt="24171"/>
            </a:blip>
            <a:srcRect l="51929" t="54372" r="40725" b="34557"/>
            <a:stretch>
              <a:fillRect/>
            </a:stretch>
          </p:blipFill>
          <p:spPr>
            <a:xfrm>
              <a:off x="8732621" y="847374"/>
              <a:ext cx="345298" cy="346933"/>
            </a:xfrm>
            <a:custGeom>
              <a:avLst/>
              <a:gdLst/>
              <a:ahLst/>
              <a:cxnLst>
                <a:cxn ang="0">
                  <a:pos x="wd2" y="hd2"/>
                </a:cxn>
                <a:cxn ang="5400000">
                  <a:pos x="wd2" y="hd2"/>
                </a:cxn>
                <a:cxn ang="10800000">
                  <a:pos x="wd2" y="hd2"/>
                </a:cxn>
                <a:cxn ang="16200000">
                  <a:pos x="wd2" y="hd2"/>
                </a:cxn>
              </a:cxnLst>
              <a:rect l="0" t="0" r="r" b="b"/>
              <a:pathLst>
                <a:path w="21418" h="21511" extrusionOk="0">
                  <a:moveTo>
                    <a:pt x="10914" y="0"/>
                  </a:moveTo>
                  <a:cubicBezTo>
                    <a:pt x="8802" y="15"/>
                    <a:pt x="6317" y="627"/>
                    <a:pt x="5277" y="1501"/>
                  </a:cubicBezTo>
                  <a:cubicBezTo>
                    <a:pt x="4892" y="1824"/>
                    <a:pt x="4587" y="2024"/>
                    <a:pt x="4587" y="1944"/>
                  </a:cubicBezTo>
                  <a:cubicBezTo>
                    <a:pt x="4587" y="1645"/>
                    <a:pt x="1784" y="4568"/>
                    <a:pt x="1732" y="4922"/>
                  </a:cubicBezTo>
                  <a:cubicBezTo>
                    <a:pt x="1702" y="5125"/>
                    <a:pt x="1578" y="5354"/>
                    <a:pt x="1461" y="5438"/>
                  </a:cubicBezTo>
                  <a:cubicBezTo>
                    <a:pt x="1128" y="5678"/>
                    <a:pt x="542" y="6927"/>
                    <a:pt x="575" y="7308"/>
                  </a:cubicBezTo>
                  <a:cubicBezTo>
                    <a:pt x="591" y="7497"/>
                    <a:pt x="497" y="7789"/>
                    <a:pt x="378" y="7948"/>
                  </a:cubicBezTo>
                  <a:cubicBezTo>
                    <a:pt x="-152" y="8656"/>
                    <a:pt x="-113" y="12714"/>
                    <a:pt x="427" y="13608"/>
                  </a:cubicBezTo>
                  <a:cubicBezTo>
                    <a:pt x="503" y="13734"/>
                    <a:pt x="589" y="14022"/>
                    <a:pt x="624" y="14248"/>
                  </a:cubicBezTo>
                  <a:cubicBezTo>
                    <a:pt x="723" y="14885"/>
                    <a:pt x="1623" y="16575"/>
                    <a:pt x="1978" y="16782"/>
                  </a:cubicBezTo>
                  <a:cubicBezTo>
                    <a:pt x="2153" y="16884"/>
                    <a:pt x="2240" y="17045"/>
                    <a:pt x="2175" y="17151"/>
                  </a:cubicBezTo>
                  <a:cubicBezTo>
                    <a:pt x="1757" y="17826"/>
                    <a:pt x="7526" y="21536"/>
                    <a:pt x="8181" y="21015"/>
                  </a:cubicBezTo>
                  <a:cubicBezTo>
                    <a:pt x="8347" y="20883"/>
                    <a:pt x="8511" y="20896"/>
                    <a:pt x="8600" y="21039"/>
                  </a:cubicBezTo>
                  <a:cubicBezTo>
                    <a:pt x="8686" y="21179"/>
                    <a:pt x="9297" y="21220"/>
                    <a:pt x="10175" y="21138"/>
                  </a:cubicBezTo>
                  <a:cubicBezTo>
                    <a:pt x="11144" y="21047"/>
                    <a:pt x="11693" y="21088"/>
                    <a:pt x="11800" y="21261"/>
                  </a:cubicBezTo>
                  <a:cubicBezTo>
                    <a:pt x="12000" y="21584"/>
                    <a:pt x="12322" y="21595"/>
                    <a:pt x="12514" y="21285"/>
                  </a:cubicBezTo>
                  <a:cubicBezTo>
                    <a:pt x="12594" y="21156"/>
                    <a:pt x="12760" y="21060"/>
                    <a:pt x="12908" y="21088"/>
                  </a:cubicBezTo>
                  <a:cubicBezTo>
                    <a:pt x="13316" y="21166"/>
                    <a:pt x="14278" y="20820"/>
                    <a:pt x="14730" y="20424"/>
                  </a:cubicBezTo>
                  <a:cubicBezTo>
                    <a:pt x="14950" y="20230"/>
                    <a:pt x="15148" y="20151"/>
                    <a:pt x="15148" y="20227"/>
                  </a:cubicBezTo>
                  <a:cubicBezTo>
                    <a:pt x="15148" y="20655"/>
                    <a:pt x="16658" y="19711"/>
                    <a:pt x="17954" y="18480"/>
                  </a:cubicBezTo>
                  <a:cubicBezTo>
                    <a:pt x="19369" y="17138"/>
                    <a:pt x="19980" y="16301"/>
                    <a:pt x="20096" y="15601"/>
                  </a:cubicBezTo>
                  <a:cubicBezTo>
                    <a:pt x="20124" y="15432"/>
                    <a:pt x="20286" y="15122"/>
                    <a:pt x="20465" y="14912"/>
                  </a:cubicBezTo>
                  <a:cubicBezTo>
                    <a:pt x="20948" y="14349"/>
                    <a:pt x="21172" y="13727"/>
                    <a:pt x="21253" y="12574"/>
                  </a:cubicBezTo>
                  <a:cubicBezTo>
                    <a:pt x="21293" y="12007"/>
                    <a:pt x="21354" y="11195"/>
                    <a:pt x="21401" y="10753"/>
                  </a:cubicBezTo>
                  <a:cubicBezTo>
                    <a:pt x="21448" y="10312"/>
                    <a:pt x="21398" y="9828"/>
                    <a:pt x="21278" y="9671"/>
                  </a:cubicBezTo>
                  <a:cubicBezTo>
                    <a:pt x="21157" y="9514"/>
                    <a:pt x="21110" y="9150"/>
                    <a:pt x="21179" y="8883"/>
                  </a:cubicBezTo>
                  <a:cubicBezTo>
                    <a:pt x="21249" y="8617"/>
                    <a:pt x="21193" y="8134"/>
                    <a:pt x="21056" y="7801"/>
                  </a:cubicBezTo>
                  <a:cubicBezTo>
                    <a:pt x="20919" y="7468"/>
                    <a:pt x="20758" y="6995"/>
                    <a:pt x="20712" y="6742"/>
                  </a:cubicBezTo>
                  <a:cubicBezTo>
                    <a:pt x="20666" y="6490"/>
                    <a:pt x="20420" y="6001"/>
                    <a:pt x="20170" y="5660"/>
                  </a:cubicBezTo>
                  <a:cubicBezTo>
                    <a:pt x="19920" y="5318"/>
                    <a:pt x="19727" y="4921"/>
                    <a:pt x="19727" y="4774"/>
                  </a:cubicBezTo>
                  <a:cubicBezTo>
                    <a:pt x="19727" y="4502"/>
                    <a:pt x="17617" y="2335"/>
                    <a:pt x="16945" y="1919"/>
                  </a:cubicBezTo>
                  <a:cubicBezTo>
                    <a:pt x="16043" y="1361"/>
                    <a:pt x="14580" y="624"/>
                    <a:pt x="14237" y="541"/>
                  </a:cubicBezTo>
                  <a:cubicBezTo>
                    <a:pt x="14031" y="492"/>
                    <a:pt x="13402" y="338"/>
                    <a:pt x="12834" y="197"/>
                  </a:cubicBezTo>
                  <a:cubicBezTo>
                    <a:pt x="12282" y="60"/>
                    <a:pt x="11618" y="-5"/>
                    <a:pt x="10914" y="0"/>
                  </a:cubicBezTo>
                  <a:close/>
                </a:path>
              </a:pathLst>
            </a:custGeom>
            <a:ln w="12700" cap="flat">
              <a:noFill/>
              <a:miter lim="400000"/>
            </a:ln>
            <a:effectLst/>
          </p:spPr>
        </p:pic>
        <p:pic>
          <p:nvPicPr>
            <p:cNvPr id="370" name="pasted-movie.png" descr="pasted-movie.png"/>
            <p:cNvPicPr>
              <a:picLocks noChangeAspect="1"/>
            </p:cNvPicPr>
            <p:nvPr/>
          </p:nvPicPr>
          <p:blipFill>
            <a:blip r:embed="rId6">
              <a:alphaModFix amt="16565"/>
            </a:blip>
            <a:srcRect l="51929" t="54372" r="40725" b="34557"/>
            <a:stretch>
              <a:fillRect/>
            </a:stretch>
          </p:blipFill>
          <p:spPr>
            <a:xfrm>
              <a:off x="8479122" y="692947"/>
              <a:ext cx="345298" cy="346933"/>
            </a:xfrm>
            <a:custGeom>
              <a:avLst/>
              <a:gdLst/>
              <a:ahLst/>
              <a:cxnLst>
                <a:cxn ang="0">
                  <a:pos x="wd2" y="hd2"/>
                </a:cxn>
                <a:cxn ang="5400000">
                  <a:pos x="wd2" y="hd2"/>
                </a:cxn>
                <a:cxn ang="10800000">
                  <a:pos x="wd2" y="hd2"/>
                </a:cxn>
                <a:cxn ang="16200000">
                  <a:pos x="wd2" y="hd2"/>
                </a:cxn>
              </a:cxnLst>
              <a:rect l="0" t="0" r="r" b="b"/>
              <a:pathLst>
                <a:path w="21418" h="21511" extrusionOk="0">
                  <a:moveTo>
                    <a:pt x="10914" y="0"/>
                  </a:moveTo>
                  <a:cubicBezTo>
                    <a:pt x="8802" y="15"/>
                    <a:pt x="6317" y="627"/>
                    <a:pt x="5277" y="1501"/>
                  </a:cubicBezTo>
                  <a:cubicBezTo>
                    <a:pt x="4892" y="1824"/>
                    <a:pt x="4587" y="2024"/>
                    <a:pt x="4587" y="1944"/>
                  </a:cubicBezTo>
                  <a:cubicBezTo>
                    <a:pt x="4587" y="1645"/>
                    <a:pt x="1784" y="4568"/>
                    <a:pt x="1732" y="4922"/>
                  </a:cubicBezTo>
                  <a:cubicBezTo>
                    <a:pt x="1702" y="5125"/>
                    <a:pt x="1578" y="5354"/>
                    <a:pt x="1461" y="5438"/>
                  </a:cubicBezTo>
                  <a:cubicBezTo>
                    <a:pt x="1128" y="5678"/>
                    <a:pt x="542" y="6927"/>
                    <a:pt x="575" y="7308"/>
                  </a:cubicBezTo>
                  <a:cubicBezTo>
                    <a:pt x="591" y="7497"/>
                    <a:pt x="497" y="7789"/>
                    <a:pt x="378" y="7948"/>
                  </a:cubicBezTo>
                  <a:cubicBezTo>
                    <a:pt x="-152" y="8656"/>
                    <a:pt x="-113" y="12714"/>
                    <a:pt x="427" y="13608"/>
                  </a:cubicBezTo>
                  <a:cubicBezTo>
                    <a:pt x="503" y="13734"/>
                    <a:pt x="589" y="14022"/>
                    <a:pt x="624" y="14248"/>
                  </a:cubicBezTo>
                  <a:cubicBezTo>
                    <a:pt x="723" y="14885"/>
                    <a:pt x="1623" y="16575"/>
                    <a:pt x="1978" y="16782"/>
                  </a:cubicBezTo>
                  <a:cubicBezTo>
                    <a:pt x="2153" y="16884"/>
                    <a:pt x="2240" y="17045"/>
                    <a:pt x="2175" y="17151"/>
                  </a:cubicBezTo>
                  <a:cubicBezTo>
                    <a:pt x="1757" y="17826"/>
                    <a:pt x="7526" y="21536"/>
                    <a:pt x="8181" y="21015"/>
                  </a:cubicBezTo>
                  <a:cubicBezTo>
                    <a:pt x="8347" y="20883"/>
                    <a:pt x="8511" y="20896"/>
                    <a:pt x="8600" y="21039"/>
                  </a:cubicBezTo>
                  <a:cubicBezTo>
                    <a:pt x="8686" y="21179"/>
                    <a:pt x="9297" y="21220"/>
                    <a:pt x="10175" y="21138"/>
                  </a:cubicBezTo>
                  <a:cubicBezTo>
                    <a:pt x="11144" y="21047"/>
                    <a:pt x="11693" y="21088"/>
                    <a:pt x="11800" y="21261"/>
                  </a:cubicBezTo>
                  <a:cubicBezTo>
                    <a:pt x="12000" y="21584"/>
                    <a:pt x="12322" y="21595"/>
                    <a:pt x="12514" y="21285"/>
                  </a:cubicBezTo>
                  <a:cubicBezTo>
                    <a:pt x="12594" y="21156"/>
                    <a:pt x="12760" y="21060"/>
                    <a:pt x="12908" y="21088"/>
                  </a:cubicBezTo>
                  <a:cubicBezTo>
                    <a:pt x="13316" y="21166"/>
                    <a:pt x="14278" y="20820"/>
                    <a:pt x="14730" y="20424"/>
                  </a:cubicBezTo>
                  <a:cubicBezTo>
                    <a:pt x="14950" y="20230"/>
                    <a:pt x="15148" y="20151"/>
                    <a:pt x="15148" y="20227"/>
                  </a:cubicBezTo>
                  <a:cubicBezTo>
                    <a:pt x="15148" y="20655"/>
                    <a:pt x="16658" y="19711"/>
                    <a:pt x="17954" y="18480"/>
                  </a:cubicBezTo>
                  <a:cubicBezTo>
                    <a:pt x="19369" y="17138"/>
                    <a:pt x="19980" y="16301"/>
                    <a:pt x="20096" y="15601"/>
                  </a:cubicBezTo>
                  <a:cubicBezTo>
                    <a:pt x="20124" y="15432"/>
                    <a:pt x="20286" y="15122"/>
                    <a:pt x="20465" y="14912"/>
                  </a:cubicBezTo>
                  <a:cubicBezTo>
                    <a:pt x="20948" y="14349"/>
                    <a:pt x="21172" y="13727"/>
                    <a:pt x="21253" y="12574"/>
                  </a:cubicBezTo>
                  <a:cubicBezTo>
                    <a:pt x="21293" y="12007"/>
                    <a:pt x="21354" y="11195"/>
                    <a:pt x="21401" y="10753"/>
                  </a:cubicBezTo>
                  <a:cubicBezTo>
                    <a:pt x="21448" y="10312"/>
                    <a:pt x="21398" y="9828"/>
                    <a:pt x="21278" y="9671"/>
                  </a:cubicBezTo>
                  <a:cubicBezTo>
                    <a:pt x="21157" y="9514"/>
                    <a:pt x="21110" y="9150"/>
                    <a:pt x="21179" y="8883"/>
                  </a:cubicBezTo>
                  <a:cubicBezTo>
                    <a:pt x="21249" y="8617"/>
                    <a:pt x="21193" y="8134"/>
                    <a:pt x="21056" y="7801"/>
                  </a:cubicBezTo>
                  <a:cubicBezTo>
                    <a:pt x="20919" y="7468"/>
                    <a:pt x="20758" y="6995"/>
                    <a:pt x="20712" y="6742"/>
                  </a:cubicBezTo>
                  <a:cubicBezTo>
                    <a:pt x="20666" y="6490"/>
                    <a:pt x="20420" y="6001"/>
                    <a:pt x="20170" y="5660"/>
                  </a:cubicBezTo>
                  <a:cubicBezTo>
                    <a:pt x="19920" y="5318"/>
                    <a:pt x="19727" y="4921"/>
                    <a:pt x="19727" y="4774"/>
                  </a:cubicBezTo>
                  <a:cubicBezTo>
                    <a:pt x="19727" y="4502"/>
                    <a:pt x="17617" y="2335"/>
                    <a:pt x="16945" y="1919"/>
                  </a:cubicBezTo>
                  <a:cubicBezTo>
                    <a:pt x="16043" y="1361"/>
                    <a:pt x="14580" y="624"/>
                    <a:pt x="14237" y="541"/>
                  </a:cubicBezTo>
                  <a:cubicBezTo>
                    <a:pt x="14031" y="492"/>
                    <a:pt x="13402" y="338"/>
                    <a:pt x="12834" y="197"/>
                  </a:cubicBezTo>
                  <a:cubicBezTo>
                    <a:pt x="12282" y="60"/>
                    <a:pt x="11618" y="-5"/>
                    <a:pt x="10914" y="0"/>
                  </a:cubicBezTo>
                  <a:close/>
                </a:path>
              </a:pathLst>
            </a:custGeom>
            <a:ln w="12700" cap="flat">
              <a:noFill/>
              <a:miter lim="400000"/>
            </a:ln>
            <a:effectLst/>
          </p:spPr>
        </p:pic>
        <p:grpSp>
          <p:nvGrpSpPr>
            <p:cNvPr id="373" name="Group"/>
            <p:cNvGrpSpPr/>
            <p:nvPr/>
          </p:nvGrpSpPr>
          <p:grpSpPr>
            <a:xfrm>
              <a:off x="10786527" y="1605052"/>
              <a:ext cx="2055194" cy="1006200"/>
              <a:chOff x="0" y="0"/>
              <a:chExt cx="2055192" cy="1006198"/>
            </a:xfrm>
          </p:grpSpPr>
          <p:pic>
            <p:nvPicPr>
              <p:cNvPr id="371" name="Image" descr="Image"/>
              <p:cNvPicPr>
                <a:picLocks noChangeAspect="1"/>
              </p:cNvPicPr>
              <p:nvPr/>
            </p:nvPicPr>
            <p:blipFill>
              <a:blip r:embed="rId7"/>
              <a:stretch>
                <a:fillRect/>
              </a:stretch>
            </p:blipFill>
            <p:spPr>
              <a:xfrm>
                <a:off x="5506" y="0"/>
                <a:ext cx="1735224" cy="455343"/>
              </a:xfrm>
              <a:prstGeom prst="rect">
                <a:avLst/>
              </a:prstGeom>
              <a:ln w="12700" cap="flat">
                <a:noFill/>
                <a:miter lim="400000"/>
              </a:ln>
              <a:effectLst/>
            </p:spPr>
          </p:pic>
          <p:pic>
            <p:nvPicPr>
              <p:cNvPr id="372" name="Image" descr="Image"/>
              <p:cNvPicPr>
                <a:picLocks noChangeAspect="1"/>
              </p:cNvPicPr>
              <p:nvPr/>
            </p:nvPicPr>
            <p:blipFill>
              <a:blip r:embed="rId8"/>
              <a:srcRect/>
              <a:stretch>
                <a:fillRect/>
              </a:stretch>
            </p:blipFill>
            <p:spPr>
              <a:xfrm>
                <a:off x="0" y="513936"/>
                <a:ext cx="2055193" cy="492263"/>
              </a:xfrm>
              <a:prstGeom prst="rect">
                <a:avLst/>
              </a:prstGeom>
              <a:ln w="12700" cap="flat">
                <a:noFill/>
                <a:miter lim="400000"/>
              </a:ln>
              <a:effectLst/>
            </p:spPr>
          </p:pic>
        </p:grpSp>
        <p:sp>
          <p:nvSpPr>
            <p:cNvPr id="374" name="(dynamics)"/>
            <p:cNvSpPr txBox="1"/>
            <p:nvPr/>
          </p:nvSpPr>
          <p:spPr>
            <a:xfrm>
              <a:off x="10153203" y="0"/>
              <a:ext cx="1829813" cy="8965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ctr" defTabSz="355600">
                <a:lnSpc>
                  <a:spcPct val="70000"/>
                </a:lnSpc>
                <a:spcBef>
                  <a:spcPts val="4700"/>
                </a:spcBef>
                <a:defRPr sz="2200">
                  <a:solidFill>
                    <a:srgbClr val="8B5C5D"/>
                  </a:solidFill>
                  <a:latin typeface="Graphik-Medium"/>
                  <a:ea typeface="Graphik-Medium"/>
                  <a:cs typeface="Graphik-Medium"/>
                  <a:sym typeface="Graphik Medium"/>
                </a:defRPr>
              </a:lvl1pPr>
            </a:lstStyle>
            <a:p>
              <a:r>
                <a:t>(dynamics)</a:t>
              </a:r>
            </a:p>
          </p:txBody>
        </p:sp>
        <p:sp>
          <p:nvSpPr>
            <p:cNvPr id="375" name="Rounded Rectangle"/>
            <p:cNvSpPr/>
            <p:nvPr/>
          </p:nvSpPr>
          <p:spPr>
            <a:xfrm>
              <a:off x="5637099" y="1602505"/>
              <a:ext cx="1736231" cy="726339"/>
            </a:xfrm>
            <a:prstGeom prst="roundRect">
              <a:avLst>
                <a:gd name="adj" fmla="val 23708"/>
              </a:avLst>
            </a:prstGeom>
            <a:solidFill>
              <a:srgbClr val="F0BE5E"/>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53585F"/>
                  </a:solidFill>
                  <a:latin typeface="Graphik-Light"/>
                  <a:ea typeface="Graphik-Light"/>
                  <a:cs typeface="Graphik-Light"/>
                  <a:sym typeface="Graphik Light"/>
                </a:defRPr>
              </a:pPr>
              <a:endParaRPr/>
            </a:p>
          </p:txBody>
        </p:sp>
        <p:sp>
          <p:nvSpPr>
            <p:cNvPr id="376" name="constraint enforcement"/>
            <p:cNvSpPr txBox="1"/>
            <p:nvPr/>
          </p:nvSpPr>
          <p:spPr>
            <a:xfrm>
              <a:off x="5697338" y="1594977"/>
              <a:ext cx="1615757" cy="70280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algn="ctr" defTabSz="355600">
                <a:lnSpc>
                  <a:spcPct val="80000"/>
                </a:lnSpc>
                <a:spcBef>
                  <a:spcPts val="4700"/>
                </a:spcBef>
                <a:defRPr sz="1800">
                  <a:latin typeface="Graphik"/>
                  <a:ea typeface="Graphik"/>
                  <a:cs typeface="Graphik"/>
                  <a:sym typeface="Graphik"/>
                </a:defRPr>
              </a:pPr>
              <a:r>
                <a:t>constraint</a:t>
              </a:r>
              <a:br/>
              <a:r>
                <a:t>enforcement</a:t>
              </a:r>
            </a:p>
          </p:txBody>
        </p:sp>
      </p:grpSp>
      <p:grpSp>
        <p:nvGrpSpPr>
          <p:cNvPr id="382" name="Group"/>
          <p:cNvGrpSpPr/>
          <p:nvPr/>
        </p:nvGrpSpPr>
        <p:grpSpPr>
          <a:xfrm>
            <a:off x="12743916" y="2685389"/>
            <a:ext cx="6175622" cy="1838958"/>
            <a:chOff x="-217392" y="0"/>
            <a:chExt cx="6175620" cy="1838956"/>
          </a:xfrm>
        </p:grpSpPr>
        <p:sp>
          <p:nvSpPr>
            <p:cNvPr id="378" name="differentiable constraint optimization steps"/>
            <p:cNvSpPr txBox="1"/>
            <p:nvPr/>
          </p:nvSpPr>
          <p:spPr>
            <a:xfrm>
              <a:off x="546982" y="0"/>
              <a:ext cx="4395357" cy="1068121"/>
            </a:xfrm>
            <a:prstGeom prst="rect">
              <a:avLst/>
            </a:prstGeom>
            <a:solidFill>
              <a:schemeClr val="accent4">
                <a:hueOff val="348544"/>
                <a:lumOff val="7139"/>
                <a:alpha val="30000"/>
              </a:schemeClr>
            </a:solidFill>
            <a:ln w="12700" cap="flat">
              <a:solidFill>
                <a:schemeClr val="accent4">
                  <a:hueOff val="-1247790"/>
                  <a:lumOff val="-12326"/>
                </a:schemeClr>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825500">
                <a:lnSpc>
                  <a:spcPct val="100000"/>
                </a:lnSpc>
                <a:spcBef>
                  <a:spcPts val="0"/>
                </a:spcBef>
                <a:defRPr sz="3200">
                  <a:latin typeface="+mn-lt"/>
                  <a:ea typeface="+mn-ea"/>
                  <a:cs typeface="+mn-cs"/>
                  <a:sym typeface="Helvetica Neue"/>
                </a:defRPr>
              </a:lvl1pPr>
            </a:lstStyle>
            <a:p>
              <a:r>
                <a:t>differentiable constraint optimization steps</a:t>
              </a:r>
            </a:p>
          </p:txBody>
        </p:sp>
        <p:pic>
          <p:nvPicPr>
            <p:cNvPr id="385" name="Connection Line" descr="Connection Line"/>
            <p:cNvPicPr>
              <a:picLocks/>
            </p:cNvPicPr>
            <p:nvPr/>
          </p:nvPicPr>
          <p:blipFill>
            <a:blip r:embed="rId9"/>
            <a:stretch>
              <a:fillRect/>
            </a:stretch>
          </p:blipFill>
          <p:spPr>
            <a:xfrm>
              <a:off x="-217393" y="700217"/>
              <a:ext cx="712515" cy="810138"/>
            </a:xfrm>
            <a:prstGeom prst="rect">
              <a:avLst/>
            </a:prstGeom>
            <a:effectLst/>
          </p:spPr>
        </p:pic>
        <p:pic>
          <p:nvPicPr>
            <p:cNvPr id="387" name="Connection Line" descr="Connection Line"/>
            <p:cNvPicPr>
              <a:picLocks/>
            </p:cNvPicPr>
            <p:nvPr/>
          </p:nvPicPr>
          <p:blipFill>
            <a:blip r:embed="rId10"/>
            <a:stretch>
              <a:fillRect/>
            </a:stretch>
          </p:blipFill>
          <p:spPr>
            <a:xfrm>
              <a:off x="5159689" y="629194"/>
              <a:ext cx="798539" cy="1083896"/>
            </a:xfrm>
            <a:prstGeom prst="rect">
              <a:avLst/>
            </a:prstGeom>
            <a:effectLst/>
          </p:spPr>
        </p:pic>
        <p:pic>
          <p:nvPicPr>
            <p:cNvPr id="389" name="Connection Line" descr="Connection Line"/>
            <p:cNvPicPr>
              <a:picLocks/>
            </p:cNvPicPr>
            <p:nvPr/>
          </p:nvPicPr>
          <p:blipFill>
            <a:blip r:embed="rId11"/>
            <a:stretch>
              <a:fillRect/>
            </a:stretch>
          </p:blipFill>
          <p:spPr>
            <a:xfrm>
              <a:off x="3351022" y="1032116"/>
              <a:ext cx="447119" cy="806841"/>
            </a:xfrm>
            <a:prstGeom prst="rect">
              <a:avLst/>
            </a:prstGeom>
            <a:effectLst/>
          </p:spPr>
        </p:pic>
      </p:grpSp>
      <p:sp>
        <p:nvSpPr>
          <p:cNvPr id="383" name="Text"/>
          <p:cNvSpPr txBox="1"/>
          <p:nvPr/>
        </p:nvSpPr>
        <p:spPr>
          <a:xfrm>
            <a:off x="3689350" y="3778250"/>
            <a:ext cx="152400"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defTabSz="457200">
              <a:lnSpc>
                <a:spcPct val="100000"/>
              </a:lnSpc>
              <a:spcBef>
                <a:spcPts val="0"/>
              </a:spcBef>
              <a:defRPr sz="1200">
                <a:latin typeface="Times Roman"/>
                <a:ea typeface="Times Roman"/>
                <a:cs typeface="Times Roman"/>
                <a:sym typeface="Times Roman"/>
              </a:defRPr>
            </a:lvl1pPr>
          </a:lstStyle>
          <a:p>
            <a:r>
              <a:t> </a:t>
            </a:r>
          </a:p>
        </p:txBody>
      </p:sp>
      <p:sp>
        <p:nvSpPr>
          <p:cNvPr id="384" name="These advances bring forward two key features that are important for the adoption of generative models for trajectory planning:  1. improved assurance 2. ood generalization"/>
          <p:cNvSpPr txBox="1"/>
          <p:nvPr/>
        </p:nvSpPr>
        <p:spPr>
          <a:xfrm>
            <a:off x="762797" y="8016642"/>
            <a:ext cx="16456520" cy="31734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marL="543339" indent="-543339">
              <a:lnSpc>
                <a:spcPct val="100000"/>
              </a:lnSpc>
              <a:spcBef>
                <a:spcPts val="2500"/>
              </a:spcBef>
              <a:buSzPct val="70000"/>
              <a:buChar char="•"/>
              <a:defRPr sz="4000">
                <a:latin typeface="Helvetica Neue Light"/>
                <a:ea typeface="Helvetica Neue Light"/>
                <a:cs typeface="Helvetica Neue Light"/>
                <a:sym typeface="Helvetica Neue Light"/>
              </a:defRPr>
            </a:pPr>
            <a:r>
              <a:t>These advances bring forward two key features that are important for the adoption of generative models for trajectory planning:</a:t>
            </a:r>
            <a:br/>
            <a:br/>
            <a:r>
              <a:rPr>
                <a:latin typeface="+mn-lt"/>
                <a:ea typeface="+mn-ea"/>
                <a:cs typeface="+mn-cs"/>
                <a:sym typeface="Helvetica Neue"/>
              </a:rPr>
              <a:t>1. improved assurance</a:t>
            </a:r>
            <a:br>
              <a:rPr>
                <a:latin typeface="+mn-lt"/>
                <a:ea typeface="+mn-ea"/>
                <a:cs typeface="+mn-cs"/>
                <a:sym typeface="Helvetica Neue"/>
              </a:rPr>
            </a:br>
            <a:r>
              <a:rPr>
                <a:latin typeface="+mn-lt"/>
                <a:ea typeface="+mn-ea"/>
                <a:cs typeface="+mn-cs"/>
                <a:sym typeface="Helvetica Neue"/>
              </a:rPr>
              <a:t>2. ood generalization</a:t>
            </a: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8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344">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3" nodeType="afterEffect">
                                  <p:stCondLst>
                                    <p:cond delay="0"/>
                                  </p:stCondLst>
                                  <p:iterate>
                                    <p:tmAbs val="0"/>
                                  </p:iterate>
                                  <p:childTnLst>
                                    <p:set>
                                      <p:cBhvr>
                                        <p:cTn id="12" fill="hold"/>
                                        <p:tgtEl>
                                          <p:spTgt spid="3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 grpId="2" build="p" bldLvl="5" animBg="1" advAuto="0"/>
      <p:bldP spid="382" grpId="1" animBg="1" advAuto="0"/>
      <p:bldP spid="384" grpId="3"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8" name="Group"/>
          <p:cNvGrpSpPr/>
          <p:nvPr/>
        </p:nvGrpSpPr>
        <p:grpSpPr>
          <a:xfrm>
            <a:off x="3092199" y="9865378"/>
            <a:ext cx="18465543" cy="1601228"/>
            <a:chOff x="0" y="0"/>
            <a:chExt cx="18465542" cy="1601227"/>
          </a:xfrm>
        </p:grpSpPr>
        <p:pic>
          <p:nvPicPr>
            <p:cNvPr id="392" name="Line Line" descr="Line Line"/>
            <p:cNvPicPr>
              <a:picLocks/>
            </p:cNvPicPr>
            <p:nvPr/>
          </p:nvPicPr>
          <p:blipFill>
            <a:blip r:embed="rId2"/>
            <a:stretch>
              <a:fillRect/>
            </a:stretch>
          </p:blipFill>
          <p:spPr>
            <a:xfrm>
              <a:off x="838082" y="327648"/>
              <a:ext cx="16827700" cy="584962"/>
            </a:xfrm>
            <a:prstGeom prst="rect">
              <a:avLst/>
            </a:prstGeom>
            <a:effectLst/>
          </p:spPr>
        </p:pic>
        <mc:AlternateContent xmlns:mc="http://schemas.openxmlformats.org/markup-compatibility/2006">
          <mc:Choice xmlns:a14="http://schemas.microsoft.com/office/drawing/2010/main" Requires="a14">
            <p:sp>
              <p:nvSpPr>
                <p:cNvPr id="394" name="Reverse denoising process (noise   data)"/>
                <p:cNvSpPr txBox="1"/>
                <p:nvPr/>
              </p:nvSpPr>
              <p:spPr>
                <a:xfrm>
                  <a:off x="4365429" y="765530"/>
                  <a:ext cx="10209592" cy="835698"/>
                </a:xfrm>
                <a:prstGeom prst="rect">
                  <a:avLst/>
                </a:prstGeom>
                <a:no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none" lIns="50800" tIns="50800" rIns="50800" bIns="50800" numCol="1" anchor="ctr">
                  <a:spAutoFit/>
                </a:bodyPr>
                <a:lstStyle/>
                <a:p>
                  <a:pPr>
                    <a:defRPr>
                      <a:solidFill>
                        <a:schemeClr val="accent6">
                          <a:satOff val="-16844"/>
                          <a:lumOff val="-30747"/>
                        </a:schemeClr>
                      </a:solidFill>
                    </a:defRPr>
                  </a:pPr>
                  <a:r>
                    <a:t>Reverse denoising process (noise </a:t>
                  </a:r>
                  <a14:m>
                    <m:oMath xmlns:m="http://schemas.openxmlformats.org/officeDocument/2006/math">
                      <m:r>
                        <a:rPr sz="5950" i="1">
                          <a:solidFill>
                            <a:srgbClr val="960D52"/>
                          </a:solidFill>
                          <a:latin typeface="Cambria Math" panose="02040503050406030204" pitchFamily="18" charset="0"/>
                        </a:rPr>
                        <m:t>→</m:t>
                      </m:r>
                    </m:oMath>
                  </a14:m>
                  <a:r>
                    <a:t> data)</a:t>
                  </a:r>
                  <a:endParaRPr>
                    <a:solidFill>
                      <a:srgbClr val="970E53"/>
                    </a:solidFill>
                  </a:endParaRPr>
                </a:p>
              </p:txBody>
            </p:sp>
          </mc:Choice>
          <mc:Fallback>
            <p:sp>
              <p:nvSpPr>
                <p:cNvPr id="394" name="Reverse denoising process (noise   data)"/>
                <p:cNvSpPr txBox="1">
                  <a:spLocks noRot="1" noChangeAspect="1" noMove="1" noResize="1" noEditPoints="1" noAdjustHandles="1" noChangeArrowheads="1" noChangeShapeType="1" noTextEdit="1"/>
                </p:cNvSpPr>
                <p:nvPr/>
              </p:nvSpPr>
              <p:spPr>
                <a:xfrm>
                  <a:off x="4365429" y="765530"/>
                  <a:ext cx="10209592" cy="835698"/>
                </a:xfrm>
                <a:prstGeom prst="rect">
                  <a:avLst/>
                </a:prstGeom>
                <a:blipFill>
                  <a:blip r:embed="rId3"/>
                  <a:stretch>
                    <a:fillRect l="-3106" t="-13636" r="-3230" b="-40909"/>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5" name="Rectangle"/>
                <p:cNvSpPr/>
                <p:nvPr/>
              </p:nvSpPr>
              <p:spPr>
                <a:xfrm>
                  <a:off x="0" y="0"/>
                  <a:ext cx="841794" cy="715350"/>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square" lIns="0" tIns="0" rIns="0" bIns="0" numCol="1" anchor="ctr">
                  <a:noAutofit/>
                </a:bodyPr>
                <a:lstStyle>
                  <a:lvl1pPr algn="ctr" defTabSz="825500">
                    <a:lnSpc>
                      <a:spcPct val="10000"/>
                    </a:lnSpc>
                    <a:spcBef>
                      <a:spcPts val="0"/>
                    </a:spcBef>
                    <a:defRPr sz="5200">
                      <a:latin typeface="Helvetica Neue Medium"/>
                      <a:ea typeface="Helvetica Neue Medium"/>
                      <a:cs typeface="Helvetica Neue Medium"/>
                      <a:sym typeface="Helvetica Neue Medium"/>
                    </a:defRPr>
                  </a:lvl1pPr>
                </a:lstStyle>
                <a:p>
                  <a:pPr/>
                  <a14:m>
                    <m:oMathPara xmlns:m="http://schemas.openxmlformats.org/officeDocument/2006/math">
                      <m:oMathParaPr>
                        <m:jc m:val="center"/>
                      </m:oMathParaPr>
                      <m:oMath xmlns:m="http://schemas.openxmlformats.org/officeDocument/2006/math">
                        <m:sSub>
                          <m:sSubPr>
                            <m:ctrlPr>
                              <a:rPr sz="4400">
                                <a:solidFill>
                                  <a:srgbClr val="000000"/>
                                </a:solidFill>
                                <a:latin typeface="Cambria Math" panose="02040503050406030204" pitchFamily="18" charset="0"/>
                              </a:rPr>
                            </m:ctrlPr>
                          </m:sSubPr>
                          <m:e>
                            <m:r>
                              <a:rPr sz="4400" i="1">
                                <a:solidFill>
                                  <a:srgbClr val="000000"/>
                                </a:solidFill>
                                <a:latin typeface="Cambria Math" panose="02040503050406030204" pitchFamily="18" charset="0"/>
                              </a:rPr>
                              <m:t>𝑥</m:t>
                            </m:r>
                          </m:e>
                          <m:sub>
                            <m:r>
                              <a:rPr sz="4400" i="1">
                                <a:solidFill>
                                  <a:srgbClr val="000000"/>
                                </a:solidFill>
                                <a:latin typeface="Cambria Math" panose="02040503050406030204" pitchFamily="18" charset="0"/>
                              </a:rPr>
                              <m:t>0</m:t>
                            </m:r>
                          </m:sub>
                        </m:sSub>
                      </m:oMath>
                    </m:oMathPara>
                  </a14:m>
                  <a:endParaRPr/>
                </a:p>
              </p:txBody>
            </p:sp>
          </mc:Choice>
          <mc:Fallback>
            <p:sp>
              <p:nvSpPr>
                <p:cNvPr id="395" name="Rectangle"/>
                <p:cNvSpPr>
                  <a:spLocks noRot="1" noChangeAspect="1" noMove="1" noResize="1" noEditPoints="1" noAdjustHandles="1" noChangeArrowheads="1" noChangeShapeType="1" noTextEdit="1"/>
                </p:cNvSpPr>
                <p:nvPr/>
              </p:nvSpPr>
              <p:spPr>
                <a:xfrm>
                  <a:off x="0" y="0"/>
                  <a:ext cx="841794" cy="715350"/>
                </a:xfrm>
                <a:prstGeom prst="rect">
                  <a:avLst/>
                </a:prstGeom>
                <a:blipFill>
                  <a:blip r:embed="rId4"/>
                  <a:stretch>
                    <a:fillRect l="-7463"/>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6" name="Rectangle"/>
                <p:cNvSpPr/>
                <p:nvPr/>
              </p:nvSpPr>
              <p:spPr>
                <a:xfrm>
                  <a:off x="17623749" y="79010"/>
                  <a:ext cx="841794" cy="715350"/>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square" lIns="0" tIns="0" rIns="0" bIns="0" numCol="1" anchor="ctr">
                  <a:noAutofit/>
                </a:bodyPr>
                <a:lstStyle>
                  <a:lvl1pPr algn="ctr" defTabSz="825500">
                    <a:lnSpc>
                      <a:spcPct val="10000"/>
                    </a:lnSpc>
                    <a:spcBef>
                      <a:spcPts val="0"/>
                    </a:spcBef>
                    <a:defRPr sz="5200">
                      <a:latin typeface="Helvetica Neue Medium"/>
                      <a:ea typeface="Helvetica Neue Medium"/>
                      <a:cs typeface="Helvetica Neue Medium"/>
                      <a:sym typeface="Helvetica Neue Medium"/>
                    </a:defRPr>
                  </a:lvl1pPr>
                </a:lstStyle>
                <a:p>
                  <a:pPr/>
                  <a14:m>
                    <m:oMathPara xmlns:m="http://schemas.openxmlformats.org/officeDocument/2006/math">
                      <m:oMathParaPr>
                        <m:jc m:val="center"/>
                      </m:oMathParaPr>
                      <m:oMath xmlns:m="http://schemas.openxmlformats.org/officeDocument/2006/math">
                        <m:sSub>
                          <m:sSubPr>
                            <m:ctrlPr>
                              <a:rPr sz="4100">
                                <a:solidFill>
                                  <a:srgbClr val="000000"/>
                                </a:solidFill>
                                <a:latin typeface="Cambria Math" panose="02040503050406030204" pitchFamily="18" charset="0"/>
                              </a:rPr>
                            </m:ctrlPr>
                          </m:sSubPr>
                          <m:e>
                            <m:r>
                              <a:rPr sz="4100" i="1">
                                <a:solidFill>
                                  <a:srgbClr val="000000"/>
                                </a:solidFill>
                                <a:latin typeface="Cambria Math" panose="02040503050406030204" pitchFamily="18" charset="0"/>
                              </a:rPr>
                              <m:t>𝑥</m:t>
                            </m:r>
                          </m:e>
                          <m:sub>
                            <m:r>
                              <a:rPr sz="4100" i="1">
                                <a:solidFill>
                                  <a:srgbClr val="000000"/>
                                </a:solidFill>
                                <a:latin typeface="Cambria Math" panose="02040503050406030204" pitchFamily="18" charset="0"/>
                              </a:rPr>
                              <m:t>𝑇</m:t>
                            </m:r>
                          </m:sub>
                        </m:sSub>
                      </m:oMath>
                    </m:oMathPara>
                  </a14:m>
                  <a:endParaRPr/>
                </a:p>
              </p:txBody>
            </p:sp>
          </mc:Choice>
          <mc:Fallback>
            <p:sp>
              <p:nvSpPr>
                <p:cNvPr id="396" name="Rectangle"/>
                <p:cNvSpPr>
                  <a:spLocks noRot="1" noChangeAspect="1" noMove="1" noResize="1" noEditPoints="1" noAdjustHandles="1" noChangeArrowheads="1" noChangeShapeType="1" noTextEdit="1"/>
                </p:cNvSpPr>
                <p:nvPr/>
              </p:nvSpPr>
              <p:spPr>
                <a:xfrm>
                  <a:off x="17623749" y="79010"/>
                  <a:ext cx="841794" cy="715350"/>
                </a:xfrm>
                <a:prstGeom prst="rect">
                  <a:avLst/>
                </a:prstGeom>
                <a:blipFill>
                  <a:blip r:embed="rId5"/>
                  <a:stretch>
                    <a:fillRect l="-7463"/>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7" name="Rectangle"/>
                <p:cNvSpPr/>
                <p:nvPr/>
              </p:nvSpPr>
              <p:spPr>
                <a:xfrm>
                  <a:off x="14646515" y="79010"/>
                  <a:ext cx="1086977" cy="715350"/>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square" lIns="0" tIns="0" rIns="0" bIns="0" numCol="1" anchor="ctr">
                  <a:noAutofit/>
                </a:bodyPr>
                <a:lstStyle/>
                <a:p>
                  <a:pPr algn="ctr" defTabSz="825500">
                    <a:lnSpc>
                      <a:spcPct val="10000"/>
                    </a:lnSpc>
                    <a:spcBef>
                      <a:spcPts val="0"/>
                    </a:spcBef>
                    <a:defRPr sz="5200">
                      <a:latin typeface="Helvetica Neue Medium"/>
                      <a:ea typeface="Helvetica Neue Medium"/>
                      <a:cs typeface="Helvetica Neue Medium"/>
                      <a:sym typeface="Helvetica Neue Medium"/>
                    </a:defRPr>
                  </a:pPr>
                  <a14:m>
                    <m:oMath xmlns:m="http://schemas.openxmlformats.org/officeDocument/2006/math">
                      <m:sSub>
                        <m:sSubPr>
                          <m:ctrlPr>
                            <a:rPr sz="4600">
                              <a:solidFill>
                                <a:srgbClr val="000000"/>
                              </a:solidFill>
                              <a:latin typeface="Cambria Math" panose="02040503050406030204" pitchFamily="18" charset="0"/>
                            </a:rPr>
                          </m:ctrlPr>
                        </m:sSubPr>
                        <m:e>
                          <m:r>
                            <a:rPr sz="4600" i="1">
                              <a:solidFill>
                                <a:srgbClr val="000000"/>
                              </a:solidFill>
                              <a:latin typeface="Cambria Math" panose="02040503050406030204" pitchFamily="18" charset="0"/>
                            </a:rPr>
                            <m:t>𝑥</m:t>
                          </m:r>
                        </m:e>
                        <m:sub>
                          <m:r>
                            <a:rPr sz="4600" i="1">
                              <a:solidFill>
                                <a:srgbClr val="000000"/>
                              </a:solidFill>
                              <a:latin typeface="Cambria Math" panose="02040503050406030204" pitchFamily="18" charset="0"/>
                            </a:rPr>
                            <m:t>𝑡</m:t>
                          </m:r>
                          <m:r>
                            <a:rPr sz="4600" i="1">
                              <a:solidFill>
                                <a:srgbClr val="000000"/>
                              </a:solidFill>
                              <a:latin typeface="Cambria Math" panose="02040503050406030204" pitchFamily="18" charset="0"/>
                            </a:rPr>
                            <m:t>−1</m:t>
                          </m:r>
                        </m:sub>
                      </m:sSub>
                    </m:oMath>
                  </a14:m>
                  <a:r>
                    <a:t> </a:t>
                  </a:r>
                </a:p>
              </p:txBody>
            </p:sp>
          </mc:Choice>
          <mc:Fallback>
            <p:sp>
              <p:nvSpPr>
                <p:cNvPr id="397" name="Rectangle"/>
                <p:cNvSpPr>
                  <a:spLocks noRot="1" noChangeAspect="1" noMove="1" noResize="1" noEditPoints="1" noAdjustHandles="1" noChangeArrowheads="1" noChangeShapeType="1" noTextEdit="1"/>
                </p:cNvSpPr>
                <p:nvPr/>
              </p:nvSpPr>
              <p:spPr>
                <a:xfrm>
                  <a:off x="14646515" y="79010"/>
                  <a:ext cx="1086977" cy="715350"/>
                </a:xfrm>
                <a:prstGeom prst="rect">
                  <a:avLst/>
                </a:prstGeom>
                <a:blipFill>
                  <a:blip r:embed="rId6"/>
                  <a:stretch>
                    <a:fillRect l="-12644" t="-3448" r="-10345"/>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grpSp>
      <p:sp>
        <p:nvSpPr>
          <p:cNvPr id="399" name="Diffusion models: a short primer"/>
          <p:cNvSpPr txBox="1">
            <a:spLocks noGrp="1"/>
          </p:cNvSpPr>
          <p:nvPr>
            <p:ph type="title"/>
          </p:nvPr>
        </p:nvSpPr>
        <p:spPr>
          <a:prstGeom prst="rect">
            <a:avLst/>
          </a:prstGeom>
        </p:spPr>
        <p:txBody>
          <a:bodyPr/>
          <a:lstStyle/>
          <a:p>
            <a:r>
              <a:t>Diffusion models: a short primer</a:t>
            </a:r>
          </a:p>
        </p:txBody>
      </p:sp>
      <mc:AlternateContent xmlns:mc="http://schemas.openxmlformats.org/markup-compatibility/2006">
        <mc:Choice xmlns:a14="http://schemas.microsoft.com/office/drawing/2010/main" Requires="a14">
          <p:sp>
            <p:nvSpPr>
              <p:cNvPr id="400" name="Diffusion models operates in two phases:…"/>
              <p:cNvSpPr txBox="1">
                <a:spLocks noGrp="1"/>
              </p:cNvSpPr>
              <p:nvPr>
                <p:ph type="body" sz="half" idx="1"/>
              </p:nvPr>
            </p:nvSpPr>
            <p:spPr>
              <a:xfrm>
                <a:off x="1206500" y="2238959"/>
                <a:ext cx="21971000" cy="3861162"/>
              </a:xfrm>
              <a:prstGeom prst="rect">
                <a:avLst/>
              </a:prstGeom>
            </p:spPr>
            <p:txBody>
              <a:bodyPr/>
              <a:lstStyle/>
              <a:p>
                <a:pPr marL="609599" indent="-609599">
                  <a:spcBef>
                    <a:spcPts val="1200"/>
                  </a:spcBef>
                  <a:defRPr sz="4000"/>
                </a:pPr>
                <a:r>
                  <a:t>Diffusion models operates in two phases: </a:t>
                </a:r>
              </a:p>
              <a:p>
                <a:pPr marL="1130300" lvl="1" indent="-609600">
                  <a:spcBef>
                    <a:spcPts val="1200"/>
                  </a:spcBef>
                  <a:buSzPct val="70000"/>
                  <a:defRPr sz="4000"/>
                </a:pPr>
                <a:r>
                  <a:t>A </a:t>
                </a:r>
                <a:r>
                  <a:rPr>
                    <a:solidFill>
                      <a:schemeClr val="accent1">
                        <a:hueOff val="114395"/>
                        <a:lumOff val="-24975"/>
                      </a:schemeClr>
                    </a:solidFill>
                  </a:rPr>
                  <a:t>forward diffusion process </a:t>
                </a:r>
                <a14:m>
                  <m:oMath xmlns:m="http://schemas.openxmlformats.org/officeDocument/2006/math">
                    <m:r>
                      <a:rPr sz="5100" i="1">
                        <a:solidFill>
                          <a:srgbClr val="000000"/>
                        </a:solidFill>
                        <a:latin typeface="Cambria Math" panose="02040503050406030204" pitchFamily="18" charset="0"/>
                      </a:rPr>
                      <m:t>{</m:t>
                    </m:r>
                    <m:sSub>
                      <m:sSubPr>
                        <m:ctrlPr>
                          <a:rPr sz="5100" i="1">
                            <a:solidFill>
                              <a:srgbClr val="000000"/>
                            </a:solidFill>
                            <a:latin typeface="Cambria Math" panose="02040503050406030204" pitchFamily="18" charset="0"/>
                          </a:rPr>
                        </m:ctrlPr>
                      </m:sSubPr>
                      <m:e>
                        <m:r>
                          <a:rPr sz="5100" i="1">
                            <a:solidFill>
                              <a:srgbClr val="000000"/>
                            </a:solidFill>
                            <a:latin typeface="Cambria Math" panose="02040503050406030204" pitchFamily="18" charset="0"/>
                          </a:rPr>
                          <m:t>𝑥</m:t>
                        </m:r>
                      </m:e>
                      <m:sub>
                        <m:r>
                          <a:rPr sz="5100" i="1">
                            <a:solidFill>
                              <a:srgbClr val="000000"/>
                            </a:solidFill>
                            <a:latin typeface="Cambria Math" panose="02040503050406030204" pitchFamily="18" charset="0"/>
                          </a:rPr>
                          <m:t>𝑡</m:t>
                        </m:r>
                      </m:sub>
                    </m:sSub>
                    <m:sSubSup>
                      <m:sSubSupPr>
                        <m:ctrlPr>
                          <a:rPr sz="5100" i="1">
                            <a:solidFill>
                              <a:srgbClr val="000000"/>
                            </a:solidFill>
                            <a:latin typeface="Cambria Math" panose="02040503050406030204" pitchFamily="18" charset="0"/>
                          </a:rPr>
                        </m:ctrlPr>
                      </m:sSubSupPr>
                      <m:e>
                        <m:r>
                          <a:rPr sz="5100" i="1">
                            <a:solidFill>
                              <a:srgbClr val="000000"/>
                            </a:solidFill>
                            <a:latin typeface="Cambria Math" panose="02040503050406030204" pitchFamily="18" charset="0"/>
                          </a:rPr>
                          <m:t>}</m:t>
                        </m:r>
                      </m:e>
                      <m:sub>
                        <m:r>
                          <a:rPr sz="5100" i="1">
                            <a:solidFill>
                              <a:srgbClr val="000000"/>
                            </a:solidFill>
                            <a:latin typeface="Cambria Math" panose="02040503050406030204" pitchFamily="18" charset="0"/>
                          </a:rPr>
                          <m:t>𝑡</m:t>
                        </m:r>
                        <m:r>
                          <a:rPr sz="5100" i="1">
                            <a:solidFill>
                              <a:srgbClr val="000000"/>
                            </a:solidFill>
                            <a:latin typeface="Cambria Math" panose="02040503050406030204" pitchFamily="18" charset="0"/>
                          </a:rPr>
                          <m:t>=0</m:t>
                        </m:r>
                      </m:sub>
                      <m:sup>
                        <m:r>
                          <a:rPr sz="5100" i="1">
                            <a:solidFill>
                              <a:srgbClr val="000000"/>
                            </a:solidFill>
                            <a:latin typeface="Cambria Math" panose="02040503050406030204" pitchFamily="18" charset="0"/>
                          </a:rPr>
                          <m:t>𝑇</m:t>
                        </m:r>
                      </m:sup>
                    </m:sSubSup>
                  </m:oMath>
                </a14:m>
                <a:r>
                  <a:t> gradually adds noise to the original data samples </a:t>
                </a:r>
                <a14:m>
                  <m:oMath xmlns:m="http://schemas.openxmlformats.org/officeDocument/2006/math">
                    <m:sSub>
                      <m:sSubPr>
                        <m:ctrlPr>
                          <a:rPr sz="4600">
                            <a:solidFill>
                              <a:srgbClr val="000000"/>
                            </a:solidFill>
                            <a:latin typeface="Cambria Math" panose="02040503050406030204" pitchFamily="18" charset="0"/>
                          </a:rPr>
                        </m:ctrlPr>
                      </m:sSubPr>
                      <m:e>
                        <m:r>
                          <a:rPr sz="4600" i="1">
                            <a:solidFill>
                              <a:srgbClr val="000000"/>
                            </a:solidFill>
                            <a:latin typeface="Cambria Math" panose="02040503050406030204" pitchFamily="18" charset="0"/>
                          </a:rPr>
                          <m:t>𝑥</m:t>
                        </m:r>
                      </m:e>
                      <m:sub>
                        <m:r>
                          <a:rPr sz="4600" i="1">
                            <a:solidFill>
                              <a:srgbClr val="000000"/>
                            </a:solidFill>
                            <a:latin typeface="Cambria Math" panose="02040503050406030204" pitchFamily="18" charset="0"/>
                          </a:rPr>
                          <m:t>0</m:t>
                        </m:r>
                      </m:sub>
                    </m:sSub>
                    <m:r>
                      <a:rPr sz="4600" i="1">
                        <a:solidFill>
                          <a:srgbClr val="000000"/>
                        </a:solidFill>
                        <a:latin typeface="Cambria Math" panose="02040503050406030204" pitchFamily="18" charset="0"/>
                      </a:rPr>
                      <m:t>∼</m:t>
                    </m:r>
                    <m:sSub>
                      <m:sSubPr>
                        <m:ctrlPr>
                          <a:rPr sz="4600" i="1">
                            <a:solidFill>
                              <a:srgbClr val="000000"/>
                            </a:solidFill>
                            <a:latin typeface="Cambria Math" panose="02040503050406030204" pitchFamily="18" charset="0"/>
                          </a:rPr>
                        </m:ctrlPr>
                      </m:sSubPr>
                      <m:e>
                        <m:r>
                          <a:rPr sz="4600" i="1">
                            <a:solidFill>
                              <a:srgbClr val="000000"/>
                            </a:solidFill>
                            <a:latin typeface="Cambria Math" panose="02040503050406030204" pitchFamily="18" charset="0"/>
                          </a:rPr>
                          <m:t>𝑝</m:t>
                        </m:r>
                      </m:e>
                      <m:sub>
                        <m:r>
                          <m:rPr>
                            <m:nor/>
                          </m:rPr>
                          <a:rPr sz="4600" i="1">
                            <a:solidFill>
                              <a:srgbClr val="000000"/>
                            </a:solidFill>
                            <a:latin typeface="Cambria Math" panose="02040503050406030204" pitchFamily="18" charset="0"/>
                          </a:rPr>
                          <m:t>data</m:t>
                        </m:r>
                      </m:sub>
                    </m:sSub>
                    <m:r>
                      <a:rPr sz="4600" i="1">
                        <a:solidFill>
                          <a:srgbClr val="000000"/>
                        </a:solidFill>
                        <a:latin typeface="Cambria Math" panose="02040503050406030204" pitchFamily="18" charset="0"/>
                      </a:rPr>
                      <m:t>(</m:t>
                    </m:r>
                    <m:sSub>
                      <m:sSubPr>
                        <m:ctrlPr>
                          <a:rPr sz="4600" i="1">
                            <a:solidFill>
                              <a:srgbClr val="000000"/>
                            </a:solidFill>
                            <a:latin typeface="Cambria Math" panose="02040503050406030204" pitchFamily="18" charset="0"/>
                          </a:rPr>
                        </m:ctrlPr>
                      </m:sSubPr>
                      <m:e>
                        <m:r>
                          <a:rPr sz="4600" i="1">
                            <a:solidFill>
                              <a:srgbClr val="000000"/>
                            </a:solidFill>
                            <a:latin typeface="Cambria Math" panose="02040503050406030204" pitchFamily="18" charset="0"/>
                          </a:rPr>
                          <m:t>𝑥</m:t>
                        </m:r>
                      </m:e>
                      <m:sub>
                        <m:r>
                          <a:rPr sz="4600" i="1">
                            <a:solidFill>
                              <a:srgbClr val="000000"/>
                            </a:solidFill>
                            <a:latin typeface="Cambria Math" panose="02040503050406030204" pitchFamily="18" charset="0"/>
                          </a:rPr>
                          <m:t>0</m:t>
                        </m:r>
                      </m:sub>
                    </m:sSub>
                    <m:r>
                      <a:rPr sz="4600" i="1">
                        <a:solidFill>
                          <a:srgbClr val="000000"/>
                        </a:solidFill>
                        <a:latin typeface="Cambria Math" panose="02040503050406030204" pitchFamily="18" charset="0"/>
                      </a:rPr>
                      <m:t>)</m:t>
                    </m:r>
                  </m:oMath>
                </a14:m>
                <a:r>
                  <a:t> in a Markov process culminating into noise </a:t>
                </a:r>
                <a14:m>
                  <m:oMath xmlns:m="http://schemas.openxmlformats.org/officeDocument/2006/math">
                    <m:sSub>
                      <m:sSubPr>
                        <m:ctrlPr>
                          <a:rPr sz="4900">
                            <a:solidFill>
                              <a:srgbClr val="000000"/>
                            </a:solidFill>
                            <a:latin typeface="Cambria Math" panose="02040503050406030204" pitchFamily="18" charset="0"/>
                          </a:rPr>
                        </m:ctrlPr>
                      </m:sSubPr>
                      <m:e>
                        <m:r>
                          <a:rPr sz="4900" i="1">
                            <a:solidFill>
                              <a:srgbClr val="000000"/>
                            </a:solidFill>
                            <a:latin typeface="Cambria Math" panose="02040503050406030204" pitchFamily="18" charset="0"/>
                          </a:rPr>
                          <m:t>𝑥</m:t>
                        </m:r>
                      </m:e>
                      <m:sub>
                        <m:r>
                          <a:rPr sz="4900" i="1">
                            <a:solidFill>
                              <a:srgbClr val="000000"/>
                            </a:solidFill>
                            <a:latin typeface="Cambria Math" panose="02040503050406030204" pitchFamily="18" charset="0"/>
                          </a:rPr>
                          <m:t>𝑇</m:t>
                        </m:r>
                      </m:sub>
                    </m:sSub>
                    <m:r>
                      <a:rPr sz="4900" i="1">
                        <a:solidFill>
                          <a:srgbClr val="000000"/>
                        </a:solidFill>
                        <a:latin typeface="Cambria Math" panose="02040503050406030204" pitchFamily="18" charset="0"/>
                      </a:rPr>
                      <m:t>∼</m:t>
                    </m:r>
                    <m:r>
                      <a:rPr sz="4900" i="1">
                        <a:solidFill>
                          <a:srgbClr val="000000"/>
                        </a:solidFill>
                        <a:latin typeface="Cambria Math" panose="02040503050406030204" pitchFamily="18" charset="0"/>
                      </a:rPr>
                      <m:t>𝑝</m:t>
                    </m:r>
                    <m:r>
                      <a:rPr sz="4900" i="1">
                        <a:solidFill>
                          <a:srgbClr val="000000"/>
                        </a:solidFill>
                        <a:latin typeface="Cambria Math" panose="02040503050406030204" pitchFamily="18" charset="0"/>
                      </a:rPr>
                      <m:t>(</m:t>
                    </m:r>
                    <m:sSub>
                      <m:sSubPr>
                        <m:ctrlPr>
                          <a:rPr sz="4900" i="1">
                            <a:solidFill>
                              <a:srgbClr val="000000"/>
                            </a:solidFill>
                            <a:latin typeface="Cambria Math" panose="02040503050406030204" pitchFamily="18" charset="0"/>
                          </a:rPr>
                        </m:ctrlPr>
                      </m:sSubPr>
                      <m:e>
                        <m:r>
                          <a:rPr sz="4900" i="1">
                            <a:solidFill>
                              <a:srgbClr val="000000"/>
                            </a:solidFill>
                            <a:latin typeface="Cambria Math" panose="02040503050406030204" pitchFamily="18" charset="0"/>
                          </a:rPr>
                          <m:t>𝑥</m:t>
                        </m:r>
                      </m:e>
                      <m:sub>
                        <m:r>
                          <a:rPr sz="4900" i="1">
                            <a:solidFill>
                              <a:srgbClr val="000000"/>
                            </a:solidFill>
                            <a:latin typeface="Cambria Math" panose="02040503050406030204" pitchFamily="18" charset="0"/>
                          </a:rPr>
                          <m:t>𝑇</m:t>
                        </m:r>
                      </m:sub>
                    </m:sSub>
                    <m:r>
                      <a:rPr sz="4900" i="1">
                        <a:solidFill>
                          <a:srgbClr val="000000"/>
                        </a:solidFill>
                        <a:latin typeface="Cambria Math" panose="02040503050406030204" pitchFamily="18" charset="0"/>
                      </a:rPr>
                      <m:t>)</m:t>
                    </m:r>
                  </m:oMath>
                </a14:m>
                <a:r>
                  <a:t>.</a:t>
                </a:r>
              </a:p>
              <a:p>
                <a:pPr marL="1130300" lvl="1" indent="-609600">
                  <a:spcBef>
                    <a:spcPts val="1200"/>
                  </a:spcBef>
                  <a:buSzPct val="70000"/>
                  <a:defRPr sz="4000"/>
                </a:pPr>
                <a:r>
                  <a:t>A </a:t>
                </a:r>
                <a:r>
                  <a:rPr>
                    <a:solidFill>
                      <a:schemeClr val="accent6">
                        <a:satOff val="-16844"/>
                        <a:lumOff val="-30747"/>
                      </a:schemeClr>
                    </a:solidFill>
                  </a:rPr>
                  <a:t>reverse denoising step</a:t>
                </a:r>
                <a:r>
                  <a:t> starts from </a:t>
                </a:r>
                <a14:m>
                  <m:oMath xmlns:m="http://schemas.openxmlformats.org/officeDocument/2006/math">
                    <m:sSub>
                      <m:sSubPr>
                        <m:ctrlPr>
                          <a:rPr sz="4900">
                            <a:solidFill>
                              <a:srgbClr val="000000"/>
                            </a:solidFill>
                            <a:latin typeface="Cambria Math" panose="02040503050406030204" pitchFamily="18" charset="0"/>
                          </a:rPr>
                        </m:ctrlPr>
                      </m:sSubPr>
                      <m:e>
                        <m:r>
                          <a:rPr sz="4900" i="1">
                            <a:solidFill>
                              <a:srgbClr val="000000"/>
                            </a:solidFill>
                            <a:latin typeface="Cambria Math" panose="02040503050406030204" pitchFamily="18" charset="0"/>
                          </a:rPr>
                          <m:t>𝑥</m:t>
                        </m:r>
                      </m:e>
                      <m:sub>
                        <m:r>
                          <a:rPr sz="4900" i="1">
                            <a:solidFill>
                              <a:srgbClr val="000000"/>
                            </a:solidFill>
                            <a:latin typeface="Cambria Math" panose="02040503050406030204" pitchFamily="18" charset="0"/>
                          </a:rPr>
                          <m:t>𝑇</m:t>
                        </m:r>
                      </m:sub>
                    </m:sSub>
                    <m:r>
                      <a:rPr sz="4900" i="1">
                        <a:solidFill>
                          <a:srgbClr val="000000"/>
                        </a:solidFill>
                        <a:latin typeface="Cambria Math" panose="02040503050406030204" pitchFamily="18" charset="0"/>
                      </a:rPr>
                      <m:t>∼</m:t>
                    </m:r>
                    <m:r>
                      <a:rPr sz="4900" i="1">
                        <a:solidFill>
                          <a:srgbClr val="000000"/>
                        </a:solidFill>
                        <a:latin typeface="Cambria Math" panose="02040503050406030204" pitchFamily="18" charset="0"/>
                      </a:rPr>
                      <m:t>𝑝</m:t>
                    </m:r>
                    <m:r>
                      <a:rPr sz="4900" i="1">
                        <a:solidFill>
                          <a:srgbClr val="000000"/>
                        </a:solidFill>
                        <a:latin typeface="Cambria Math" panose="02040503050406030204" pitchFamily="18" charset="0"/>
                      </a:rPr>
                      <m:t>(</m:t>
                    </m:r>
                    <m:sSub>
                      <m:sSubPr>
                        <m:ctrlPr>
                          <a:rPr sz="4900" i="1">
                            <a:solidFill>
                              <a:srgbClr val="000000"/>
                            </a:solidFill>
                            <a:latin typeface="Cambria Math" panose="02040503050406030204" pitchFamily="18" charset="0"/>
                          </a:rPr>
                        </m:ctrlPr>
                      </m:sSubPr>
                      <m:e>
                        <m:r>
                          <a:rPr sz="4900" i="1">
                            <a:solidFill>
                              <a:srgbClr val="000000"/>
                            </a:solidFill>
                            <a:latin typeface="Cambria Math" panose="02040503050406030204" pitchFamily="18" charset="0"/>
                          </a:rPr>
                          <m:t>𝑥</m:t>
                        </m:r>
                      </m:e>
                      <m:sub>
                        <m:r>
                          <a:rPr sz="4900" i="1">
                            <a:solidFill>
                              <a:srgbClr val="000000"/>
                            </a:solidFill>
                            <a:latin typeface="Cambria Math" panose="02040503050406030204" pitchFamily="18" charset="0"/>
                          </a:rPr>
                          <m:t>𝑇</m:t>
                        </m:r>
                      </m:sub>
                    </m:sSub>
                    <m:r>
                      <a:rPr sz="4900" i="1">
                        <a:solidFill>
                          <a:srgbClr val="000000"/>
                        </a:solidFill>
                        <a:latin typeface="Cambria Math" panose="02040503050406030204" pitchFamily="18" charset="0"/>
                      </a:rPr>
                      <m:t>)</m:t>
                    </m:r>
                  </m:oMath>
                </a14:m>
                <a:r>
                  <a:t> and recovers the original data </a:t>
                </a:r>
                <a14:m>
                  <m:oMath xmlns:m="http://schemas.openxmlformats.org/officeDocument/2006/math">
                    <m:sSub>
                      <m:sSubPr>
                        <m:ctrlPr>
                          <a:rPr sz="4900">
                            <a:solidFill>
                              <a:srgbClr val="000000"/>
                            </a:solidFill>
                            <a:latin typeface="Cambria Math" panose="02040503050406030204" pitchFamily="18" charset="0"/>
                          </a:rPr>
                        </m:ctrlPr>
                      </m:sSubPr>
                      <m:e>
                        <m:r>
                          <a:rPr sz="4900" i="1">
                            <a:solidFill>
                              <a:srgbClr val="000000"/>
                            </a:solidFill>
                            <a:latin typeface="Cambria Math" panose="02040503050406030204" pitchFamily="18" charset="0"/>
                          </a:rPr>
                          <m:t>𝑥</m:t>
                        </m:r>
                      </m:e>
                      <m:sub>
                        <m:r>
                          <a:rPr sz="4900" i="1">
                            <a:solidFill>
                              <a:srgbClr val="000000"/>
                            </a:solidFill>
                            <a:latin typeface="Cambria Math" panose="02040503050406030204" pitchFamily="18" charset="0"/>
                          </a:rPr>
                          <m:t>0</m:t>
                        </m:r>
                      </m:sub>
                    </m:sSub>
                    <m:r>
                      <a:rPr sz="4900" i="1">
                        <a:solidFill>
                          <a:srgbClr val="000000"/>
                        </a:solidFill>
                        <a:latin typeface="Cambria Math" panose="02040503050406030204" pitchFamily="18" charset="0"/>
                      </a:rPr>
                      <m:t>∼</m:t>
                    </m:r>
                    <m:limUpp>
                      <m:limUppPr>
                        <m:ctrlPr>
                          <a:rPr sz="4900" i="1">
                            <a:solidFill>
                              <a:srgbClr val="000000"/>
                            </a:solidFill>
                            <a:latin typeface="Cambria Math" panose="02040503050406030204" pitchFamily="18" charset="0"/>
                          </a:rPr>
                        </m:ctrlPr>
                      </m:limUppPr>
                      <m:e>
                        <m:r>
                          <a:rPr sz="4900" i="1">
                            <a:solidFill>
                              <a:srgbClr val="000000"/>
                            </a:solidFill>
                            <a:latin typeface="Cambria Math" panose="02040503050406030204" pitchFamily="18" charset="0"/>
                          </a:rPr>
                          <m:t>𝑝</m:t>
                        </m:r>
                      </m:e>
                      <m:lim>
                        <m:r>
                          <a:rPr sz="4900" i="1">
                            <a:solidFill>
                              <a:srgbClr val="000000"/>
                            </a:solidFill>
                            <a:latin typeface="Cambria Math" panose="02040503050406030204" pitchFamily="18" charset="0"/>
                          </a:rPr>
                          <m:t>˜</m:t>
                        </m:r>
                      </m:lim>
                    </m:limUpp>
                    <m:r>
                      <a:rPr sz="4900" i="1">
                        <a:solidFill>
                          <a:srgbClr val="000000"/>
                        </a:solidFill>
                        <a:latin typeface="Cambria Math" panose="02040503050406030204" pitchFamily="18" charset="0"/>
                      </a:rPr>
                      <m:t>(</m:t>
                    </m:r>
                    <m:sSub>
                      <m:sSubPr>
                        <m:ctrlPr>
                          <a:rPr sz="4900" i="1">
                            <a:solidFill>
                              <a:srgbClr val="000000"/>
                            </a:solidFill>
                            <a:latin typeface="Cambria Math" panose="02040503050406030204" pitchFamily="18" charset="0"/>
                          </a:rPr>
                        </m:ctrlPr>
                      </m:sSubPr>
                      <m:e>
                        <m:r>
                          <a:rPr sz="4900" i="1">
                            <a:solidFill>
                              <a:srgbClr val="000000"/>
                            </a:solidFill>
                            <a:latin typeface="Cambria Math" panose="02040503050406030204" pitchFamily="18" charset="0"/>
                          </a:rPr>
                          <m:t>𝑥</m:t>
                        </m:r>
                      </m:e>
                      <m:sub>
                        <m:r>
                          <a:rPr sz="4900" i="1">
                            <a:solidFill>
                              <a:srgbClr val="000000"/>
                            </a:solidFill>
                            <a:latin typeface="Cambria Math" panose="02040503050406030204" pitchFamily="18" charset="0"/>
                          </a:rPr>
                          <m:t>0</m:t>
                        </m:r>
                      </m:sub>
                    </m:sSub>
                    <m:r>
                      <a:rPr sz="4900" i="1">
                        <a:solidFill>
                          <a:srgbClr val="000000"/>
                        </a:solidFill>
                        <a:latin typeface="Cambria Math" panose="02040503050406030204" pitchFamily="18" charset="0"/>
                      </a:rPr>
                      <m:t>)</m:t>
                    </m:r>
                  </m:oMath>
                </a14:m>
                <a:r>
                  <a:t>, following a time-reversed SDE. </a:t>
                </a:r>
              </a:p>
            </p:txBody>
          </p:sp>
        </mc:Choice>
        <mc:Fallback>
          <p:sp>
            <p:nvSpPr>
              <p:cNvPr id="400" name="Diffusion models operates in two phases:…"/>
              <p:cNvSpPr txBox="1">
                <a:spLocks noGrp="1" noRot="1" noChangeAspect="1" noMove="1" noResize="1" noEditPoints="1" noAdjustHandles="1" noChangeArrowheads="1" noChangeShapeType="1" noTextEdit="1"/>
              </p:cNvSpPr>
              <p:nvPr>
                <p:ph type="body" sz="half" idx="1"/>
              </p:nvPr>
            </p:nvSpPr>
            <p:spPr>
              <a:xfrm>
                <a:off x="1206500" y="2238959"/>
                <a:ext cx="21971000" cy="3861162"/>
              </a:xfrm>
              <a:prstGeom prst="rect">
                <a:avLst/>
              </a:prstGeom>
              <a:blipFill>
                <a:blip r:embed="rId7"/>
                <a:stretch>
                  <a:fillRect l="-751" t="-3934" b="-6885"/>
                </a:stretch>
              </a:blipFill>
            </p:spPr>
            <p:txBody>
              <a:bodyPr/>
              <a:lstStyle/>
              <a:p>
                <a:r>
                  <a:rPr lang="en-US">
                    <a:noFill/>
                  </a:rPr>
                  <a:t> </a:t>
                </a:r>
              </a:p>
            </p:txBody>
          </p:sp>
        </mc:Fallback>
      </mc:AlternateContent>
      <p:sp>
        <p:nvSpPr>
          <p:cNvPr id="40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pic>
        <p:nvPicPr>
          <p:cNvPr id="402" name="Image" descr="Image"/>
          <p:cNvPicPr>
            <a:picLocks noChangeAspect="1"/>
          </p:cNvPicPr>
          <p:nvPr/>
        </p:nvPicPr>
        <p:blipFill>
          <a:blip r:embed="rId8"/>
          <a:srcRect t="31993" b="38117"/>
          <a:stretch>
            <a:fillRect/>
          </a:stretch>
        </p:blipFill>
        <p:spPr>
          <a:xfrm>
            <a:off x="2186004" y="7517534"/>
            <a:ext cx="20277881" cy="2619055"/>
          </a:xfrm>
          <a:prstGeom prst="rect">
            <a:avLst/>
          </a:prstGeom>
          <a:ln w="12700">
            <a:miter lim="400000"/>
          </a:ln>
        </p:spPr>
      </p:pic>
      <p:grpSp>
        <p:nvGrpSpPr>
          <p:cNvPr id="409" name="Group"/>
          <p:cNvGrpSpPr/>
          <p:nvPr/>
        </p:nvGrpSpPr>
        <p:grpSpPr>
          <a:xfrm>
            <a:off x="3092199" y="6345923"/>
            <a:ext cx="18465543" cy="1273581"/>
            <a:chOff x="0" y="0"/>
            <a:chExt cx="18465542" cy="1273579"/>
          </a:xfrm>
        </p:grpSpPr>
        <p:pic>
          <p:nvPicPr>
            <p:cNvPr id="403" name="Line Line" descr="Line Line"/>
            <p:cNvPicPr>
              <a:picLocks/>
            </p:cNvPicPr>
            <p:nvPr/>
          </p:nvPicPr>
          <p:blipFill>
            <a:blip r:embed="rId9"/>
            <a:stretch>
              <a:fillRect/>
            </a:stretch>
          </p:blipFill>
          <p:spPr>
            <a:xfrm>
              <a:off x="1061022" y="688618"/>
              <a:ext cx="16538507" cy="584962"/>
            </a:xfrm>
            <a:prstGeom prst="rect">
              <a:avLst/>
            </a:prstGeom>
            <a:effectLst/>
          </p:spPr>
        </p:pic>
        <mc:AlternateContent xmlns:mc="http://schemas.openxmlformats.org/markup-compatibility/2006">
          <mc:Choice xmlns:a14="http://schemas.microsoft.com/office/drawing/2010/main" Requires="a14">
            <p:sp>
              <p:nvSpPr>
                <p:cNvPr id="405" name="Forward diffusion process (data   noise)"/>
                <p:cNvSpPr txBox="1"/>
                <p:nvPr/>
              </p:nvSpPr>
              <p:spPr>
                <a:xfrm>
                  <a:off x="4969688" y="0"/>
                  <a:ext cx="10036654" cy="835697"/>
                </a:xfrm>
                <a:prstGeom prst="rect">
                  <a:avLst/>
                </a:prstGeom>
                <a:no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none" lIns="50800" tIns="50800" rIns="50800" bIns="50800" numCol="1" anchor="ctr">
                  <a:spAutoFit/>
                </a:bodyPr>
                <a:lstStyle/>
                <a:p>
                  <a:r>
                    <a:t>F</a:t>
                  </a:r>
                  <a:r>
                    <a:rPr>
                      <a:solidFill>
                        <a:schemeClr val="accent1">
                          <a:hueOff val="114395"/>
                          <a:lumOff val="-24975"/>
                        </a:schemeClr>
                      </a:solidFill>
                    </a:rPr>
                    <a:t>orward diffusion process (data </a:t>
                  </a:r>
                  <a14:m>
                    <m:oMath xmlns:m="http://schemas.openxmlformats.org/officeDocument/2006/math">
                      <m:r>
                        <a:rPr sz="5950" i="1">
                          <a:solidFill>
                            <a:srgbClr val="004C7F"/>
                          </a:solidFill>
                          <a:latin typeface="Cambria Math" panose="02040503050406030204" pitchFamily="18" charset="0"/>
                        </a:rPr>
                        <m:t>→</m:t>
                      </m:r>
                    </m:oMath>
                  </a14:m>
                  <a:r>
                    <a:rPr>
                      <a:solidFill>
                        <a:schemeClr val="accent1">
                          <a:hueOff val="114395"/>
                          <a:lumOff val="-24975"/>
                        </a:schemeClr>
                      </a:solidFill>
                    </a:rPr>
                    <a:t> noise)</a:t>
                  </a:r>
                  <a:endParaRPr>
                    <a:solidFill>
                      <a:srgbClr val="004D80"/>
                    </a:solidFill>
                  </a:endParaRPr>
                </a:p>
              </p:txBody>
            </p:sp>
          </mc:Choice>
          <mc:Fallback>
            <p:sp>
              <p:nvSpPr>
                <p:cNvPr id="405" name="Forward diffusion process (data   noise)"/>
                <p:cNvSpPr txBox="1">
                  <a:spLocks noRot="1" noChangeAspect="1" noMove="1" noResize="1" noEditPoints="1" noAdjustHandles="1" noChangeArrowheads="1" noChangeShapeType="1" noTextEdit="1"/>
                </p:cNvSpPr>
                <p:nvPr/>
              </p:nvSpPr>
              <p:spPr>
                <a:xfrm>
                  <a:off x="4969688" y="0"/>
                  <a:ext cx="10036654" cy="835697"/>
                </a:xfrm>
                <a:prstGeom prst="rect">
                  <a:avLst/>
                </a:prstGeom>
                <a:blipFill>
                  <a:blip r:embed="rId10"/>
                  <a:stretch>
                    <a:fillRect l="-3157" t="-13433" r="-3409" b="-40299"/>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06" name="Rectangle"/>
                <p:cNvSpPr/>
                <p:nvPr/>
              </p:nvSpPr>
              <p:spPr>
                <a:xfrm>
                  <a:off x="0" y="368984"/>
                  <a:ext cx="841794" cy="715350"/>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square" lIns="0" tIns="0" rIns="0" bIns="0" numCol="1" anchor="ctr">
                  <a:noAutofit/>
                </a:bodyPr>
                <a:lstStyle>
                  <a:lvl1pPr algn="ctr" defTabSz="825500">
                    <a:lnSpc>
                      <a:spcPct val="10000"/>
                    </a:lnSpc>
                    <a:spcBef>
                      <a:spcPts val="0"/>
                    </a:spcBef>
                    <a:defRPr sz="5200">
                      <a:latin typeface="Helvetica Neue Medium"/>
                      <a:ea typeface="Helvetica Neue Medium"/>
                      <a:cs typeface="Helvetica Neue Medium"/>
                      <a:sym typeface="Helvetica Neue Medium"/>
                    </a:defRPr>
                  </a:lvl1pPr>
                </a:lstStyle>
                <a:p>
                  <a:pPr/>
                  <a14:m>
                    <m:oMathPara xmlns:m="http://schemas.openxmlformats.org/officeDocument/2006/math">
                      <m:oMathParaPr>
                        <m:jc m:val="center"/>
                      </m:oMathParaPr>
                      <m:oMath xmlns:m="http://schemas.openxmlformats.org/officeDocument/2006/math">
                        <m:sSub>
                          <m:sSubPr>
                            <m:ctrlPr>
                              <a:rPr sz="4400">
                                <a:solidFill>
                                  <a:srgbClr val="000000"/>
                                </a:solidFill>
                                <a:latin typeface="Cambria Math" panose="02040503050406030204" pitchFamily="18" charset="0"/>
                              </a:rPr>
                            </m:ctrlPr>
                          </m:sSubPr>
                          <m:e>
                            <m:r>
                              <a:rPr sz="4400" i="1">
                                <a:solidFill>
                                  <a:srgbClr val="000000"/>
                                </a:solidFill>
                                <a:latin typeface="Cambria Math" panose="02040503050406030204" pitchFamily="18" charset="0"/>
                              </a:rPr>
                              <m:t>𝑥</m:t>
                            </m:r>
                          </m:e>
                          <m:sub>
                            <m:r>
                              <a:rPr sz="4400" i="1">
                                <a:solidFill>
                                  <a:srgbClr val="000000"/>
                                </a:solidFill>
                                <a:latin typeface="Cambria Math" panose="02040503050406030204" pitchFamily="18" charset="0"/>
                              </a:rPr>
                              <m:t>0</m:t>
                            </m:r>
                          </m:sub>
                        </m:sSub>
                      </m:oMath>
                    </m:oMathPara>
                  </a14:m>
                  <a:endParaRPr/>
                </a:p>
              </p:txBody>
            </p:sp>
          </mc:Choice>
          <mc:Fallback>
            <p:sp>
              <p:nvSpPr>
                <p:cNvPr id="406" name="Rectangle"/>
                <p:cNvSpPr>
                  <a:spLocks noRot="1" noChangeAspect="1" noMove="1" noResize="1" noEditPoints="1" noAdjustHandles="1" noChangeArrowheads="1" noChangeShapeType="1" noTextEdit="1"/>
                </p:cNvSpPr>
                <p:nvPr/>
              </p:nvSpPr>
              <p:spPr>
                <a:xfrm>
                  <a:off x="0" y="368984"/>
                  <a:ext cx="841794" cy="715350"/>
                </a:xfrm>
                <a:prstGeom prst="rect">
                  <a:avLst/>
                </a:prstGeom>
                <a:blipFill>
                  <a:blip r:embed="rId11"/>
                  <a:stretch>
                    <a:fillRect l="-7463"/>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07" name="Rectangle"/>
                <p:cNvSpPr/>
                <p:nvPr/>
              </p:nvSpPr>
              <p:spPr>
                <a:xfrm>
                  <a:off x="2781807" y="368984"/>
                  <a:ext cx="841794" cy="715350"/>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square" lIns="0" tIns="0" rIns="0" bIns="0" numCol="1" anchor="ctr">
                  <a:noAutofit/>
                </a:bodyPr>
                <a:lstStyle>
                  <a:lvl1pPr algn="ctr" defTabSz="825500">
                    <a:lnSpc>
                      <a:spcPct val="10000"/>
                    </a:lnSpc>
                    <a:spcBef>
                      <a:spcPts val="0"/>
                    </a:spcBef>
                    <a:defRPr sz="5200">
                      <a:latin typeface="Helvetica Neue Medium"/>
                      <a:ea typeface="Helvetica Neue Medium"/>
                      <a:cs typeface="Helvetica Neue Medium"/>
                      <a:sym typeface="Helvetica Neue Medium"/>
                    </a:defRPr>
                  </a:lvl1pPr>
                </a:lstStyle>
                <a:p>
                  <a:pPr/>
                  <a14:m>
                    <m:oMathPara xmlns:m="http://schemas.openxmlformats.org/officeDocument/2006/math">
                      <m:oMathParaPr>
                        <m:jc m:val="center"/>
                      </m:oMathParaPr>
                      <m:oMath xmlns:m="http://schemas.openxmlformats.org/officeDocument/2006/math">
                        <m:sSub>
                          <m:sSubPr>
                            <m:ctrlPr>
                              <a:rPr sz="4800">
                                <a:solidFill>
                                  <a:srgbClr val="000000"/>
                                </a:solidFill>
                                <a:latin typeface="Cambria Math" panose="02040503050406030204" pitchFamily="18" charset="0"/>
                              </a:rPr>
                            </m:ctrlPr>
                          </m:sSubPr>
                          <m:e>
                            <m:r>
                              <a:rPr sz="4800" i="1">
                                <a:solidFill>
                                  <a:srgbClr val="000000"/>
                                </a:solidFill>
                                <a:latin typeface="Cambria Math" panose="02040503050406030204" pitchFamily="18" charset="0"/>
                              </a:rPr>
                              <m:t>𝑥</m:t>
                            </m:r>
                          </m:e>
                          <m:sub>
                            <m:r>
                              <a:rPr sz="4800" i="1">
                                <a:solidFill>
                                  <a:srgbClr val="000000"/>
                                </a:solidFill>
                                <a:latin typeface="Cambria Math" panose="02040503050406030204" pitchFamily="18" charset="0"/>
                              </a:rPr>
                              <m:t>1</m:t>
                            </m:r>
                          </m:sub>
                        </m:sSub>
                      </m:oMath>
                    </m:oMathPara>
                  </a14:m>
                  <a:endParaRPr/>
                </a:p>
              </p:txBody>
            </p:sp>
          </mc:Choice>
          <mc:Fallback>
            <p:sp>
              <p:nvSpPr>
                <p:cNvPr id="407" name="Rectangle"/>
                <p:cNvSpPr>
                  <a:spLocks noRot="1" noChangeAspect="1" noMove="1" noResize="1" noEditPoints="1" noAdjustHandles="1" noChangeArrowheads="1" noChangeShapeType="1" noTextEdit="1"/>
                </p:cNvSpPr>
                <p:nvPr/>
              </p:nvSpPr>
              <p:spPr>
                <a:xfrm>
                  <a:off x="2781807" y="368984"/>
                  <a:ext cx="841794" cy="715350"/>
                </a:xfrm>
                <a:prstGeom prst="rect">
                  <a:avLst/>
                </a:prstGeom>
                <a:blipFill>
                  <a:blip r:embed="rId12"/>
                  <a:stretch>
                    <a:fillRect l="-11940"/>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08" name="Rectangle"/>
                <p:cNvSpPr/>
                <p:nvPr/>
              </p:nvSpPr>
              <p:spPr>
                <a:xfrm>
                  <a:off x="17623749" y="368984"/>
                  <a:ext cx="841794" cy="715350"/>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square" lIns="0" tIns="0" rIns="0" bIns="0" numCol="1" anchor="ctr">
                  <a:noAutofit/>
                </a:bodyPr>
                <a:lstStyle>
                  <a:lvl1pPr algn="ctr" defTabSz="825500">
                    <a:lnSpc>
                      <a:spcPct val="10000"/>
                    </a:lnSpc>
                    <a:spcBef>
                      <a:spcPts val="0"/>
                    </a:spcBef>
                    <a:defRPr sz="5200">
                      <a:latin typeface="Helvetica Neue Medium"/>
                      <a:ea typeface="Helvetica Neue Medium"/>
                      <a:cs typeface="Helvetica Neue Medium"/>
                      <a:sym typeface="Helvetica Neue Medium"/>
                    </a:defRPr>
                  </a:lvl1pPr>
                </a:lstStyle>
                <a:p>
                  <a:pPr/>
                  <a14:m>
                    <m:oMathPara xmlns:m="http://schemas.openxmlformats.org/officeDocument/2006/math">
                      <m:oMathParaPr>
                        <m:jc m:val="center"/>
                      </m:oMathParaPr>
                      <m:oMath xmlns:m="http://schemas.openxmlformats.org/officeDocument/2006/math">
                        <m:sSub>
                          <m:sSubPr>
                            <m:ctrlPr>
                              <a:rPr sz="4100">
                                <a:solidFill>
                                  <a:srgbClr val="000000"/>
                                </a:solidFill>
                                <a:latin typeface="Cambria Math" panose="02040503050406030204" pitchFamily="18" charset="0"/>
                              </a:rPr>
                            </m:ctrlPr>
                          </m:sSubPr>
                          <m:e>
                            <m:r>
                              <a:rPr sz="4100" i="1">
                                <a:solidFill>
                                  <a:srgbClr val="000000"/>
                                </a:solidFill>
                                <a:latin typeface="Cambria Math" panose="02040503050406030204" pitchFamily="18" charset="0"/>
                              </a:rPr>
                              <m:t>𝑥</m:t>
                            </m:r>
                          </m:e>
                          <m:sub>
                            <m:r>
                              <a:rPr sz="4100" i="1">
                                <a:solidFill>
                                  <a:srgbClr val="000000"/>
                                </a:solidFill>
                                <a:latin typeface="Cambria Math" panose="02040503050406030204" pitchFamily="18" charset="0"/>
                              </a:rPr>
                              <m:t>𝑇</m:t>
                            </m:r>
                          </m:sub>
                        </m:sSub>
                      </m:oMath>
                    </m:oMathPara>
                  </a14:m>
                  <a:endParaRPr/>
                </a:p>
              </p:txBody>
            </p:sp>
          </mc:Choice>
          <mc:Fallback>
            <p:sp>
              <p:nvSpPr>
                <p:cNvPr id="408" name="Rectangle"/>
                <p:cNvSpPr>
                  <a:spLocks noRot="1" noChangeAspect="1" noMove="1" noResize="1" noEditPoints="1" noAdjustHandles="1" noChangeArrowheads="1" noChangeShapeType="1" noTextEdit="1"/>
                </p:cNvSpPr>
                <p:nvPr/>
              </p:nvSpPr>
              <p:spPr>
                <a:xfrm>
                  <a:off x="17623749" y="368984"/>
                  <a:ext cx="841794" cy="715350"/>
                </a:xfrm>
                <a:prstGeom prst="rect">
                  <a:avLst/>
                </a:prstGeom>
                <a:blipFill>
                  <a:blip r:embed="rId13"/>
                  <a:stretch>
                    <a:fillRect l="-7463"/>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grpSp>
      <p:pic>
        <p:nvPicPr>
          <p:cNvPr id="410" name="Image" descr="Image"/>
          <p:cNvPicPr>
            <a:picLocks noChangeAspect="1"/>
          </p:cNvPicPr>
          <p:nvPr/>
        </p:nvPicPr>
        <p:blipFill>
          <a:blip r:embed="rId14"/>
          <a:stretch>
            <a:fillRect/>
          </a:stretch>
        </p:blipFill>
        <p:spPr>
          <a:xfrm>
            <a:off x="9213191" y="4971767"/>
            <a:ext cx="7137957" cy="1257641"/>
          </a:xfrm>
          <a:prstGeom prst="rect">
            <a:avLst/>
          </a:prstGeom>
          <a:ln w="12700">
            <a:miter lim="400000"/>
          </a:ln>
        </p:spPr>
      </p:pic>
      <p:pic>
        <p:nvPicPr>
          <p:cNvPr id="411" name="Image" descr="Image"/>
          <p:cNvPicPr>
            <a:picLocks noChangeAspect="1"/>
          </p:cNvPicPr>
          <p:nvPr/>
        </p:nvPicPr>
        <p:blipFill>
          <a:blip r:embed="rId15"/>
          <a:stretch>
            <a:fillRect/>
          </a:stretch>
        </p:blipFill>
        <p:spPr>
          <a:xfrm>
            <a:off x="7023154" y="11539728"/>
            <a:ext cx="10154602" cy="1244297"/>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00">
                                            <p:txEl>
                                              <p:pRg st="1" end="1"/>
                                            </p:txEl>
                                          </p:spTgt>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2" nodeType="afterEffect">
                                  <p:stCondLst>
                                    <p:cond delay="0"/>
                                  </p:stCondLst>
                                  <p:iterate>
                                    <p:tmAbs val="0"/>
                                  </p:iterate>
                                  <p:childTnLst>
                                    <p:set>
                                      <p:cBhvr>
                                        <p:cTn id="9" fill="hold"/>
                                        <p:tgtEl>
                                          <p:spTgt spid="409"/>
                                        </p:tgtEl>
                                        <p:attrNameLst>
                                          <p:attrName>style.visibility</p:attrName>
                                        </p:attrNameLst>
                                      </p:cBhvr>
                                      <p:to>
                                        <p:strVal val="visible"/>
                                      </p:to>
                                    </p:set>
                                    <p:animEffect transition="in" filter="wipe(left)">
                                      <p:cBhvr>
                                        <p:cTn id="10" dur="300"/>
                                        <p:tgtEl>
                                          <p:spTgt spid="409"/>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4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400">
                                            <p:txEl>
                                              <p:pRg st="2" end="2"/>
                                            </p:txEl>
                                          </p:spTgt>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4" nodeType="afterEffect">
                                  <p:stCondLst>
                                    <p:cond delay="0"/>
                                  </p:stCondLst>
                                  <p:iterate>
                                    <p:tmAbs val="0"/>
                                  </p:iterate>
                                  <p:childTnLst>
                                    <p:set>
                                      <p:cBhvr>
                                        <p:cTn id="21" fill="hold">
                                          <p:stCondLst>
                                            <p:cond delay="0"/>
                                          </p:stCondLst>
                                        </p:cTn>
                                        <p:tgtEl>
                                          <p:spTgt spid="410"/>
                                        </p:tgtEl>
                                        <p:attrNameLst>
                                          <p:attrName>style.visibility</p:attrName>
                                        </p:attrNameLst>
                                      </p:cBhvr>
                                      <p:to>
                                        <p:strVal val="hidden"/>
                                      </p:to>
                                    </p:set>
                                  </p:childTnLst>
                                </p:cTn>
                              </p:par>
                            </p:childTnLst>
                          </p:cTn>
                        </p:par>
                        <p:par>
                          <p:cTn id="22" fill="hold">
                            <p:stCondLst>
                              <p:cond delay="0"/>
                            </p:stCondLst>
                            <p:childTnLst>
                              <p:par>
                                <p:cTn id="23" presetID="22" presetClass="entr" presetSubtype="2" fill="hold" grpId="5" nodeType="afterEffect">
                                  <p:stCondLst>
                                    <p:cond delay="0"/>
                                  </p:stCondLst>
                                  <p:iterate>
                                    <p:tmAbs val="0"/>
                                  </p:iterate>
                                  <p:childTnLst>
                                    <p:set>
                                      <p:cBhvr>
                                        <p:cTn id="24" fill="hold"/>
                                        <p:tgtEl>
                                          <p:spTgt spid="398"/>
                                        </p:tgtEl>
                                        <p:attrNameLst>
                                          <p:attrName>style.visibility</p:attrName>
                                        </p:attrNameLst>
                                      </p:cBhvr>
                                      <p:to>
                                        <p:strVal val="visible"/>
                                      </p:to>
                                    </p:set>
                                    <p:animEffect transition="in" filter="wipe(right)">
                                      <p:cBhvr>
                                        <p:cTn id="25" dur="500"/>
                                        <p:tgtEl>
                                          <p:spTgt spid="39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6" nodeType="clickEffect">
                                  <p:stCondLst>
                                    <p:cond delay="0"/>
                                  </p:stCondLst>
                                  <p:iterate>
                                    <p:tmAbs val="0"/>
                                  </p:iterate>
                                  <p:childTnLst>
                                    <p:set>
                                      <p:cBhvr>
                                        <p:cTn id="29" fill="hold"/>
                                        <p:tgtEl>
                                          <p:spTgt spid="4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 grpId="5" animBg="1" advAuto="0"/>
      <p:bldP spid="400" grpId="1" build="p" bldLvl="5" animBg="1" advAuto="0"/>
      <p:bldP spid="409" grpId="2" animBg="1" advAuto="0"/>
      <p:bldP spid="410" grpId="3" animBg="1" advAuto="0"/>
      <p:bldP spid="410" grpId="4" animBg="1" advAuto="0"/>
      <p:bldP spid="411" grpId="6"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Rectangle"/>
          <p:cNvSpPr/>
          <p:nvPr/>
        </p:nvSpPr>
        <p:spPr>
          <a:xfrm>
            <a:off x="11084018" y="11743122"/>
            <a:ext cx="2929019" cy="812179"/>
          </a:xfrm>
          <a:prstGeom prst="rect">
            <a:avLst/>
          </a:prstGeom>
          <a:solidFill>
            <a:schemeClr val="accent4">
              <a:hueOff val="348544"/>
              <a:lumOff val="7139"/>
              <a:alpha val="30344"/>
            </a:schemeClr>
          </a:solidFill>
          <a:ln w="12700">
            <a:solidFill>
              <a:srgbClr val="000000">
                <a:alpha val="30344"/>
              </a:srgbClr>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nvGrpSpPr>
          <p:cNvPr id="420" name="Group"/>
          <p:cNvGrpSpPr/>
          <p:nvPr/>
        </p:nvGrpSpPr>
        <p:grpSpPr>
          <a:xfrm>
            <a:off x="3092199" y="9865378"/>
            <a:ext cx="18465543" cy="1601228"/>
            <a:chOff x="0" y="0"/>
            <a:chExt cx="18465542" cy="1601227"/>
          </a:xfrm>
        </p:grpSpPr>
        <p:pic>
          <p:nvPicPr>
            <p:cNvPr id="414" name="Line Line" descr="Line Line"/>
            <p:cNvPicPr>
              <a:picLocks/>
            </p:cNvPicPr>
            <p:nvPr/>
          </p:nvPicPr>
          <p:blipFill>
            <a:blip r:embed="rId2"/>
            <a:stretch>
              <a:fillRect/>
            </a:stretch>
          </p:blipFill>
          <p:spPr>
            <a:xfrm>
              <a:off x="838082" y="327648"/>
              <a:ext cx="16827700" cy="584962"/>
            </a:xfrm>
            <a:prstGeom prst="rect">
              <a:avLst/>
            </a:prstGeom>
            <a:effectLst/>
          </p:spPr>
        </p:pic>
        <mc:AlternateContent xmlns:mc="http://schemas.openxmlformats.org/markup-compatibility/2006">
          <mc:Choice xmlns:a14="http://schemas.microsoft.com/office/drawing/2010/main" Requires="a14">
            <p:sp>
              <p:nvSpPr>
                <p:cNvPr id="416" name="Reverse denoising process (noise   data)"/>
                <p:cNvSpPr txBox="1"/>
                <p:nvPr/>
              </p:nvSpPr>
              <p:spPr>
                <a:xfrm>
                  <a:off x="4365429" y="765530"/>
                  <a:ext cx="10209592" cy="835698"/>
                </a:xfrm>
                <a:prstGeom prst="rect">
                  <a:avLst/>
                </a:prstGeom>
                <a:no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none" lIns="50800" tIns="50800" rIns="50800" bIns="50800" numCol="1" anchor="ctr">
                  <a:spAutoFit/>
                </a:bodyPr>
                <a:lstStyle/>
                <a:p>
                  <a:pPr>
                    <a:defRPr>
                      <a:solidFill>
                        <a:schemeClr val="accent6">
                          <a:satOff val="-16844"/>
                          <a:lumOff val="-30747"/>
                        </a:schemeClr>
                      </a:solidFill>
                    </a:defRPr>
                  </a:pPr>
                  <a:r>
                    <a:t>Reverse denoising process (noise </a:t>
                  </a:r>
                  <a14:m>
                    <m:oMath xmlns:m="http://schemas.openxmlformats.org/officeDocument/2006/math">
                      <m:r>
                        <a:rPr sz="5950" i="1">
                          <a:solidFill>
                            <a:srgbClr val="960D52"/>
                          </a:solidFill>
                          <a:latin typeface="Cambria Math" panose="02040503050406030204" pitchFamily="18" charset="0"/>
                        </a:rPr>
                        <m:t>→</m:t>
                      </m:r>
                    </m:oMath>
                  </a14:m>
                  <a:r>
                    <a:t> data)</a:t>
                  </a:r>
                  <a:endParaRPr>
                    <a:solidFill>
                      <a:srgbClr val="970E53"/>
                    </a:solidFill>
                  </a:endParaRPr>
                </a:p>
              </p:txBody>
            </p:sp>
          </mc:Choice>
          <mc:Fallback>
            <p:sp>
              <p:nvSpPr>
                <p:cNvPr id="416" name="Reverse denoising process (noise   data)"/>
                <p:cNvSpPr txBox="1">
                  <a:spLocks noRot="1" noChangeAspect="1" noMove="1" noResize="1" noEditPoints="1" noAdjustHandles="1" noChangeArrowheads="1" noChangeShapeType="1" noTextEdit="1"/>
                </p:cNvSpPr>
                <p:nvPr/>
              </p:nvSpPr>
              <p:spPr>
                <a:xfrm>
                  <a:off x="4365429" y="765530"/>
                  <a:ext cx="10209592" cy="835698"/>
                </a:xfrm>
                <a:prstGeom prst="rect">
                  <a:avLst/>
                </a:prstGeom>
                <a:blipFill>
                  <a:blip r:embed="rId3"/>
                  <a:stretch>
                    <a:fillRect l="-3106" t="-13636" r="-3230" b="-40909"/>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7" name="Rectangle"/>
                <p:cNvSpPr/>
                <p:nvPr/>
              </p:nvSpPr>
              <p:spPr>
                <a:xfrm>
                  <a:off x="0" y="0"/>
                  <a:ext cx="841794" cy="715350"/>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square" lIns="0" tIns="0" rIns="0" bIns="0" numCol="1" anchor="ctr">
                  <a:noAutofit/>
                </a:bodyPr>
                <a:lstStyle>
                  <a:lvl1pPr algn="ctr" defTabSz="825500">
                    <a:lnSpc>
                      <a:spcPct val="10000"/>
                    </a:lnSpc>
                    <a:spcBef>
                      <a:spcPts val="0"/>
                    </a:spcBef>
                    <a:defRPr sz="5200">
                      <a:latin typeface="Helvetica Neue Medium"/>
                      <a:ea typeface="Helvetica Neue Medium"/>
                      <a:cs typeface="Helvetica Neue Medium"/>
                      <a:sym typeface="Helvetica Neue Medium"/>
                    </a:defRPr>
                  </a:lvl1pPr>
                </a:lstStyle>
                <a:p>
                  <a:pPr/>
                  <a14:m>
                    <m:oMathPara xmlns:m="http://schemas.openxmlformats.org/officeDocument/2006/math">
                      <m:oMathParaPr>
                        <m:jc m:val="center"/>
                      </m:oMathParaPr>
                      <m:oMath xmlns:m="http://schemas.openxmlformats.org/officeDocument/2006/math">
                        <m:sSub>
                          <m:sSubPr>
                            <m:ctrlPr>
                              <a:rPr sz="4400">
                                <a:solidFill>
                                  <a:srgbClr val="000000"/>
                                </a:solidFill>
                                <a:latin typeface="Cambria Math" panose="02040503050406030204" pitchFamily="18" charset="0"/>
                              </a:rPr>
                            </m:ctrlPr>
                          </m:sSubPr>
                          <m:e>
                            <m:r>
                              <a:rPr sz="4400" i="1">
                                <a:solidFill>
                                  <a:srgbClr val="000000"/>
                                </a:solidFill>
                                <a:latin typeface="Cambria Math" panose="02040503050406030204" pitchFamily="18" charset="0"/>
                              </a:rPr>
                              <m:t>𝑥</m:t>
                            </m:r>
                          </m:e>
                          <m:sub>
                            <m:r>
                              <a:rPr sz="4400" i="1">
                                <a:solidFill>
                                  <a:srgbClr val="000000"/>
                                </a:solidFill>
                                <a:latin typeface="Cambria Math" panose="02040503050406030204" pitchFamily="18" charset="0"/>
                              </a:rPr>
                              <m:t>0</m:t>
                            </m:r>
                          </m:sub>
                        </m:sSub>
                      </m:oMath>
                    </m:oMathPara>
                  </a14:m>
                  <a:endParaRPr/>
                </a:p>
              </p:txBody>
            </p:sp>
          </mc:Choice>
          <mc:Fallback>
            <p:sp>
              <p:nvSpPr>
                <p:cNvPr id="417" name="Rectangle"/>
                <p:cNvSpPr>
                  <a:spLocks noRot="1" noChangeAspect="1" noMove="1" noResize="1" noEditPoints="1" noAdjustHandles="1" noChangeArrowheads="1" noChangeShapeType="1" noTextEdit="1"/>
                </p:cNvSpPr>
                <p:nvPr/>
              </p:nvSpPr>
              <p:spPr>
                <a:xfrm>
                  <a:off x="0" y="0"/>
                  <a:ext cx="841794" cy="715350"/>
                </a:xfrm>
                <a:prstGeom prst="rect">
                  <a:avLst/>
                </a:prstGeom>
                <a:blipFill>
                  <a:blip r:embed="rId4"/>
                  <a:stretch>
                    <a:fillRect l="-7463"/>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8" name="Rectangle"/>
                <p:cNvSpPr/>
                <p:nvPr/>
              </p:nvSpPr>
              <p:spPr>
                <a:xfrm>
                  <a:off x="17623749" y="79010"/>
                  <a:ext cx="841794" cy="715350"/>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square" lIns="0" tIns="0" rIns="0" bIns="0" numCol="1" anchor="ctr">
                  <a:noAutofit/>
                </a:bodyPr>
                <a:lstStyle>
                  <a:lvl1pPr algn="ctr" defTabSz="825500">
                    <a:lnSpc>
                      <a:spcPct val="10000"/>
                    </a:lnSpc>
                    <a:spcBef>
                      <a:spcPts val="0"/>
                    </a:spcBef>
                    <a:defRPr sz="5200">
                      <a:latin typeface="Helvetica Neue Medium"/>
                      <a:ea typeface="Helvetica Neue Medium"/>
                      <a:cs typeface="Helvetica Neue Medium"/>
                      <a:sym typeface="Helvetica Neue Medium"/>
                    </a:defRPr>
                  </a:lvl1pPr>
                </a:lstStyle>
                <a:p>
                  <a:pPr/>
                  <a14:m>
                    <m:oMathPara xmlns:m="http://schemas.openxmlformats.org/officeDocument/2006/math">
                      <m:oMathParaPr>
                        <m:jc m:val="center"/>
                      </m:oMathParaPr>
                      <m:oMath xmlns:m="http://schemas.openxmlformats.org/officeDocument/2006/math">
                        <m:sSub>
                          <m:sSubPr>
                            <m:ctrlPr>
                              <a:rPr sz="4100">
                                <a:solidFill>
                                  <a:srgbClr val="000000"/>
                                </a:solidFill>
                                <a:latin typeface="Cambria Math" panose="02040503050406030204" pitchFamily="18" charset="0"/>
                              </a:rPr>
                            </m:ctrlPr>
                          </m:sSubPr>
                          <m:e>
                            <m:r>
                              <a:rPr sz="4100" i="1">
                                <a:solidFill>
                                  <a:srgbClr val="000000"/>
                                </a:solidFill>
                                <a:latin typeface="Cambria Math" panose="02040503050406030204" pitchFamily="18" charset="0"/>
                              </a:rPr>
                              <m:t>𝑥</m:t>
                            </m:r>
                          </m:e>
                          <m:sub>
                            <m:r>
                              <a:rPr sz="4100" i="1">
                                <a:solidFill>
                                  <a:srgbClr val="000000"/>
                                </a:solidFill>
                                <a:latin typeface="Cambria Math" panose="02040503050406030204" pitchFamily="18" charset="0"/>
                              </a:rPr>
                              <m:t>𝑇</m:t>
                            </m:r>
                          </m:sub>
                        </m:sSub>
                      </m:oMath>
                    </m:oMathPara>
                  </a14:m>
                  <a:endParaRPr/>
                </a:p>
              </p:txBody>
            </p:sp>
          </mc:Choice>
          <mc:Fallback>
            <p:sp>
              <p:nvSpPr>
                <p:cNvPr id="418" name="Rectangle"/>
                <p:cNvSpPr>
                  <a:spLocks noRot="1" noChangeAspect="1" noMove="1" noResize="1" noEditPoints="1" noAdjustHandles="1" noChangeArrowheads="1" noChangeShapeType="1" noTextEdit="1"/>
                </p:cNvSpPr>
                <p:nvPr/>
              </p:nvSpPr>
              <p:spPr>
                <a:xfrm>
                  <a:off x="17623749" y="79010"/>
                  <a:ext cx="841794" cy="715350"/>
                </a:xfrm>
                <a:prstGeom prst="rect">
                  <a:avLst/>
                </a:prstGeom>
                <a:blipFill>
                  <a:blip r:embed="rId5"/>
                  <a:stretch>
                    <a:fillRect l="-7463"/>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9" name="Rectangle"/>
                <p:cNvSpPr/>
                <p:nvPr/>
              </p:nvSpPr>
              <p:spPr>
                <a:xfrm>
                  <a:off x="14646515" y="79010"/>
                  <a:ext cx="1086977" cy="715350"/>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square" lIns="0" tIns="0" rIns="0" bIns="0" numCol="1" anchor="ctr">
                  <a:noAutofit/>
                </a:bodyPr>
                <a:lstStyle/>
                <a:p>
                  <a:pPr algn="ctr" defTabSz="825500">
                    <a:lnSpc>
                      <a:spcPct val="10000"/>
                    </a:lnSpc>
                    <a:spcBef>
                      <a:spcPts val="0"/>
                    </a:spcBef>
                    <a:defRPr sz="5200">
                      <a:latin typeface="Helvetica Neue Medium"/>
                      <a:ea typeface="Helvetica Neue Medium"/>
                      <a:cs typeface="Helvetica Neue Medium"/>
                      <a:sym typeface="Helvetica Neue Medium"/>
                    </a:defRPr>
                  </a:pPr>
                  <a14:m>
                    <m:oMath xmlns:m="http://schemas.openxmlformats.org/officeDocument/2006/math">
                      <m:sSub>
                        <m:sSubPr>
                          <m:ctrlPr>
                            <a:rPr sz="4600">
                              <a:solidFill>
                                <a:srgbClr val="000000"/>
                              </a:solidFill>
                              <a:latin typeface="Cambria Math" panose="02040503050406030204" pitchFamily="18" charset="0"/>
                            </a:rPr>
                          </m:ctrlPr>
                        </m:sSubPr>
                        <m:e>
                          <m:r>
                            <a:rPr sz="4600" i="1">
                              <a:solidFill>
                                <a:srgbClr val="000000"/>
                              </a:solidFill>
                              <a:latin typeface="Cambria Math" panose="02040503050406030204" pitchFamily="18" charset="0"/>
                            </a:rPr>
                            <m:t>𝑥</m:t>
                          </m:r>
                        </m:e>
                        <m:sub>
                          <m:r>
                            <a:rPr sz="4600" i="1">
                              <a:solidFill>
                                <a:srgbClr val="000000"/>
                              </a:solidFill>
                              <a:latin typeface="Cambria Math" panose="02040503050406030204" pitchFamily="18" charset="0"/>
                            </a:rPr>
                            <m:t>𝑡</m:t>
                          </m:r>
                          <m:r>
                            <a:rPr sz="4600" i="1">
                              <a:solidFill>
                                <a:srgbClr val="000000"/>
                              </a:solidFill>
                              <a:latin typeface="Cambria Math" panose="02040503050406030204" pitchFamily="18" charset="0"/>
                            </a:rPr>
                            <m:t>−1</m:t>
                          </m:r>
                        </m:sub>
                      </m:sSub>
                    </m:oMath>
                  </a14:m>
                  <a:r>
                    <a:t> </a:t>
                  </a:r>
                </a:p>
              </p:txBody>
            </p:sp>
          </mc:Choice>
          <mc:Fallback>
            <p:sp>
              <p:nvSpPr>
                <p:cNvPr id="419" name="Rectangle"/>
                <p:cNvSpPr>
                  <a:spLocks noRot="1" noChangeAspect="1" noMove="1" noResize="1" noEditPoints="1" noAdjustHandles="1" noChangeArrowheads="1" noChangeShapeType="1" noTextEdit="1"/>
                </p:cNvSpPr>
                <p:nvPr/>
              </p:nvSpPr>
              <p:spPr>
                <a:xfrm>
                  <a:off x="14646515" y="79010"/>
                  <a:ext cx="1086977" cy="715350"/>
                </a:xfrm>
                <a:prstGeom prst="rect">
                  <a:avLst/>
                </a:prstGeom>
                <a:blipFill>
                  <a:blip r:embed="rId6"/>
                  <a:stretch>
                    <a:fillRect l="-12644" t="-3448" r="-10345"/>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grpSp>
      <p:sp>
        <p:nvSpPr>
          <p:cNvPr id="421" name="Diffusion models: a short primer"/>
          <p:cNvSpPr txBox="1">
            <a:spLocks noGrp="1"/>
          </p:cNvSpPr>
          <p:nvPr>
            <p:ph type="title"/>
          </p:nvPr>
        </p:nvSpPr>
        <p:spPr>
          <a:prstGeom prst="rect">
            <a:avLst/>
          </a:prstGeom>
        </p:spPr>
        <p:txBody>
          <a:bodyPr/>
          <a:lstStyle/>
          <a:p>
            <a:r>
              <a:t>Diffusion models: a short primer</a:t>
            </a:r>
          </a:p>
        </p:txBody>
      </p:sp>
      <mc:AlternateContent xmlns:mc="http://schemas.openxmlformats.org/markup-compatibility/2006">
        <mc:Choice xmlns:a14="http://schemas.microsoft.com/office/drawing/2010/main" Requires="a14">
          <p:sp>
            <p:nvSpPr>
              <p:cNvPr id="422" name="Diffusion models operates in two phases:…"/>
              <p:cNvSpPr txBox="1">
                <a:spLocks noGrp="1"/>
              </p:cNvSpPr>
              <p:nvPr>
                <p:ph type="body" sz="half" idx="1"/>
              </p:nvPr>
            </p:nvSpPr>
            <p:spPr>
              <a:xfrm>
                <a:off x="1206500" y="2238959"/>
                <a:ext cx="21971000" cy="5286698"/>
              </a:xfrm>
              <a:prstGeom prst="rect">
                <a:avLst/>
              </a:prstGeom>
            </p:spPr>
            <p:txBody>
              <a:bodyPr/>
              <a:lstStyle/>
              <a:p>
                <a:pPr marL="609599" indent="-609599">
                  <a:spcBef>
                    <a:spcPts val="1200"/>
                  </a:spcBef>
                  <a:defRPr sz="4000"/>
                </a:pPr>
                <a:r>
                  <a:t>Diffusion models operates in two phases: </a:t>
                </a:r>
              </a:p>
              <a:p>
                <a:pPr marL="1130300" lvl="1" indent="-609600">
                  <a:spcBef>
                    <a:spcPts val="1200"/>
                  </a:spcBef>
                  <a:buSzPct val="70000"/>
                  <a:defRPr sz="4000"/>
                </a:pPr>
                <a:r>
                  <a:t>A </a:t>
                </a:r>
                <a:r>
                  <a:rPr>
                    <a:solidFill>
                      <a:schemeClr val="accent1">
                        <a:hueOff val="114395"/>
                        <a:lumOff val="-24975"/>
                      </a:schemeClr>
                    </a:solidFill>
                  </a:rPr>
                  <a:t>forward diffusion process </a:t>
                </a:r>
                <a14:m>
                  <m:oMath xmlns:m="http://schemas.openxmlformats.org/officeDocument/2006/math">
                    <m:r>
                      <a:rPr sz="5100" i="1">
                        <a:solidFill>
                          <a:srgbClr val="000000"/>
                        </a:solidFill>
                        <a:latin typeface="Cambria Math" panose="02040503050406030204" pitchFamily="18" charset="0"/>
                      </a:rPr>
                      <m:t>{</m:t>
                    </m:r>
                    <m:sSub>
                      <m:sSubPr>
                        <m:ctrlPr>
                          <a:rPr sz="5100" i="1">
                            <a:solidFill>
                              <a:srgbClr val="000000"/>
                            </a:solidFill>
                            <a:latin typeface="Cambria Math" panose="02040503050406030204" pitchFamily="18" charset="0"/>
                          </a:rPr>
                        </m:ctrlPr>
                      </m:sSubPr>
                      <m:e>
                        <m:r>
                          <a:rPr sz="5100" i="1">
                            <a:solidFill>
                              <a:srgbClr val="000000"/>
                            </a:solidFill>
                            <a:latin typeface="Cambria Math" panose="02040503050406030204" pitchFamily="18" charset="0"/>
                          </a:rPr>
                          <m:t>𝑥</m:t>
                        </m:r>
                      </m:e>
                      <m:sub>
                        <m:r>
                          <a:rPr sz="5100" i="1">
                            <a:solidFill>
                              <a:srgbClr val="000000"/>
                            </a:solidFill>
                            <a:latin typeface="Cambria Math" panose="02040503050406030204" pitchFamily="18" charset="0"/>
                          </a:rPr>
                          <m:t>𝑡</m:t>
                        </m:r>
                      </m:sub>
                    </m:sSub>
                    <m:sSubSup>
                      <m:sSubSupPr>
                        <m:ctrlPr>
                          <a:rPr sz="5100" i="1">
                            <a:solidFill>
                              <a:srgbClr val="000000"/>
                            </a:solidFill>
                            <a:latin typeface="Cambria Math" panose="02040503050406030204" pitchFamily="18" charset="0"/>
                          </a:rPr>
                        </m:ctrlPr>
                      </m:sSubSupPr>
                      <m:e>
                        <m:r>
                          <a:rPr sz="5100" i="1">
                            <a:solidFill>
                              <a:srgbClr val="000000"/>
                            </a:solidFill>
                            <a:latin typeface="Cambria Math" panose="02040503050406030204" pitchFamily="18" charset="0"/>
                          </a:rPr>
                          <m:t>}</m:t>
                        </m:r>
                      </m:e>
                      <m:sub>
                        <m:r>
                          <a:rPr sz="5100" i="1">
                            <a:solidFill>
                              <a:srgbClr val="000000"/>
                            </a:solidFill>
                            <a:latin typeface="Cambria Math" panose="02040503050406030204" pitchFamily="18" charset="0"/>
                          </a:rPr>
                          <m:t>𝑡</m:t>
                        </m:r>
                        <m:r>
                          <a:rPr sz="5100" i="1">
                            <a:solidFill>
                              <a:srgbClr val="000000"/>
                            </a:solidFill>
                            <a:latin typeface="Cambria Math" panose="02040503050406030204" pitchFamily="18" charset="0"/>
                          </a:rPr>
                          <m:t>=0</m:t>
                        </m:r>
                      </m:sub>
                      <m:sup>
                        <m:r>
                          <a:rPr sz="5100" i="1">
                            <a:solidFill>
                              <a:srgbClr val="000000"/>
                            </a:solidFill>
                            <a:latin typeface="Cambria Math" panose="02040503050406030204" pitchFamily="18" charset="0"/>
                          </a:rPr>
                          <m:t>𝑇</m:t>
                        </m:r>
                      </m:sup>
                    </m:sSubSup>
                  </m:oMath>
                </a14:m>
                <a:r>
                  <a:t> gradually adds noise to the original data samples </a:t>
                </a:r>
                <a14:m>
                  <m:oMath xmlns:m="http://schemas.openxmlformats.org/officeDocument/2006/math">
                    <m:sSub>
                      <m:sSubPr>
                        <m:ctrlPr>
                          <a:rPr sz="4600">
                            <a:solidFill>
                              <a:srgbClr val="000000"/>
                            </a:solidFill>
                            <a:latin typeface="Cambria Math" panose="02040503050406030204" pitchFamily="18" charset="0"/>
                          </a:rPr>
                        </m:ctrlPr>
                      </m:sSubPr>
                      <m:e>
                        <m:r>
                          <a:rPr sz="4600" i="1">
                            <a:solidFill>
                              <a:srgbClr val="000000"/>
                            </a:solidFill>
                            <a:latin typeface="Cambria Math" panose="02040503050406030204" pitchFamily="18" charset="0"/>
                          </a:rPr>
                          <m:t>𝑥</m:t>
                        </m:r>
                      </m:e>
                      <m:sub>
                        <m:r>
                          <a:rPr sz="4600" i="1">
                            <a:solidFill>
                              <a:srgbClr val="000000"/>
                            </a:solidFill>
                            <a:latin typeface="Cambria Math" panose="02040503050406030204" pitchFamily="18" charset="0"/>
                          </a:rPr>
                          <m:t>0</m:t>
                        </m:r>
                      </m:sub>
                    </m:sSub>
                    <m:r>
                      <a:rPr sz="4600" i="1">
                        <a:solidFill>
                          <a:srgbClr val="000000"/>
                        </a:solidFill>
                        <a:latin typeface="Cambria Math" panose="02040503050406030204" pitchFamily="18" charset="0"/>
                      </a:rPr>
                      <m:t>∼</m:t>
                    </m:r>
                    <m:sSub>
                      <m:sSubPr>
                        <m:ctrlPr>
                          <a:rPr sz="4600" i="1">
                            <a:solidFill>
                              <a:srgbClr val="000000"/>
                            </a:solidFill>
                            <a:latin typeface="Cambria Math" panose="02040503050406030204" pitchFamily="18" charset="0"/>
                          </a:rPr>
                        </m:ctrlPr>
                      </m:sSubPr>
                      <m:e>
                        <m:r>
                          <a:rPr sz="4600" i="1">
                            <a:solidFill>
                              <a:srgbClr val="000000"/>
                            </a:solidFill>
                            <a:latin typeface="Cambria Math" panose="02040503050406030204" pitchFamily="18" charset="0"/>
                          </a:rPr>
                          <m:t>𝑝</m:t>
                        </m:r>
                      </m:e>
                      <m:sub>
                        <m:r>
                          <m:rPr>
                            <m:nor/>
                          </m:rPr>
                          <a:rPr sz="4600" i="1">
                            <a:solidFill>
                              <a:srgbClr val="000000"/>
                            </a:solidFill>
                            <a:latin typeface="Cambria Math" panose="02040503050406030204" pitchFamily="18" charset="0"/>
                          </a:rPr>
                          <m:t>data</m:t>
                        </m:r>
                      </m:sub>
                    </m:sSub>
                    <m:r>
                      <a:rPr sz="4600" i="1">
                        <a:solidFill>
                          <a:srgbClr val="000000"/>
                        </a:solidFill>
                        <a:latin typeface="Cambria Math" panose="02040503050406030204" pitchFamily="18" charset="0"/>
                      </a:rPr>
                      <m:t>(</m:t>
                    </m:r>
                    <m:sSub>
                      <m:sSubPr>
                        <m:ctrlPr>
                          <a:rPr sz="4600" i="1">
                            <a:solidFill>
                              <a:srgbClr val="000000"/>
                            </a:solidFill>
                            <a:latin typeface="Cambria Math" panose="02040503050406030204" pitchFamily="18" charset="0"/>
                          </a:rPr>
                        </m:ctrlPr>
                      </m:sSubPr>
                      <m:e>
                        <m:r>
                          <a:rPr sz="4600" i="1">
                            <a:solidFill>
                              <a:srgbClr val="000000"/>
                            </a:solidFill>
                            <a:latin typeface="Cambria Math" panose="02040503050406030204" pitchFamily="18" charset="0"/>
                          </a:rPr>
                          <m:t>𝑥</m:t>
                        </m:r>
                      </m:e>
                      <m:sub>
                        <m:r>
                          <a:rPr sz="4600" i="1">
                            <a:solidFill>
                              <a:srgbClr val="000000"/>
                            </a:solidFill>
                            <a:latin typeface="Cambria Math" panose="02040503050406030204" pitchFamily="18" charset="0"/>
                          </a:rPr>
                          <m:t>0</m:t>
                        </m:r>
                      </m:sub>
                    </m:sSub>
                    <m:r>
                      <a:rPr sz="4600" i="1">
                        <a:solidFill>
                          <a:srgbClr val="000000"/>
                        </a:solidFill>
                        <a:latin typeface="Cambria Math" panose="02040503050406030204" pitchFamily="18" charset="0"/>
                      </a:rPr>
                      <m:t>)</m:t>
                    </m:r>
                  </m:oMath>
                </a14:m>
                <a:r>
                  <a:t> in a Markov process culminating into noise </a:t>
                </a:r>
                <a14:m>
                  <m:oMath xmlns:m="http://schemas.openxmlformats.org/officeDocument/2006/math">
                    <m:sSub>
                      <m:sSubPr>
                        <m:ctrlPr>
                          <a:rPr sz="4900">
                            <a:solidFill>
                              <a:srgbClr val="000000"/>
                            </a:solidFill>
                            <a:latin typeface="Cambria Math" panose="02040503050406030204" pitchFamily="18" charset="0"/>
                          </a:rPr>
                        </m:ctrlPr>
                      </m:sSubPr>
                      <m:e>
                        <m:r>
                          <a:rPr sz="4900" i="1">
                            <a:solidFill>
                              <a:srgbClr val="000000"/>
                            </a:solidFill>
                            <a:latin typeface="Cambria Math" panose="02040503050406030204" pitchFamily="18" charset="0"/>
                          </a:rPr>
                          <m:t>𝑥</m:t>
                        </m:r>
                      </m:e>
                      <m:sub>
                        <m:r>
                          <a:rPr sz="4900" i="1">
                            <a:solidFill>
                              <a:srgbClr val="000000"/>
                            </a:solidFill>
                            <a:latin typeface="Cambria Math" panose="02040503050406030204" pitchFamily="18" charset="0"/>
                          </a:rPr>
                          <m:t>𝑇</m:t>
                        </m:r>
                      </m:sub>
                    </m:sSub>
                    <m:r>
                      <a:rPr sz="4900" i="1">
                        <a:solidFill>
                          <a:srgbClr val="000000"/>
                        </a:solidFill>
                        <a:latin typeface="Cambria Math" panose="02040503050406030204" pitchFamily="18" charset="0"/>
                      </a:rPr>
                      <m:t>∼</m:t>
                    </m:r>
                    <m:r>
                      <a:rPr sz="4900" i="1">
                        <a:solidFill>
                          <a:srgbClr val="000000"/>
                        </a:solidFill>
                        <a:latin typeface="Cambria Math" panose="02040503050406030204" pitchFamily="18" charset="0"/>
                      </a:rPr>
                      <m:t>𝑝</m:t>
                    </m:r>
                    <m:r>
                      <a:rPr sz="4900" i="1">
                        <a:solidFill>
                          <a:srgbClr val="000000"/>
                        </a:solidFill>
                        <a:latin typeface="Cambria Math" panose="02040503050406030204" pitchFamily="18" charset="0"/>
                      </a:rPr>
                      <m:t>(</m:t>
                    </m:r>
                    <m:sSub>
                      <m:sSubPr>
                        <m:ctrlPr>
                          <a:rPr sz="4900" i="1">
                            <a:solidFill>
                              <a:srgbClr val="000000"/>
                            </a:solidFill>
                            <a:latin typeface="Cambria Math" panose="02040503050406030204" pitchFamily="18" charset="0"/>
                          </a:rPr>
                        </m:ctrlPr>
                      </m:sSubPr>
                      <m:e>
                        <m:r>
                          <a:rPr sz="4900" i="1">
                            <a:solidFill>
                              <a:srgbClr val="000000"/>
                            </a:solidFill>
                            <a:latin typeface="Cambria Math" panose="02040503050406030204" pitchFamily="18" charset="0"/>
                          </a:rPr>
                          <m:t>𝑥</m:t>
                        </m:r>
                      </m:e>
                      <m:sub>
                        <m:r>
                          <a:rPr sz="4900" i="1">
                            <a:solidFill>
                              <a:srgbClr val="000000"/>
                            </a:solidFill>
                            <a:latin typeface="Cambria Math" panose="02040503050406030204" pitchFamily="18" charset="0"/>
                          </a:rPr>
                          <m:t>𝑇</m:t>
                        </m:r>
                      </m:sub>
                    </m:sSub>
                    <m:r>
                      <a:rPr sz="4900" i="1">
                        <a:solidFill>
                          <a:srgbClr val="000000"/>
                        </a:solidFill>
                        <a:latin typeface="Cambria Math" panose="02040503050406030204" pitchFamily="18" charset="0"/>
                      </a:rPr>
                      <m:t>)</m:t>
                    </m:r>
                  </m:oMath>
                </a14:m>
                <a:r>
                  <a:t>.</a:t>
                </a:r>
              </a:p>
              <a:p>
                <a:pPr marL="1130300" lvl="1" indent="-609600">
                  <a:spcBef>
                    <a:spcPts val="1200"/>
                  </a:spcBef>
                  <a:buSzPct val="70000"/>
                  <a:defRPr sz="4000"/>
                </a:pPr>
                <a:r>
                  <a:t>A </a:t>
                </a:r>
                <a:r>
                  <a:rPr>
                    <a:solidFill>
                      <a:schemeClr val="accent6">
                        <a:satOff val="-16844"/>
                        <a:lumOff val="-30747"/>
                      </a:schemeClr>
                    </a:solidFill>
                  </a:rPr>
                  <a:t>reverse denoising step</a:t>
                </a:r>
                <a:r>
                  <a:t> starts from </a:t>
                </a:r>
                <a14:m>
                  <m:oMath xmlns:m="http://schemas.openxmlformats.org/officeDocument/2006/math">
                    <m:sSub>
                      <m:sSubPr>
                        <m:ctrlPr>
                          <a:rPr sz="4900">
                            <a:solidFill>
                              <a:srgbClr val="000000"/>
                            </a:solidFill>
                            <a:latin typeface="Cambria Math" panose="02040503050406030204" pitchFamily="18" charset="0"/>
                          </a:rPr>
                        </m:ctrlPr>
                      </m:sSubPr>
                      <m:e>
                        <m:r>
                          <a:rPr sz="4900" i="1">
                            <a:solidFill>
                              <a:srgbClr val="000000"/>
                            </a:solidFill>
                            <a:latin typeface="Cambria Math" panose="02040503050406030204" pitchFamily="18" charset="0"/>
                          </a:rPr>
                          <m:t>𝑥</m:t>
                        </m:r>
                      </m:e>
                      <m:sub>
                        <m:r>
                          <a:rPr sz="4900" i="1">
                            <a:solidFill>
                              <a:srgbClr val="000000"/>
                            </a:solidFill>
                            <a:latin typeface="Cambria Math" panose="02040503050406030204" pitchFamily="18" charset="0"/>
                          </a:rPr>
                          <m:t>𝑇</m:t>
                        </m:r>
                      </m:sub>
                    </m:sSub>
                    <m:r>
                      <a:rPr sz="4900" i="1">
                        <a:solidFill>
                          <a:srgbClr val="000000"/>
                        </a:solidFill>
                        <a:latin typeface="Cambria Math" panose="02040503050406030204" pitchFamily="18" charset="0"/>
                      </a:rPr>
                      <m:t>∼</m:t>
                    </m:r>
                    <m:r>
                      <a:rPr sz="4900" i="1">
                        <a:solidFill>
                          <a:srgbClr val="000000"/>
                        </a:solidFill>
                        <a:latin typeface="Cambria Math" panose="02040503050406030204" pitchFamily="18" charset="0"/>
                      </a:rPr>
                      <m:t>𝑝</m:t>
                    </m:r>
                    <m:r>
                      <a:rPr sz="4900" i="1">
                        <a:solidFill>
                          <a:srgbClr val="000000"/>
                        </a:solidFill>
                        <a:latin typeface="Cambria Math" panose="02040503050406030204" pitchFamily="18" charset="0"/>
                      </a:rPr>
                      <m:t>(</m:t>
                    </m:r>
                    <m:sSub>
                      <m:sSubPr>
                        <m:ctrlPr>
                          <a:rPr sz="4900" i="1">
                            <a:solidFill>
                              <a:srgbClr val="000000"/>
                            </a:solidFill>
                            <a:latin typeface="Cambria Math" panose="02040503050406030204" pitchFamily="18" charset="0"/>
                          </a:rPr>
                        </m:ctrlPr>
                      </m:sSubPr>
                      <m:e>
                        <m:r>
                          <a:rPr sz="4900" i="1">
                            <a:solidFill>
                              <a:srgbClr val="000000"/>
                            </a:solidFill>
                            <a:latin typeface="Cambria Math" panose="02040503050406030204" pitchFamily="18" charset="0"/>
                          </a:rPr>
                          <m:t>𝑥</m:t>
                        </m:r>
                      </m:e>
                      <m:sub>
                        <m:r>
                          <a:rPr sz="4900" i="1">
                            <a:solidFill>
                              <a:srgbClr val="000000"/>
                            </a:solidFill>
                            <a:latin typeface="Cambria Math" panose="02040503050406030204" pitchFamily="18" charset="0"/>
                          </a:rPr>
                          <m:t>𝑇</m:t>
                        </m:r>
                      </m:sub>
                    </m:sSub>
                    <m:r>
                      <a:rPr sz="4900" i="1">
                        <a:solidFill>
                          <a:srgbClr val="000000"/>
                        </a:solidFill>
                        <a:latin typeface="Cambria Math" panose="02040503050406030204" pitchFamily="18" charset="0"/>
                      </a:rPr>
                      <m:t>)</m:t>
                    </m:r>
                  </m:oMath>
                </a14:m>
                <a:r>
                  <a:t> and recovers the original data </a:t>
                </a:r>
                <a14:m>
                  <m:oMath xmlns:m="http://schemas.openxmlformats.org/officeDocument/2006/math">
                    <m:sSub>
                      <m:sSubPr>
                        <m:ctrlPr>
                          <a:rPr sz="4900">
                            <a:solidFill>
                              <a:srgbClr val="000000"/>
                            </a:solidFill>
                            <a:latin typeface="Cambria Math" panose="02040503050406030204" pitchFamily="18" charset="0"/>
                          </a:rPr>
                        </m:ctrlPr>
                      </m:sSubPr>
                      <m:e>
                        <m:r>
                          <a:rPr sz="4900" i="1">
                            <a:solidFill>
                              <a:srgbClr val="000000"/>
                            </a:solidFill>
                            <a:latin typeface="Cambria Math" panose="02040503050406030204" pitchFamily="18" charset="0"/>
                          </a:rPr>
                          <m:t>𝑥</m:t>
                        </m:r>
                      </m:e>
                      <m:sub>
                        <m:r>
                          <a:rPr sz="4900" i="1">
                            <a:solidFill>
                              <a:srgbClr val="000000"/>
                            </a:solidFill>
                            <a:latin typeface="Cambria Math" panose="02040503050406030204" pitchFamily="18" charset="0"/>
                          </a:rPr>
                          <m:t>0</m:t>
                        </m:r>
                      </m:sub>
                    </m:sSub>
                    <m:r>
                      <a:rPr sz="4900" i="1">
                        <a:solidFill>
                          <a:srgbClr val="000000"/>
                        </a:solidFill>
                        <a:latin typeface="Cambria Math" panose="02040503050406030204" pitchFamily="18" charset="0"/>
                      </a:rPr>
                      <m:t>∼</m:t>
                    </m:r>
                    <m:limUpp>
                      <m:limUppPr>
                        <m:ctrlPr>
                          <a:rPr sz="4900" i="1">
                            <a:solidFill>
                              <a:srgbClr val="000000"/>
                            </a:solidFill>
                            <a:latin typeface="Cambria Math" panose="02040503050406030204" pitchFamily="18" charset="0"/>
                          </a:rPr>
                        </m:ctrlPr>
                      </m:limUppPr>
                      <m:e>
                        <m:r>
                          <a:rPr sz="4900" i="1">
                            <a:solidFill>
                              <a:srgbClr val="000000"/>
                            </a:solidFill>
                            <a:latin typeface="Cambria Math" panose="02040503050406030204" pitchFamily="18" charset="0"/>
                          </a:rPr>
                          <m:t>𝑝</m:t>
                        </m:r>
                      </m:e>
                      <m:lim>
                        <m:r>
                          <a:rPr sz="4900" i="1">
                            <a:solidFill>
                              <a:srgbClr val="000000"/>
                            </a:solidFill>
                            <a:latin typeface="Cambria Math" panose="02040503050406030204" pitchFamily="18" charset="0"/>
                          </a:rPr>
                          <m:t>˜</m:t>
                        </m:r>
                      </m:lim>
                    </m:limUpp>
                    <m:r>
                      <a:rPr sz="4900" i="1">
                        <a:solidFill>
                          <a:srgbClr val="000000"/>
                        </a:solidFill>
                        <a:latin typeface="Cambria Math" panose="02040503050406030204" pitchFamily="18" charset="0"/>
                      </a:rPr>
                      <m:t>(</m:t>
                    </m:r>
                    <m:sSub>
                      <m:sSubPr>
                        <m:ctrlPr>
                          <a:rPr sz="4900" i="1">
                            <a:solidFill>
                              <a:srgbClr val="000000"/>
                            </a:solidFill>
                            <a:latin typeface="Cambria Math" panose="02040503050406030204" pitchFamily="18" charset="0"/>
                          </a:rPr>
                        </m:ctrlPr>
                      </m:sSubPr>
                      <m:e>
                        <m:r>
                          <a:rPr sz="4900" i="1">
                            <a:solidFill>
                              <a:srgbClr val="000000"/>
                            </a:solidFill>
                            <a:latin typeface="Cambria Math" panose="02040503050406030204" pitchFamily="18" charset="0"/>
                          </a:rPr>
                          <m:t>𝑥</m:t>
                        </m:r>
                      </m:e>
                      <m:sub>
                        <m:r>
                          <a:rPr sz="4900" i="1">
                            <a:solidFill>
                              <a:srgbClr val="000000"/>
                            </a:solidFill>
                            <a:latin typeface="Cambria Math" panose="02040503050406030204" pitchFamily="18" charset="0"/>
                          </a:rPr>
                          <m:t>0</m:t>
                        </m:r>
                      </m:sub>
                    </m:sSub>
                    <m:r>
                      <a:rPr sz="4900" i="1">
                        <a:solidFill>
                          <a:srgbClr val="000000"/>
                        </a:solidFill>
                        <a:latin typeface="Cambria Math" panose="02040503050406030204" pitchFamily="18" charset="0"/>
                      </a:rPr>
                      <m:t>)</m:t>
                    </m:r>
                  </m:oMath>
                </a14:m>
                <a:r>
                  <a:t>, following a time-reversed SDE. </a:t>
                </a:r>
              </a:p>
              <a:p>
                <a:pPr marL="1130300" lvl="1" indent="-609600">
                  <a:spcBef>
                    <a:spcPts val="1200"/>
                  </a:spcBef>
                  <a:buSzPct val="70000"/>
                  <a:defRPr sz="4000"/>
                </a:pPr>
                <a:r>
                  <a:t>In practice, discretized into a finite-step MC and a </a:t>
                </a:r>
                <a:r>
                  <a:rPr>
                    <a:solidFill>
                      <a:schemeClr val="accent4">
                        <a:hueOff val="-1247790"/>
                        <a:lumOff val="-12326"/>
                      </a:schemeClr>
                    </a:solidFill>
                  </a:rPr>
                  <a:t>score network</a:t>
                </a:r>
                <a:r>
                  <a:t> </a:t>
                </a:r>
                <a14:m>
                  <m:oMath xmlns:m="http://schemas.openxmlformats.org/officeDocument/2006/math">
                    <m:sSub>
                      <m:sSubPr>
                        <m:ctrlPr>
                          <a:rPr sz="4900">
                            <a:solidFill>
                              <a:srgbClr val="000000"/>
                            </a:solidFill>
                            <a:latin typeface="Cambria Math" panose="02040503050406030204" pitchFamily="18" charset="0"/>
                          </a:rPr>
                        </m:ctrlPr>
                      </m:sSubPr>
                      <m:e>
                        <m:r>
                          <a:rPr sz="4900" i="1">
                            <a:solidFill>
                              <a:srgbClr val="000000"/>
                            </a:solidFill>
                            <a:latin typeface="Cambria Math" panose="02040503050406030204" pitchFamily="18" charset="0"/>
                          </a:rPr>
                          <m:t>𝑠</m:t>
                        </m:r>
                      </m:e>
                      <m:sub>
                        <m:r>
                          <a:rPr sz="4900" i="1">
                            <a:solidFill>
                              <a:srgbClr val="000000"/>
                            </a:solidFill>
                            <a:latin typeface="Cambria Math" panose="02040503050406030204" pitchFamily="18" charset="0"/>
                          </a:rPr>
                          <m:t>𝜃</m:t>
                        </m:r>
                      </m:sub>
                    </m:sSub>
                  </m:oMath>
                </a14:m>
                <a:r>
                  <a:t> is used to approximate the gradient of the data density at each noise level (</a:t>
                </a:r>
                <a:r>
                  <a:rPr>
                    <a:solidFill>
                      <a:schemeClr val="accent4">
                        <a:hueOff val="-1247790"/>
                        <a:lumOff val="-12326"/>
                      </a:schemeClr>
                    </a:solidFill>
                  </a:rPr>
                  <a:t>score function</a:t>
                </a:r>
                <a:r>
                  <a:t>). </a:t>
                </a:r>
              </a:p>
            </p:txBody>
          </p:sp>
        </mc:Choice>
        <mc:Fallback>
          <p:sp>
            <p:nvSpPr>
              <p:cNvPr id="422" name="Diffusion models operates in two phases:…"/>
              <p:cNvSpPr txBox="1">
                <a:spLocks noGrp="1" noRot="1" noChangeAspect="1" noMove="1" noResize="1" noEditPoints="1" noAdjustHandles="1" noChangeArrowheads="1" noChangeShapeType="1" noTextEdit="1"/>
              </p:cNvSpPr>
              <p:nvPr>
                <p:ph type="body" sz="half" idx="1"/>
              </p:nvPr>
            </p:nvSpPr>
            <p:spPr>
              <a:xfrm>
                <a:off x="1206500" y="2238959"/>
                <a:ext cx="21971000" cy="5286698"/>
              </a:xfrm>
              <a:prstGeom prst="rect">
                <a:avLst/>
              </a:prstGeom>
              <a:blipFill>
                <a:blip r:embed="rId7"/>
                <a:stretch>
                  <a:fillRect l="-751" t="-2878" b="-4077"/>
                </a:stretch>
              </a:blipFill>
            </p:spPr>
            <p:txBody>
              <a:bodyPr/>
              <a:lstStyle/>
              <a:p>
                <a:r>
                  <a:rPr lang="en-US">
                    <a:noFill/>
                  </a:rPr>
                  <a:t> </a:t>
                </a:r>
              </a:p>
            </p:txBody>
          </p:sp>
        </mc:Fallback>
      </mc:AlternateContent>
      <p:sp>
        <p:nvSpPr>
          <p:cNvPr id="42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a:t>
            </a:fld>
            <a:endParaRPr/>
          </a:p>
        </p:txBody>
      </p:sp>
      <p:pic>
        <p:nvPicPr>
          <p:cNvPr id="424" name="Image" descr="Image"/>
          <p:cNvPicPr>
            <a:picLocks noChangeAspect="1"/>
          </p:cNvPicPr>
          <p:nvPr/>
        </p:nvPicPr>
        <p:blipFill>
          <a:blip r:embed="rId8"/>
          <a:srcRect t="31993" b="38117"/>
          <a:stretch>
            <a:fillRect/>
          </a:stretch>
        </p:blipFill>
        <p:spPr>
          <a:xfrm>
            <a:off x="2186004" y="7517534"/>
            <a:ext cx="20277881" cy="2619055"/>
          </a:xfrm>
          <a:prstGeom prst="rect">
            <a:avLst/>
          </a:prstGeom>
          <a:ln w="12700">
            <a:miter lim="400000"/>
          </a:ln>
        </p:spPr>
      </p:pic>
      <p:sp>
        <p:nvSpPr>
          <p:cNvPr id="425" name="Rectangle"/>
          <p:cNvSpPr/>
          <p:nvPr/>
        </p:nvSpPr>
        <p:spPr>
          <a:xfrm>
            <a:off x="18190001" y="11012330"/>
            <a:ext cx="5981881" cy="1116321"/>
          </a:xfrm>
          <a:prstGeom prst="rect">
            <a:avLst/>
          </a:prstGeom>
          <a:solidFill>
            <a:schemeClr val="accent4">
              <a:hueOff val="348544"/>
              <a:lumOff val="7139"/>
              <a:alpha val="30344"/>
            </a:schemeClr>
          </a:solidFill>
          <a:ln w="12700">
            <a:solidFill>
              <a:srgbClr val="000000">
                <a:alpha val="30344"/>
              </a:srgbClr>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pic>
        <p:nvPicPr>
          <p:cNvPr id="426" name="Image" descr="Image"/>
          <p:cNvPicPr>
            <a:picLocks noChangeAspect="1"/>
          </p:cNvPicPr>
          <p:nvPr/>
        </p:nvPicPr>
        <p:blipFill>
          <a:blip r:embed="rId9"/>
          <a:stretch>
            <a:fillRect/>
          </a:stretch>
        </p:blipFill>
        <p:spPr>
          <a:xfrm>
            <a:off x="18258521" y="11216599"/>
            <a:ext cx="5674722" cy="707784"/>
          </a:xfrm>
          <a:prstGeom prst="rect">
            <a:avLst/>
          </a:prstGeom>
          <a:ln w="12700">
            <a:miter lim="400000"/>
          </a:ln>
        </p:spPr>
      </p:pic>
      <p:sp>
        <p:nvSpPr>
          <p:cNvPr id="427" name="score function"/>
          <p:cNvSpPr txBox="1"/>
          <p:nvPr/>
        </p:nvSpPr>
        <p:spPr>
          <a:xfrm>
            <a:off x="11068652" y="12557997"/>
            <a:ext cx="2869407" cy="660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3900">
                <a:solidFill>
                  <a:schemeClr val="accent4">
                    <a:hueOff val="-1247790"/>
                    <a:lumOff val="-12326"/>
                  </a:schemeClr>
                </a:solidFill>
              </a:defRPr>
            </a:lvl1pPr>
          </a:lstStyle>
          <a:p>
            <a:r>
              <a:t>score function</a:t>
            </a:r>
          </a:p>
        </p:txBody>
      </p:sp>
      <p:sp>
        <p:nvSpPr>
          <p:cNvPr id="428" name="score network"/>
          <p:cNvSpPr txBox="1"/>
          <p:nvPr/>
        </p:nvSpPr>
        <p:spPr>
          <a:xfrm>
            <a:off x="19245054" y="12113496"/>
            <a:ext cx="2941719" cy="660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3900">
                <a:solidFill>
                  <a:schemeClr val="accent4">
                    <a:hueOff val="-1247790"/>
                    <a:lumOff val="-12326"/>
                  </a:schemeClr>
                </a:solidFill>
              </a:defRPr>
            </a:lvl1pPr>
          </a:lstStyle>
          <a:p>
            <a:r>
              <a:t>score network</a:t>
            </a:r>
          </a:p>
        </p:txBody>
      </p:sp>
      <p:pic>
        <p:nvPicPr>
          <p:cNvPr id="429" name="Image" descr="Image"/>
          <p:cNvPicPr>
            <a:picLocks noChangeAspect="1"/>
          </p:cNvPicPr>
          <p:nvPr/>
        </p:nvPicPr>
        <p:blipFill>
          <a:blip r:embed="rId10"/>
          <a:stretch>
            <a:fillRect/>
          </a:stretch>
        </p:blipFill>
        <p:spPr>
          <a:xfrm>
            <a:off x="7023154" y="11539728"/>
            <a:ext cx="10154602" cy="1244297"/>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Visualizing the diffusion process for trajectories"/>
          <p:cNvSpPr txBox="1">
            <a:spLocks noGrp="1"/>
          </p:cNvSpPr>
          <p:nvPr>
            <p:ph type="title"/>
          </p:nvPr>
        </p:nvSpPr>
        <p:spPr>
          <a:prstGeom prst="rect">
            <a:avLst/>
          </a:prstGeom>
        </p:spPr>
        <p:txBody>
          <a:bodyPr/>
          <a:lstStyle>
            <a:lvl1pPr defTabSz="2267655">
              <a:defRPr sz="7905" spc="-158"/>
            </a:lvl1pPr>
          </a:lstStyle>
          <a:p>
            <a:r>
              <a:t>Visualizing the diffusion process for trajectories</a:t>
            </a:r>
          </a:p>
        </p:txBody>
      </p:sp>
      <p:sp>
        <p:nvSpPr>
          <p:cNvPr id="432" name="Slide Subtitle"/>
          <p:cNvSpPr txBox="1">
            <a:spLocks noGrp="1"/>
          </p:cNvSpPr>
          <p:nvPr>
            <p:ph type="body" idx="21"/>
          </p:nvPr>
        </p:nvSpPr>
        <p:spPr>
          <a:prstGeom prst="rect">
            <a:avLst/>
          </a:prstGeom>
        </p:spPr>
        <p:txBody>
          <a:bodyPr/>
          <a:lstStyle/>
          <a:p>
            <a:endParaRPr/>
          </a:p>
        </p:txBody>
      </p:sp>
      <p:sp>
        <p:nvSpPr>
          <p:cNvPr id="433" name="Slide Number"/>
          <p:cNvSpPr txBox="1">
            <a:spLocks noGrp="1"/>
          </p:cNvSpPr>
          <p:nvPr>
            <p:ph type="sldNum" sz="quarter" idx="2"/>
          </p:nvPr>
        </p:nvSpPr>
        <p:spPr>
          <a:xfrm>
            <a:off x="23777245" y="12932513"/>
            <a:ext cx="312015" cy="52308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a:t>
            </a:fld>
            <a:endParaRPr/>
          </a:p>
        </p:txBody>
      </p:sp>
      <p:pic>
        <p:nvPicPr>
          <p:cNvPr id="434" name="frame_025.png" descr="frame_025.png"/>
          <p:cNvPicPr>
            <a:picLocks noChangeAspect="1"/>
          </p:cNvPicPr>
          <p:nvPr/>
        </p:nvPicPr>
        <p:blipFill>
          <a:blip r:embed="rId2"/>
          <a:stretch>
            <a:fillRect/>
          </a:stretch>
        </p:blipFill>
        <p:spPr>
          <a:xfrm>
            <a:off x="17990597" y="7167009"/>
            <a:ext cx="5080001" cy="5080001"/>
          </a:xfrm>
          <a:prstGeom prst="rect">
            <a:avLst/>
          </a:prstGeom>
          <a:ln w="25400">
            <a:solidFill>
              <a:srgbClr val="000000"/>
            </a:solidFill>
            <a:miter lim="400000"/>
          </a:ln>
        </p:spPr>
      </p:pic>
      <p:pic>
        <p:nvPicPr>
          <p:cNvPr id="435" name="frame_018.png" descr="frame_018.png"/>
          <p:cNvPicPr>
            <a:picLocks noChangeAspect="1"/>
          </p:cNvPicPr>
          <p:nvPr/>
        </p:nvPicPr>
        <p:blipFill>
          <a:blip r:embed="rId3"/>
          <a:stretch>
            <a:fillRect/>
          </a:stretch>
        </p:blipFill>
        <p:spPr>
          <a:xfrm>
            <a:off x="12394137" y="7167009"/>
            <a:ext cx="5080001" cy="5080001"/>
          </a:xfrm>
          <a:prstGeom prst="rect">
            <a:avLst/>
          </a:prstGeom>
          <a:ln w="25400">
            <a:solidFill>
              <a:srgbClr val="000000"/>
            </a:solidFill>
            <a:miter lim="400000"/>
          </a:ln>
        </p:spPr>
      </p:pic>
      <p:pic>
        <p:nvPicPr>
          <p:cNvPr id="436" name="frame_012.png" descr="frame_012.png"/>
          <p:cNvPicPr>
            <a:picLocks noChangeAspect="1"/>
          </p:cNvPicPr>
          <p:nvPr/>
        </p:nvPicPr>
        <p:blipFill>
          <a:blip r:embed="rId4"/>
          <a:stretch>
            <a:fillRect/>
          </a:stretch>
        </p:blipFill>
        <p:spPr>
          <a:xfrm>
            <a:off x="6797677" y="7167009"/>
            <a:ext cx="5080001" cy="5080001"/>
          </a:xfrm>
          <a:prstGeom prst="rect">
            <a:avLst/>
          </a:prstGeom>
          <a:ln w="25400">
            <a:solidFill>
              <a:srgbClr val="000000"/>
            </a:solidFill>
            <a:miter lim="400000"/>
          </a:ln>
        </p:spPr>
      </p:pic>
      <p:pic>
        <p:nvPicPr>
          <p:cNvPr id="437" name="frame_005.png" descr="frame_005.png"/>
          <p:cNvPicPr>
            <a:picLocks noChangeAspect="1"/>
          </p:cNvPicPr>
          <p:nvPr/>
        </p:nvPicPr>
        <p:blipFill>
          <a:blip r:embed="rId5"/>
          <a:stretch>
            <a:fillRect/>
          </a:stretch>
        </p:blipFill>
        <p:spPr>
          <a:xfrm>
            <a:off x="1201217" y="7167009"/>
            <a:ext cx="5080001" cy="5080001"/>
          </a:xfrm>
          <a:prstGeom prst="rect">
            <a:avLst/>
          </a:prstGeom>
          <a:ln w="25400">
            <a:solidFill>
              <a:srgbClr val="000000"/>
            </a:solidFill>
            <a:miter lim="400000"/>
          </a:ln>
        </p:spPr>
      </p:pic>
      <p:sp>
        <p:nvSpPr>
          <p:cNvPr id="438" name="Low dimensional data, and much faster to compute than regular image-diffusion.…"/>
          <p:cNvSpPr txBox="1"/>
          <p:nvPr/>
        </p:nvSpPr>
        <p:spPr>
          <a:xfrm>
            <a:off x="1652405" y="4301268"/>
            <a:ext cx="19955471" cy="16840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marL="609600" indent="-609600">
              <a:buSzPct val="123000"/>
              <a:buChar char="•"/>
            </a:pPr>
            <a:r>
              <a:t>Low dimensional data, and much faster to compute than regular image-diffusion. </a:t>
            </a:r>
          </a:p>
          <a:p>
            <a:pPr marL="609600" indent="-609600">
              <a:buSzPct val="123000"/>
              <a:buChar char="•"/>
            </a:pPr>
            <a:r>
              <a:t>“Latent” and final dimensions are both in the same geometric manifold</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Rounded Rectangle"/>
          <p:cNvSpPr/>
          <p:nvPr/>
        </p:nvSpPr>
        <p:spPr>
          <a:xfrm>
            <a:off x="0" y="-791837"/>
            <a:ext cx="24384001" cy="6274330"/>
          </a:xfrm>
          <a:prstGeom prst="roundRect">
            <a:avLst>
              <a:gd name="adj" fmla="val 10491"/>
            </a:avLst>
          </a:prstGeom>
          <a:solidFill>
            <a:schemeClr val="accent1">
              <a:hueOff val="114395"/>
              <a:lumOff val="-24975"/>
            </a:schemeClr>
          </a:solidFill>
          <a:ln w="12700">
            <a:miter lim="400000"/>
          </a:ln>
        </p:spPr>
        <p:txBody>
          <a:bodyPr lIns="50800" tIns="50800" rIns="50800" bIns="50800" anchor="ctr"/>
          <a:lstStyle/>
          <a:p>
            <a:pPr algn="ctr" defTabSz="825500">
              <a:lnSpc>
                <a:spcPct val="100000"/>
              </a:lnSpc>
              <a:spcBef>
                <a:spcPts val="0"/>
              </a:spcBef>
              <a:defRPr sz="3200">
                <a:solidFill>
                  <a:schemeClr val="accent1">
                    <a:hueOff val="114395"/>
                    <a:lumOff val="-24975"/>
                  </a:schemeClr>
                </a:solidFill>
                <a:latin typeface="Helvetica Neue Medium"/>
                <a:ea typeface="Helvetica Neue Medium"/>
                <a:cs typeface="Helvetica Neue Medium"/>
                <a:sym typeface="Helvetica Neue Medium"/>
              </a:defRPr>
            </a:pPr>
            <a:endParaRPr/>
          </a:p>
        </p:txBody>
      </p:sp>
      <p:sp>
        <p:nvSpPr>
          <p:cNvPr id="441" name="Constraint-aware Diffusion"/>
          <p:cNvSpPr txBox="1">
            <a:spLocks noGrp="1"/>
          </p:cNvSpPr>
          <p:nvPr>
            <p:ph type="body" sz="half" idx="1"/>
          </p:nvPr>
        </p:nvSpPr>
        <p:spPr>
          <a:xfrm>
            <a:off x="1258065" y="872256"/>
            <a:ext cx="21971001" cy="3874314"/>
          </a:xfrm>
          <a:prstGeom prst="rect">
            <a:avLst/>
          </a:prstGeom>
        </p:spPr>
        <p:txBody>
          <a:bodyPr/>
          <a:lstStyle>
            <a:lvl1pPr>
              <a:defRPr>
                <a:solidFill>
                  <a:srgbClr val="FFFFFF"/>
                </a:solidFill>
              </a:defRPr>
            </a:lvl1pPr>
          </a:lstStyle>
          <a:p>
            <a:r>
              <a:t>Constraint-aware Diffusion</a:t>
            </a:r>
          </a:p>
        </p:txBody>
      </p:sp>
      <p:sp>
        <p:nvSpPr>
          <p:cNvPr id="442" name="Rounded Rectangle"/>
          <p:cNvSpPr/>
          <p:nvPr/>
        </p:nvSpPr>
        <p:spPr>
          <a:xfrm>
            <a:off x="51565" y="12071734"/>
            <a:ext cx="24384001" cy="6274330"/>
          </a:xfrm>
          <a:prstGeom prst="roundRect">
            <a:avLst>
              <a:gd name="adj" fmla="val 10491"/>
            </a:avLst>
          </a:prstGeom>
          <a:solidFill>
            <a:schemeClr val="accent1">
              <a:hueOff val="114395"/>
              <a:lumOff val="-24975"/>
            </a:schemeClr>
          </a:solidFill>
          <a:ln w="12700">
            <a:miter lim="400000"/>
          </a:ln>
        </p:spPr>
        <p:txBody>
          <a:bodyPr lIns="50800" tIns="50800" rIns="50800" bIns="50800" anchor="ctr"/>
          <a:lstStyle/>
          <a:p>
            <a:pPr algn="ctr" defTabSz="825500">
              <a:lnSpc>
                <a:spcPct val="100000"/>
              </a:lnSpc>
              <a:spcBef>
                <a:spcPts val="0"/>
              </a:spcBef>
              <a:defRPr sz="3200">
                <a:solidFill>
                  <a:schemeClr val="accent1">
                    <a:hueOff val="114395"/>
                    <a:lumOff val="-24975"/>
                  </a:schemeClr>
                </a:solidFill>
                <a:latin typeface="Helvetica Neue Medium"/>
                <a:ea typeface="Helvetica Neue Medium"/>
                <a:cs typeface="Helvetica Neue Medium"/>
                <a:sym typeface="Helvetica Neue Medium"/>
              </a:defRPr>
            </a:pPr>
            <a:endParaRPr/>
          </a:p>
        </p:txBody>
      </p:sp>
      <p:pic>
        <p:nvPicPr>
          <p:cNvPr id="443" name="Image" descr="Image"/>
          <p:cNvPicPr>
            <a:picLocks noChangeAspect="1"/>
          </p:cNvPicPr>
          <p:nvPr/>
        </p:nvPicPr>
        <p:blipFill>
          <a:blip r:embed="rId2"/>
          <a:stretch>
            <a:fillRect/>
          </a:stretch>
        </p:blipFill>
        <p:spPr>
          <a:xfrm>
            <a:off x="2891058" y="6384865"/>
            <a:ext cx="19340326" cy="5136085"/>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Understanding the reverse diffusion process"/>
          <p:cNvSpPr txBox="1">
            <a:spLocks noGrp="1"/>
          </p:cNvSpPr>
          <p:nvPr>
            <p:ph type="title"/>
          </p:nvPr>
        </p:nvSpPr>
        <p:spPr>
          <a:xfrm>
            <a:off x="1206500" y="435404"/>
            <a:ext cx="21971000" cy="1433164"/>
          </a:xfrm>
          <a:prstGeom prst="rect">
            <a:avLst/>
          </a:prstGeom>
        </p:spPr>
        <p:txBody>
          <a:bodyPr/>
          <a:lstStyle>
            <a:lvl1pPr defTabSz="2413955">
              <a:defRPr sz="8415" spc="-168"/>
            </a:lvl1pPr>
          </a:lstStyle>
          <a:p>
            <a:r>
              <a:t>Understanding the reverse diffusion process</a:t>
            </a:r>
          </a:p>
        </p:txBody>
      </p:sp>
      <p:sp>
        <p:nvSpPr>
          <p:cNvPr id="446" name="Slide Subtitle"/>
          <p:cNvSpPr txBox="1">
            <a:spLocks noGrp="1"/>
          </p:cNvSpPr>
          <p:nvPr>
            <p:ph type="body" idx="21"/>
          </p:nvPr>
        </p:nvSpPr>
        <p:spPr>
          <a:prstGeom prst="rect">
            <a:avLst/>
          </a:prstGeom>
        </p:spPr>
        <p:txBody>
          <a:bodyPr/>
          <a:lstStyle/>
          <a:p>
            <a:endParaRPr/>
          </a:p>
        </p:txBody>
      </p:sp>
      <p:sp>
        <p:nvSpPr>
          <p:cNvPr id="44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a:t>
            </a:fld>
            <a:endParaRPr/>
          </a:p>
        </p:txBody>
      </p:sp>
      <mc:AlternateContent xmlns:mc="http://schemas.openxmlformats.org/markup-compatibility/2006">
        <mc:Choice xmlns:a14="http://schemas.microsoft.com/office/drawing/2010/main" Requires="a14">
          <p:sp>
            <p:nvSpPr>
              <p:cNvPr id="448" name="To update a sample from   to  , the reverse process in score-based diffusion models follows a Gradient Langevin Dynamics (GLD) iterative update:"/>
              <p:cNvSpPr txBox="1">
                <a:spLocks noGrp="1"/>
              </p:cNvSpPr>
              <p:nvPr>
                <p:ph type="body" sz="quarter" idx="1"/>
              </p:nvPr>
            </p:nvSpPr>
            <p:spPr>
              <a:xfrm>
                <a:off x="1206500" y="3164771"/>
                <a:ext cx="21971000" cy="2639929"/>
              </a:xfrm>
              <a:prstGeom prst="rect">
                <a:avLst/>
              </a:prstGeom>
            </p:spPr>
            <p:txBody>
              <a:bodyPr/>
              <a:lstStyle/>
              <a:p>
                <a:pPr marL="0" indent="0">
                  <a:lnSpc>
                    <a:spcPct val="100000"/>
                  </a:lnSpc>
                  <a:spcBef>
                    <a:spcPts val="2200"/>
                  </a:spcBef>
                  <a:buSzTx/>
                  <a:buNone/>
                  <a:defRPr sz="4600">
                    <a:latin typeface="Gill Sans Light"/>
                    <a:ea typeface="Gill Sans Light"/>
                    <a:cs typeface="Gill Sans Light"/>
                    <a:sym typeface="Gill Sans Light"/>
                  </a:defRPr>
                </a:pPr>
                <a:r>
                  <a:t>To update a sample from </a:t>
                </a:r>
                <a14:m>
                  <m:oMath xmlns:m="http://schemas.openxmlformats.org/officeDocument/2006/math">
                    <m:sSub>
                      <m:sSubPr>
                        <m:ctrlPr>
                          <a:rPr sz="4550">
                            <a:solidFill>
                              <a:srgbClr val="000000"/>
                            </a:solidFill>
                            <a:latin typeface="Cambria Math" panose="02040503050406030204" pitchFamily="18" charset="0"/>
                          </a:rPr>
                        </m:ctrlPr>
                      </m:sSubPr>
                      <m:e>
                        <m:r>
                          <a:rPr sz="4550" i="1">
                            <a:solidFill>
                              <a:srgbClr val="000000"/>
                            </a:solidFill>
                            <a:latin typeface="Cambria Math" panose="02040503050406030204" pitchFamily="18" charset="0"/>
                          </a:rPr>
                          <m:t>𝑥</m:t>
                        </m:r>
                      </m:e>
                      <m:sub>
                        <m:r>
                          <a:rPr sz="4550" i="1">
                            <a:solidFill>
                              <a:srgbClr val="000000"/>
                            </a:solidFill>
                            <a:latin typeface="Cambria Math" panose="02040503050406030204" pitchFamily="18" charset="0"/>
                          </a:rPr>
                          <m:t>𝑡</m:t>
                        </m:r>
                      </m:sub>
                    </m:sSub>
                  </m:oMath>
                </a14:m>
                <a:r>
                  <a:t> to </a:t>
                </a:r>
                <a14:m>
                  <m:oMath xmlns:m="http://schemas.openxmlformats.org/officeDocument/2006/math">
                    <m:sSub>
                      <m:sSubPr>
                        <m:ctrlPr>
                          <a:rPr sz="5000">
                            <a:solidFill>
                              <a:srgbClr val="000000"/>
                            </a:solidFill>
                            <a:latin typeface="Cambria Math" panose="02040503050406030204" pitchFamily="18" charset="0"/>
                          </a:rPr>
                        </m:ctrlPr>
                      </m:sSubPr>
                      <m:e>
                        <m:r>
                          <a:rPr sz="5000" i="1">
                            <a:solidFill>
                              <a:srgbClr val="000000"/>
                            </a:solidFill>
                            <a:latin typeface="Cambria Math" panose="02040503050406030204" pitchFamily="18" charset="0"/>
                          </a:rPr>
                          <m:t>𝑥</m:t>
                        </m:r>
                      </m:e>
                      <m:sub>
                        <m:r>
                          <a:rPr sz="5000" i="1">
                            <a:solidFill>
                              <a:srgbClr val="000000"/>
                            </a:solidFill>
                            <a:latin typeface="Cambria Math" panose="02040503050406030204" pitchFamily="18" charset="0"/>
                          </a:rPr>
                          <m:t>𝑡</m:t>
                        </m:r>
                        <m:r>
                          <a:rPr sz="5000" i="1">
                            <a:solidFill>
                              <a:srgbClr val="000000"/>
                            </a:solidFill>
                            <a:latin typeface="Cambria Math" panose="02040503050406030204" pitchFamily="18" charset="0"/>
                          </a:rPr>
                          <m:t>−1</m:t>
                        </m:r>
                      </m:sub>
                    </m:sSub>
                  </m:oMath>
                </a14:m>
                <a:r>
                  <a:t>, the reverse process in score-based diffusion models follows a Gradient Langevin Dynamics (GLD) iterative update: </a:t>
                </a:r>
              </a:p>
            </p:txBody>
          </p:sp>
        </mc:Choice>
        <mc:Fallback>
          <p:sp>
            <p:nvSpPr>
              <p:cNvPr id="448" name="To update a sample from   to  , the reverse process in score-based diffusion models follows a Gradient Langevin Dynamics (GLD) iterative update:"/>
              <p:cNvSpPr txBox="1">
                <a:spLocks noGrp="1" noRot="1" noChangeAspect="1" noMove="1" noResize="1" noEditPoints="1" noAdjustHandles="1" noChangeArrowheads="1" noChangeShapeType="1" noTextEdit="1"/>
              </p:cNvSpPr>
              <p:nvPr>
                <p:ph type="body" sz="quarter" idx="1"/>
              </p:nvPr>
            </p:nvSpPr>
            <p:spPr>
              <a:xfrm>
                <a:off x="1206500" y="3164771"/>
                <a:ext cx="21971000" cy="2639929"/>
              </a:xfrm>
              <a:prstGeom prst="rect">
                <a:avLst/>
              </a:prstGeom>
              <a:blipFill>
                <a:blip r:embed="rId2"/>
                <a:stretch>
                  <a:fillRect l="-1387" t="-3365"/>
                </a:stretch>
              </a:blipFill>
            </p:spPr>
            <p:txBody>
              <a:bodyPr/>
              <a:lstStyle/>
              <a:p>
                <a:r>
                  <a:rPr lang="en-US">
                    <a:noFill/>
                  </a:rPr>
                  <a:t> </a:t>
                </a:r>
              </a:p>
            </p:txBody>
          </p:sp>
        </mc:Fallback>
      </mc:AlternateContent>
      <p:grpSp>
        <p:nvGrpSpPr>
          <p:cNvPr id="451" name="Group"/>
          <p:cNvGrpSpPr/>
          <p:nvPr/>
        </p:nvGrpSpPr>
        <p:grpSpPr>
          <a:xfrm>
            <a:off x="7207186" y="5688004"/>
            <a:ext cx="1686375" cy="2578177"/>
            <a:chOff x="822587" y="0"/>
            <a:chExt cx="1686374" cy="2578176"/>
          </a:xfrm>
        </p:grpSpPr>
        <p:sp>
          <p:nvSpPr>
            <p:cNvPr id="449" name="Rectangle"/>
            <p:cNvSpPr/>
            <p:nvPr/>
          </p:nvSpPr>
          <p:spPr>
            <a:xfrm>
              <a:off x="822587" y="0"/>
              <a:ext cx="832749" cy="901300"/>
            </a:xfrm>
            <a:prstGeom prst="rect">
              <a:avLst/>
            </a:prstGeom>
            <a:solidFill>
              <a:schemeClr val="accent4">
                <a:hueOff val="348544"/>
                <a:lumOff val="7139"/>
                <a:alpha val="30344"/>
              </a:schemeClr>
            </a:solidFill>
            <a:ln w="12700" cap="flat">
              <a:solidFill>
                <a:srgbClr val="000000">
                  <a:alpha val="30344"/>
                </a:srgb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450" name="Current state"/>
            <p:cNvSpPr/>
            <p:nvPr/>
          </p:nvSpPr>
          <p:spPr>
            <a:xfrm>
              <a:off x="1238961" y="1308176"/>
              <a:ext cx="1270001" cy="1270001"/>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lgn="ctr">
                <a:lnSpc>
                  <a:spcPct val="100000"/>
                </a:lnSpc>
                <a:spcBef>
                  <a:spcPts val="0"/>
                </a:spcBef>
                <a:defRPr sz="3200">
                  <a:solidFill>
                    <a:schemeClr val="accent4">
                      <a:hueOff val="-1247790"/>
                      <a:lumOff val="-12326"/>
                    </a:schemeClr>
                  </a:solidFill>
                  <a:latin typeface="+mn-lt"/>
                  <a:ea typeface="+mn-ea"/>
                  <a:cs typeface="+mn-cs"/>
                  <a:sym typeface="Helvetica Neue"/>
                </a:defRPr>
              </a:lvl1pPr>
            </a:lstStyle>
            <a:p>
              <a:r>
                <a:t>Current state</a:t>
              </a:r>
            </a:p>
          </p:txBody>
        </p:sp>
      </p:grpSp>
      <p:sp>
        <p:nvSpPr>
          <p:cNvPr id="452" name="Rectangle"/>
          <p:cNvSpPr/>
          <p:nvPr/>
        </p:nvSpPr>
        <p:spPr>
          <a:xfrm>
            <a:off x="8698036" y="5574951"/>
            <a:ext cx="2928321" cy="1021832"/>
          </a:xfrm>
          <a:prstGeom prst="rect">
            <a:avLst/>
          </a:prstGeom>
          <a:solidFill>
            <a:schemeClr val="accent5">
              <a:hueOff val="-152895"/>
              <a:lumOff val="12368"/>
              <a:alpha val="30344"/>
            </a:schemeClr>
          </a:solidFill>
          <a:ln w="12700">
            <a:solidFill>
              <a:srgbClr val="000000">
                <a:alpha val="30344"/>
              </a:srgbClr>
            </a:solidFill>
            <a:miter lim="400000"/>
          </a:ln>
        </p:spPr>
        <p:txBody>
          <a:bodyPr lIns="50800" tIns="50800" rIns="50800" bIns="50800" anchor="b"/>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453" name="Gradient step"/>
          <p:cNvSpPr txBox="1"/>
          <p:nvPr/>
        </p:nvSpPr>
        <p:spPr>
          <a:xfrm>
            <a:off x="8870606" y="4857555"/>
            <a:ext cx="2583181" cy="5728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b">
            <a:spAutoFit/>
          </a:bodyPr>
          <a:lstStyle>
            <a:lvl1pPr algn="ctr">
              <a:lnSpc>
                <a:spcPct val="100000"/>
              </a:lnSpc>
              <a:spcBef>
                <a:spcPts val="0"/>
              </a:spcBef>
              <a:defRPr sz="3200">
                <a:solidFill>
                  <a:schemeClr val="accent5">
                    <a:lumOff val="-29866"/>
                  </a:schemeClr>
                </a:solidFill>
                <a:latin typeface="+mn-lt"/>
                <a:ea typeface="+mn-ea"/>
                <a:cs typeface="+mn-cs"/>
                <a:sym typeface="Helvetica Neue"/>
              </a:defRPr>
            </a:lvl1pPr>
          </a:lstStyle>
          <a:p>
            <a:r>
              <a:t>Gradient step</a:t>
            </a:r>
          </a:p>
        </p:txBody>
      </p:sp>
      <p:grpSp>
        <p:nvGrpSpPr>
          <p:cNvPr id="456" name="Group"/>
          <p:cNvGrpSpPr/>
          <p:nvPr/>
        </p:nvGrpSpPr>
        <p:grpSpPr>
          <a:xfrm>
            <a:off x="13936753" y="5150855"/>
            <a:ext cx="1805012" cy="1496326"/>
            <a:chOff x="835827" y="286410"/>
            <a:chExt cx="1805010" cy="1496324"/>
          </a:xfrm>
        </p:grpSpPr>
        <p:sp>
          <p:nvSpPr>
            <p:cNvPr id="454" name="Rectangle"/>
            <p:cNvSpPr/>
            <p:nvPr/>
          </p:nvSpPr>
          <p:spPr>
            <a:xfrm>
              <a:off x="835827" y="881435"/>
              <a:ext cx="525638" cy="901300"/>
            </a:xfrm>
            <a:prstGeom prst="rect">
              <a:avLst/>
            </a:prstGeom>
            <a:solidFill>
              <a:schemeClr val="accent1">
                <a:lumOff val="16847"/>
                <a:alpha val="30344"/>
              </a:schemeClr>
            </a:solidFill>
            <a:ln w="12700" cap="flat">
              <a:solidFill>
                <a:srgbClr val="000000">
                  <a:alpha val="30344"/>
                </a:srgb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455" name="Random noise"/>
            <p:cNvSpPr/>
            <p:nvPr/>
          </p:nvSpPr>
          <p:spPr>
            <a:xfrm>
              <a:off x="1370837" y="286410"/>
              <a:ext cx="1270001" cy="1270001"/>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lgn="ctr">
                <a:lnSpc>
                  <a:spcPct val="100000"/>
                </a:lnSpc>
                <a:spcBef>
                  <a:spcPts val="0"/>
                </a:spcBef>
                <a:defRPr sz="3200">
                  <a:solidFill>
                    <a:schemeClr val="accent1">
                      <a:hueOff val="114395"/>
                      <a:lumOff val="-24975"/>
                    </a:schemeClr>
                  </a:solidFill>
                  <a:latin typeface="+mn-lt"/>
                  <a:ea typeface="+mn-ea"/>
                  <a:cs typeface="+mn-cs"/>
                  <a:sym typeface="Helvetica Neue"/>
                </a:defRPr>
              </a:lvl1pPr>
            </a:lstStyle>
            <a:p>
              <a:r>
                <a:t>Random noise</a:t>
              </a:r>
            </a:p>
          </p:txBody>
        </p:sp>
      </p:grpSp>
      <mc:AlternateContent xmlns:mc="http://schemas.openxmlformats.org/markup-compatibility/2006">
        <mc:Choice xmlns:a14="http://schemas.microsoft.com/office/drawing/2010/main" Requires="a14">
          <p:sp>
            <p:nvSpPr>
              <p:cNvPr id="457" name="It combines traditional gradient steps with noise to converge to high-density regions.…"/>
              <p:cNvSpPr txBox="1"/>
              <p:nvPr/>
            </p:nvSpPr>
            <p:spPr>
              <a:xfrm>
                <a:off x="1206500" y="8423553"/>
                <a:ext cx="21971000" cy="4535446"/>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ormAutofit/>
              </a:bodyPr>
              <a:lstStyle/>
              <a:p>
                <a:pPr marL="584200" indent="-584200">
                  <a:lnSpc>
                    <a:spcPct val="100000"/>
                  </a:lnSpc>
                  <a:buSzPct val="100000"/>
                  <a:buChar char="•"/>
                  <a:defRPr sz="4600"/>
                </a:pPr>
                <a:r>
                  <a:t>It combines </a:t>
                </a:r>
                <a:r>
                  <a:rPr>
                    <a:solidFill>
                      <a:schemeClr val="accent5">
                        <a:lumOff val="-29866"/>
                      </a:schemeClr>
                    </a:solidFill>
                  </a:rPr>
                  <a:t>traditional gradient steps</a:t>
                </a:r>
                <a:r>
                  <a:t> with </a:t>
                </a:r>
                <a:r>
                  <a:rPr>
                    <a:solidFill>
                      <a:schemeClr val="accent1">
                        <a:hueOff val="114395"/>
                        <a:lumOff val="-24975"/>
                      </a:schemeClr>
                    </a:solidFill>
                  </a:rPr>
                  <a:t>noise</a:t>
                </a:r>
                <a:r>
                  <a:t> to converge to high-density regions. </a:t>
                </a:r>
              </a:p>
              <a:p>
                <a:pPr marL="584200" indent="-584200">
                  <a:lnSpc>
                    <a:spcPct val="100000"/>
                  </a:lnSpc>
                  <a:buSzPct val="100000"/>
                  <a:buChar char="•"/>
                  <a:defRPr sz="4600"/>
                </a:pPr>
                <a:r>
                  <a:t>As </a:t>
                </a:r>
                <a14:m>
                  <m:oMath xmlns:m="http://schemas.openxmlformats.org/officeDocument/2006/math">
                    <m:r>
                      <a:rPr sz="5000" i="1">
                        <a:solidFill>
                          <a:srgbClr val="000000"/>
                        </a:solidFill>
                        <a:latin typeface="Cambria Math" panose="02040503050406030204" pitchFamily="18" charset="0"/>
                      </a:rPr>
                      <m:t>𝑡</m:t>
                    </m:r>
                    <m:r>
                      <a:rPr sz="5000" i="1">
                        <a:solidFill>
                          <a:srgbClr val="000000"/>
                        </a:solidFill>
                        <a:latin typeface="Cambria Math" panose="02040503050406030204" pitchFamily="18" charset="0"/>
                      </a:rPr>
                      <m:t>→0</m:t>
                    </m:r>
                  </m:oMath>
                </a14:m>
                <a:r>
                  <a:t>, and the variance schedule decreases, the random component vanishes and GLD transition towards a deterministic gradient ascent updates: </a:t>
                </a:r>
              </a:p>
            </p:txBody>
          </p:sp>
        </mc:Choice>
        <mc:Fallback>
          <p:sp>
            <p:nvSpPr>
              <p:cNvPr id="457" name="It combines traditional gradient steps with noise to converge to high-density regions.…"/>
              <p:cNvSpPr txBox="1">
                <a:spLocks noRot="1" noChangeAspect="1" noMove="1" noResize="1" noEditPoints="1" noAdjustHandles="1" noChangeArrowheads="1" noChangeShapeType="1" noTextEdit="1"/>
              </p:cNvSpPr>
              <p:nvPr/>
            </p:nvSpPr>
            <p:spPr>
              <a:xfrm>
                <a:off x="1206500" y="8423553"/>
                <a:ext cx="21971000" cy="4535446"/>
              </a:xfrm>
              <a:prstGeom prst="rect">
                <a:avLst/>
              </a:prstGeom>
              <a:blipFill>
                <a:blip r:embed="rId3"/>
                <a:stretch>
                  <a:fillRect l="-1329" t="-2793" r="-520"/>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pic>
        <p:nvPicPr>
          <p:cNvPr id="458" name="Image" descr="Image"/>
          <p:cNvPicPr>
            <a:picLocks noChangeAspect="1"/>
          </p:cNvPicPr>
          <p:nvPr/>
        </p:nvPicPr>
        <p:blipFill>
          <a:blip r:embed="rId4"/>
          <a:stretch>
            <a:fillRect/>
          </a:stretch>
        </p:blipFill>
        <p:spPr>
          <a:xfrm>
            <a:off x="3181827" y="4857555"/>
            <a:ext cx="18020346" cy="2048270"/>
          </a:xfrm>
          <a:prstGeom prst="rect">
            <a:avLst/>
          </a:prstGeom>
          <a:ln w="12700">
            <a:miter lim="400000"/>
          </a:ln>
        </p:spPr>
      </p:pic>
      <p:pic>
        <p:nvPicPr>
          <p:cNvPr id="459" name="Image" descr="Image"/>
          <p:cNvPicPr>
            <a:picLocks noChangeAspect="1"/>
          </p:cNvPicPr>
          <p:nvPr/>
        </p:nvPicPr>
        <p:blipFill>
          <a:blip r:embed="rId5"/>
          <a:stretch>
            <a:fillRect/>
          </a:stretch>
        </p:blipFill>
        <p:spPr>
          <a:xfrm>
            <a:off x="9468022" y="7100903"/>
            <a:ext cx="6613540" cy="824879"/>
          </a:xfrm>
          <a:prstGeom prst="rect">
            <a:avLst/>
          </a:prstGeom>
          <a:ln w="12700">
            <a:miter lim="400000"/>
          </a:ln>
        </p:spPr>
      </p:pic>
      <p:pic>
        <p:nvPicPr>
          <p:cNvPr id="460" name="Image" descr="Image"/>
          <p:cNvPicPr>
            <a:picLocks noChangeAspect="1"/>
          </p:cNvPicPr>
          <p:nvPr/>
        </p:nvPicPr>
        <p:blipFill>
          <a:blip r:embed="rId6"/>
          <a:stretch>
            <a:fillRect/>
          </a:stretch>
        </p:blipFill>
        <p:spPr>
          <a:xfrm>
            <a:off x="15357394" y="10207279"/>
            <a:ext cx="6431599" cy="667525"/>
          </a:xfrm>
          <a:prstGeom prst="rect">
            <a:avLst/>
          </a:prstGeom>
          <a:ln w="12700">
            <a:miter lim="400000"/>
          </a:ln>
        </p:spPr>
      </p:pic>
      <p:pic>
        <p:nvPicPr>
          <p:cNvPr id="461" name="Screen Shot 2022-10-17 at 11.39.00 AM.png" descr="Screen Shot 2022-10-17 at 11.39.00 AM.png">
            <a:hlinkClick r:id="rId7"/>
          </p:cNvPr>
          <p:cNvPicPr>
            <a:picLocks noChangeAspect="1"/>
          </p:cNvPicPr>
          <p:nvPr/>
        </p:nvPicPr>
        <p:blipFill>
          <a:blip r:embed="rId8"/>
          <a:stretch>
            <a:fillRect/>
          </a:stretch>
        </p:blipFill>
        <p:spPr>
          <a:xfrm>
            <a:off x="11256398" y="13122364"/>
            <a:ext cx="362129" cy="322980"/>
          </a:xfrm>
          <a:prstGeom prst="rect">
            <a:avLst/>
          </a:prstGeom>
          <a:ln w="12700">
            <a:miter lim="400000"/>
          </a:ln>
        </p:spPr>
      </p:pic>
      <p:sp>
        <p:nvSpPr>
          <p:cNvPr id="462" name="NeurIPS:24">
            <a:hlinkClick r:id="rId7"/>
          </p:cNvPr>
          <p:cNvSpPr txBox="1"/>
          <p:nvPr/>
        </p:nvSpPr>
        <p:spPr>
          <a:xfrm>
            <a:off x="11660900" y="13055254"/>
            <a:ext cx="1466702"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400"/>
            </a:lvl1pPr>
          </a:lstStyle>
          <a:p>
            <a:r>
              <a:t>NeurIPS:24</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453"/>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3" nodeType="afterEffect">
                                  <p:stCondLst>
                                    <p:cond delay="0"/>
                                  </p:stCondLst>
                                  <p:iterate>
                                    <p:tmAbs val="0"/>
                                  </p:iterate>
                                  <p:childTnLst>
                                    <p:set>
                                      <p:cBhvr>
                                        <p:cTn id="13" fill="hold"/>
                                        <p:tgtEl>
                                          <p:spTgt spid="459"/>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4" nodeType="afterEffect">
                                  <p:stCondLst>
                                    <p:cond delay="0"/>
                                  </p:stCondLst>
                                  <p:iterate>
                                    <p:tmAbs val="0"/>
                                  </p:iterate>
                                  <p:childTnLst>
                                    <p:set>
                                      <p:cBhvr>
                                        <p:cTn id="16" fill="hold"/>
                                        <p:tgtEl>
                                          <p:spTgt spid="4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5" nodeType="clickEffect">
                                  <p:stCondLst>
                                    <p:cond delay="0"/>
                                  </p:stCondLst>
                                  <p:iterate>
                                    <p:tmAbs val="0"/>
                                  </p:iterate>
                                  <p:childTnLst>
                                    <p:set>
                                      <p:cBhvr>
                                        <p:cTn id="20" fill="hold"/>
                                        <p:tgtEl>
                                          <p:spTgt spid="456"/>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6" nodeType="afterEffect">
                                  <p:stCondLst>
                                    <p:cond delay="0"/>
                                  </p:stCondLst>
                                  <p:iterate>
                                    <p:tmAbs val="0"/>
                                  </p:iterate>
                                  <p:childTnLst>
                                    <p:set>
                                      <p:cBhvr>
                                        <p:cTn id="23" fill="hold"/>
                                        <p:tgtEl>
                                          <p:spTgt spid="457">
                                            <p:bg/>
                                          </p:spTgt>
                                        </p:tgtEl>
                                        <p:attrNameLst>
                                          <p:attrName>style.visibility</p:attrName>
                                        </p:attrNameLst>
                                      </p:cBhvr>
                                      <p:to>
                                        <p:strVal val="visible"/>
                                      </p:to>
                                    </p:set>
                                  </p:childTnLst>
                                </p:cTn>
                              </p:par>
                              <p:par>
                                <p:cTn id="24" presetID="1" presetClass="entr" presetSubtype="0" fill="hold" grpId="6" nodeType="withEffect">
                                  <p:stCondLst>
                                    <p:cond delay="0"/>
                                  </p:stCondLst>
                                  <p:iterate>
                                    <p:tmAbs val="0"/>
                                  </p:iterate>
                                  <p:childTnLst>
                                    <p:set>
                                      <p:cBhvr>
                                        <p:cTn id="25" fill="hold"/>
                                        <p:tgtEl>
                                          <p:spTgt spid="457">
                                            <p:txEl>
                                              <p:pRg st="0" end="0"/>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6" nodeType="clickEffect">
                                  <p:stCondLst>
                                    <p:cond delay="0"/>
                                  </p:stCondLst>
                                  <p:iterate>
                                    <p:tmAbs val="0"/>
                                  </p:iterate>
                                  <p:childTnLst>
                                    <p:set>
                                      <p:cBhvr>
                                        <p:cTn id="29" fill="hold"/>
                                        <p:tgtEl>
                                          <p:spTgt spid="457">
                                            <p:txEl>
                                              <p:pRg st="1" end="1"/>
                                            </p:txEl>
                                          </p:spTgt>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7" nodeType="afterEffect">
                                  <p:stCondLst>
                                    <p:cond delay="0"/>
                                  </p:stCondLst>
                                  <p:iterate>
                                    <p:tmAbs val="0"/>
                                  </p:iterate>
                                  <p:childTnLst>
                                    <p:set>
                                      <p:cBhvr>
                                        <p:cTn id="32" fill="hold"/>
                                        <p:tgtEl>
                                          <p:spTgt spid="4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 grpId="1" animBg="1" advAuto="0"/>
      <p:bldP spid="452" grpId="4" animBg="1" advAuto="0"/>
      <p:bldP spid="453" grpId="2" animBg="1" advAuto="0"/>
      <p:bldP spid="456" grpId="5" animBg="1" advAuto="0"/>
      <p:bldP spid="457" grpId="6" build="p" bldLvl="5" animBg="1" advAuto="0"/>
      <p:bldP spid="459" grpId="3" animBg="1" advAuto="0"/>
      <p:bldP spid="460" grpId="7"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Key idea"/>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Key idea</a:t>
            </a:r>
          </a:p>
        </p:txBody>
      </p:sp>
      <p:sp>
        <p:nvSpPr>
          <p:cNvPr id="46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sp>
        <p:nvSpPr>
          <p:cNvPr id="466" name="Recast this sampling process as a sequential optimization problem:"/>
          <p:cNvSpPr txBox="1">
            <a:spLocks noGrp="1"/>
          </p:cNvSpPr>
          <p:nvPr>
            <p:ph type="body" sz="quarter" idx="1"/>
          </p:nvPr>
        </p:nvSpPr>
        <p:spPr>
          <a:xfrm>
            <a:off x="1206500" y="3164771"/>
            <a:ext cx="21971000" cy="1286948"/>
          </a:xfrm>
          <a:prstGeom prst="rect">
            <a:avLst/>
          </a:prstGeom>
        </p:spPr>
        <p:txBody>
          <a:bodyPr/>
          <a:lstStyle/>
          <a:p>
            <a:pPr marL="609600" indent="-609600">
              <a:lnSpc>
                <a:spcPct val="100000"/>
              </a:lnSpc>
              <a:spcBef>
                <a:spcPts val="2200"/>
              </a:spcBef>
              <a:buSzPct val="100000"/>
              <a:defRPr>
                <a:latin typeface="Gill Sans Light"/>
                <a:ea typeface="Gill Sans Light"/>
                <a:cs typeface="Gill Sans Light"/>
                <a:sym typeface="Gill Sans Light"/>
              </a:defRPr>
            </a:pPr>
            <a:r>
              <a:t>Recast this sampling process as a </a:t>
            </a:r>
            <a:r>
              <a:rPr>
                <a:solidFill>
                  <a:schemeClr val="accent5">
                    <a:lumOff val="-29866"/>
                  </a:schemeClr>
                </a:solidFill>
              </a:rPr>
              <a:t>sequential optimization problem</a:t>
            </a:r>
            <a:r>
              <a:t>: </a:t>
            </a:r>
          </a:p>
        </p:txBody>
      </p:sp>
      <p:sp>
        <p:nvSpPr>
          <p:cNvPr id="467" name="Constrained-based diffusion"/>
          <p:cNvSpPr txBox="1">
            <a:spLocks noGrp="1"/>
          </p:cNvSpPr>
          <p:nvPr>
            <p:ph type="title"/>
          </p:nvPr>
        </p:nvSpPr>
        <p:spPr>
          <a:prstGeom prst="rect">
            <a:avLst/>
          </a:prstGeom>
        </p:spPr>
        <p:txBody>
          <a:bodyPr/>
          <a:lstStyle/>
          <a:p>
            <a:r>
              <a:t>Constrained-based diffusion</a:t>
            </a:r>
          </a:p>
        </p:txBody>
      </p:sp>
      <p:pic>
        <p:nvPicPr>
          <p:cNvPr id="468" name="Image" descr="Image"/>
          <p:cNvPicPr>
            <a:picLocks noChangeAspect="1"/>
          </p:cNvPicPr>
          <p:nvPr/>
        </p:nvPicPr>
        <p:blipFill>
          <a:blip r:embed="rId2"/>
          <a:stretch>
            <a:fillRect/>
          </a:stretch>
        </p:blipFill>
        <p:spPr>
          <a:xfrm>
            <a:off x="6833040" y="4020607"/>
            <a:ext cx="9392086" cy="1821228"/>
          </a:xfrm>
          <a:prstGeom prst="rect">
            <a:avLst/>
          </a:prstGeom>
          <a:ln w="12700">
            <a:miter lim="400000"/>
          </a:ln>
        </p:spPr>
      </p:pic>
      <p:pic>
        <p:nvPicPr>
          <p:cNvPr id="469" name="Image" descr="Image"/>
          <p:cNvPicPr>
            <a:picLocks noChangeAspect="1"/>
          </p:cNvPicPr>
          <p:nvPr/>
        </p:nvPicPr>
        <p:blipFill>
          <a:blip r:embed="rId3"/>
          <a:stretch>
            <a:fillRect/>
          </a:stretch>
        </p:blipFill>
        <p:spPr>
          <a:xfrm>
            <a:off x="8559534" y="6008838"/>
            <a:ext cx="5939098" cy="1096448"/>
          </a:xfrm>
          <a:prstGeom prst="rect">
            <a:avLst/>
          </a:prstGeom>
          <a:ln w="12700">
            <a:miter lim="400000"/>
          </a:ln>
        </p:spPr>
      </p:pic>
      <p:sp>
        <p:nvSpPr>
          <p:cNvPr id="470" name="where C defines the feasible region determined by the constraints.…"/>
          <p:cNvSpPr txBox="1"/>
          <p:nvPr/>
        </p:nvSpPr>
        <p:spPr>
          <a:xfrm>
            <a:off x="1206500" y="7272290"/>
            <a:ext cx="21971000" cy="50566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a:lnSpc>
                <a:spcPct val="100000"/>
              </a:lnSpc>
            </a:pPr>
            <a:r>
              <a:t>where </a:t>
            </a:r>
            <a:r>
              <a:rPr>
                <a:latin typeface="Gill Sans SemiBold"/>
                <a:ea typeface="Gill Sans SemiBold"/>
                <a:cs typeface="Gill Sans SemiBold"/>
                <a:sym typeface="Gill Sans SemiBold"/>
              </a:rPr>
              <a:t>C </a:t>
            </a:r>
            <a:r>
              <a:t>defines the feasible region determined by the constraints</a:t>
            </a:r>
            <a:r>
              <a:rPr>
                <a:latin typeface="Gill Sans"/>
                <a:ea typeface="Gill Sans"/>
                <a:cs typeface="Gill Sans"/>
                <a:sym typeface="Gill Sans"/>
              </a:rPr>
              <a:t>. </a:t>
            </a:r>
            <a:br>
              <a:rPr>
                <a:latin typeface="Gill Sans"/>
                <a:ea typeface="Gill Sans"/>
                <a:cs typeface="Gill Sans"/>
                <a:sym typeface="Gill Sans"/>
              </a:rPr>
            </a:br>
            <a:endParaRPr>
              <a:latin typeface="Gill Sans"/>
              <a:ea typeface="Gill Sans"/>
              <a:cs typeface="Gill Sans"/>
              <a:sym typeface="Gill Sans"/>
            </a:endParaRPr>
          </a:p>
          <a:p>
            <a:pPr marL="609600" indent="-609600">
              <a:lnSpc>
                <a:spcPct val="100000"/>
              </a:lnSpc>
              <a:buSzPct val="100000"/>
              <a:buChar char="•"/>
            </a:pPr>
            <a:r>
              <a:t>The objective of the reverse diffusion in CADM and traditional score-based models are identical: </a:t>
            </a:r>
            <a:r>
              <a:rPr i="1">
                <a:latin typeface="Gill Sans"/>
                <a:ea typeface="Gill Sans"/>
                <a:cs typeface="Gill Sans"/>
                <a:sym typeface="Gill Sans"/>
              </a:rPr>
              <a:t>learning to </a:t>
            </a:r>
            <a:r>
              <a:rPr i="1">
                <a:solidFill>
                  <a:schemeClr val="accent1">
                    <a:hueOff val="114395"/>
                    <a:lumOff val="-24975"/>
                  </a:schemeClr>
                </a:solidFill>
                <a:latin typeface="Gill Sans"/>
                <a:ea typeface="Gill Sans"/>
                <a:cs typeface="Gill Sans"/>
                <a:sym typeface="Gill Sans"/>
              </a:rPr>
              <a:t>generate samples that</a:t>
            </a:r>
            <a:r>
              <a:rPr i="1">
                <a:latin typeface="Gill Sans"/>
                <a:ea typeface="Gill Sans"/>
                <a:cs typeface="Gill Sans"/>
                <a:sym typeface="Gill Sans"/>
              </a:rPr>
              <a:t> </a:t>
            </a:r>
            <a:r>
              <a:rPr i="1">
                <a:solidFill>
                  <a:schemeClr val="accent1">
                    <a:hueOff val="114395"/>
                    <a:lumOff val="-24975"/>
                  </a:schemeClr>
                </a:solidFill>
                <a:latin typeface="Gill Sans"/>
                <a:ea typeface="Gill Sans"/>
                <a:cs typeface="Gill Sans"/>
                <a:sym typeface="Gill Sans"/>
              </a:rPr>
              <a:t>align with the same learned data distribution</a:t>
            </a:r>
            <a:r>
              <a:t>. </a:t>
            </a:r>
          </a:p>
          <a:p>
            <a:pPr marL="609600" indent="-609600">
              <a:lnSpc>
                <a:spcPct val="100000"/>
              </a:lnSpc>
              <a:buSzPct val="100000"/>
              <a:buChar char="•"/>
            </a:pPr>
            <a:r>
              <a:t>Gradients of the objective function are redly available through the score network!</a:t>
            </a:r>
          </a:p>
        </p:txBody>
      </p:sp>
      <p:grpSp>
        <p:nvGrpSpPr>
          <p:cNvPr id="477" name="Group"/>
          <p:cNvGrpSpPr/>
          <p:nvPr/>
        </p:nvGrpSpPr>
        <p:grpSpPr>
          <a:xfrm>
            <a:off x="16303917" y="4422802"/>
            <a:ext cx="6971723" cy="2235496"/>
            <a:chOff x="-52070" y="-276974"/>
            <a:chExt cx="6971722" cy="2235495"/>
          </a:xfrm>
        </p:grpSpPr>
        <p:sp>
          <p:nvSpPr>
            <p:cNvPr id="471" name="Rectangle"/>
            <p:cNvSpPr/>
            <p:nvPr/>
          </p:nvSpPr>
          <p:spPr>
            <a:xfrm>
              <a:off x="15408" y="842200"/>
              <a:ext cx="6904245" cy="1116321"/>
            </a:xfrm>
            <a:prstGeom prst="rect">
              <a:avLst/>
            </a:prstGeom>
            <a:solidFill>
              <a:schemeClr val="accent4">
                <a:hueOff val="348544"/>
                <a:lumOff val="7139"/>
                <a:alpha val="30344"/>
              </a:schemeClr>
            </a:solidFill>
            <a:ln w="12700" cap="flat">
              <a:solidFill>
                <a:srgbClr val="000000">
                  <a:alpha val="30344"/>
                </a:srgb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pic>
          <p:nvPicPr>
            <p:cNvPr id="472" name="Image" descr="Image"/>
            <p:cNvPicPr>
              <a:picLocks noChangeAspect="1"/>
            </p:cNvPicPr>
            <p:nvPr/>
          </p:nvPicPr>
          <p:blipFill>
            <a:blip r:embed="rId4"/>
            <a:stretch>
              <a:fillRect/>
            </a:stretch>
          </p:blipFill>
          <p:spPr>
            <a:xfrm>
              <a:off x="17028" y="912050"/>
              <a:ext cx="6613540" cy="824879"/>
            </a:xfrm>
            <a:prstGeom prst="rect">
              <a:avLst/>
            </a:prstGeom>
            <a:ln w="12700" cap="flat">
              <a:noFill/>
              <a:miter lim="400000"/>
            </a:ln>
            <a:effectLst/>
          </p:spPr>
        </p:pic>
        <p:pic>
          <p:nvPicPr>
            <p:cNvPr id="473" name="Line Line" descr="Line Line"/>
            <p:cNvPicPr>
              <a:picLocks/>
            </p:cNvPicPr>
            <p:nvPr/>
          </p:nvPicPr>
          <p:blipFill>
            <a:blip r:embed="rId5"/>
            <a:stretch>
              <a:fillRect/>
            </a:stretch>
          </p:blipFill>
          <p:spPr>
            <a:xfrm rot="10800000">
              <a:off x="-52070" y="-276975"/>
              <a:ext cx="2027447" cy="584962"/>
            </a:xfrm>
            <a:prstGeom prst="rect">
              <a:avLst/>
            </a:prstGeom>
            <a:effectLst/>
          </p:spPr>
        </p:pic>
        <p:pic>
          <p:nvPicPr>
            <p:cNvPr id="475" name="Line Line" descr="Line Line"/>
            <p:cNvPicPr>
              <a:picLocks/>
            </p:cNvPicPr>
            <p:nvPr/>
          </p:nvPicPr>
          <p:blipFill>
            <a:blip r:embed="rId6"/>
            <a:stretch>
              <a:fillRect/>
            </a:stretch>
          </p:blipFill>
          <p:spPr>
            <a:xfrm rot="16200000">
              <a:off x="1480042" y="310838"/>
              <a:ext cx="824879" cy="101601"/>
            </a:xfrm>
            <a:prstGeom prst="rect">
              <a:avLst/>
            </a:prstGeom>
            <a:effectLst/>
          </p:spPr>
        </p:pic>
      </p:grpSp>
      <p:sp>
        <p:nvSpPr>
          <p:cNvPr id="478" name="Rectangle"/>
          <p:cNvSpPr/>
          <p:nvPr/>
        </p:nvSpPr>
        <p:spPr>
          <a:xfrm>
            <a:off x="17745304" y="10762762"/>
            <a:ext cx="3643239" cy="624279"/>
          </a:xfrm>
          <a:prstGeom prst="rect">
            <a:avLst/>
          </a:prstGeom>
          <a:solidFill>
            <a:schemeClr val="accent4">
              <a:hueOff val="348544"/>
              <a:lumOff val="7139"/>
              <a:alpha val="30344"/>
            </a:schemeClr>
          </a:solidFill>
          <a:ln w="12700">
            <a:solidFill>
              <a:srgbClr val="000000">
                <a:alpha val="30344"/>
              </a:srgbClr>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pic>
        <p:nvPicPr>
          <p:cNvPr id="479" name="Screen Shot 2022-10-17 at 11.39.00 AM.png" descr="Screen Shot 2022-10-17 at 11.39.00 AM.png">
            <a:hlinkClick r:id="rId7"/>
          </p:cNvPr>
          <p:cNvPicPr>
            <a:picLocks noChangeAspect="1"/>
          </p:cNvPicPr>
          <p:nvPr/>
        </p:nvPicPr>
        <p:blipFill>
          <a:blip r:embed="rId8"/>
          <a:stretch>
            <a:fillRect/>
          </a:stretch>
        </p:blipFill>
        <p:spPr>
          <a:xfrm>
            <a:off x="11256398" y="13122364"/>
            <a:ext cx="362129" cy="322980"/>
          </a:xfrm>
          <a:prstGeom prst="rect">
            <a:avLst/>
          </a:prstGeom>
          <a:ln w="12700">
            <a:miter lim="400000"/>
          </a:ln>
        </p:spPr>
      </p:pic>
      <p:sp>
        <p:nvSpPr>
          <p:cNvPr id="480" name="NeurIPS:24">
            <a:hlinkClick r:id="rId7"/>
          </p:cNvPr>
          <p:cNvSpPr txBox="1"/>
          <p:nvPr/>
        </p:nvSpPr>
        <p:spPr>
          <a:xfrm>
            <a:off x="11660900" y="13055254"/>
            <a:ext cx="1466702"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400"/>
            </a:lvl1pPr>
          </a:lstStyle>
          <a:p>
            <a:r>
              <a:t>NeurIPS:24</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6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470">
                                            <p:bg/>
                                          </p:spTgt>
                                        </p:tgtEl>
                                        <p:attrNameLst>
                                          <p:attrName>style.visibility</p:attrName>
                                        </p:attrNameLst>
                                      </p:cBhvr>
                                      <p:to>
                                        <p:strVal val="visible"/>
                                      </p:to>
                                    </p:set>
                                  </p:childTnLst>
                                </p:cTn>
                              </p:par>
                              <p:par>
                                <p:cTn id="10" presetID="1" presetClass="entr" presetSubtype="0" fill="hold" grpId="2" nodeType="withEffect">
                                  <p:stCondLst>
                                    <p:cond delay="0"/>
                                  </p:stCondLst>
                                  <p:iterate>
                                    <p:tmAbs val="0"/>
                                  </p:iterate>
                                  <p:childTnLst>
                                    <p:set>
                                      <p:cBhvr>
                                        <p:cTn id="11" fill="hold"/>
                                        <p:tgtEl>
                                          <p:spTgt spid="470">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2" nodeType="clickEffect">
                                  <p:stCondLst>
                                    <p:cond delay="0"/>
                                  </p:stCondLst>
                                  <p:iterate>
                                    <p:tmAbs val="0"/>
                                  </p:iterate>
                                  <p:childTnLst>
                                    <p:set>
                                      <p:cBhvr>
                                        <p:cTn id="15" fill="hold"/>
                                        <p:tgtEl>
                                          <p:spTgt spid="470">
                                            <p:txEl>
                                              <p:pRg st="1" end="1"/>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2" nodeType="afterEffect">
                                  <p:stCondLst>
                                    <p:cond delay="0"/>
                                  </p:stCondLst>
                                  <p:iterate>
                                    <p:tmAbs val="0"/>
                                  </p:iterate>
                                  <p:childTnLst>
                                    <p:set>
                                      <p:cBhvr>
                                        <p:cTn id="18" fill="hold"/>
                                        <p:tgtEl>
                                          <p:spTgt spid="470">
                                            <p:txEl>
                                              <p:pRg st="2" end="2"/>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3" nodeType="afterEffect">
                                  <p:stCondLst>
                                    <p:cond delay="0"/>
                                  </p:stCondLst>
                                  <p:iterate>
                                    <p:tmAbs val="0"/>
                                  </p:iterate>
                                  <p:childTnLst>
                                    <p:set>
                                      <p:cBhvr>
                                        <p:cTn id="21" fill="hold"/>
                                        <p:tgtEl>
                                          <p:spTgt spid="478"/>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4" nodeType="afterEffect">
                                  <p:stCondLst>
                                    <p:cond delay="0"/>
                                  </p:stCondLst>
                                  <p:iterate>
                                    <p:tmAbs val="0"/>
                                  </p:iterate>
                                  <p:childTnLst>
                                    <p:set>
                                      <p:cBhvr>
                                        <p:cTn id="24" fill="hold"/>
                                        <p:tgtEl>
                                          <p:spTgt spid="4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9" grpId="1" animBg="1" advAuto="0"/>
      <p:bldP spid="470" grpId="2" build="p" bldLvl="5" animBg="1" advAuto="0"/>
      <p:bldP spid="477" grpId="4" animBg="1" advAuto="0"/>
      <p:bldP spid="478" grpId="3"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 name="Key idea"/>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Key idea</a:t>
            </a:r>
          </a:p>
        </p:txBody>
      </p:sp>
      <p:sp>
        <p:nvSpPr>
          <p:cNvPr id="48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sp>
        <p:nvSpPr>
          <p:cNvPr id="484" name="Constrained-based diffusion"/>
          <p:cNvSpPr txBox="1">
            <a:spLocks noGrp="1"/>
          </p:cNvSpPr>
          <p:nvPr>
            <p:ph type="title"/>
          </p:nvPr>
        </p:nvSpPr>
        <p:spPr>
          <a:prstGeom prst="rect">
            <a:avLst/>
          </a:prstGeom>
        </p:spPr>
        <p:txBody>
          <a:bodyPr/>
          <a:lstStyle/>
          <a:p>
            <a:r>
              <a:t>Constrained-based diffusion</a:t>
            </a:r>
          </a:p>
        </p:txBody>
      </p:sp>
      <p:pic>
        <p:nvPicPr>
          <p:cNvPr id="485" name="Image" descr="Image"/>
          <p:cNvPicPr>
            <a:picLocks noChangeAspect="1"/>
          </p:cNvPicPr>
          <p:nvPr/>
        </p:nvPicPr>
        <p:blipFill>
          <a:blip r:embed="rId2"/>
          <a:stretch>
            <a:fillRect/>
          </a:stretch>
        </p:blipFill>
        <p:spPr>
          <a:xfrm>
            <a:off x="4096066" y="8481705"/>
            <a:ext cx="17239700" cy="4578236"/>
          </a:xfrm>
          <a:prstGeom prst="rect">
            <a:avLst/>
          </a:prstGeom>
          <a:ln w="12700">
            <a:miter lim="400000"/>
          </a:ln>
        </p:spPr>
      </p:pic>
      <p:sp>
        <p:nvSpPr>
          <p:cNvPr id="486" name="To maintain feasibility during the iterative updates, we apply a projection-based approach:"/>
          <p:cNvSpPr txBox="1"/>
          <p:nvPr/>
        </p:nvSpPr>
        <p:spPr>
          <a:xfrm>
            <a:off x="1445451" y="3532379"/>
            <a:ext cx="21971001" cy="22283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609600" indent="-609600">
              <a:lnSpc>
                <a:spcPct val="100000"/>
              </a:lnSpc>
              <a:buSzPct val="100000"/>
              <a:buChar char="•"/>
            </a:lvl1pPr>
          </a:lstStyle>
          <a:p>
            <a:r>
              <a:t>To maintain feasibility during the iterative updates, we apply a projection-based approach:</a:t>
            </a:r>
          </a:p>
        </p:txBody>
      </p:sp>
      <p:pic>
        <p:nvPicPr>
          <p:cNvPr id="487" name="Image" descr="Image"/>
          <p:cNvPicPr>
            <a:picLocks noChangeAspect="1"/>
          </p:cNvPicPr>
          <p:nvPr/>
        </p:nvPicPr>
        <p:blipFill>
          <a:blip r:embed="rId3"/>
          <a:stretch>
            <a:fillRect/>
          </a:stretch>
        </p:blipFill>
        <p:spPr>
          <a:xfrm>
            <a:off x="2885202" y="4503670"/>
            <a:ext cx="19661428" cy="1790445"/>
          </a:xfrm>
          <a:prstGeom prst="rect">
            <a:avLst/>
          </a:prstGeom>
          <a:ln w="12700">
            <a:miter lim="400000"/>
          </a:ln>
        </p:spPr>
      </p:pic>
      <p:grpSp>
        <p:nvGrpSpPr>
          <p:cNvPr id="491" name="Group"/>
          <p:cNvGrpSpPr/>
          <p:nvPr/>
        </p:nvGrpSpPr>
        <p:grpSpPr>
          <a:xfrm>
            <a:off x="6572915" y="5190073"/>
            <a:ext cx="7132437" cy="2905238"/>
            <a:chOff x="0" y="0"/>
            <a:chExt cx="7132435" cy="2905237"/>
          </a:xfrm>
        </p:grpSpPr>
        <p:sp>
          <p:nvSpPr>
            <p:cNvPr id="488" name="Rectangle"/>
            <p:cNvSpPr/>
            <p:nvPr/>
          </p:nvSpPr>
          <p:spPr>
            <a:xfrm>
              <a:off x="0" y="0"/>
              <a:ext cx="744253" cy="901300"/>
            </a:xfrm>
            <a:prstGeom prst="rect">
              <a:avLst/>
            </a:prstGeom>
            <a:solidFill>
              <a:schemeClr val="accent4">
                <a:hueOff val="348544"/>
                <a:lumOff val="7139"/>
                <a:alpha val="30344"/>
              </a:schemeClr>
            </a:solidFill>
            <a:ln w="12700" cap="flat">
              <a:solidFill>
                <a:srgbClr val="000000">
                  <a:alpha val="30344"/>
                </a:srgb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489" name="Rectangle"/>
            <p:cNvSpPr/>
            <p:nvPr/>
          </p:nvSpPr>
          <p:spPr>
            <a:xfrm>
              <a:off x="254020" y="1309671"/>
              <a:ext cx="6616780" cy="1420464"/>
            </a:xfrm>
            <a:prstGeom prst="rect">
              <a:avLst/>
            </a:prstGeom>
            <a:solidFill>
              <a:schemeClr val="accent4">
                <a:hueOff val="348544"/>
                <a:lumOff val="7139"/>
                <a:alpha val="30344"/>
              </a:schemeClr>
            </a:solidFill>
            <a:ln w="12700" cap="flat">
              <a:solidFill>
                <a:srgbClr val="000000">
                  <a:alpha val="30344"/>
                </a:srgb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pic>
          <p:nvPicPr>
            <p:cNvPr id="490" name="Image" descr="Image"/>
            <p:cNvPicPr>
              <a:picLocks noChangeAspect="1"/>
            </p:cNvPicPr>
            <p:nvPr/>
          </p:nvPicPr>
          <p:blipFill>
            <a:blip r:embed="rId4"/>
            <a:stretch>
              <a:fillRect/>
            </a:stretch>
          </p:blipFill>
          <p:spPr>
            <a:xfrm>
              <a:off x="93983" y="1134569"/>
              <a:ext cx="7038453" cy="1770669"/>
            </a:xfrm>
            <a:prstGeom prst="rect">
              <a:avLst/>
            </a:prstGeom>
            <a:ln w="12700" cap="flat">
              <a:noFill/>
              <a:miter lim="400000"/>
            </a:ln>
            <a:effectLst/>
          </p:spPr>
        </p:pic>
      </p:grpSp>
      <p:sp>
        <p:nvSpPr>
          <p:cNvPr id="492" name="(in the case of “continuous” data)"/>
          <p:cNvSpPr txBox="1"/>
          <p:nvPr/>
        </p:nvSpPr>
        <p:spPr>
          <a:xfrm>
            <a:off x="13953678" y="6778331"/>
            <a:ext cx="673665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nSpc>
                <a:spcPct val="100000"/>
              </a:lnSpc>
              <a:defRPr sz="4000"/>
            </a:lvl1pPr>
          </a:lstStyle>
          <a:p>
            <a:r>
              <a:t>(in the case of “continuous” data)</a:t>
            </a:r>
          </a:p>
        </p:txBody>
      </p:sp>
      <p:grpSp>
        <p:nvGrpSpPr>
          <p:cNvPr id="500" name="Group"/>
          <p:cNvGrpSpPr/>
          <p:nvPr/>
        </p:nvGrpSpPr>
        <p:grpSpPr>
          <a:xfrm>
            <a:off x="7304050" y="8110322"/>
            <a:ext cx="5670166" cy="4376348"/>
            <a:chOff x="0" y="0"/>
            <a:chExt cx="5670165" cy="4376346"/>
          </a:xfrm>
        </p:grpSpPr>
        <p:sp>
          <p:nvSpPr>
            <p:cNvPr id="493" name="Line"/>
            <p:cNvSpPr/>
            <p:nvPr/>
          </p:nvSpPr>
          <p:spPr>
            <a:xfrm>
              <a:off x="2773988" y="2540855"/>
              <a:ext cx="1835492" cy="1835492"/>
            </a:xfrm>
            <a:prstGeom prst="line">
              <a:avLst/>
            </a:prstGeom>
            <a:noFill/>
            <a:ln w="63500" cap="flat">
              <a:solidFill>
                <a:schemeClr val="accent1">
                  <a:hueOff val="114395"/>
                  <a:lumOff val="-24975"/>
                </a:schemeClr>
              </a:solidFill>
              <a:custDash>
                <a:ds d="200000" sp="200000"/>
              </a:custDash>
              <a:miter lim="400000"/>
            </a:ln>
            <a:effectLst/>
          </p:spPr>
          <p:txBody>
            <a:bodyPr wrap="square" lIns="50800" tIns="50800" rIns="50800" bIns="50800" numCol="1" anchor="ctr">
              <a:noAutofit/>
            </a:bodyPr>
            <a:lstStyle/>
            <a:p>
              <a:endParaRPr/>
            </a:p>
          </p:txBody>
        </p:sp>
        <p:sp>
          <p:nvSpPr>
            <p:cNvPr id="494" name="Shape"/>
            <p:cNvSpPr/>
            <p:nvPr/>
          </p:nvSpPr>
          <p:spPr>
            <a:xfrm>
              <a:off x="0" y="365219"/>
              <a:ext cx="5670166" cy="375173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8107" y="12725"/>
                  </a:lnTo>
                  <a:lnTo>
                    <a:pt x="0" y="21600"/>
                  </a:lnTo>
                  <a:lnTo>
                    <a:pt x="3658" y="8654"/>
                  </a:lnTo>
                  <a:lnTo>
                    <a:pt x="21600" y="0"/>
                  </a:lnTo>
                  <a:close/>
                </a:path>
              </a:pathLst>
            </a:custGeom>
            <a:solidFill>
              <a:schemeClr val="accent1">
                <a:lumOff val="16847"/>
                <a:alpha val="20000"/>
              </a:schemeClr>
            </a:solidFill>
            <a:ln w="12700" cap="flat">
              <a:solidFill>
                <a:schemeClr val="accent1">
                  <a:hueOff val="114395"/>
                  <a:lumOff val="-24975"/>
                </a:scheme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latin typeface="+mn-lt"/>
                  <a:ea typeface="+mn-ea"/>
                  <a:cs typeface="+mn-cs"/>
                  <a:sym typeface="Helvetica Neue"/>
                </a:defRPr>
              </a:pPr>
              <a:endParaRPr/>
            </a:p>
          </p:txBody>
        </p:sp>
        <mc:AlternateContent xmlns:mc="http://schemas.openxmlformats.org/markup-compatibility/2006">
          <mc:Choice xmlns:a14="http://schemas.microsoft.com/office/drawing/2010/main" Requires="a14">
            <p:sp>
              <p:nvSpPr>
                <p:cNvPr id="495" name="Rectangle"/>
                <p:cNvSpPr txBox="1"/>
                <p:nvPr/>
              </p:nvSpPr>
              <p:spPr>
                <a:xfrm>
                  <a:off x="409153" y="0"/>
                  <a:ext cx="554088" cy="946582"/>
                </a:xfrm>
                <a:prstGeom prst="rect">
                  <a:avLst/>
                </a:prstGeom>
                <a:no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square" lIns="50800" tIns="50800" rIns="50800" bIns="50800" numCol="1" anchor="ctr">
                  <a:noAutofit/>
                </a:bodyPr>
                <a:lstStyle>
                  <a:lvl1pPr>
                    <a:defRPr b="1">
                      <a:solidFill>
                        <a:schemeClr val="accent1">
                          <a:hueOff val="114395"/>
                          <a:lumOff val="-24975"/>
                        </a:schemeClr>
                      </a:solidFill>
                      <a:latin typeface="Gill Sans"/>
                      <a:ea typeface="Gill Sans"/>
                      <a:cs typeface="Gill Sans"/>
                      <a:sym typeface="Gill Sans"/>
                    </a:defRPr>
                  </a:lvl1pPr>
                </a:lstStyle>
                <a:p>
                  <a:pPr/>
                  <a14:m>
                    <m:oMathPara xmlns:m="http://schemas.openxmlformats.org/officeDocument/2006/math">
                      <m:oMathParaPr>
                        <m:jc m:val="left"/>
                      </m:oMathParaPr>
                      <m:oMath xmlns:m="http://schemas.openxmlformats.org/officeDocument/2006/math">
                        <m:sSub>
                          <m:sSubPr>
                            <m:ctrlPr>
                              <a:rPr sz="4750">
                                <a:solidFill>
                                  <a:srgbClr val="004C7F"/>
                                </a:solidFill>
                                <a:latin typeface="Cambria Math" panose="02040503050406030204" pitchFamily="18" charset="0"/>
                              </a:rPr>
                            </m:ctrlPr>
                          </m:sSubPr>
                          <m:e>
                            <m:r>
                              <a:rPr sz="4750" i="1">
                                <a:solidFill>
                                  <a:srgbClr val="004C7F"/>
                                </a:solidFill>
                                <a:latin typeface="Cambria Math" panose="02040503050406030204" pitchFamily="18" charset="0"/>
                              </a:rPr>
                              <m:t>𝑥</m:t>
                            </m:r>
                          </m:e>
                          <m:sub>
                            <m:r>
                              <a:rPr sz="4750" i="1">
                                <a:solidFill>
                                  <a:srgbClr val="004C7F"/>
                                </a:solidFill>
                                <a:latin typeface="Cambria Math" panose="02040503050406030204" pitchFamily="18" charset="0"/>
                              </a:rPr>
                              <m:t>𝑡</m:t>
                            </m:r>
                          </m:sub>
                        </m:sSub>
                      </m:oMath>
                    </m:oMathPara>
                  </a14:m>
                  <a:endParaRPr>
                    <a:solidFill>
                      <a:srgbClr val="004D80"/>
                    </a:solidFill>
                  </a:endParaRPr>
                </a:p>
              </p:txBody>
            </p:sp>
          </mc:Choice>
          <mc:Fallback>
            <p:sp>
              <p:nvSpPr>
                <p:cNvPr id="495" name="Rectangle"/>
                <p:cNvSpPr txBox="1">
                  <a:spLocks noRot="1" noChangeAspect="1" noMove="1" noResize="1" noEditPoints="1" noAdjustHandles="1" noChangeArrowheads="1" noChangeShapeType="1" noTextEdit="1"/>
                </p:cNvSpPr>
                <p:nvPr/>
              </p:nvSpPr>
              <p:spPr>
                <a:xfrm>
                  <a:off x="409153" y="0"/>
                  <a:ext cx="554088" cy="946582"/>
                </a:xfrm>
                <a:prstGeom prst="rect">
                  <a:avLst/>
                </a:prstGeom>
                <a:blipFill>
                  <a:blip r:embed="rId5"/>
                  <a:stretch>
                    <a:fillRect l="-18182" r="-27273"/>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sp>
          <p:nvSpPr>
            <p:cNvPr id="496" name="Line"/>
            <p:cNvSpPr/>
            <p:nvPr/>
          </p:nvSpPr>
          <p:spPr>
            <a:xfrm>
              <a:off x="1095830" y="862698"/>
              <a:ext cx="1423972" cy="1423972"/>
            </a:xfrm>
            <a:prstGeom prst="line">
              <a:avLst/>
            </a:prstGeom>
            <a:noFill/>
            <a:ln w="63500" cap="flat">
              <a:solidFill>
                <a:schemeClr val="accent5">
                  <a:lumOff val="-29866"/>
                </a:schemeClr>
              </a:solidFill>
              <a:prstDash val="solid"/>
              <a:miter lim="400000"/>
              <a:tailEnd type="triangle" w="med" len="med"/>
            </a:ln>
            <a:effectLst/>
          </p:spPr>
          <p:txBody>
            <a:bodyPr wrap="square" lIns="50800" tIns="50800" rIns="50800" bIns="50800" numCol="1" anchor="ctr">
              <a:noAutofit/>
            </a:bodyPr>
            <a:lstStyle/>
            <a:p>
              <a:endParaRPr/>
            </a:p>
          </p:txBody>
        </p:sp>
        <p:sp>
          <p:nvSpPr>
            <p:cNvPr id="497" name="Circle"/>
            <p:cNvSpPr/>
            <p:nvPr/>
          </p:nvSpPr>
          <p:spPr>
            <a:xfrm>
              <a:off x="2502703" y="2260299"/>
              <a:ext cx="227336" cy="227336"/>
            </a:xfrm>
            <a:prstGeom prst="ellipse">
              <a:avLst/>
            </a:prstGeom>
            <a:solidFill>
              <a:schemeClr val="accent5">
                <a:lumOff val="-29866"/>
              </a:schemeClr>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498" name="Circle"/>
            <p:cNvSpPr/>
            <p:nvPr/>
          </p:nvSpPr>
          <p:spPr>
            <a:xfrm>
              <a:off x="889447" y="693400"/>
              <a:ext cx="227336" cy="227336"/>
            </a:xfrm>
            <a:prstGeom prst="ellipse">
              <a:avLst/>
            </a:prstGeom>
            <a:solidFill>
              <a:schemeClr val="accent1">
                <a:hueOff val="114395"/>
                <a:lumOff val="-24975"/>
              </a:schemeClr>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mc:AlternateContent xmlns:mc="http://schemas.openxmlformats.org/markup-compatibility/2006">
          <mc:Choice xmlns:a14="http://schemas.microsoft.com/office/drawing/2010/main" Requires="a14">
            <p:sp>
              <p:nvSpPr>
                <p:cNvPr id="499" name="Rectangle"/>
                <p:cNvSpPr txBox="1"/>
                <p:nvPr/>
              </p:nvSpPr>
              <p:spPr>
                <a:xfrm>
                  <a:off x="1320512" y="2411722"/>
                  <a:ext cx="1362416" cy="740389"/>
                </a:xfrm>
                <a:prstGeom prst="rect">
                  <a:avLst/>
                </a:prstGeom>
                <a:no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square" lIns="50800" tIns="50800" rIns="50800" bIns="50800" numCol="1" anchor="ctr">
                  <a:noAutofit/>
                </a:bodyPr>
                <a:lstStyle>
                  <a:lvl1pPr>
                    <a:defRPr sz="3600" b="1">
                      <a:solidFill>
                        <a:schemeClr val="accent1">
                          <a:hueOff val="114395"/>
                          <a:lumOff val="-24975"/>
                        </a:schemeClr>
                      </a:solidFill>
                      <a:latin typeface="Gill Sans"/>
                      <a:ea typeface="Gill Sans"/>
                      <a:cs typeface="Gill Sans"/>
                      <a:sym typeface="Gill Sans"/>
                    </a:defRPr>
                  </a:lvl1pPr>
                </a:lstStyle>
                <a:p>
                  <a:pPr/>
                  <a14:m>
                    <m:oMathPara xmlns:m="http://schemas.openxmlformats.org/officeDocument/2006/math">
                      <m:oMathParaPr>
                        <m:jc m:val="left"/>
                      </m:oMathParaPr>
                      <m:oMath xmlns:m="http://schemas.openxmlformats.org/officeDocument/2006/math">
                        <m:sSub>
                          <m:sSubPr>
                            <m:ctrlPr>
                              <a:rPr sz="3850">
                                <a:solidFill>
                                  <a:srgbClr val="004C7F"/>
                                </a:solidFill>
                                <a:latin typeface="Cambria Math" panose="02040503050406030204" pitchFamily="18" charset="0"/>
                              </a:rPr>
                            </m:ctrlPr>
                          </m:sSubPr>
                          <m:e>
                            <m:r>
                              <a:rPr sz="3850" i="1">
                                <a:solidFill>
                                  <a:srgbClr val="004C7F"/>
                                </a:solidFill>
                                <a:latin typeface="Cambria Math" panose="02040503050406030204" pitchFamily="18" charset="0"/>
                              </a:rPr>
                              <m:t>𝑃</m:t>
                            </m:r>
                          </m:e>
                          <m:sub>
                            <m:r>
                              <a:rPr sz="3850" i="1">
                                <a:solidFill>
                                  <a:srgbClr val="004C7F"/>
                                </a:solidFill>
                                <a:latin typeface="Cambria Math" panose="02040503050406030204" pitchFamily="18" charset="0"/>
                              </a:rPr>
                              <m:t>𝐶</m:t>
                            </m:r>
                          </m:sub>
                        </m:sSub>
                        <m:r>
                          <a:rPr sz="3850" i="1">
                            <a:solidFill>
                              <a:srgbClr val="004C7F"/>
                            </a:solidFill>
                            <a:latin typeface="Cambria Math" panose="02040503050406030204" pitchFamily="18" charset="0"/>
                          </a:rPr>
                          <m:t>(</m:t>
                        </m:r>
                        <m:sSub>
                          <m:sSubPr>
                            <m:ctrlPr>
                              <a:rPr sz="3850" i="1">
                                <a:solidFill>
                                  <a:srgbClr val="004C7F"/>
                                </a:solidFill>
                                <a:latin typeface="Cambria Math" panose="02040503050406030204" pitchFamily="18" charset="0"/>
                              </a:rPr>
                            </m:ctrlPr>
                          </m:sSubPr>
                          <m:e>
                            <m:r>
                              <a:rPr sz="3850" i="1">
                                <a:solidFill>
                                  <a:srgbClr val="004C7F"/>
                                </a:solidFill>
                                <a:latin typeface="Cambria Math" panose="02040503050406030204" pitchFamily="18" charset="0"/>
                              </a:rPr>
                              <m:t>𝑥</m:t>
                            </m:r>
                          </m:e>
                          <m:sub>
                            <m:r>
                              <a:rPr sz="3850" i="1">
                                <a:solidFill>
                                  <a:srgbClr val="004C7F"/>
                                </a:solidFill>
                                <a:latin typeface="Cambria Math" panose="02040503050406030204" pitchFamily="18" charset="0"/>
                              </a:rPr>
                              <m:t>𝑡</m:t>
                            </m:r>
                          </m:sub>
                        </m:sSub>
                        <m:r>
                          <a:rPr sz="3850" i="1">
                            <a:solidFill>
                              <a:srgbClr val="004C7F"/>
                            </a:solidFill>
                            <a:latin typeface="Cambria Math" panose="02040503050406030204" pitchFamily="18" charset="0"/>
                          </a:rPr>
                          <m:t>)</m:t>
                        </m:r>
                      </m:oMath>
                    </m:oMathPara>
                  </a14:m>
                  <a:endParaRPr>
                    <a:solidFill>
                      <a:srgbClr val="004D80"/>
                    </a:solidFill>
                  </a:endParaRPr>
                </a:p>
              </p:txBody>
            </p:sp>
          </mc:Choice>
          <mc:Fallback>
            <p:sp>
              <p:nvSpPr>
                <p:cNvPr id="499" name="Rectangle"/>
                <p:cNvSpPr txBox="1">
                  <a:spLocks noRot="1" noChangeAspect="1" noMove="1" noResize="1" noEditPoints="1" noAdjustHandles="1" noChangeArrowheads="1" noChangeShapeType="1" noTextEdit="1"/>
                </p:cNvSpPr>
                <p:nvPr/>
              </p:nvSpPr>
              <p:spPr>
                <a:xfrm>
                  <a:off x="1320512" y="2411722"/>
                  <a:ext cx="1362416" cy="740389"/>
                </a:xfrm>
                <a:prstGeom prst="rect">
                  <a:avLst/>
                </a:prstGeom>
                <a:blipFill>
                  <a:blip r:embed="rId6"/>
                  <a:stretch>
                    <a:fillRect l="-8333" r="-19444" b="-11667"/>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grpSp>
      <p:pic>
        <p:nvPicPr>
          <p:cNvPr id="501" name="Screen Shot 2022-10-17 at 11.39.00 AM.png" descr="Screen Shot 2022-10-17 at 11.39.00 AM.png">
            <a:hlinkClick r:id="rId7"/>
          </p:cNvPr>
          <p:cNvPicPr>
            <a:picLocks noChangeAspect="1"/>
          </p:cNvPicPr>
          <p:nvPr/>
        </p:nvPicPr>
        <p:blipFill>
          <a:blip r:embed="rId8"/>
          <a:stretch>
            <a:fillRect/>
          </a:stretch>
        </p:blipFill>
        <p:spPr>
          <a:xfrm>
            <a:off x="11256398" y="13122364"/>
            <a:ext cx="362129" cy="322980"/>
          </a:xfrm>
          <a:prstGeom prst="rect">
            <a:avLst/>
          </a:prstGeom>
          <a:ln w="12700">
            <a:miter lim="400000"/>
          </a:ln>
        </p:spPr>
      </p:pic>
      <p:sp>
        <p:nvSpPr>
          <p:cNvPr id="502" name="NeurIPS:24">
            <a:hlinkClick r:id="rId7"/>
          </p:cNvPr>
          <p:cNvSpPr txBox="1"/>
          <p:nvPr/>
        </p:nvSpPr>
        <p:spPr>
          <a:xfrm>
            <a:off x="11660900" y="13055254"/>
            <a:ext cx="1466702"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400"/>
            </a:lvl1pPr>
          </a:lstStyle>
          <a:p>
            <a:r>
              <a:t>NeurIPS:24</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9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492"/>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3" nodeType="afterEffect">
                                  <p:stCondLst>
                                    <p:cond delay="1000"/>
                                  </p:stCondLst>
                                  <p:iterate>
                                    <p:tmAbs val="0"/>
                                  </p:iterate>
                                  <p:childTnLst>
                                    <p:set>
                                      <p:cBhvr>
                                        <p:cTn id="12" fill="hold"/>
                                        <p:tgtEl>
                                          <p:spTgt spid="50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4" nodeType="clickEffect">
                                  <p:stCondLst>
                                    <p:cond delay="0"/>
                                  </p:stCondLst>
                                  <p:iterate>
                                    <p:tmAbs val="0"/>
                                  </p:iterate>
                                  <p:childTnLst>
                                    <p:set>
                                      <p:cBhvr>
                                        <p:cTn id="16" fill="hold"/>
                                        <p:tgtEl>
                                          <p:spTgt spid="485"/>
                                        </p:tgtEl>
                                        <p:attrNameLst>
                                          <p:attrName>style.visibility</p:attrName>
                                        </p:attrNameLst>
                                      </p:cBhvr>
                                      <p:to>
                                        <p:strVal val="visible"/>
                                      </p:to>
                                    </p:set>
                                  </p:childTnLst>
                                </p:cTn>
                              </p:par>
                            </p:childTnLst>
                          </p:cTn>
                        </p:par>
                        <p:par>
                          <p:cTn id="17" fill="hold">
                            <p:stCondLst>
                              <p:cond delay="0"/>
                            </p:stCondLst>
                            <p:childTnLst>
                              <p:par>
                                <p:cTn id="18" presetID="1" presetClass="exit" presetSubtype="0" fill="hold" grpId="5" nodeType="afterEffect">
                                  <p:stCondLst>
                                    <p:cond delay="0"/>
                                  </p:stCondLst>
                                  <p:iterate>
                                    <p:tmAbs val="0"/>
                                  </p:iterate>
                                  <p:childTnLst>
                                    <p:set>
                                      <p:cBhvr>
                                        <p:cTn id="19" fill="hold">
                                          <p:stCondLst>
                                            <p:cond delay="0"/>
                                          </p:stCondLst>
                                        </p:cTn>
                                        <p:tgtEl>
                                          <p:spTgt spid="5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 grpId="4" animBg="1" advAuto="0"/>
      <p:bldP spid="491" grpId="1" animBg="1" advAuto="0"/>
      <p:bldP spid="492" grpId="2" animBg="1" advAuto="0"/>
      <p:bldP spid="500" grpId="3" animBg="1" advAuto="0"/>
      <p:bldP spid="500" grpId="5"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 name="Constrained-based diffusion"/>
          <p:cNvSpPr txBox="1">
            <a:spLocks noGrp="1"/>
          </p:cNvSpPr>
          <p:nvPr>
            <p:ph type="title"/>
          </p:nvPr>
        </p:nvSpPr>
        <p:spPr>
          <a:prstGeom prst="rect">
            <a:avLst/>
          </a:prstGeom>
        </p:spPr>
        <p:txBody>
          <a:bodyPr/>
          <a:lstStyle/>
          <a:p>
            <a:r>
              <a:t>Constrained-based diffusion</a:t>
            </a:r>
          </a:p>
        </p:txBody>
      </p:sp>
      <p:sp>
        <p:nvSpPr>
          <p:cNvPr id="505" name="Why projecting?"/>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792479">
              <a:defRPr sz="5664"/>
            </a:lvl1pPr>
          </a:lstStyle>
          <a:p>
            <a:r>
              <a:t>Why projecting?</a:t>
            </a:r>
          </a:p>
        </p:txBody>
      </p:sp>
      <p:sp>
        <p:nvSpPr>
          <p:cNvPr id="50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10</a:t>
            </a:fld>
            <a:endParaRPr/>
          </a:p>
        </p:txBody>
      </p:sp>
      <p:pic>
        <p:nvPicPr>
          <p:cNvPr id="507" name="Image" descr="Image"/>
          <p:cNvPicPr>
            <a:picLocks noChangeAspect="1"/>
          </p:cNvPicPr>
          <p:nvPr/>
        </p:nvPicPr>
        <p:blipFill>
          <a:blip r:embed="rId2"/>
          <a:stretch>
            <a:fillRect/>
          </a:stretch>
        </p:blipFill>
        <p:spPr>
          <a:xfrm>
            <a:off x="4151131" y="3115887"/>
            <a:ext cx="16931237" cy="1940483"/>
          </a:xfrm>
          <a:prstGeom prst="rect">
            <a:avLst/>
          </a:prstGeom>
          <a:ln w="25400">
            <a:solidFill>
              <a:srgbClr val="000000"/>
            </a:solidFill>
            <a:miter lim="400000"/>
          </a:ln>
        </p:spPr>
      </p:pic>
      <p:pic>
        <p:nvPicPr>
          <p:cNvPr id="508" name="Image" descr="Image"/>
          <p:cNvPicPr>
            <a:picLocks noChangeAspect="1"/>
          </p:cNvPicPr>
          <p:nvPr/>
        </p:nvPicPr>
        <p:blipFill>
          <a:blip r:embed="rId3"/>
          <a:stretch>
            <a:fillRect/>
          </a:stretch>
        </p:blipFill>
        <p:spPr>
          <a:xfrm>
            <a:off x="1673239" y="7886403"/>
            <a:ext cx="12723290" cy="1371051"/>
          </a:xfrm>
          <a:prstGeom prst="rect">
            <a:avLst/>
          </a:prstGeom>
          <a:ln w="25400">
            <a:solidFill>
              <a:srgbClr val="000000"/>
            </a:solidFill>
            <a:miter lim="400000"/>
          </a:ln>
        </p:spPr>
      </p:pic>
      <p:sp>
        <p:nvSpPr>
          <p:cNvPr id="509" name="As the step size shrinks, the error reduces, and approaches zero with t, for convex constraints!…"/>
          <p:cNvSpPr txBox="1"/>
          <p:nvPr/>
        </p:nvSpPr>
        <p:spPr>
          <a:xfrm>
            <a:off x="1587878" y="9538774"/>
            <a:ext cx="13849396" cy="29478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543339" indent="-543339">
              <a:lnSpc>
                <a:spcPct val="100000"/>
              </a:lnSpc>
              <a:buSzPct val="70000"/>
              <a:buChar char="•"/>
              <a:defRPr sz="4100"/>
            </a:pPr>
            <a:r>
              <a:t>As the step size shrinks, </a:t>
            </a:r>
            <a:r>
              <a:rPr i="1">
                <a:solidFill>
                  <a:schemeClr val="accent1">
                    <a:hueOff val="114395"/>
                    <a:lumOff val="-24975"/>
                  </a:schemeClr>
                </a:solidFill>
                <a:latin typeface="Gill Sans"/>
                <a:ea typeface="Gill Sans"/>
                <a:cs typeface="Gill Sans"/>
                <a:sym typeface="Gill Sans"/>
              </a:rPr>
              <a:t>the error reduces, and approaches zero with t</a:t>
            </a:r>
            <a:r>
              <a:t>, for convex constraints!</a:t>
            </a:r>
          </a:p>
          <a:p>
            <a:pPr marL="543339" indent="-543339">
              <a:lnSpc>
                <a:spcPct val="100000"/>
              </a:lnSpc>
              <a:buSzPct val="70000"/>
              <a:buChar char="•"/>
              <a:defRPr sz="4100"/>
            </a:pPr>
            <a:r>
              <a:t>CADM </a:t>
            </a:r>
            <a:r>
              <a:rPr i="1">
                <a:solidFill>
                  <a:schemeClr val="accent5">
                    <a:lumOff val="-29866"/>
                  </a:schemeClr>
                </a:solidFill>
                <a:latin typeface="Gill Sans"/>
                <a:ea typeface="Gill Sans"/>
                <a:cs typeface="Gill Sans"/>
                <a:sym typeface="Gill Sans"/>
              </a:rPr>
              <a:t>guarantees feasibility</a:t>
            </a:r>
            <a:r>
              <a:t> for convex constraints, which is the case in several of our experiments!</a:t>
            </a:r>
          </a:p>
        </p:txBody>
      </p:sp>
      <p:pic>
        <p:nvPicPr>
          <p:cNvPr id="510" name="evolution_batch_perturbed_qp_11.gif" descr="evolution_batch_perturbed_qp_11.gif"/>
          <p:cNvPicPr>
            <a:picLocks/>
          </p:cNvPicPr>
          <p:nvPr/>
        </p:nvPicPr>
        <p:blipFill>
          <a:blip r:embed="rId4"/>
          <a:stretch>
            <a:fillRect/>
          </a:stretch>
        </p:blipFill>
        <p:spPr>
          <a:xfrm>
            <a:off x="16076779" y="6876291"/>
            <a:ext cx="6350001" cy="6350001"/>
          </a:xfrm>
          <a:prstGeom prst="rect">
            <a:avLst/>
          </a:prstGeom>
          <a:ln w="12700">
            <a:miter lim="400000"/>
          </a:ln>
        </p:spPr>
      </p:pic>
      <p:grpSp>
        <p:nvGrpSpPr>
          <p:cNvPr id="515" name="Group"/>
          <p:cNvGrpSpPr/>
          <p:nvPr/>
        </p:nvGrpSpPr>
        <p:grpSpPr>
          <a:xfrm>
            <a:off x="1435885" y="3144790"/>
            <a:ext cx="21896458" cy="5232193"/>
            <a:chOff x="0" y="0"/>
            <a:chExt cx="21896457" cy="5232191"/>
          </a:xfrm>
        </p:grpSpPr>
        <p:sp>
          <p:nvSpPr>
            <p:cNvPr id="511" name="where                                                 is a single update step for the sampling process.…"/>
            <p:cNvSpPr txBox="1"/>
            <p:nvPr/>
          </p:nvSpPr>
          <p:spPr>
            <a:xfrm>
              <a:off x="0" y="2062653"/>
              <a:ext cx="21896458" cy="294789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rmAutofit/>
            </a:bodyPr>
            <a:lstStyle/>
            <a:p>
              <a:pPr marL="543339" indent="-543339">
                <a:lnSpc>
                  <a:spcPct val="100000"/>
                </a:lnSpc>
                <a:buSzPct val="70000"/>
                <a:buChar char="•"/>
                <a:defRPr sz="4100"/>
              </a:pPr>
              <a:r>
                <a:t>where                                                 is a single update step for the sampling process. </a:t>
              </a:r>
            </a:p>
            <a:p>
              <a:pPr marL="543339" indent="-543339">
                <a:lnSpc>
                  <a:spcPct val="100000"/>
                </a:lnSpc>
                <a:buSzPct val="70000"/>
                <a:buChar char="•"/>
                <a:defRPr sz="4100"/>
              </a:pPr>
              <a:r>
                <a:t>CADM projection steps ensure the resulting samples adhere more closely to the constraints as compared to those generated via unprojected methods. </a:t>
              </a:r>
              <a:br/>
              <a:endParaRPr/>
            </a:p>
          </p:txBody>
        </p:sp>
        <p:pic>
          <p:nvPicPr>
            <p:cNvPr id="512" name="Image" descr="Image"/>
            <p:cNvPicPr>
              <a:picLocks/>
            </p:cNvPicPr>
            <p:nvPr/>
          </p:nvPicPr>
          <p:blipFill>
            <a:blip r:embed="rId5"/>
            <a:stretch>
              <a:fillRect/>
            </a:stretch>
          </p:blipFill>
          <p:spPr>
            <a:xfrm>
              <a:off x="2232738" y="2113453"/>
              <a:ext cx="6663823" cy="715633"/>
            </a:xfrm>
            <a:prstGeom prst="rect">
              <a:avLst/>
            </a:prstGeom>
            <a:ln w="12700" cap="flat">
              <a:noFill/>
              <a:miter lim="400000"/>
            </a:ln>
            <a:effectLst/>
          </p:spPr>
        </p:pic>
        <p:sp>
          <p:nvSpPr>
            <p:cNvPr id="513" name="Rectangle"/>
            <p:cNvSpPr/>
            <p:nvPr/>
          </p:nvSpPr>
          <p:spPr>
            <a:xfrm>
              <a:off x="4499494" y="0"/>
              <a:ext cx="714653" cy="455385"/>
            </a:xfrm>
            <a:prstGeom prst="rect">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514" name="Rectangle"/>
            <p:cNvSpPr/>
            <p:nvPr/>
          </p:nvSpPr>
          <p:spPr>
            <a:xfrm>
              <a:off x="2060547" y="4776807"/>
              <a:ext cx="714653" cy="455385"/>
            </a:xfrm>
            <a:prstGeom prst="rect">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sp>
        <p:nvSpPr>
          <p:cNvPr id="516" name="Rectangle"/>
          <p:cNvSpPr/>
          <p:nvPr/>
        </p:nvSpPr>
        <p:spPr>
          <a:xfrm>
            <a:off x="17862798" y="7140812"/>
            <a:ext cx="2668362" cy="469821"/>
          </a:xfrm>
          <a:prstGeom prst="rect">
            <a:avLst/>
          </a:prstGeom>
          <a:solidFill>
            <a:srgbClr val="FFFFFF"/>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pic>
        <p:nvPicPr>
          <p:cNvPr id="517" name="Screen Shot 2022-10-17 at 11.39.00 AM.png" descr="Screen Shot 2022-10-17 at 11.39.00 AM.png">
            <a:hlinkClick r:id="rId6"/>
          </p:cNvPr>
          <p:cNvPicPr>
            <a:picLocks noChangeAspect="1"/>
          </p:cNvPicPr>
          <p:nvPr/>
        </p:nvPicPr>
        <p:blipFill>
          <a:blip r:embed="rId7"/>
          <a:stretch>
            <a:fillRect/>
          </a:stretch>
        </p:blipFill>
        <p:spPr>
          <a:xfrm>
            <a:off x="11256398" y="13122364"/>
            <a:ext cx="362129" cy="322980"/>
          </a:xfrm>
          <a:prstGeom prst="rect">
            <a:avLst/>
          </a:prstGeom>
          <a:ln w="12700">
            <a:miter lim="400000"/>
          </a:ln>
        </p:spPr>
      </p:pic>
      <p:sp>
        <p:nvSpPr>
          <p:cNvPr id="518" name="NeurIPS:24">
            <a:hlinkClick r:id="rId6"/>
          </p:cNvPr>
          <p:cNvSpPr txBox="1"/>
          <p:nvPr/>
        </p:nvSpPr>
        <p:spPr>
          <a:xfrm>
            <a:off x="11660900" y="13055254"/>
            <a:ext cx="1466702"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400"/>
            </a:lvl1pPr>
          </a:lstStyle>
          <a:p>
            <a:r>
              <a:t>NeurIPS:24</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0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509">
                                            <p:bg/>
                                          </p:spTgt>
                                        </p:tgtEl>
                                        <p:attrNameLst>
                                          <p:attrName>style.visibility</p:attrName>
                                        </p:attrNameLst>
                                      </p:cBhvr>
                                      <p:to>
                                        <p:strVal val="visible"/>
                                      </p:to>
                                    </p:set>
                                  </p:childTnLst>
                                </p:cTn>
                              </p:par>
                              <p:par>
                                <p:cTn id="10" presetID="1" presetClass="entr" presetSubtype="0" fill="hold" grpId="2" nodeType="withEffect">
                                  <p:stCondLst>
                                    <p:cond delay="0"/>
                                  </p:stCondLst>
                                  <p:iterate>
                                    <p:tmAbs val="0"/>
                                  </p:iterate>
                                  <p:childTnLst>
                                    <p:set>
                                      <p:cBhvr>
                                        <p:cTn id="11" fill="hold"/>
                                        <p:tgtEl>
                                          <p:spTgt spid="509">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2" nodeType="clickEffect">
                                  <p:stCondLst>
                                    <p:cond delay="0"/>
                                  </p:stCondLst>
                                  <p:iterate>
                                    <p:tmAbs val="0"/>
                                  </p:iterate>
                                  <p:childTnLst>
                                    <p:set>
                                      <p:cBhvr>
                                        <p:cTn id="15" fill="hold"/>
                                        <p:tgtEl>
                                          <p:spTgt spid="50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 grpId="1" animBg="1" advAuto="0"/>
      <p:bldP spid="509" grpId="2" build="p" bldLvl="5" animBg="1" advAuto="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0" name="What was previously  out of distribution  in terms of data similarity  becomes in distribution  at the level of the  underlying constraints"/>
          <p:cNvSpPr txBox="1">
            <a:spLocks noGrp="1"/>
          </p:cNvSpPr>
          <p:nvPr>
            <p:ph type="body" idx="1"/>
          </p:nvPr>
        </p:nvSpPr>
        <p:spPr>
          <a:xfrm>
            <a:off x="1206500" y="2879996"/>
            <a:ext cx="21971000" cy="7956008"/>
          </a:xfrm>
          <a:prstGeom prst="rect">
            <a:avLst/>
          </a:prstGeom>
        </p:spPr>
        <p:txBody>
          <a:bodyPr/>
          <a:lstStyle/>
          <a:p>
            <a:pPr defTabSz="2121354">
              <a:defRPr sz="10092" i="1" spc="-201">
                <a:latin typeface="+mn-lt"/>
                <a:ea typeface="+mn-ea"/>
                <a:cs typeface="+mn-cs"/>
                <a:sym typeface="Helvetica Neue"/>
              </a:defRPr>
            </a:pPr>
            <a:r>
              <a:t>What was previously </a:t>
            </a:r>
            <a:br/>
            <a:r>
              <a:t>out of distribution </a:t>
            </a:r>
            <a:br/>
            <a:r>
              <a:t>in terms of </a:t>
            </a:r>
            <a:r>
              <a:rPr>
                <a:solidFill>
                  <a:srgbClr val="5E5E5E"/>
                </a:solidFill>
              </a:rPr>
              <a:t>data similarity</a:t>
            </a:r>
            <a:r>
              <a:rPr>
                <a:solidFill>
                  <a:schemeClr val="accent5">
                    <a:lumOff val="-29866"/>
                  </a:schemeClr>
                </a:solidFill>
              </a:rPr>
              <a:t> </a:t>
            </a:r>
            <a:br>
              <a:rPr>
                <a:solidFill>
                  <a:schemeClr val="accent5">
                    <a:lumOff val="-29866"/>
                  </a:schemeClr>
                </a:solidFill>
              </a:rPr>
            </a:br>
            <a:r>
              <a:t>becomes in distribution </a:t>
            </a:r>
            <a:br/>
            <a:r>
              <a:t>at the level of the </a:t>
            </a:r>
            <a:br/>
            <a:r>
              <a:rPr>
                <a:solidFill>
                  <a:schemeClr val="accent5">
                    <a:lumOff val="-29866"/>
                  </a:schemeClr>
                </a:solidFill>
              </a:rPr>
              <a:t>underlying constraints</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 name="Rectangle"/>
          <p:cNvSpPr/>
          <p:nvPr/>
        </p:nvSpPr>
        <p:spPr>
          <a:xfrm>
            <a:off x="2323147" y="7913261"/>
            <a:ext cx="11322699" cy="1420464"/>
          </a:xfrm>
          <a:prstGeom prst="rect">
            <a:avLst/>
          </a:prstGeom>
          <a:solidFill>
            <a:schemeClr val="accent1">
              <a:lumOff val="16847"/>
              <a:alpha val="20260"/>
            </a:schemeClr>
          </a:solidFill>
          <a:ln w="12700">
            <a:solidFill>
              <a:schemeClr val="accent1">
                <a:hueOff val="114395"/>
                <a:lumOff val="-24975"/>
              </a:schemeClr>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523" name="Augmented Lagrangian sampling"/>
          <p:cNvSpPr txBox="1">
            <a:spLocks noGrp="1"/>
          </p:cNvSpPr>
          <p:nvPr>
            <p:ph type="title"/>
          </p:nvPr>
        </p:nvSpPr>
        <p:spPr>
          <a:prstGeom prst="rect">
            <a:avLst/>
          </a:prstGeom>
        </p:spPr>
        <p:txBody>
          <a:bodyPr/>
          <a:lstStyle/>
          <a:p>
            <a:r>
              <a:t>Augmented Lagrangian sampling </a:t>
            </a:r>
          </a:p>
        </p:txBody>
      </p:sp>
      <p:sp>
        <p:nvSpPr>
          <p:cNvPr id="524" name="Slide Subtitle"/>
          <p:cNvSpPr txBox="1">
            <a:spLocks noGrp="1"/>
          </p:cNvSpPr>
          <p:nvPr>
            <p:ph type="body" idx="21"/>
          </p:nvPr>
        </p:nvSpPr>
        <p:spPr>
          <a:prstGeom prst="rect">
            <a:avLst/>
          </a:prstGeom>
        </p:spPr>
        <p:txBody>
          <a:bodyPr/>
          <a:lstStyle/>
          <a:p>
            <a:endParaRPr/>
          </a:p>
        </p:txBody>
      </p:sp>
      <mc:AlternateContent xmlns:mc="http://schemas.openxmlformats.org/markup-compatibility/2006">
        <mc:Choice xmlns:a14="http://schemas.microsoft.com/office/drawing/2010/main" Requires="a14">
          <p:sp>
            <p:nvSpPr>
              <p:cNvPr id="525" name="When   is highly non-convex or when only violation residuals can be computed (including the case of surrogate models).…"/>
              <p:cNvSpPr txBox="1">
                <a:spLocks noGrp="1"/>
              </p:cNvSpPr>
              <p:nvPr>
                <p:ph type="body" sz="half" idx="1"/>
              </p:nvPr>
            </p:nvSpPr>
            <p:spPr>
              <a:xfrm>
                <a:off x="1206500" y="3376995"/>
                <a:ext cx="12390095" cy="9127521"/>
              </a:xfrm>
              <a:prstGeom prst="rect">
                <a:avLst/>
              </a:prstGeom>
            </p:spPr>
            <p:txBody>
              <a:bodyPr/>
              <a:lstStyle/>
              <a:p>
                <a:pPr marL="554990" indent="-554990" defTabSz="2316421">
                  <a:spcBef>
                    <a:spcPts val="3400"/>
                  </a:spcBef>
                  <a:defRPr sz="4370"/>
                </a:pPr>
                <a:r>
                  <a:t>When </a:t>
                </a:r>
                <a14:m>
                  <m:oMath xmlns:m="http://schemas.openxmlformats.org/officeDocument/2006/math">
                    <m:r>
                      <a:rPr sz="5200" i="1">
                        <a:solidFill>
                          <a:srgbClr val="000000"/>
                        </a:solidFill>
                        <a:latin typeface="Cambria Math" panose="02040503050406030204" pitchFamily="18" charset="0"/>
                      </a:rPr>
                      <m:t>𝐂</m:t>
                    </m:r>
                  </m:oMath>
                </a14:m>
                <a:r>
                  <a:t> is highly non-convex or when only violation residuals can be computed (including the case of surrogate models).</a:t>
                </a:r>
              </a:p>
              <a:p>
                <a:pPr marL="554990" indent="-554990" defTabSz="2316421">
                  <a:spcBef>
                    <a:spcPts val="3400"/>
                  </a:spcBef>
                  <a:defRPr sz="4370"/>
                </a:pPr>
                <a:r>
                  <a:t>We use an augmented Lagrangian dual method to solve the projection step: </a:t>
                </a:r>
                <a:br/>
                <a:br/>
                <a:br/>
                <a:br/>
                <a:br/>
                <a:br/>
                <a:br/>
                <a:endParaRPr/>
              </a:p>
              <a:p>
                <a:pPr marL="554990" indent="-554990" defTabSz="2316421">
                  <a:spcBef>
                    <a:spcPts val="3400"/>
                  </a:spcBef>
                  <a:defRPr sz="4370"/>
                </a:pPr>
                <a:r>
                  <a:t>The training follows a Dual ascent inspired method, where a </a:t>
                </a:r>
                <a:r>
                  <a:rPr>
                    <a:solidFill>
                      <a:schemeClr val="accent1">
                        <a:hueOff val="114395"/>
                        <a:lumOff val="-24975"/>
                      </a:schemeClr>
                    </a:solidFill>
                  </a:rPr>
                  <a:t>primal update </a:t>
                </a:r>
                <a:r>
                  <a:t>is followed by a</a:t>
                </a:r>
                <a:r>
                  <a:rPr>
                    <a:solidFill>
                      <a:schemeClr val="accent1">
                        <a:hueOff val="114395"/>
                        <a:lumOff val="-24975"/>
                      </a:schemeClr>
                    </a:solidFill>
                  </a:rPr>
                  <a:t> </a:t>
                </a:r>
                <a:r>
                  <a:rPr>
                    <a:solidFill>
                      <a:schemeClr val="accent5">
                        <a:lumOff val="-29866"/>
                      </a:schemeClr>
                    </a:solidFill>
                  </a:rPr>
                  <a:t>dual step. </a:t>
                </a:r>
              </a:p>
            </p:txBody>
          </p:sp>
        </mc:Choice>
        <mc:Fallback>
          <p:sp>
            <p:nvSpPr>
              <p:cNvPr id="525" name="When   is highly non-convex or when only violation residuals can be computed (including the case of surrogate models).…"/>
              <p:cNvSpPr txBox="1">
                <a:spLocks noGrp="1" noRot="1" noChangeAspect="1" noMove="1" noResize="1" noEditPoints="1" noAdjustHandles="1" noChangeArrowheads="1" noChangeShapeType="1" noTextEdit="1"/>
              </p:cNvSpPr>
              <p:nvPr>
                <p:ph type="body" sz="half" idx="1"/>
              </p:nvPr>
            </p:nvSpPr>
            <p:spPr>
              <a:xfrm>
                <a:off x="1206500" y="3376995"/>
                <a:ext cx="12390095" cy="9127521"/>
              </a:xfrm>
              <a:prstGeom prst="rect">
                <a:avLst/>
              </a:prstGeom>
              <a:blipFill>
                <a:blip r:embed="rId2"/>
                <a:stretch>
                  <a:fillRect l="-2766" t="-2222" r="-1844" b="-6528"/>
                </a:stretch>
              </a:blipFill>
            </p:spPr>
            <p:txBody>
              <a:bodyPr/>
              <a:lstStyle/>
              <a:p>
                <a:r>
                  <a:rPr lang="en-US">
                    <a:noFill/>
                  </a:rPr>
                  <a:t> </a:t>
                </a:r>
              </a:p>
            </p:txBody>
          </p:sp>
        </mc:Fallback>
      </mc:AlternateContent>
      <p:sp>
        <p:nvSpPr>
          <p:cNvPr id="526" name="Slide Number"/>
          <p:cNvSpPr txBox="1">
            <a:spLocks noGrp="1"/>
          </p:cNvSpPr>
          <p:nvPr>
            <p:ph type="sldNum" sz="quarter" idx="2"/>
          </p:nvPr>
        </p:nvSpPr>
        <p:spPr>
          <a:xfrm>
            <a:off x="23635526" y="13045744"/>
            <a:ext cx="316053" cy="49875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12</a:t>
            </a:fld>
            <a:endParaRPr/>
          </a:p>
        </p:txBody>
      </p:sp>
      <p:pic>
        <p:nvPicPr>
          <p:cNvPr id="527" name="Image" descr="Image"/>
          <p:cNvPicPr>
            <a:picLocks noChangeAspect="1"/>
          </p:cNvPicPr>
          <p:nvPr/>
        </p:nvPicPr>
        <p:blipFill>
          <a:blip r:embed="rId3"/>
          <a:stretch>
            <a:fillRect/>
          </a:stretch>
        </p:blipFill>
        <p:spPr>
          <a:xfrm>
            <a:off x="13738052" y="3625320"/>
            <a:ext cx="9897607" cy="7469458"/>
          </a:xfrm>
          <a:prstGeom prst="rect">
            <a:avLst/>
          </a:prstGeom>
          <a:ln w="12700">
            <a:miter lim="400000"/>
          </a:ln>
        </p:spPr>
      </p:pic>
      <p:pic>
        <p:nvPicPr>
          <p:cNvPr id="528" name="Image" descr="Image"/>
          <p:cNvPicPr>
            <a:picLocks noChangeAspect="1"/>
          </p:cNvPicPr>
          <p:nvPr/>
        </p:nvPicPr>
        <p:blipFill>
          <a:blip r:embed="rId4"/>
          <a:stretch>
            <a:fillRect/>
          </a:stretch>
        </p:blipFill>
        <p:spPr>
          <a:xfrm>
            <a:off x="1253837" y="-2051654"/>
            <a:ext cx="10275525" cy="1141313"/>
          </a:xfrm>
          <a:prstGeom prst="rect">
            <a:avLst/>
          </a:prstGeom>
          <a:ln w="12700">
            <a:miter lim="400000"/>
          </a:ln>
        </p:spPr>
      </p:pic>
      <mc:AlternateContent xmlns:mc="http://schemas.openxmlformats.org/markup-compatibility/2006">
        <mc:Choice xmlns:a14="http://schemas.microsoft.com/office/drawing/2010/main" Requires="a14">
          <p:sp>
            <p:nvSpPr>
              <p:cNvPr id="529" name="Augmented Lagrangian function"/>
              <p:cNvSpPr txBox="1"/>
              <p:nvPr/>
            </p:nvSpPr>
            <p:spPr>
              <a:xfrm>
                <a:off x="2890560" y="6926067"/>
                <a:ext cx="9658753" cy="867962"/>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wrap="none" lIns="50800" tIns="50800" rIns="50800" bIns="50800" anchor="ctr">
                <a:spAutoFit/>
              </a:bodyPr>
              <a:lstStyle/>
              <a:p>
                <a:pPr>
                  <a:defRPr>
                    <a:solidFill>
                      <a:schemeClr val="accent1">
                        <a:hueOff val="114395"/>
                        <a:lumOff val="-24975"/>
                      </a:schemeClr>
                    </a:solidFill>
                  </a:defRPr>
                </a:pPr>
                <a:r>
                  <a:t>Augmented Lagrangian function </a:t>
                </a:r>
                <a14:m>
                  <m:oMath xmlns:m="http://schemas.openxmlformats.org/officeDocument/2006/math">
                    <m:sSub>
                      <m:sSubPr>
                        <m:ctrlPr>
                          <a:rPr sz="5050">
                            <a:solidFill>
                              <a:srgbClr val="004C7F"/>
                            </a:solidFill>
                            <a:latin typeface="Cambria Math" panose="02040503050406030204" pitchFamily="18" charset="0"/>
                          </a:rPr>
                        </m:ctrlPr>
                      </m:sSubPr>
                      <m:e>
                        <m:r>
                          <a:rPr sz="5050" i="1">
                            <a:solidFill>
                              <a:srgbClr val="004C7F"/>
                            </a:solidFill>
                            <a:latin typeface="Cambria Math" panose="02040503050406030204" pitchFamily="18" charset="0"/>
                          </a:rPr>
                          <m:t>ℒ</m:t>
                        </m:r>
                      </m:e>
                      <m:sub>
                        <m:r>
                          <m:rPr>
                            <m:nor/>
                          </m:rPr>
                          <a:rPr sz="5050" i="1">
                            <a:solidFill>
                              <a:srgbClr val="004C7F"/>
                            </a:solidFill>
                            <a:latin typeface="Cambria Math" panose="02040503050406030204" pitchFamily="18" charset="0"/>
                          </a:rPr>
                          <m:t>ALM</m:t>
                        </m:r>
                      </m:sub>
                    </m:sSub>
                  </m:oMath>
                </a14:m>
                <a:endParaRPr>
                  <a:solidFill>
                    <a:srgbClr val="004D80"/>
                  </a:solidFill>
                </a:endParaRPr>
              </a:p>
            </p:txBody>
          </p:sp>
        </mc:Choice>
        <mc:Fallback>
          <p:sp>
            <p:nvSpPr>
              <p:cNvPr id="529" name="Augmented Lagrangian function"/>
              <p:cNvSpPr txBox="1">
                <a:spLocks noRot="1" noChangeAspect="1" noMove="1" noResize="1" noEditPoints="1" noAdjustHandles="1" noChangeArrowheads="1" noChangeShapeType="1" noTextEdit="1"/>
              </p:cNvSpPr>
              <p:nvPr/>
            </p:nvSpPr>
            <p:spPr>
              <a:xfrm>
                <a:off x="2890560" y="6926067"/>
                <a:ext cx="9658753" cy="867962"/>
              </a:xfrm>
              <a:prstGeom prst="rect">
                <a:avLst/>
              </a:prstGeom>
              <a:blipFill>
                <a:blip r:embed="rId5"/>
                <a:stretch>
                  <a:fillRect l="-3281" t="-18841" r="-131" b="-30435"/>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grpSp>
        <p:nvGrpSpPr>
          <p:cNvPr id="532" name="Group"/>
          <p:cNvGrpSpPr/>
          <p:nvPr/>
        </p:nvGrpSpPr>
        <p:grpSpPr>
          <a:xfrm>
            <a:off x="3603656" y="8115855"/>
            <a:ext cx="4234675" cy="2484743"/>
            <a:chOff x="0" y="0"/>
            <a:chExt cx="4234674" cy="2484742"/>
          </a:xfrm>
        </p:grpSpPr>
        <mc:AlternateContent xmlns:mc="http://schemas.openxmlformats.org/markup-compatibility/2006">
          <mc:Choice xmlns:a14="http://schemas.microsoft.com/office/drawing/2010/main" Requires="a14">
            <p:sp>
              <p:nvSpPr>
                <p:cNvPr id="530" name="Deviation from unconstrained point"/>
                <p:cNvSpPr txBox="1"/>
                <p:nvPr/>
              </p:nvSpPr>
              <p:spPr>
                <a:xfrm>
                  <a:off x="326618" y="1462422"/>
                  <a:ext cx="3908057" cy="1022321"/>
                </a:xfrm>
                <a:prstGeom prst="rect">
                  <a:avLst/>
                </a:prstGeom>
                <a:noFill/>
                <a:ln w="12700" cap="flat">
                  <a:noFill/>
                  <a:miter lim="400000"/>
                </a:ln>
                <a:effectLst/>
                <a:extLst>
                  <a:ext uri="{C572A759-6A51-4108-AA02-DFA0A04FC94B}">
                    <ma14:wrappingTextBoxFlag xmlns:ma14="http://schemas.microsoft.com/office/mac/drawingml/2011/main" xmlns:m="http://schemas.openxmlformats.org/officeDocument/2006/math" xmlns="" val="1"/>
                  </a:ext>
                </a:extLst>
              </p:spPr>
              <p:txBody>
                <a:bodyPr wrap="square" lIns="50800" tIns="50800" rIns="50800" bIns="50800" numCol="1" anchor="ctr">
                  <a:spAutoFit/>
                </a:bodyPr>
                <a:lstStyle/>
                <a:p>
                  <a:pPr algn="ctr">
                    <a:defRPr sz="3200">
                      <a:solidFill>
                        <a:schemeClr val="accent6">
                          <a:satOff val="-16844"/>
                          <a:lumOff val="-30747"/>
                        </a:schemeClr>
                      </a:solidFill>
                    </a:defRPr>
                  </a:pPr>
                  <a:r>
                    <a:t>Deviation from unconstrained point </a:t>
                  </a:r>
                  <a14:m>
                    <m:oMath xmlns:m="http://schemas.openxmlformats.org/officeDocument/2006/math">
                      <m:sSub>
                        <m:sSubPr>
                          <m:ctrlPr>
                            <a:rPr sz="3150">
                              <a:solidFill>
                                <a:srgbClr val="960D52"/>
                              </a:solidFill>
                              <a:latin typeface="Cambria Math" panose="02040503050406030204" pitchFamily="18" charset="0"/>
                            </a:rPr>
                          </m:ctrlPr>
                        </m:sSubPr>
                        <m:e>
                          <m:r>
                            <a:rPr sz="3150" i="1">
                              <a:solidFill>
                                <a:srgbClr val="960D52"/>
                              </a:solidFill>
                              <a:latin typeface="Cambria Math" panose="02040503050406030204" pitchFamily="18" charset="0"/>
                            </a:rPr>
                            <m:t>𝑥</m:t>
                          </m:r>
                        </m:e>
                        <m:sub>
                          <m:r>
                            <a:rPr sz="3150" i="1">
                              <a:solidFill>
                                <a:srgbClr val="960D52"/>
                              </a:solidFill>
                              <a:latin typeface="Cambria Math" panose="02040503050406030204" pitchFamily="18" charset="0"/>
                            </a:rPr>
                            <m:t>𝑡</m:t>
                          </m:r>
                        </m:sub>
                      </m:sSub>
                    </m:oMath>
                  </a14:m>
                  <a:endParaRPr>
                    <a:solidFill>
                      <a:srgbClr val="970E53"/>
                    </a:solidFill>
                  </a:endParaRPr>
                </a:p>
              </p:txBody>
            </p:sp>
          </mc:Choice>
          <mc:Fallback>
            <p:sp>
              <p:nvSpPr>
                <p:cNvPr id="530" name="Deviation from unconstrained point"/>
                <p:cNvSpPr txBox="1">
                  <a:spLocks noRot="1" noChangeAspect="1" noMove="1" noResize="1" noEditPoints="1" noAdjustHandles="1" noChangeArrowheads="1" noChangeShapeType="1" noTextEdit="1"/>
                </p:cNvSpPr>
                <p:nvPr/>
              </p:nvSpPr>
              <p:spPr>
                <a:xfrm>
                  <a:off x="326618" y="1462422"/>
                  <a:ext cx="3908057" cy="1022321"/>
                </a:xfrm>
                <a:prstGeom prst="rect">
                  <a:avLst/>
                </a:prstGeom>
                <a:blipFill>
                  <a:blip r:embed="rId6"/>
                  <a:stretch>
                    <a:fillRect l="-2913" t="-8642" b="-17284"/>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sp>
          <p:nvSpPr>
            <p:cNvPr id="531" name="Rectangle"/>
            <p:cNvSpPr/>
            <p:nvPr/>
          </p:nvSpPr>
          <p:spPr>
            <a:xfrm>
              <a:off x="0" y="0"/>
              <a:ext cx="2595216" cy="916203"/>
            </a:xfrm>
            <a:prstGeom prst="rect">
              <a:avLst/>
            </a:prstGeom>
            <a:solidFill>
              <a:schemeClr val="accent6">
                <a:lumOff val="16165"/>
                <a:alpha val="20000"/>
              </a:schemeClr>
            </a:solidFill>
            <a:ln w="12700" cap="flat">
              <a:solidFill>
                <a:schemeClr val="accent6">
                  <a:satOff val="-16844"/>
                  <a:lumOff val="-30747"/>
                </a:scheme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grpSp>
        <p:nvGrpSpPr>
          <p:cNvPr id="536" name="Group"/>
          <p:cNvGrpSpPr/>
          <p:nvPr/>
        </p:nvGrpSpPr>
        <p:grpSpPr>
          <a:xfrm>
            <a:off x="8372313" y="8115855"/>
            <a:ext cx="4027902" cy="2470788"/>
            <a:chOff x="0" y="0"/>
            <a:chExt cx="4027901" cy="2470787"/>
          </a:xfrm>
        </p:grpSpPr>
        <p:sp>
          <p:nvSpPr>
            <p:cNvPr id="533" name="Rectangle"/>
            <p:cNvSpPr/>
            <p:nvPr/>
          </p:nvSpPr>
          <p:spPr>
            <a:xfrm>
              <a:off x="0" y="0"/>
              <a:ext cx="1341857" cy="916203"/>
            </a:xfrm>
            <a:prstGeom prst="rect">
              <a:avLst/>
            </a:prstGeom>
            <a:solidFill>
              <a:schemeClr val="accent4">
                <a:hueOff val="348544"/>
                <a:lumOff val="7139"/>
                <a:alpha val="20000"/>
              </a:schemeClr>
            </a:solidFill>
            <a:ln w="12700" cap="flat">
              <a:solidFill>
                <a:schemeClr val="accent4">
                  <a:hueOff val="-1247790"/>
                  <a:lumOff val="-12326"/>
                </a:scheme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534" name="Differentiable residual or constraint violation"/>
            <p:cNvSpPr txBox="1"/>
            <p:nvPr/>
          </p:nvSpPr>
          <p:spPr>
            <a:xfrm>
              <a:off x="67363" y="1476377"/>
              <a:ext cx="3704891" cy="99441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defRPr sz="3200">
                  <a:solidFill>
                    <a:schemeClr val="accent4">
                      <a:hueOff val="-1247790"/>
                      <a:lumOff val="-12326"/>
                    </a:schemeClr>
                  </a:solidFill>
                </a:defRPr>
              </a:lvl1pPr>
            </a:lstStyle>
            <a:p>
              <a:r>
                <a:t>Differentiable residual or constraint violation</a:t>
              </a:r>
            </a:p>
          </p:txBody>
        </p:sp>
        <p:sp>
          <p:nvSpPr>
            <p:cNvPr id="535" name="Rectangle"/>
            <p:cNvSpPr/>
            <p:nvPr/>
          </p:nvSpPr>
          <p:spPr>
            <a:xfrm>
              <a:off x="2686044" y="0"/>
              <a:ext cx="1341858" cy="916203"/>
            </a:xfrm>
            <a:prstGeom prst="rect">
              <a:avLst/>
            </a:prstGeom>
            <a:solidFill>
              <a:schemeClr val="accent4">
                <a:hueOff val="348544"/>
                <a:lumOff val="7139"/>
                <a:alpha val="20000"/>
              </a:schemeClr>
            </a:solidFill>
            <a:ln w="12700" cap="flat">
              <a:solidFill>
                <a:schemeClr val="accent4">
                  <a:hueOff val="-1247790"/>
                  <a:lumOff val="-12326"/>
                </a:scheme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grpSp>
        <p:nvGrpSpPr>
          <p:cNvPr id="539" name="Group"/>
          <p:cNvGrpSpPr/>
          <p:nvPr/>
        </p:nvGrpSpPr>
        <p:grpSpPr>
          <a:xfrm>
            <a:off x="207866" y="8112916"/>
            <a:ext cx="8064277" cy="2473727"/>
            <a:chOff x="0" y="0"/>
            <a:chExt cx="8064276" cy="2473726"/>
          </a:xfrm>
        </p:grpSpPr>
        <p:sp>
          <p:nvSpPr>
            <p:cNvPr id="537" name="Rectangle"/>
            <p:cNvSpPr/>
            <p:nvPr/>
          </p:nvSpPr>
          <p:spPr>
            <a:xfrm>
              <a:off x="7488985" y="0"/>
              <a:ext cx="575292" cy="922079"/>
            </a:xfrm>
            <a:prstGeom prst="rect">
              <a:avLst/>
            </a:prstGeom>
            <a:solidFill>
              <a:schemeClr val="accent5">
                <a:hueOff val="-152895"/>
                <a:lumOff val="12368"/>
                <a:alpha val="20000"/>
              </a:schemeClr>
            </a:solidFill>
            <a:ln w="12700" cap="flat">
              <a:solidFill>
                <a:schemeClr val="accent5">
                  <a:lumOff val="-29866"/>
                </a:scheme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538" name="Lagrangian dual  variables"/>
            <p:cNvSpPr txBox="1"/>
            <p:nvPr/>
          </p:nvSpPr>
          <p:spPr>
            <a:xfrm>
              <a:off x="0" y="1479316"/>
              <a:ext cx="3908057" cy="99441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p>
              <a:pPr algn="ctr">
                <a:defRPr sz="3200">
                  <a:solidFill>
                    <a:schemeClr val="accent5">
                      <a:lumOff val="-29866"/>
                    </a:schemeClr>
                  </a:solidFill>
                </a:defRPr>
              </a:pPr>
              <a:r>
                <a:t>Lagrangian dual </a:t>
              </a:r>
              <a:br/>
              <a:r>
                <a:t>variables</a:t>
              </a:r>
            </a:p>
          </p:txBody>
        </p:sp>
      </p:grpSp>
      <p:sp>
        <p:nvSpPr>
          <p:cNvPr id="540" name="Rectangle"/>
          <p:cNvSpPr/>
          <p:nvPr/>
        </p:nvSpPr>
        <p:spPr>
          <a:xfrm>
            <a:off x="14609323" y="6142895"/>
            <a:ext cx="8770918" cy="2198564"/>
          </a:xfrm>
          <a:prstGeom prst="rect">
            <a:avLst/>
          </a:prstGeom>
          <a:solidFill>
            <a:schemeClr val="accent1">
              <a:lumOff val="16847"/>
              <a:alpha val="20260"/>
            </a:schemeClr>
          </a:solidFill>
          <a:ln w="12700">
            <a:solidFill>
              <a:schemeClr val="accent1">
                <a:hueOff val="114395"/>
                <a:lumOff val="-24975"/>
              </a:schemeClr>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nvGrpSpPr>
          <p:cNvPr id="543" name="Group"/>
          <p:cNvGrpSpPr/>
          <p:nvPr/>
        </p:nvGrpSpPr>
        <p:grpSpPr>
          <a:xfrm>
            <a:off x="1028827" y="8301441"/>
            <a:ext cx="22335703" cy="922080"/>
            <a:chOff x="0" y="0"/>
            <a:chExt cx="22335701" cy="922078"/>
          </a:xfrm>
        </p:grpSpPr>
        <p:sp>
          <p:nvSpPr>
            <p:cNvPr id="541" name="Rectangle"/>
            <p:cNvSpPr/>
            <p:nvPr/>
          </p:nvSpPr>
          <p:spPr>
            <a:xfrm>
              <a:off x="0" y="0"/>
              <a:ext cx="1226794" cy="922079"/>
            </a:xfrm>
            <a:prstGeom prst="rect">
              <a:avLst/>
            </a:prstGeom>
            <a:solidFill>
              <a:schemeClr val="accent5">
                <a:hueOff val="-152895"/>
                <a:lumOff val="12368"/>
                <a:alpha val="20000"/>
              </a:schemeClr>
            </a:solidFill>
            <a:ln w="12700" cap="flat">
              <a:solidFill>
                <a:schemeClr val="accent5">
                  <a:lumOff val="-29866"/>
                </a:scheme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542" name="Rectangle"/>
            <p:cNvSpPr/>
            <p:nvPr/>
          </p:nvSpPr>
          <p:spPr>
            <a:xfrm>
              <a:off x="13596204" y="139350"/>
              <a:ext cx="8739498" cy="672730"/>
            </a:xfrm>
            <a:prstGeom prst="rect">
              <a:avLst/>
            </a:prstGeom>
            <a:solidFill>
              <a:schemeClr val="accent5">
                <a:hueOff val="-152895"/>
                <a:lumOff val="12368"/>
                <a:alpha val="20000"/>
              </a:schemeClr>
            </a:solidFill>
            <a:ln w="12700" cap="flat">
              <a:solidFill>
                <a:schemeClr val="accent5">
                  <a:lumOff val="-29866"/>
                </a:scheme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pic>
        <p:nvPicPr>
          <p:cNvPr id="544" name="Image" descr="Image"/>
          <p:cNvPicPr>
            <a:picLocks noChangeAspect="1"/>
          </p:cNvPicPr>
          <p:nvPr/>
        </p:nvPicPr>
        <p:blipFill>
          <a:blip r:embed="rId7"/>
          <a:stretch>
            <a:fillRect/>
          </a:stretch>
        </p:blipFill>
        <p:spPr>
          <a:xfrm>
            <a:off x="667128" y="7581645"/>
            <a:ext cx="13051454" cy="2060822"/>
          </a:xfrm>
          <a:prstGeom prst="rect">
            <a:avLst/>
          </a:prstGeom>
          <a:ln w="12700">
            <a:miter lim="400000"/>
          </a:ln>
        </p:spPr>
      </p:pic>
      <p:pic>
        <p:nvPicPr>
          <p:cNvPr id="545" name="Screen Shot 2022-10-17 at 11.39.00 AM.png" descr="Screen Shot 2022-10-17 at 11.39.00 AM.png"/>
          <p:cNvPicPr>
            <a:picLocks noChangeAspect="1"/>
          </p:cNvPicPr>
          <p:nvPr/>
        </p:nvPicPr>
        <p:blipFill>
          <a:blip r:embed="rId8"/>
          <a:stretch>
            <a:fillRect/>
          </a:stretch>
        </p:blipFill>
        <p:spPr>
          <a:xfrm>
            <a:off x="9162284" y="13133632"/>
            <a:ext cx="362129" cy="322980"/>
          </a:xfrm>
          <a:prstGeom prst="rect">
            <a:avLst/>
          </a:prstGeom>
          <a:ln w="12700">
            <a:miter lim="400000"/>
          </a:ln>
        </p:spPr>
      </p:pic>
      <p:sp>
        <p:nvSpPr>
          <p:cNvPr id="546" name="see our work on differentiable optimization AAAI:20, ECML:20, NeurIPS:23…"/>
          <p:cNvSpPr txBox="1"/>
          <p:nvPr/>
        </p:nvSpPr>
        <p:spPr>
          <a:xfrm>
            <a:off x="9566787" y="13066521"/>
            <a:ext cx="9375429"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400"/>
            </a:lvl1pPr>
          </a:lstStyle>
          <a:p>
            <a:r>
              <a:t>see our work on differentiable optimization AAAI:20, ECML:20, NeurIPS:23…</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iterate>
                                    <p:tmAbs val="0"/>
                                  </p:iterate>
                                  <p:childTnLst>
                                    <p:set>
                                      <p:cBhvr>
                                        <p:cTn id="6" fill="hold"/>
                                        <p:tgtEl>
                                          <p:spTgt spid="52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5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5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5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iterate>
                                    <p:tmAbs val="0"/>
                                  </p:iterate>
                                  <p:childTnLst>
                                    <p:set>
                                      <p:cBhvr>
                                        <p:cTn id="22" fill="hold"/>
                                        <p:tgtEl>
                                          <p:spTgt spid="5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6" nodeType="clickEffect">
                                  <p:stCondLst>
                                    <p:cond delay="0"/>
                                  </p:stCondLst>
                                  <p:iterate>
                                    <p:tmAbs val="0"/>
                                  </p:iterate>
                                  <p:childTnLst>
                                    <p:set>
                                      <p:cBhvr>
                                        <p:cTn id="26" fill="hold">
                                          <p:stCondLst>
                                            <p:cond delay="0"/>
                                          </p:stCondLst>
                                        </p:cTn>
                                        <p:tgtEl>
                                          <p:spTgt spid="539"/>
                                        </p:tgtEl>
                                        <p:attrNameLst>
                                          <p:attrName>style.visibility</p:attrName>
                                        </p:attrNameLst>
                                      </p:cBhvr>
                                      <p:to>
                                        <p:strVal val="hidden"/>
                                      </p:to>
                                    </p:set>
                                  </p:childTnLst>
                                </p:cTn>
                              </p:par>
                            </p:childTnLst>
                          </p:cTn>
                        </p:par>
                        <p:par>
                          <p:cTn id="27" fill="hold">
                            <p:stCondLst>
                              <p:cond delay="0"/>
                            </p:stCondLst>
                            <p:childTnLst>
                              <p:par>
                                <p:cTn id="28" presetID="1" presetClass="exit" presetSubtype="0" fill="hold" grpId="7" nodeType="afterEffect">
                                  <p:stCondLst>
                                    <p:cond delay="0"/>
                                  </p:stCondLst>
                                  <p:iterate>
                                    <p:tmAbs val="0"/>
                                  </p:iterate>
                                  <p:childTnLst>
                                    <p:set>
                                      <p:cBhvr>
                                        <p:cTn id="29" fill="hold">
                                          <p:stCondLst>
                                            <p:cond delay="0"/>
                                          </p:stCondLst>
                                        </p:cTn>
                                        <p:tgtEl>
                                          <p:spTgt spid="532"/>
                                        </p:tgtEl>
                                        <p:attrNameLst>
                                          <p:attrName>style.visibility</p:attrName>
                                        </p:attrNameLst>
                                      </p:cBhvr>
                                      <p:to>
                                        <p:strVal val="hidden"/>
                                      </p:to>
                                    </p:set>
                                  </p:childTnLst>
                                </p:cTn>
                              </p:par>
                            </p:childTnLst>
                          </p:cTn>
                        </p:par>
                        <p:par>
                          <p:cTn id="30" fill="hold">
                            <p:stCondLst>
                              <p:cond delay="0"/>
                            </p:stCondLst>
                            <p:childTnLst>
                              <p:par>
                                <p:cTn id="31" presetID="1" presetClass="exit" presetSubtype="0" fill="hold" grpId="8" nodeType="afterEffect">
                                  <p:stCondLst>
                                    <p:cond delay="0"/>
                                  </p:stCondLst>
                                  <p:iterate>
                                    <p:tmAbs val="0"/>
                                  </p:iterate>
                                  <p:childTnLst>
                                    <p:set>
                                      <p:cBhvr>
                                        <p:cTn id="32" fill="hold">
                                          <p:stCondLst>
                                            <p:cond delay="0"/>
                                          </p:stCondLst>
                                        </p:cTn>
                                        <p:tgtEl>
                                          <p:spTgt spid="536"/>
                                        </p:tgtEl>
                                        <p:attrNameLst>
                                          <p:attrName>style.visibility</p:attrName>
                                        </p:attrNameLst>
                                      </p:cBhvr>
                                      <p:to>
                                        <p:strVal val="hidden"/>
                                      </p:to>
                                    </p:set>
                                  </p:childTnLst>
                                </p:cTn>
                              </p:par>
                            </p:childTnLst>
                          </p:cTn>
                        </p:par>
                        <p:par>
                          <p:cTn id="33" fill="hold">
                            <p:stCondLst>
                              <p:cond delay="0"/>
                            </p:stCondLst>
                            <p:childTnLst>
                              <p:par>
                                <p:cTn id="34" presetID="1" presetClass="entr" presetSubtype="0" fill="hold" grpId="1" nodeType="afterEffect">
                                  <p:stCondLst>
                                    <p:cond delay="0"/>
                                  </p:stCondLst>
                                  <p:iterate>
                                    <p:tmAbs val="0"/>
                                  </p:iterate>
                                  <p:childTnLst>
                                    <p:set>
                                      <p:cBhvr>
                                        <p:cTn id="35" fill="hold"/>
                                        <p:tgtEl>
                                          <p:spTgt spid="525">
                                            <p:txEl>
                                              <p:pRg st="2" end="2"/>
                                            </p:txEl>
                                          </p:spTgt>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9" nodeType="afterEffect">
                                  <p:stCondLst>
                                    <p:cond delay="0"/>
                                  </p:stCondLst>
                                  <p:iterate>
                                    <p:tmAbs val="0"/>
                                  </p:iterate>
                                  <p:childTnLst>
                                    <p:set>
                                      <p:cBhvr>
                                        <p:cTn id="38" fill="hold"/>
                                        <p:tgtEl>
                                          <p:spTgt spid="529"/>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grpId="10" nodeType="afterEffect">
                                  <p:stCondLst>
                                    <p:cond delay="0"/>
                                  </p:stCondLst>
                                  <p:iterate>
                                    <p:tmAbs val="0"/>
                                  </p:iterate>
                                  <p:childTnLst>
                                    <p:set>
                                      <p:cBhvr>
                                        <p:cTn id="41" fill="hold"/>
                                        <p:tgtEl>
                                          <p:spTgt spid="522"/>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grpId="11" nodeType="afterEffect">
                                  <p:stCondLst>
                                    <p:cond delay="0"/>
                                  </p:stCondLst>
                                  <p:iterate>
                                    <p:tmAbs val="0"/>
                                  </p:iterate>
                                  <p:childTnLst>
                                    <p:set>
                                      <p:cBhvr>
                                        <p:cTn id="44" fill="hold"/>
                                        <p:tgtEl>
                                          <p:spTgt spid="5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2" nodeType="clickEffect">
                                  <p:stCondLst>
                                    <p:cond delay="0"/>
                                  </p:stCondLst>
                                  <p:iterate>
                                    <p:tmAbs val="0"/>
                                  </p:iterate>
                                  <p:childTnLst>
                                    <p:set>
                                      <p:cBhvr>
                                        <p:cTn id="48" fill="hold"/>
                                        <p:tgtEl>
                                          <p:spTgt spid="5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 grpId="10" animBg="1" advAuto="0"/>
      <p:bldP spid="525" grpId="1" build="p" bldLvl="5" animBg="1" advAuto="0"/>
      <p:bldP spid="529" grpId="9" animBg="1" advAuto="0"/>
      <p:bldP spid="532" grpId="3" animBg="1" advAuto="0"/>
      <p:bldP spid="532" grpId="7" animBg="1" advAuto="0"/>
      <p:bldP spid="536" grpId="4" animBg="1" advAuto="0"/>
      <p:bldP spid="536" grpId="8" animBg="1" advAuto="0"/>
      <p:bldP spid="539" grpId="5" animBg="1" advAuto="0"/>
      <p:bldP spid="539" grpId="6" animBg="1" advAuto="0"/>
      <p:bldP spid="540" grpId="11" animBg="1" advAuto="0"/>
      <p:bldP spid="543" grpId="12" animBg="1" advAuto="0"/>
      <p:bldP spid="544" grpId="2"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Rectangle"/>
          <p:cNvSpPr/>
          <p:nvPr/>
        </p:nvSpPr>
        <p:spPr>
          <a:xfrm>
            <a:off x="3130670" y="6336857"/>
            <a:ext cx="2054210" cy="2651468"/>
          </a:xfrm>
          <a:prstGeom prst="rect">
            <a:avLst/>
          </a:prstGeom>
          <a:solidFill>
            <a:schemeClr val="accent1">
              <a:lumOff val="16847"/>
              <a:alpha val="30344"/>
            </a:schemeClr>
          </a:solidFill>
          <a:ln w="12700">
            <a:solidFill>
              <a:srgbClr val="000000">
                <a:alpha val="30344"/>
              </a:srgbClr>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549" name="Safe autonomy: constrained trajectory"/>
          <p:cNvSpPr txBox="1">
            <a:spLocks noGrp="1"/>
          </p:cNvSpPr>
          <p:nvPr>
            <p:ph type="title"/>
          </p:nvPr>
        </p:nvSpPr>
        <p:spPr>
          <a:prstGeom prst="rect">
            <a:avLst/>
          </a:prstGeom>
        </p:spPr>
        <p:txBody>
          <a:bodyPr/>
          <a:lstStyle/>
          <a:p>
            <a:r>
              <a:t>Safe autonomy: constrained trajectory</a:t>
            </a:r>
          </a:p>
        </p:txBody>
      </p:sp>
      <p:sp>
        <p:nvSpPr>
          <p:cNvPr id="550" name="Experimental results"/>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Experimental results</a:t>
            </a:r>
          </a:p>
        </p:txBody>
      </p:sp>
      <p:sp>
        <p:nvSpPr>
          <p:cNvPr id="55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13</a:t>
            </a:fld>
            <a:endParaRPr/>
          </a:p>
        </p:txBody>
      </p:sp>
      <p:pic>
        <p:nvPicPr>
          <p:cNvPr id="552" name="baseline-traj-opt-iters.mp4" descr="baseline-traj-opt-iters.mp4"/>
          <p:cNvPicPr>
            <a:picLocks/>
          </p:cNvPicPr>
          <p:nvPr>
            <a:videoFile r:link="rId2"/>
            <p:extLst>
              <p:ext uri="{DAA4B4D4-6D71-4841-9C94-3DE7FCFB9230}">
                <p14:media xmlns:p14="http://schemas.microsoft.com/office/powerpoint/2010/main" r:embed="rId1"/>
              </p:ext>
            </p:extLst>
          </p:nvPr>
        </p:nvPicPr>
        <p:blipFill>
          <a:blip r:embed="rId6"/>
          <a:stretch>
            <a:fillRect/>
          </a:stretch>
        </p:blipFill>
        <p:spPr>
          <a:xfrm>
            <a:off x="9968200" y="5679549"/>
            <a:ext cx="8831548" cy="6623661"/>
          </a:xfrm>
          <a:prstGeom prst="rect">
            <a:avLst/>
          </a:prstGeom>
          <a:ln w="12700">
            <a:miter lim="400000"/>
          </a:ln>
        </p:spPr>
      </p:pic>
      <p:pic>
        <p:nvPicPr>
          <p:cNvPr id="553" name="traj-ex-1.mp4" descr="traj-ex-1.mp4"/>
          <p:cNvPicPr>
            <a:picLocks/>
          </p:cNvPicPr>
          <p:nvPr>
            <a:videoFile r:link="rId4"/>
            <p:extLst>
              <p:ext uri="{DAA4B4D4-6D71-4841-9C94-3DE7FCFB9230}">
                <p14:media xmlns:p14="http://schemas.microsoft.com/office/powerpoint/2010/main" r:embed="rId3"/>
              </p:ext>
            </p:extLst>
          </p:nvPr>
        </p:nvPicPr>
        <p:blipFill>
          <a:blip r:embed="rId7"/>
          <a:stretch>
            <a:fillRect/>
          </a:stretch>
        </p:blipFill>
        <p:spPr>
          <a:xfrm>
            <a:off x="17065694" y="5818961"/>
            <a:ext cx="8459782" cy="6344837"/>
          </a:xfrm>
          <a:prstGeom prst="rect">
            <a:avLst/>
          </a:prstGeom>
          <a:ln w="12700">
            <a:miter lim="400000"/>
          </a:ln>
        </p:spPr>
      </p:pic>
      <p:sp>
        <p:nvSpPr>
          <p:cNvPr id="554" name="Conditional (MDP) model"/>
          <p:cNvSpPr txBox="1"/>
          <p:nvPr/>
        </p:nvSpPr>
        <p:spPr>
          <a:xfrm>
            <a:off x="12796128" y="4514965"/>
            <a:ext cx="3175691" cy="1161415"/>
          </a:xfrm>
          <a:prstGeom prst="rect">
            <a:avLst/>
          </a:prstGeom>
          <a:ln w="25400">
            <a:solidFill>
              <a:schemeClr val="accent1">
                <a:hueOff val="114395"/>
                <a:lumOff val="-24975"/>
              </a:schemeClr>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spAutoFit/>
          </a:bodyPr>
          <a:lstStyle>
            <a:lvl1pPr algn="ctr" defTabSz="821530">
              <a:lnSpc>
                <a:spcPct val="70000"/>
              </a:lnSpc>
              <a:spcBef>
                <a:spcPts val="0"/>
              </a:spcBef>
              <a:defRPr sz="4000">
                <a:solidFill>
                  <a:schemeClr val="accent1">
                    <a:hueOff val="114395"/>
                    <a:lumOff val="-24975"/>
                  </a:schemeClr>
                </a:solidFill>
                <a:latin typeface="Gill Sans"/>
                <a:ea typeface="Gill Sans"/>
                <a:cs typeface="Gill Sans"/>
                <a:sym typeface="Gill Sans"/>
              </a:defRPr>
            </a:lvl1pPr>
          </a:lstStyle>
          <a:p>
            <a:r>
              <a:t>Conditional (MDP) model</a:t>
            </a:r>
          </a:p>
        </p:txBody>
      </p:sp>
      <p:pic>
        <p:nvPicPr>
          <p:cNvPr id="555" name="Image" descr="Image"/>
          <p:cNvPicPr>
            <a:picLocks noChangeAspect="1"/>
          </p:cNvPicPr>
          <p:nvPr/>
        </p:nvPicPr>
        <p:blipFill>
          <a:blip r:embed="rId8"/>
          <a:stretch>
            <a:fillRect/>
          </a:stretch>
        </p:blipFill>
        <p:spPr>
          <a:xfrm>
            <a:off x="762026" y="5791910"/>
            <a:ext cx="9740418" cy="5169199"/>
          </a:xfrm>
          <a:prstGeom prst="rect">
            <a:avLst/>
          </a:prstGeom>
          <a:ln w="12700">
            <a:miter lim="400000"/>
          </a:ln>
        </p:spPr>
      </p:pic>
      <p:sp>
        <p:nvSpPr>
          <p:cNvPr id="556" name="Rectangle"/>
          <p:cNvSpPr/>
          <p:nvPr/>
        </p:nvSpPr>
        <p:spPr>
          <a:xfrm>
            <a:off x="13562671" y="5838271"/>
            <a:ext cx="1642605" cy="342657"/>
          </a:xfrm>
          <a:prstGeom prst="rect">
            <a:avLst/>
          </a:prstGeom>
          <a:solidFill>
            <a:srgbClr val="FFFFFF"/>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557" name="Rectangle"/>
          <p:cNvSpPr/>
          <p:nvPr/>
        </p:nvSpPr>
        <p:spPr>
          <a:xfrm>
            <a:off x="20626795" y="5965271"/>
            <a:ext cx="1642605" cy="342657"/>
          </a:xfrm>
          <a:prstGeom prst="rect">
            <a:avLst/>
          </a:prstGeom>
          <a:solidFill>
            <a:srgbClr val="FFFFFF"/>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nvGrpSpPr>
          <p:cNvPr id="560" name="Group"/>
          <p:cNvGrpSpPr/>
          <p:nvPr/>
        </p:nvGrpSpPr>
        <p:grpSpPr>
          <a:xfrm>
            <a:off x="19981643" y="4708560"/>
            <a:ext cx="2627884" cy="728411"/>
            <a:chOff x="0" y="0"/>
            <a:chExt cx="2627882" cy="728409"/>
          </a:xfrm>
        </p:grpSpPr>
        <p:sp>
          <p:nvSpPr>
            <p:cNvPr id="558" name="Rectangle"/>
            <p:cNvSpPr/>
            <p:nvPr/>
          </p:nvSpPr>
          <p:spPr>
            <a:xfrm>
              <a:off x="49085" y="0"/>
              <a:ext cx="2553839" cy="728410"/>
            </a:xfrm>
            <a:prstGeom prst="rect">
              <a:avLst/>
            </a:prstGeom>
            <a:solidFill>
              <a:schemeClr val="accent1">
                <a:lumOff val="16847"/>
                <a:alpha val="30344"/>
              </a:schemeClr>
            </a:solidFill>
            <a:ln w="12700" cap="flat">
              <a:solidFill>
                <a:srgbClr val="000000">
                  <a:alpha val="30344"/>
                </a:srgb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559" name="Group"/>
            <p:cNvSpPr/>
            <p:nvPr/>
          </p:nvSpPr>
          <p:spPr>
            <a:xfrm>
              <a:off x="0" y="397986"/>
              <a:ext cx="2627883"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25400" cap="flat">
              <a:solidFill>
                <a:schemeClr val="accent1">
                  <a:hueOff val="114395"/>
                  <a:lumOff val="-24975"/>
                </a:schemeClr>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6" tIns="71436" rIns="71436" bIns="71436" numCol="1" anchor="ctr">
              <a:spAutoFit/>
            </a:bodyPr>
            <a:lstStyle>
              <a:lvl1pPr algn="ctr" defTabSz="821530">
                <a:lnSpc>
                  <a:spcPct val="70000"/>
                </a:lnSpc>
                <a:spcBef>
                  <a:spcPts val="0"/>
                </a:spcBef>
                <a:defRPr sz="4000">
                  <a:solidFill>
                    <a:schemeClr val="accent1">
                      <a:hueOff val="114395"/>
                      <a:lumOff val="-24975"/>
                    </a:schemeClr>
                  </a:solidFill>
                  <a:latin typeface="Gill Sans"/>
                  <a:ea typeface="Gill Sans"/>
                  <a:cs typeface="Gill Sans"/>
                  <a:sym typeface="Gill Sans"/>
                </a:defRPr>
              </a:lvl1pPr>
            </a:lstStyle>
            <a:p>
              <a:r>
                <a:t>CADM</a:t>
              </a:r>
            </a:p>
          </p:txBody>
        </p:sp>
      </p:grpSp>
      <p:sp>
        <p:nvSpPr>
          <p:cNvPr id="561" name="CADM"/>
          <p:cNvSpPr txBox="1"/>
          <p:nvPr/>
        </p:nvSpPr>
        <p:spPr>
          <a:xfrm>
            <a:off x="3223417" y="6342543"/>
            <a:ext cx="1868717" cy="558801"/>
          </a:xfrm>
          <a:prstGeom prst="rect">
            <a:avLst/>
          </a:prstGeom>
          <a:solidFill>
            <a:srgbClr val="D4EBFD"/>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ctr" defTabSz="821530">
              <a:lnSpc>
                <a:spcPct val="70000"/>
              </a:lnSpc>
              <a:spcBef>
                <a:spcPts val="0"/>
              </a:spcBef>
              <a:defRPr sz="3200">
                <a:solidFill>
                  <a:schemeClr val="accent1">
                    <a:hueOff val="114395"/>
                    <a:lumOff val="-24975"/>
                  </a:schemeClr>
                </a:solidFill>
                <a:latin typeface="Gill Sans"/>
                <a:ea typeface="Gill Sans"/>
                <a:cs typeface="Gill Sans"/>
                <a:sym typeface="Gill Sans"/>
              </a:defRPr>
            </a:lvl1pPr>
          </a:lstStyle>
          <a:p>
            <a:r>
              <a:t>CADM</a:t>
            </a:r>
          </a:p>
        </p:txBody>
      </p:sp>
      <p:sp>
        <p:nvSpPr>
          <p:cNvPr id="562" name="Key results: 100% non-collision satisfaction rate on the test cases adopted without producing notable degradation to path length."/>
          <p:cNvSpPr txBox="1"/>
          <p:nvPr/>
        </p:nvSpPr>
        <p:spPr>
          <a:xfrm>
            <a:off x="1206500" y="3043458"/>
            <a:ext cx="21971000" cy="19920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a:lnSpc>
                <a:spcPct val="100000"/>
              </a:lnSpc>
            </a:pPr>
            <a:r>
              <a:rPr>
                <a:solidFill>
                  <a:schemeClr val="accent5">
                    <a:lumOff val="-29866"/>
                  </a:schemeClr>
                </a:solidFill>
              </a:rPr>
              <a:t>Key results</a:t>
            </a:r>
            <a:r>
              <a:t>: 100% non-collision satisfaction rate on the test cases adopted without producing notable degradation to path length. </a:t>
            </a:r>
          </a:p>
        </p:txBody>
      </p:sp>
      <p:sp>
        <p:nvSpPr>
          <p:cNvPr id="563" name="Motion Planning Diffusion (MPD)  [Carvalho et al., IROS 2023]"/>
          <p:cNvSpPr txBox="1"/>
          <p:nvPr/>
        </p:nvSpPr>
        <p:spPr>
          <a:xfrm>
            <a:off x="11619509" y="12073366"/>
            <a:ext cx="5528931" cy="15544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ctr">
              <a:defRPr sz="2900"/>
            </a:pPr>
            <a:r>
              <a:t>Motion Planning Diffusion (MPD) </a:t>
            </a:r>
            <a:br/>
            <a:r>
              <a:t>[</a:t>
            </a:r>
            <a:r>
              <a:rPr u="sng">
                <a:hlinkClick r:id="rId9"/>
              </a:rPr>
              <a:t>Carvalho et al., IROS 2023</a:t>
            </a:r>
            <a:r>
              <a:t>]</a:t>
            </a:r>
          </a:p>
        </p:txBody>
      </p:sp>
      <p:sp>
        <p:nvSpPr>
          <p:cNvPr id="564" name="Our work (NeurIPS-24)"/>
          <p:cNvSpPr txBox="1"/>
          <p:nvPr/>
        </p:nvSpPr>
        <p:spPr>
          <a:xfrm>
            <a:off x="18683632" y="12261961"/>
            <a:ext cx="5528931" cy="11772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ctr">
              <a:defRPr sz="2900"/>
            </a:pPr>
            <a:r>
              <a:t>Our work (</a:t>
            </a:r>
            <a:r>
              <a:rPr u="sng">
                <a:hlinkClick r:id="rId10"/>
              </a:rPr>
              <a:t>NeurIPS-24</a:t>
            </a:r>
            <a:r>
              <a: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166" fill="hold"/>
                                        <p:tgtEl>
                                          <p:spTgt spid="552"/>
                                        </p:tgtEl>
                                      </p:cBhvr>
                                    </p:cmd>
                                  </p:childTnLst>
                                </p:cTn>
                              </p:par>
                            </p:childTnLst>
                          </p:cTn>
                        </p:par>
                        <p:par>
                          <p:cTn id="7" fill="hold">
                            <p:stCondLst>
                              <p:cond delay="5166"/>
                            </p:stCondLst>
                            <p:childTnLst>
                              <p:par>
                                <p:cTn id="8" presetID="1" presetClass="mediacall" presetSubtype="0" fill="hold" nodeType="afterEffect">
                                  <p:stCondLst>
                                    <p:cond delay="0"/>
                                  </p:stCondLst>
                                  <p:childTnLst>
                                    <p:cmd type="call" cmd="playFrom(0.0)">
                                      <p:cBhvr>
                                        <p:cTn id="9" dur="5000" fill="hold"/>
                                        <p:tgtEl>
                                          <p:spTgt spid="55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10" fill="hold" display="0">
                  <p:stCondLst>
                    <p:cond delay="indefinite"/>
                  </p:stCondLst>
                </p:cTn>
                <p:tgtEl>
                  <p:spTgt spid="552"/>
                </p:tgtEl>
              </p:cMediaNode>
            </p:video>
            <p:seq concurrent="1" prevAc="none" nextAc="seek">
              <p:cTn id="11" restart="whenNotActive" fill="hold" evtFilter="cancelBubble" nodeType="interactiveSeq">
                <p:stCondLst>
                  <p:cond evt="onClick" delay="0">
                    <p:tgtEl>
                      <p:spTgt spid="552"/>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552"/>
                                        </p:tgtEl>
                                      </p:cBhvr>
                                    </p:cmd>
                                  </p:childTnLst>
                                </p:cTn>
                              </p:par>
                            </p:childTnLst>
                          </p:cTn>
                        </p:par>
                      </p:childTnLst>
                    </p:cTn>
                  </p:par>
                </p:childTnLst>
              </p:cTn>
              <p:nextCondLst>
                <p:cond evt="onClick" delay="0">
                  <p:tgtEl>
                    <p:spTgt spid="552"/>
                  </p:tgtEl>
                </p:cond>
              </p:nextCondLst>
            </p:seq>
            <p:video>
              <p:cMediaNode vol="100000">
                <p:cTn id="16" fill="hold" display="0">
                  <p:stCondLst>
                    <p:cond delay="indefinite"/>
                  </p:stCondLst>
                </p:cTn>
                <p:tgtEl>
                  <p:spTgt spid="553"/>
                </p:tgtEl>
              </p:cMediaNode>
            </p:video>
            <p:seq concurrent="1" prevAc="none" nextAc="seek">
              <p:cTn id="17" restart="whenNotActive" fill="hold" evtFilter="cancelBubble" nodeType="interactiveSeq">
                <p:stCondLst>
                  <p:cond evt="onClick" delay="0">
                    <p:tgtEl>
                      <p:spTgt spid="553"/>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553"/>
                                        </p:tgtEl>
                                      </p:cBhvr>
                                    </p:cmd>
                                  </p:childTnLst>
                                </p:cTn>
                              </p:par>
                            </p:childTnLst>
                          </p:cTn>
                        </p:par>
                      </p:childTnLst>
                    </p:cTn>
                  </p:par>
                </p:childTnLst>
              </p:cTn>
              <p:nextCondLst>
                <p:cond evt="onClick" delay="0">
                  <p:tgtEl>
                    <p:spTgt spid="553"/>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6" name="smd_room.gif" descr="smd_room.gif"/>
          <p:cNvPicPr>
            <a:picLocks/>
          </p:cNvPicPr>
          <p:nvPr/>
        </p:nvPicPr>
        <p:blipFill>
          <a:blip r:embed="rId2"/>
          <a:stretch>
            <a:fillRect/>
          </a:stretch>
        </p:blipFill>
        <p:spPr>
          <a:xfrm>
            <a:off x="15727422" y="5252013"/>
            <a:ext cx="9009734" cy="8955457"/>
          </a:xfrm>
          <a:prstGeom prst="rect">
            <a:avLst/>
          </a:prstGeom>
          <a:ln w="12700">
            <a:miter lim="400000"/>
          </a:ln>
        </p:spPr>
      </p:pic>
      <p:sp>
        <p:nvSpPr>
          <p:cNvPr id="567" name="Safe autonomy: Multi-robot setting"/>
          <p:cNvSpPr txBox="1">
            <a:spLocks noGrp="1"/>
          </p:cNvSpPr>
          <p:nvPr>
            <p:ph type="title"/>
          </p:nvPr>
        </p:nvSpPr>
        <p:spPr>
          <a:prstGeom prst="rect">
            <a:avLst/>
          </a:prstGeom>
        </p:spPr>
        <p:txBody>
          <a:bodyPr/>
          <a:lstStyle/>
          <a:p>
            <a:r>
              <a:t>Safe autonomy: Multi-robot setting</a:t>
            </a:r>
          </a:p>
        </p:txBody>
      </p:sp>
      <p:sp>
        <p:nvSpPr>
          <p:cNvPr id="56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14</a:t>
            </a:fld>
            <a:endParaRPr/>
          </a:p>
        </p:txBody>
      </p:sp>
      <p:sp>
        <p:nvSpPr>
          <p:cNvPr id="569" name="Key results: high success rates in all scenarios (96-100%) while SOTA models performance significantly decreases when increasing the number of robots &lt; 15%."/>
          <p:cNvSpPr txBox="1"/>
          <p:nvPr/>
        </p:nvSpPr>
        <p:spPr>
          <a:xfrm>
            <a:off x="1237226" y="2458557"/>
            <a:ext cx="21971001" cy="19920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a:lnSpc>
                <a:spcPct val="100000"/>
              </a:lnSpc>
            </a:pPr>
            <a:r>
              <a:rPr>
                <a:solidFill>
                  <a:schemeClr val="accent5">
                    <a:lumOff val="-29866"/>
                  </a:schemeClr>
                </a:solidFill>
              </a:rPr>
              <a:t>Key results</a:t>
            </a:r>
            <a:r>
              <a:t>: high success rates in all scenarios (96-100%) while SOTA models performance significantly decreases when increasing the number of robots &lt; 15%. </a:t>
            </a:r>
          </a:p>
        </p:txBody>
      </p:sp>
      <p:sp>
        <p:nvSpPr>
          <p:cNvPr id="570" name="Rectangle"/>
          <p:cNvSpPr/>
          <p:nvPr/>
        </p:nvSpPr>
        <p:spPr>
          <a:xfrm>
            <a:off x="13562671" y="5838271"/>
            <a:ext cx="1642605" cy="342657"/>
          </a:xfrm>
          <a:prstGeom prst="rect">
            <a:avLst/>
          </a:prstGeom>
          <a:solidFill>
            <a:srgbClr val="FFFFFF"/>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571" name="Group"/>
          <p:cNvSpPr txBox="1"/>
          <p:nvPr/>
        </p:nvSpPr>
        <p:spPr>
          <a:xfrm>
            <a:off x="18384969" y="4904487"/>
            <a:ext cx="3694639" cy="1161415"/>
          </a:xfrm>
          <a:prstGeom prst="rect">
            <a:avLst/>
          </a:prstGeom>
          <a:solidFill>
            <a:schemeClr val="accent1">
              <a:lumOff val="16847"/>
              <a:alpha val="20000"/>
            </a:schemeClr>
          </a:solidFill>
          <a:ln w="25400">
            <a:solidFill>
              <a:schemeClr val="accent1">
                <a:hueOff val="114395"/>
                <a:lumOff val="-24975"/>
              </a:schemeClr>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lstStyle>
            <a:lvl1pPr algn="ctr" defTabSz="821530">
              <a:lnSpc>
                <a:spcPct val="70000"/>
              </a:lnSpc>
              <a:spcBef>
                <a:spcPts val="0"/>
              </a:spcBef>
              <a:defRPr sz="4000">
                <a:solidFill>
                  <a:schemeClr val="accent1">
                    <a:hueOff val="114395"/>
                    <a:lumOff val="-24975"/>
                  </a:schemeClr>
                </a:solidFill>
                <a:latin typeface="Gill Sans"/>
                <a:ea typeface="Gill Sans"/>
                <a:cs typeface="Gill Sans"/>
                <a:sym typeface="Gill Sans"/>
              </a:defRPr>
            </a:lvl1pPr>
          </a:lstStyle>
          <a:p>
            <a:r>
              <a:t>Multiple agents</a:t>
            </a:r>
          </a:p>
        </p:txBody>
      </p:sp>
      <p:pic>
        <p:nvPicPr>
          <p:cNvPr id="572" name="smd_corridor.gif" descr="smd_corridor.gif"/>
          <p:cNvPicPr>
            <a:picLocks/>
          </p:cNvPicPr>
          <p:nvPr/>
        </p:nvPicPr>
        <p:blipFill>
          <a:blip r:embed="rId3"/>
          <a:stretch>
            <a:fillRect/>
          </a:stretch>
        </p:blipFill>
        <p:spPr>
          <a:xfrm>
            <a:off x="865178" y="6056061"/>
            <a:ext cx="6771400" cy="6730608"/>
          </a:xfrm>
          <a:prstGeom prst="rect">
            <a:avLst/>
          </a:prstGeom>
          <a:ln w="12700">
            <a:miter lim="400000"/>
          </a:ln>
        </p:spPr>
      </p:pic>
      <p:sp>
        <p:nvSpPr>
          <p:cNvPr id="573" name="Rectangle"/>
          <p:cNvSpPr/>
          <p:nvPr/>
        </p:nvSpPr>
        <p:spPr>
          <a:xfrm>
            <a:off x="447209" y="5981121"/>
            <a:ext cx="1270001" cy="6971073"/>
          </a:xfrm>
          <a:prstGeom prst="rect">
            <a:avLst/>
          </a:prstGeom>
          <a:solidFill>
            <a:srgbClr val="FFFFFF"/>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574" name="Rectangle"/>
          <p:cNvSpPr/>
          <p:nvPr/>
        </p:nvSpPr>
        <p:spPr>
          <a:xfrm>
            <a:off x="6598340" y="5981121"/>
            <a:ext cx="1270001" cy="6971073"/>
          </a:xfrm>
          <a:prstGeom prst="rect">
            <a:avLst/>
          </a:prstGeom>
          <a:solidFill>
            <a:srgbClr val="FFFFFF"/>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pic>
        <p:nvPicPr>
          <p:cNvPr id="575" name="Image" descr="Image"/>
          <p:cNvPicPr>
            <a:picLocks noChangeAspect="1"/>
          </p:cNvPicPr>
          <p:nvPr/>
        </p:nvPicPr>
        <p:blipFill>
          <a:blip r:embed="rId4"/>
          <a:stretch>
            <a:fillRect/>
          </a:stretch>
        </p:blipFill>
        <p:spPr>
          <a:xfrm>
            <a:off x="7081064" y="5279210"/>
            <a:ext cx="9128142" cy="6724776"/>
          </a:xfrm>
          <a:prstGeom prst="rect">
            <a:avLst/>
          </a:prstGeom>
          <a:ln w="12700">
            <a:miter lim="400000"/>
          </a:ln>
        </p:spPr>
      </p:pic>
      <p:sp>
        <p:nvSpPr>
          <p:cNvPr id="576" name="Rectangle"/>
          <p:cNvSpPr/>
          <p:nvPr/>
        </p:nvSpPr>
        <p:spPr>
          <a:xfrm>
            <a:off x="1509673" y="5977001"/>
            <a:ext cx="5174158" cy="422130"/>
          </a:xfrm>
          <a:prstGeom prst="rect">
            <a:avLst/>
          </a:prstGeom>
          <a:solidFill>
            <a:srgbClr val="FFFFFF"/>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577" name="Group"/>
          <p:cNvSpPr txBox="1"/>
          <p:nvPr/>
        </p:nvSpPr>
        <p:spPr>
          <a:xfrm>
            <a:off x="1715214" y="4904487"/>
            <a:ext cx="4885122" cy="1161415"/>
          </a:xfrm>
          <a:prstGeom prst="rect">
            <a:avLst/>
          </a:prstGeom>
          <a:solidFill>
            <a:schemeClr val="accent1">
              <a:lumOff val="16847"/>
              <a:alpha val="20000"/>
            </a:schemeClr>
          </a:solidFill>
          <a:ln w="25400">
            <a:solidFill>
              <a:schemeClr val="accent1">
                <a:hueOff val="114395"/>
                <a:lumOff val="-24975"/>
              </a:schemeClr>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lstStyle>
            <a:lvl1pPr algn="ctr" defTabSz="821530">
              <a:lnSpc>
                <a:spcPct val="70000"/>
              </a:lnSpc>
              <a:spcBef>
                <a:spcPts val="0"/>
              </a:spcBef>
              <a:defRPr sz="4000">
                <a:solidFill>
                  <a:schemeClr val="accent1">
                    <a:hueOff val="114395"/>
                    <a:lumOff val="-24975"/>
                  </a:schemeClr>
                </a:solidFill>
                <a:latin typeface="Gill Sans"/>
                <a:ea typeface="Gill Sans"/>
                <a:cs typeface="Gill Sans"/>
                <a:sym typeface="Gill Sans"/>
              </a:defRPr>
            </a:lvl1pPr>
          </a:lstStyle>
          <a:p>
            <a:r>
              <a:t>Emergent behavior</a:t>
            </a:r>
          </a:p>
        </p:txBody>
      </p:sp>
      <p:pic>
        <p:nvPicPr>
          <p:cNvPr id="578" name="Screen Shot 2022-10-17 at 11.39.00 AM.png" descr="Screen Shot 2022-10-17 at 11.39.00 AM.png">
            <a:hlinkClick r:id="rId5"/>
          </p:cNvPr>
          <p:cNvPicPr>
            <a:picLocks noChangeAspect="1"/>
          </p:cNvPicPr>
          <p:nvPr/>
        </p:nvPicPr>
        <p:blipFill>
          <a:blip r:embed="rId6"/>
          <a:stretch>
            <a:fillRect/>
          </a:stretch>
        </p:blipFill>
        <p:spPr>
          <a:xfrm>
            <a:off x="11256398" y="13122364"/>
            <a:ext cx="362129" cy="322980"/>
          </a:xfrm>
          <a:prstGeom prst="rect">
            <a:avLst/>
          </a:prstGeom>
          <a:ln w="12700">
            <a:miter lim="400000"/>
          </a:ln>
        </p:spPr>
      </p:pic>
      <p:sp>
        <p:nvSpPr>
          <p:cNvPr id="579" name="ICML:25">
            <a:hlinkClick r:id="rId5"/>
          </p:cNvPr>
          <p:cNvSpPr txBox="1"/>
          <p:nvPr/>
        </p:nvSpPr>
        <p:spPr>
          <a:xfrm>
            <a:off x="11660900" y="13055254"/>
            <a:ext cx="1123653"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400"/>
            </a:lvl1pPr>
          </a:lstStyle>
          <a:p>
            <a:r>
              <a:t>ICML:25</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 name="Safe autonomy: Scaling to large systems"/>
          <p:cNvSpPr txBox="1">
            <a:spLocks noGrp="1"/>
          </p:cNvSpPr>
          <p:nvPr>
            <p:ph type="title"/>
          </p:nvPr>
        </p:nvSpPr>
        <p:spPr>
          <a:prstGeom prst="rect">
            <a:avLst/>
          </a:prstGeom>
        </p:spPr>
        <p:txBody>
          <a:bodyPr/>
          <a:lstStyle/>
          <a:p>
            <a:r>
              <a:t>Safe autonomy: Scaling to large systems</a:t>
            </a:r>
          </a:p>
        </p:txBody>
      </p:sp>
      <p:sp>
        <p:nvSpPr>
          <p:cNvPr id="58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15</a:t>
            </a:fld>
            <a:endParaRPr/>
          </a:p>
        </p:txBody>
      </p:sp>
      <p:pic>
        <p:nvPicPr>
          <p:cNvPr id="583" name="dgd_overview.pdf" descr="dgd_overview.pdf"/>
          <p:cNvPicPr>
            <a:picLocks noChangeAspect="1"/>
          </p:cNvPicPr>
          <p:nvPr/>
        </p:nvPicPr>
        <p:blipFill>
          <a:blip r:embed="rId2"/>
          <a:stretch>
            <a:fillRect/>
          </a:stretch>
        </p:blipFill>
        <p:spPr>
          <a:xfrm>
            <a:off x="1170318" y="2732705"/>
            <a:ext cx="22043364" cy="4959768"/>
          </a:xfrm>
          <a:prstGeom prst="rect">
            <a:avLst/>
          </a:prstGeom>
          <a:ln w="12700">
            <a:miter lim="400000"/>
          </a:ln>
        </p:spPr>
      </p:pic>
      <p:pic>
        <p:nvPicPr>
          <p:cNvPr id="584" name="big_100_right.pdf" descr="big_100_right.pdf"/>
          <p:cNvPicPr>
            <a:picLocks/>
          </p:cNvPicPr>
          <p:nvPr/>
        </p:nvPicPr>
        <p:blipFill>
          <a:blip r:embed="rId3"/>
          <a:srcRect l="23030"/>
          <a:stretch>
            <a:fillRect/>
          </a:stretch>
        </p:blipFill>
        <p:spPr>
          <a:xfrm rot="5400000">
            <a:off x="9522235" y="2103427"/>
            <a:ext cx="4509580" cy="16540762"/>
          </a:xfrm>
          <a:prstGeom prst="rect">
            <a:avLst/>
          </a:prstGeom>
          <a:ln w="12700">
            <a:miter lim="400000"/>
          </a:ln>
        </p:spPr>
      </p:pic>
      <p:sp>
        <p:nvSpPr>
          <p:cNvPr id="585" name="No collisions using 100 agents!"/>
          <p:cNvSpPr txBox="1"/>
          <p:nvPr/>
        </p:nvSpPr>
        <p:spPr>
          <a:xfrm>
            <a:off x="19686068" y="9351631"/>
            <a:ext cx="3784255" cy="1193699"/>
          </a:xfrm>
          <a:prstGeom prst="rect">
            <a:avLst/>
          </a:prstGeom>
          <a:solidFill>
            <a:schemeClr val="accent5">
              <a:hueOff val="-152895"/>
              <a:lumOff val="12368"/>
              <a:alpha val="20000"/>
            </a:schemeClr>
          </a:solidFill>
          <a:ln w="12700">
            <a:solidFill>
              <a:schemeClr val="accent5">
                <a:lumOff val="-29866"/>
              </a:schemeClr>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ctr" defTabSz="825500">
              <a:lnSpc>
                <a:spcPct val="100000"/>
              </a:lnSpc>
              <a:spcBef>
                <a:spcPts val="0"/>
              </a:spcBef>
              <a:defRPr sz="3600">
                <a:latin typeface="+mn-lt"/>
                <a:ea typeface="+mn-ea"/>
                <a:cs typeface="+mn-cs"/>
                <a:sym typeface="Helvetica Neue"/>
              </a:defRPr>
            </a:lvl1pPr>
          </a:lstStyle>
          <a:p>
            <a:r>
              <a:t>No collisions using 100 agents!</a:t>
            </a:r>
          </a:p>
        </p:txBody>
      </p:sp>
      <p:pic>
        <p:nvPicPr>
          <p:cNvPr id="586" name="Screen Shot 2022-10-17 at 11.39.00 AM.png" descr="Screen Shot 2022-10-17 at 11.39.00 AM.png">
            <a:hlinkClick r:id="rId4"/>
          </p:cNvPr>
          <p:cNvPicPr>
            <a:picLocks noChangeAspect="1"/>
          </p:cNvPicPr>
          <p:nvPr/>
        </p:nvPicPr>
        <p:blipFill>
          <a:blip r:embed="rId5"/>
          <a:stretch>
            <a:fillRect/>
          </a:stretch>
        </p:blipFill>
        <p:spPr>
          <a:xfrm>
            <a:off x="11256398" y="13122364"/>
            <a:ext cx="362129" cy="322980"/>
          </a:xfrm>
          <a:prstGeom prst="rect">
            <a:avLst/>
          </a:prstGeom>
          <a:ln w="12700">
            <a:miter lim="400000"/>
          </a:ln>
        </p:spPr>
      </p:pic>
      <p:sp>
        <p:nvSpPr>
          <p:cNvPr id="587" name="AAAI:26">
            <a:hlinkClick r:id="rId4"/>
          </p:cNvPr>
          <p:cNvSpPr txBox="1"/>
          <p:nvPr/>
        </p:nvSpPr>
        <p:spPr>
          <a:xfrm>
            <a:off x="11660900" y="13055254"/>
            <a:ext cx="1146275"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400"/>
            </a:lvl1pPr>
          </a:lstStyle>
          <a:p>
            <a:r>
              <a:t>AAAI:26</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8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5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 grpId="1" animBg="1" advAuto="0"/>
      <p:bldP spid="585" grpId="2"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9" name="nicola_traj.gif" descr="nicola_traj.gif"/>
          <p:cNvPicPr>
            <a:picLocks/>
          </p:cNvPicPr>
          <p:nvPr/>
        </p:nvPicPr>
        <p:blipFill>
          <a:blip r:embed="rId2"/>
          <a:stretch>
            <a:fillRect/>
          </a:stretch>
        </p:blipFill>
        <p:spPr>
          <a:xfrm>
            <a:off x="11724708" y="750307"/>
            <a:ext cx="13716001" cy="13716001"/>
          </a:xfrm>
          <a:prstGeom prst="rect">
            <a:avLst/>
          </a:prstGeom>
          <a:ln w="12700">
            <a:miter lim="400000"/>
          </a:ln>
        </p:spPr>
      </p:pic>
      <p:sp>
        <p:nvSpPr>
          <p:cNvPr id="590" name="Handling failures"/>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Handling failures</a:t>
            </a:r>
          </a:p>
        </p:txBody>
      </p:sp>
      <p:sp>
        <p:nvSpPr>
          <p:cNvPr id="59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16</a:t>
            </a:fld>
            <a:endParaRPr/>
          </a:p>
        </p:txBody>
      </p:sp>
      <p:sp>
        <p:nvSpPr>
          <p:cNvPr id="592" name="Imagine the agent encounters a steering issue (e.g., blocked right-turn controller).…"/>
          <p:cNvSpPr txBox="1">
            <a:spLocks noGrp="1"/>
          </p:cNvSpPr>
          <p:nvPr>
            <p:ph type="body" sz="half" idx="1"/>
          </p:nvPr>
        </p:nvSpPr>
        <p:spPr>
          <a:xfrm>
            <a:off x="1206500" y="4248504"/>
            <a:ext cx="10857707" cy="8256012"/>
          </a:xfrm>
          <a:prstGeom prst="rect">
            <a:avLst/>
          </a:prstGeom>
        </p:spPr>
        <p:txBody>
          <a:bodyPr/>
          <a:lstStyle/>
          <a:p>
            <a:pPr>
              <a:spcBef>
                <a:spcPts val="2200"/>
              </a:spcBef>
              <a:defRPr>
                <a:latin typeface="Gill Sans Light"/>
                <a:ea typeface="Gill Sans Light"/>
                <a:cs typeface="Gill Sans Light"/>
                <a:sym typeface="Gill Sans Light"/>
              </a:defRPr>
            </a:pPr>
            <a:r>
              <a:t>Imagine the agent encounters a steering issue (e.g., blocked right-turn controller).</a:t>
            </a:r>
          </a:p>
          <a:p>
            <a:pPr>
              <a:spcBef>
                <a:spcPts val="2200"/>
              </a:spcBef>
              <a:defRPr>
                <a:latin typeface="Gill Sans Light"/>
                <a:ea typeface="Gill Sans Light"/>
                <a:cs typeface="Gill Sans Light"/>
                <a:sym typeface="Gill Sans Light"/>
              </a:defRPr>
            </a:pPr>
            <a:r>
              <a:t>How do we handle these situations online?</a:t>
            </a:r>
          </a:p>
          <a:p>
            <a:pPr>
              <a:spcBef>
                <a:spcPts val="2200"/>
              </a:spcBef>
              <a:defRPr>
                <a:latin typeface="Gill Sans Light"/>
                <a:ea typeface="Gill Sans Light"/>
                <a:cs typeface="Gill Sans Light"/>
                <a:sym typeface="Gill Sans Light"/>
              </a:defRPr>
            </a:pPr>
            <a:r>
              <a:rPr>
                <a:latin typeface="Gill Sans"/>
                <a:ea typeface="Gill Sans"/>
                <a:cs typeface="Gill Sans"/>
                <a:sym typeface="Gill Sans"/>
              </a:rPr>
              <a:t>Idea</a:t>
            </a:r>
            <a:r>
              <a:t>: we embed a mathematical optimization driven controlled within the diffusion steps so to generate trajectories that are feasible w.r.t. the new feasible action space. </a:t>
            </a:r>
          </a:p>
        </p:txBody>
      </p:sp>
      <p:sp>
        <p:nvSpPr>
          <p:cNvPr id="593" name="Ongoing work: Safe and dynamic control"/>
          <p:cNvSpPr txBox="1">
            <a:spLocks noGrp="1"/>
          </p:cNvSpPr>
          <p:nvPr>
            <p:ph type="title"/>
          </p:nvPr>
        </p:nvSpPr>
        <p:spPr>
          <a:prstGeom prst="rect">
            <a:avLst/>
          </a:prstGeom>
        </p:spPr>
        <p:txBody>
          <a:bodyPr/>
          <a:lstStyle/>
          <a:p>
            <a:r>
              <a:rPr>
                <a:solidFill>
                  <a:schemeClr val="accent4">
                    <a:hueOff val="-1247790"/>
                    <a:lumOff val="-12326"/>
                  </a:schemeClr>
                </a:solidFill>
              </a:rPr>
              <a:t>Ongoing work:</a:t>
            </a:r>
            <a:r>
              <a:t> Safe and dynamic control</a:t>
            </a:r>
          </a:p>
        </p:txBody>
      </p:sp>
      <p:sp>
        <p:nvSpPr>
          <p:cNvPr id="594" name="No-go zone"/>
          <p:cNvSpPr txBox="1"/>
          <p:nvPr/>
        </p:nvSpPr>
        <p:spPr>
          <a:xfrm>
            <a:off x="19552629" y="4775599"/>
            <a:ext cx="3018831" cy="787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No-go zone</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 name="S1: agents use their own diffusion model to generate a “partially-safe” trajectory.…"/>
          <p:cNvSpPr txBox="1">
            <a:spLocks noGrp="1"/>
          </p:cNvSpPr>
          <p:nvPr>
            <p:ph type="body" sz="half" idx="1"/>
          </p:nvPr>
        </p:nvSpPr>
        <p:spPr>
          <a:xfrm>
            <a:off x="1206500" y="2398484"/>
            <a:ext cx="12485683" cy="6965592"/>
          </a:xfrm>
          <a:prstGeom prst="rect">
            <a:avLst/>
          </a:prstGeom>
        </p:spPr>
        <p:txBody>
          <a:bodyPr/>
          <a:lstStyle/>
          <a:p>
            <a:pPr marL="450971" indent="-450971" defTabSz="2023821">
              <a:spcBef>
                <a:spcPts val="3700"/>
              </a:spcBef>
              <a:defRPr sz="3984"/>
            </a:pPr>
            <a:r>
              <a:t>S1: agents use their own diffusion model to generate a “partially-safe” trajectory.</a:t>
            </a:r>
          </a:p>
          <a:p>
            <a:pPr marL="450971" indent="-450971" defTabSz="2023821">
              <a:spcBef>
                <a:spcPts val="3700"/>
              </a:spcBef>
              <a:defRPr sz="3984"/>
            </a:pPr>
            <a:r>
              <a:t>S2: given the current observations about other agents’ states, each agent uses their own model to simulate other agents trajectory (belief-aware planning).</a:t>
            </a:r>
            <a:br/>
            <a:br/>
            <a:r>
              <a:t>Communication vs. simulation tradeoffs.</a:t>
            </a:r>
          </a:p>
          <a:p>
            <a:pPr marL="450971" indent="-450971" defTabSz="2023821">
              <a:spcBef>
                <a:spcPts val="3700"/>
              </a:spcBef>
              <a:defRPr sz="3984"/>
            </a:pPr>
            <a:r>
              <a:t>S3: planning occur using a constrained-aware diffusion model (CADM) considering both static and dynamic constraints.</a:t>
            </a:r>
          </a:p>
        </p:txBody>
      </p:sp>
      <p:sp>
        <p:nvSpPr>
          <p:cNvPr id="59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17</a:t>
            </a:fld>
            <a:endParaRPr/>
          </a:p>
        </p:txBody>
      </p:sp>
      <p:sp>
        <p:nvSpPr>
          <p:cNvPr id="598" name="Ongoing work: Decentralized multi-agent setting"/>
          <p:cNvSpPr txBox="1">
            <a:spLocks noGrp="1"/>
          </p:cNvSpPr>
          <p:nvPr>
            <p:ph type="title"/>
          </p:nvPr>
        </p:nvSpPr>
        <p:spPr>
          <a:prstGeom prst="rect">
            <a:avLst/>
          </a:prstGeom>
        </p:spPr>
        <p:txBody>
          <a:bodyPr/>
          <a:lstStyle/>
          <a:p>
            <a:pPr defTabSz="2218888">
              <a:defRPr sz="7735" spc="-154"/>
            </a:pPr>
            <a:r>
              <a:rPr>
                <a:solidFill>
                  <a:schemeClr val="accent4">
                    <a:hueOff val="-1247790"/>
                    <a:lumOff val="-12326"/>
                  </a:schemeClr>
                </a:solidFill>
              </a:rPr>
              <a:t>Ongoing work: </a:t>
            </a:r>
            <a:r>
              <a:t>Decentralized multi-agent setting</a:t>
            </a:r>
          </a:p>
        </p:txBody>
      </p:sp>
      <p:pic>
        <p:nvPicPr>
          <p:cNvPr id="599" name="task2.pdf" descr="task2.pdf"/>
          <p:cNvPicPr>
            <a:picLocks noChangeAspect="1"/>
          </p:cNvPicPr>
          <p:nvPr/>
        </p:nvPicPr>
        <p:blipFill>
          <a:blip r:embed="rId2"/>
          <a:stretch>
            <a:fillRect/>
          </a:stretch>
        </p:blipFill>
        <p:spPr>
          <a:xfrm>
            <a:off x="14639751" y="2683880"/>
            <a:ext cx="8927786" cy="8988686"/>
          </a:xfrm>
          <a:prstGeom prst="rect">
            <a:avLst/>
          </a:prstGeom>
          <a:ln w="12700">
            <a:miter lim="400000"/>
          </a:ln>
        </p:spPr>
      </p:pic>
      <p:grpSp>
        <p:nvGrpSpPr>
          <p:cNvPr id="603" name="Group"/>
          <p:cNvGrpSpPr/>
          <p:nvPr/>
        </p:nvGrpSpPr>
        <p:grpSpPr>
          <a:xfrm>
            <a:off x="1518795" y="9035390"/>
            <a:ext cx="11251734" cy="3967218"/>
            <a:chOff x="0" y="0"/>
            <a:chExt cx="11251732" cy="3967217"/>
          </a:xfrm>
        </p:grpSpPr>
        <p:pic>
          <p:nvPicPr>
            <p:cNvPr id="600" name="pasted-movie.png" descr="pasted-movie.png"/>
            <p:cNvPicPr>
              <a:picLocks noChangeAspect="1"/>
            </p:cNvPicPr>
            <p:nvPr/>
          </p:nvPicPr>
          <p:blipFill>
            <a:blip r:embed="rId3"/>
            <a:stretch>
              <a:fillRect/>
            </a:stretch>
          </p:blipFill>
          <p:spPr>
            <a:xfrm>
              <a:off x="0" y="0"/>
              <a:ext cx="11251733" cy="3967218"/>
            </a:xfrm>
            <a:prstGeom prst="rect">
              <a:avLst/>
            </a:prstGeom>
            <a:ln w="12700" cap="flat">
              <a:noFill/>
              <a:miter lim="400000"/>
            </a:ln>
            <a:effectLst/>
          </p:spPr>
        </p:pic>
        <p:sp>
          <p:nvSpPr>
            <p:cNvPr id="601" name="Rectangle"/>
            <p:cNvSpPr/>
            <p:nvPr/>
          </p:nvSpPr>
          <p:spPr>
            <a:xfrm>
              <a:off x="6904726" y="1072088"/>
              <a:ext cx="1901505" cy="413056"/>
            </a:xfrm>
            <a:prstGeom prst="roundRect">
              <a:avLst>
                <a:gd name="adj" fmla="val 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602" name="Rectangle"/>
            <p:cNvSpPr/>
            <p:nvPr/>
          </p:nvSpPr>
          <p:spPr>
            <a:xfrm>
              <a:off x="2434708" y="1072088"/>
              <a:ext cx="1901505" cy="413056"/>
            </a:xfrm>
            <a:prstGeom prst="roundRect">
              <a:avLst>
                <a:gd name="adj" fmla="val 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5" name="9_robots.gif" descr="9_robots.gif"/>
          <p:cNvPicPr>
            <a:picLocks/>
          </p:cNvPicPr>
          <p:nvPr/>
        </p:nvPicPr>
        <p:blipFill>
          <a:blip r:embed="rId2"/>
          <a:stretch>
            <a:fillRect/>
          </a:stretch>
        </p:blipFill>
        <p:spPr>
          <a:xfrm>
            <a:off x="11959062" y="342064"/>
            <a:ext cx="13716001" cy="13716001"/>
          </a:xfrm>
          <a:prstGeom prst="rect">
            <a:avLst/>
          </a:prstGeom>
          <a:ln w="12700">
            <a:miter lim="400000"/>
          </a:ln>
        </p:spPr>
      </p:pic>
      <p:sp>
        <p:nvSpPr>
          <p:cNvPr id="606" name="S1: agents use their own diffusion model to generate a “partially-safe” trajectory.…"/>
          <p:cNvSpPr txBox="1">
            <a:spLocks noGrp="1"/>
          </p:cNvSpPr>
          <p:nvPr>
            <p:ph type="body" sz="half" idx="1"/>
          </p:nvPr>
        </p:nvSpPr>
        <p:spPr>
          <a:xfrm>
            <a:off x="1206500" y="2398484"/>
            <a:ext cx="12485683" cy="6965592"/>
          </a:xfrm>
          <a:prstGeom prst="rect">
            <a:avLst/>
          </a:prstGeom>
        </p:spPr>
        <p:txBody>
          <a:bodyPr/>
          <a:lstStyle/>
          <a:p>
            <a:pPr marL="450971" indent="-450971" defTabSz="2023821">
              <a:spcBef>
                <a:spcPts val="3700"/>
              </a:spcBef>
              <a:defRPr sz="3984"/>
            </a:pPr>
            <a:r>
              <a:t>S1: agents use their own diffusion model to generate a “partially-safe” trajectory.</a:t>
            </a:r>
          </a:p>
          <a:p>
            <a:pPr marL="450971" indent="-450971" defTabSz="2023821">
              <a:spcBef>
                <a:spcPts val="3700"/>
              </a:spcBef>
              <a:defRPr sz="3984"/>
            </a:pPr>
            <a:r>
              <a:t>S2: given the current observations about other agents’ states, each agent uses their own model to simulate other agents trajectory (belief-aware planning).</a:t>
            </a:r>
            <a:br/>
            <a:br/>
            <a:r>
              <a:t>Communication vs. simulation tradeoffs.</a:t>
            </a:r>
          </a:p>
          <a:p>
            <a:pPr marL="450971" indent="-450971" defTabSz="2023821">
              <a:spcBef>
                <a:spcPts val="3700"/>
              </a:spcBef>
              <a:defRPr sz="3984"/>
            </a:pPr>
            <a:r>
              <a:t>S3: planning occur using a constrained-aware diffusion model (CADM) considering both static and dynamic constraints.</a:t>
            </a:r>
          </a:p>
        </p:txBody>
      </p:sp>
      <p:sp>
        <p:nvSpPr>
          <p:cNvPr id="60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18</a:t>
            </a:fld>
            <a:endParaRPr/>
          </a:p>
        </p:txBody>
      </p:sp>
      <p:sp>
        <p:nvSpPr>
          <p:cNvPr id="608" name="Ongoing work: Decentralized multi-agent setting"/>
          <p:cNvSpPr txBox="1">
            <a:spLocks noGrp="1"/>
          </p:cNvSpPr>
          <p:nvPr>
            <p:ph type="title"/>
          </p:nvPr>
        </p:nvSpPr>
        <p:spPr>
          <a:prstGeom prst="rect">
            <a:avLst/>
          </a:prstGeom>
        </p:spPr>
        <p:txBody>
          <a:bodyPr/>
          <a:lstStyle/>
          <a:p>
            <a:pPr defTabSz="2218888">
              <a:defRPr sz="7735" spc="-154"/>
            </a:pPr>
            <a:r>
              <a:rPr>
                <a:solidFill>
                  <a:schemeClr val="accent4">
                    <a:hueOff val="-1247790"/>
                    <a:lumOff val="-12326"/>
                  </a:schemeClr>
                </a:solidFill>
              </a:rPr>
              <a:t>Ongoing work: </a:t>
            </a:r>
            <a:r>
              <a:t>Decentralized multi-agent setting</a:t>
            </a:r>
          </a:p>
        </p:txBody>
      </p:sp>
      <p:grpSp>
        <p:nvGrpSpPr>
          <p:cNvPr id="612" name="Group"/>
          <p:cNvGrpSpPr/>
          <p:nvPr/>
        </p:nvGrpSpPr>
        <p:grpSpPr>
          <a:xfrm>
            <a:off x="1518795" y="9035390"/>
            <a:ext cx="11251734" cy="3967218"/>
            <a:chOff x="0" y="0"/>
            <a:chExt cx="11251732" cy="3967217"/>
          </a:xfrm>
        </p:grpSpPr>
        <p:pic>
          <p:nvPicPr>
            <p:cNvPr id="609" name="pasted-movie.png" descr="pasted-movie.png"/>
            <p:cNvPicPr>
              <a:picLocks noChangeAspect="1"/>
            </p:cNvPicPr>
            <p:nvPr/>
          </p:nvPicPr>
          <p:blipFill>
            <a:blip r:embed="rId3"/>
            <a:stretch>
              <a:fillRect/>
            </a:stretch>
          </p:blipFill>
          <p:spPr>
            <a:xfrm>
              <a:off x="0" y="0"/>
              <a:ext cx="11251733" cy="3967218"/>
            </a:xfrm>
            <a:prstGeom prst="rect">
              <a:avLst/>
            </a:prstGeom>
            <a:ln w="12700" cap="flat">
              <a:noFill/>
              <a:miter lim="400000"/>
            </a:ln>
            <a:effectLst/>
          </p:spPr>
        </p:pic>
        <p:sp>
          <p:nvSpPr>
            <p:cNvPr id="610" name="Rectangle"/>
            <p:cNvSpPr/>
            <p:nvPr/>
          </p:nvSpPr>
          <p:spPr>
            <a:xfrm>
              <a:off x="6904726" y="1072088"/>
              <a:ext cx="1901505" cy="413056"/>
            </a:xfrm>
            <a:prstGeom prst="roundRect">
              <a:avLst>
                <a:gd name="adj" fmla="val 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sp>
          <p:nvSpPr>
            <p:cNvPr id="611" name="Rectangle"/>
            <p:cNvSpPr/>
            <p:nvPr/>
          </p:nvSpPr>
          <p:spPr>
            <a:xfrm>
              <a:off x="2434708" y="1072088"/>
              <a:ext cx="1901505" cy="413056"/>
            </a:xfrm>
            <a:prstGeom prst="roundRect">
              <a:avLst>
                <a:gd name="adj" fmla="val 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sp>
        <p:nvSpPr>
          <p:cNvPr id="613" name="Results: 100% success rate with a low communication frequency (avg = 1.76)"/>
          <p:cNvSpPr txBox="1"/>
          <p:nvPr/>
        </p:nvSpPr>
        <p:spPr>
          <a:xfrm>
            <a:off x="16096984" y="12310708"/>
            <a:ext cx="6941223" cy="9530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defTabSz="457200">
              <a:lnSpc>
                <a:spcPct val="100000"/>
              </a:lnSpc>
              <a:spcBef>
                <a:spcPts val="0"/>
              </a:spcBef>
              <a:defRPr sz="2933">
                <a:latin typeface="Arial"/>
                <a:ea typeface="Arial"/>
                <a:cs typeface="Arial"/>
                <a:sym typeface="Arial"/>
              </a:defRPr>
            </a:pPr>
            <a:r>
              <a:rPr>
                <a:solidFill>
                  <a:schemeClr val="accent5">
                    <a:lumOff val="-29866"/>
                  </a:schemeClr>
                </a:solidFill>
              </a:rPr>
              <a:t>Results</a:t>
            </a:r>
            <a:r>
              <a:t>: </a:t>
            </a:r>
            <a:r>
              <a:rPr b="1"/>
              <a:t>100%</a:t>
            </a:r>
            <a:r>
              <a:t> success rate with a low communication frequency (avg = </a:t>
            </a:r>
            <a:r>
              <a:rPr b="1"/>
              <a:t>1.76</a:t>
            </a:r>
            <a:r>
              <a:t>)</a:t>
            </a:r>
            <a:r>
              <a:rPr sz="1200">
                <a:latin typeface="Times Roman"/>
                <a:ea typeface="Times Roman"/>
                <a:cs typeface="Times Roman"/>
                <a:sym typeface="Times Roman"/>
              </a:rPr>
              <a:t> </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 name="Need: other agents can strategically block access to a goal.…"/>
          <p:cNvSpPr txBox="1">
            <a:spLocks noGrp="1"/>
          </p:cNvSpPr>
          <p:nvPr>
            <p:ph type="body" sz="half" idx="1"/>
          </p:nvPr>
        </p:nvSpPr>
        <p:spPr>
          <a:xfrm>
            <a:off x="1244026" y="3881778"/>
            <a:ext cx="10026157" cy="7586394"/>
          </a:xfrm>
          <a:prstGeom prst="rect">
            <a:avLst/>
          </a:prstGeom>
        </p:spPr>
        <p:txBody>
          <a:bodyPr/>
          <a:lstStyle/>
          <a:p>
            <a:pPr marL="0" indent="0">
              <a:spcBef>
                <a:spcPts val="2200"/>
              </a:spcBef>
              <a:buSzTx/>
              <a:buNone/>
              <a:defRPr>
                <a:latin typeface="Gill Sans Light"/>
                <a:ea typeface="Gill Sans Light"/>
                <a:cs typeface="Gill Sans Light"/>
                <a:sym typeface="Gill Sans Light"/>
              </a:defRPr>
            </a:pPr>
            <a:r>
              <a:rPr b="1">
                <a:latin typeface="+mn-lt"/>
                <a:ea typeface="+mn-ea"/>
                <a:cs typeface="+mn-cs"/>
                <a:sym typeface="Helvetica Neue"/>
              </a:rPr>
              <a:t>Need:</a:t>
            </a:r>
            <a:r>
              <a:t> other agents can strategically block access to a goal.</a:t>
            </a:r>
          </a:p>
          <a:p>
            <a:pPr marL="0" indent="0">
              <a:spcBef>
                <a:spcPts val="2200"/>
              </a:spcBef>
              <a:buSzTx/>
              <a:buNone/>
              <a:defRPr>
                <a:latin typeface="Gill Sans Light"/>
                <a:ea typeface="Gill Sans Light"/>
                <a:cs typeface="Gill Sans Light"/>
                <a:sym typeface="Gill Sans Light"/>
              </a:defRPr>
            </a:pPr>
            <a:r>
              <a:rPr b="1">
                <a:latin typeface="+mn-lt"/>
                <a:ea typeface="+mn-ea"/>
                <a:cs typeface="+mn-cs"/>
                <a:sym typeface="Helvetica Neue"/>
              </a:rPr>
              <a:t>Challenge:</a:t>
            </a:r>
            <a:r>
              <a:t> current observations do not reveal whether behavior is benign or adversarial.</a:t>
            </a:r>
          </a:p>
          <a:p>
            <a:pPr marL="0" indent="0">
              <a:spcBef>
                <a:spcPts val="2200"/>
              </a:spcBef>
              <a:buSzTx/>
              <a:buNone/>
              <a:defRPr>
                <a:latin typeface="Gill Sans Light"/>
                <a:ea typeface="Gill Sans Light"/>
                <a:cs typeface="Gill Sans Light"/>
                <a:sym typeface="Gill Sans Light"/>
              </a:defRPr>
            </a:pPr>
            <a:r>
              <a:rPr b="1">
                <a:latin typeface="+mn-lt"/>
                <a:ea typeface="+mn-ea"/>
                <a:cs typeface="+mn-cs"/>
                <a:sym typeface="Helvetica Neue"/>
              </a:rPr>
              <a:t>Solution:</a:t>
            </a:r>
            <a:r>
              <a:t> infer intent online, forecast intent-conditioned trajectories, and plan robustly against blocking strategies.</a:t>
            </a:r>
          </a:p>
        </p:txBody>
      </p:sp>
      <p:sp>
        <p:nvSpPr>
          <p:cNvPr id="61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19</a:t>
            </a:fld>
            <a:endParaRPr/>
          </a:p>
        </p:txBody>
      </p:sp>
      <p:sp>
        <p:nvSpPr>
          <p:cNvPr id="617" name="Ongoing work: Decentralized multi-agent setting"/>
          <p:cNvSpPr txBox="1">
            <a:spLocks noGrp="1"/>
          </p:cNvSpPr>
          <p:nvPr>
            <p:ph type="title"/>
          </p:nvPr>
        </p:nvSpPr>
        <p:spPr>
          <a:prstGeom prst="rect">
            <a:avLst/>
          </a:prstGeom>
        </p:spPr>
        <p:txBody>
          <a:bodyPr/>
          <a:lstStyle/>
          <a:p>
            <a:pPr defTabSz="2218888">
              <a:defRPr sz="7735" spc="-154"/>
            </a:pPr>
            <a:r>
              <a:rPr>
                <a:solidFill>
                  <a:schemeClr val="accent4">
                    <a:hueOff val="-1247790"/>
                    <a:lumOff val="-12326"/>
                  </a:schemeClr>
                </a:solidFill>
              </a:rPr>
              <a:t>Ongoing work: </a:t>
            </a:r>
            <a:r>
              <a:t>Decentralized multi-agent setting</a:t>
            </a:r>
          </a:p>
        </p:txBody>
      </p:sp>
      <p:pic>
        <p:nvPicPr>
          <p:cNvPr id="618" name="E0CC7371-E967-4D41-92F0-10622E92C07D.png" descr="E0CC7371-E967-4D41-92F0-10622E92C07D.png"/>
          <p:cNvPicPr>
            <a:picLocks noChangeAspect="1"/>
          </p:cNvPicPr>
          <p:nvPr/>
        </p:nvPicPr>
        <p:blipFill>
          <a:blip r:embed="rId2"/>
          <a:stretch>
            <a:fillRect/>
          </a:stretch>
        </p:blipFill>
        <p:spPr>
          <a:xfrm>
            <a:off x="11432089" y="1933186"/>
            <a:ext cx="11483578" cy="11483578"/>
          </a:xfrm>
          <a:prstGeom prst="rect">
            <a:avLst/>
          </a:prstGeom>
          <a:ln w="12700">
            <a:miter lim="400000"/>
          </a:ln>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0" name="Closed-form diffusion"/>
          <p:cNvSpPr txBox="1">
            <a:spLocks noGrp="1"/>
          </p:cNvSpPr>
          <p:nvPr>
            <p:ph type="title"/>
          </p:nvPr>
        </p:nvSpPr>
        <p:spPr>
          <a:prstGeom prst="rect">
            <a:avLst/>
          </a:prstGeom>
        </p:spPr>
        <p:txBody>
          <a:bodyPr/>
          <a:lstStyle/>
          <a:p>
            <a:r>
              <a:t>Closed-form diffusion</a:t>
            </a:r>
          </a:p>
        </p:txBody>
      </p:sp>
      <p:sp>
        <p:nvSpPr>
          <p:cNvPr id="621" name="Why define constraints via score functions?"/>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Why define constraints via score functions?</a:t>
            </a:r>
          </a:p>
        </p:txBody>
      </p:sp>
      <p:sp>
        <p:nvSpPr>
          <p:cNvPr id="622" name="Slide Number"/>
          <p:cNvSpPr txBox="1">
            <a:spLocks noGrp="1"/>
          </p:cNvSpPr>
          <p:nvPr>
            <p:ph type="sldNum" sz="quarter" idx="2"/>
          </p:nvPr>
        </p:nvSpPr>
        <p:spPr>
          <a:xfrm>
            <a:off x="23760887" y="12932513"/>
            <a:ext cx="344730" cy="52308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20</a:t>
            </a:fld>
            <a:endParaRPr/>
          </a:p>
        </p:txBody>
      </p:sp>
      <p:pic>
        <p:nvPicPr>
          <p:cNvPr id="623" name="unnamed-3.jpg" descr="unnamed-3.jpg"/>
          <p:cNvPicPr>
            <a:picLocks noChangeAspect="1"/>
          </p:cNvPicPr>
          <p:nvPr/>
        </p:nvPicPr>
        <p:blipFill>
          <a:blip r:embed="rId2"/>
          <a:srcRect t="20951"/>
          <a:stretch>
            <a:fillRect/>
          </a:stretch>
        </p:blipFill>
        <p:spPr>
          <a:xfrm>
            <a:off x="944959" y="2921393"/>
            <a:ext cx="22494149" cy="9924450"/>
          </a:xfrm>
          <a:prstGeom prst="rect">
            <a:avLst/>
          </a:prstGeom>
          <a:ln w="12700">
            <a:miter lim="400000"/>
          </a:ln>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5" name="Closed-form diffusion"/>
          <p:cNvSpPr txBox="1">
            <a:spLocks noGrp="1"/>
          </p:cNvSpPr>
          <p:nvPr>
            <p:ph type="title"/>
          </p:nvPr>
        </p:nvSpPr>
        <p:spPr>
          <a:prstGeom prst="rect">
            <a:avLst/>
          </a:prstGeom>
        </p:spPr>
        <p:txBody>
          <a:bodyPr/>
          <a:lstStyle/>
          <a:p>
            <a:r>
              <a:t>Closed-form diffusion</a:t>
            </a:r>
          </a:p>
        </p:txBody>
      </p:sp>
      <p:sp>
        <p:nvSpPr>
          <p:cNvPr id="626" name="Why define constraints via score functions?"/>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Why define constraints via score functions?</a:t>
            </a:r>
          </a:p>
        </p:txBody>
      </p:sp>
      <p:sp>
        <p:nvSpPr>
          <p:cNvPr id="627" name="Slide Number"/>
          <p:cNvSpPr txBox="1">
            <a:spLocks noGrp="1"/>
          </p:cNvSpPr>
          <p:nvPr>
            <p:ph type="sldNum" sz="quarter" idx="2"/>
          </p:nvPr>
        </p:nvSpPr>
        <p:spPr>
          <a:xfrm>
            <a:off x="23760887" y="12932513"/>
            <a:ext cx="344730" cy="52308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21</a:t>
            </a:fld>
            <a:endParaRPr/>
          </a:p>
        </p:txBody>
      </p:sp>
      <p:pic>
        <p:nvPicPr>
          <p:cNvPr id="628" name="unnamed-2.jpg" descr="unnamed-2.jpg"/>
          <p:cNvPicPr>
            <a:picLocks noChangeAspect="1"/>
          </p:cNvPicPr>
          <p:nvPr/>
        </p:nvPicPr>
        <p:blipFill>
          <a:blip r:embed="rId2"/>
          <a:srcRect t="21930" b="21930"/>
          <a:stretch>
            <a:fillRect/>
          </a:stretch>
        </p:blipFill>
        <p:spPr>
          <a:xfrm>
            <a:off x="288925" y="4153889"/>
            <a:ext cx="23806003" cy="7459210"/>
          </a:xfrm>
          <a:prstGeom prst="rect">
            <a:avLst/>
          </a:prstGeom>
          <a:ln w="12700">
            <a:miter lim="400000"/>
          </a:ln>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 name="Ongoing work: Closed-form diffusion"/>
          <p:cNvSpPr txBox="1">
            <a:spLocks noGrp="1"/>
          </p:cNvSpPr>
          <p:nvPr>
            <p:ph type="title"/>
          </p:nvPr>
        </p:nvSpPr>
        <p:spPr>
          <a:prstGeom prst="rect">
            <a:avLst/>
          </a:prstGeom>
        </p:spPr>
        <p:txBody>
          <a:bodyPr/>
          <a:lstStyle/>
          <a:p>
            <a:r>
              <a:rPr>
                <a:solidFill>
                  <a:schemeClr val="accent4">
                    <a:hueOff val="-1247790"/>
                    <a:lumOff val="-12326"/>
                  </a:schemeClr>
                </a:solidFill>
              </a:rPr>
              <a:t>Ongoing work: </a:t>
            </a:r>
            <a:r>
              <a:t>Closed-form diffusion</a:t>
            </a:r>
          </a:p>
        </p:txBody>
      </p:sp>
      <p:sp>
        <p:nvSpPr>
          <p:cNvPr id="631" name="Examples of analytical score functions"/>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Examples of analytical score functions</a:t>
            </a:r>
          </a:p>
        </p:txBody>
      </p:sp>
      <p:sp>
        <p:nvSpPr>
          <p:cNvPr id="63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22</a:t>
            </a:fld>
            <a:endParaRPr/>
          </a:p>
        </p:txBody>
      </p:sp>
      <p:pic>
        <p:nvPicPr>
          <p:cNvPr id="633" name="unnamed-4.jpg" descr="unnamed-4.jpg"/>
          <p:cNvPicPr>
            <a:picLocks noChangeAspect="1"/>
          </p:cNvPicPr>
          <p:nvPr/>
        </p:nvPicPr>
        <p:blipFill>
          <a:blip r:embed="rId2"/>
          <a:srcRect t="11182"/>
          <a:stretch>
            <a:fillRect/>
          </a:stretch>
        </p:blipFill>
        <p:spPr>
          <a:xfrm>
            <a:off x="2451717" y="2843727"/>
            <a:ext cx="20531313" cy="10177901"/>
          </a:xfrm>
          <a:prstGeom prst="rect">
            <a:avLst/>
          </a:prstGeom>
          <a:ln w="12700">
            <a:miter lim="400000"/>
          </a:ln>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5" name="optimization_process.mp4" descr="optimization_process.mp4"/>
          <p:cNvPicPr>
            <a:picLocks/>
          </p:cNvPicPr>
          <p:nvPr>
            <a:videoFile r:link="rId2"/>
            <p:extLst>
              <p:ext uri="{DAA4B4D4-6D71-4841-9C94-3DE7FCFB9230}">
                <p14:media xmlns:p14="http://schemas.microsoft.com/office/powerpoint/2010/main" r:embed="rId1"/>
              </p:ext>
            </p:extLst>
          </p:nvPr>
        </p:nvPicPr>
        <p:blipFill>
          <a:blip r:embed="rId6"/>
          <a:stretch>
            <a:fillRect/>
          </a:stretch>
        </p:blipFill>
        <p:spPr>
          <a:xfrm>
            <a:off x="14881128" y="2128013"/>
            <a:ext cx="7927578" cy="7927579"/>
          </a:xfrm>
          <a:prstGeom prst="rect">
            <a:avLst/>
          </a:prstGeom>
          <a:ln w="12700">
            <a:miter lim="400000"/>
          </a:ln>
        </p:spPr>
      </p:pic>
      <p:sp>
        <p:nvSpPr>
          <p:cNvPr id="636" name="Very fast planning time. Great belief-aware planning simulator (S2)"/>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817244">
              <a:defRPr sz="5445"/>
            </a:lvl1pPr>
          </a:lstStyle>
          <a:p>
            <a:r>
              <a:t>Very fast planning time. Great belief-aware planning simulator (S2)</a:t>
            </a:r>
          </a:p>
        </p:txBody>
      </p:sp>
      <p:sp>
        <p:nvSpPr>
          <p:cNvPr id="63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23</a:t>
            </a:fld>
            <a:endParaRPr/>
          </a:p>
        </p:txBody>
      </p:sp>
      <p:pic>
        <p:nvPicPr>
          <p:cNvPr id="638" name="Image" descr="Image"/>
          <p:cNvPicPr>
            <a:picLocks noChangeAspect="1"/>
          </p:cNvPicPr>
          <p:nvPr/>
        </p:nvPicPr>
        <p:blipFill>
          <a:blip r:embed="rId7"/>
          <a:stretch>
            <a:fillRect/>
          </a:stretch>
        </p:blipFill>
        <p:spPr>
          <a:xfrm>
            <a:off x="13336854" y="9397002"/>
            <a:ext cx="9493670" cy="4020885"/>
          </a:xfrm>
          <a:prstGeom prst="rect">
            <a:avLst/>
          </a:prstGeom>
          <a:ln w="12700">
            <a:miter lim="400000"/>
          </a:ln>
        </p:spPr>
      </p:pic>
      <p:pic>
        <p:nvPicPr>
          <p:cNvPr id="639" name="final_trajectory.mp4" descr="final_trajectory.mp4"/>
          <p:cNvPicPr>
            <a:picLocks/>
          </p:cNvPicPr>
          <p:nvPr>
            <a:videoFile r:link="rId4"/>
            <p:extLst>
              <p:ext uri="{DAA4B4D4-6D71-4841-9C94-3DE7FCFB9230}">
                <p14:media xmlns:p14="http://schemas.microsoft.com/office/powerpoint/2010/main" r:embed="rId3"/>
              </p:ext>
            </p:extLst>
          </p:nvPr>
        </p:nvPicPr>
        <p:blipFill>
          <a:blip r:embed="rId8"/>
          <a:stretch>
            <a:fillRect/>
          </a:stretch>
        </p:blipFill>
        <p:spPr>
          <a:xfrm>
            <a:off x="2043992" y="3781292"/>
            <a:ext cx="8878909" cy="8878909"/>
          </a:xfrm>
          <a:prstGeom prst="rect">
            <a:avLst/>
          </a:prstGeom>
          <a:ln w="12700">
            <a:miter lim="400000"/>
          </a:ln>
        </p:spPr>
      </p:pic>
      <p:sp>
        <p:nvSpPr>
          <p:cNvPr id="640" name="Ongoing work: Closed-form diffusion"/>
          <p:cNvSpPr txBox="1">
            <a:spLocks noGrp="1"/>
          </p:cNvSpPr>
          <p:nvPr>
            <p:ph type="title"/>
          </p:nvPr>
        </p:nvSpPr>
        <p:spPr>
          <a:prstGeom prst="rect">
            <a:avLst/>
          </a:prstGeom>
        </p:spPr>
        <p:txBody>
          <a:bodyPr/>
          <a:lstStyle/>
          <a:p>
            <a:r>
              <a:rPr>
                <a:solidFill>
                  <a:schemeClr val="accent4">
                    <a:hueOff val="-1247790"/>
                    <a:lumOff val="-12326"/>
                  </a:schemeClr>
                </a:solidFill>
              </a:rPr>
              <a:t>Ongoing work: </a:t>
            </a:r>
            <a:r>
              <a:t>Closed-form diffusion</a:t>
            </a:r>
          </a:p>
        </p:txBody>
      </p:sp>
      <p:sp>
        <p:nvSpPr>
          <p:cNvPr id="641" name="No training data required!"/>
          <p:cNvSpPr txBox="1"/>
          <p:nvPr/>
        </p:nvSpPr>
        <p:spPr>
          <a:xfrm>
            <a:off x="3774795" y="3097440"/>
            <a:ext cx="6319838" cy="787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chemeClr val="accent5">
                    <a:lumOff val="-29866"/>
                  </a:schemeClr>
                </a:solidFill>
              </a:defRPr>
            </a:lvl1pPr>
          </a:lstStyle>
          <a:p>
            <a:r>
              <a:t>No training data required!</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000" fill="hold"/>
                                        <p:tgtEl>
                                          <p:spTgt spid="639"/>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5750" fill="hold"/>
                                        <p:tgtEl>
                                          <p:spTgt spid="63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11" fill="hold" display="0">
                  <p:stCondLst>
                    <p:cond delay="indefinite"/>
                  </p:stCondLst>
                </p:cTn>
                <p:tgtEl>
                  <p:spTgt spid="635"/>
                </p:tgtEl>
              </p:cMediaNode>
            </p:video>
            <p:seq concurrent="1" prevAc="none" nextAc="seek">
              <p:cTn id="12" restart="whenNotActive" fill="hold" evtFilter="cancelBubble" nodeType="interactiveSeq">
                <p:stCondLst>
                  <p:cond evt="onClick" delay="0">
                    <p:tgtEl>
                      <p:spTgt spid="635"/>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635"/>
                                        </p:tgtEl>
                                      </p:cBhvr>
                                    </p:cmd>
                                  </p:childTnLst>
                                </p:cTn>
                              </p:par>
                            </p:childTnLst>
                          </p:cTn>
                        </p:par>
                      </p:childTnLst>
                    </p:cTn>
                  </p:par>
                </p:childTnLst>
              </p:cTn>
              <p:nextCondLst>
                <p:cond evt="onClick" delay="0">
                  <p:tgtEl>
                    <p:spTgt spid="635"/>
                  </p:tgtEl>
                </p:cond>
              </p:nextCondLst>
            </p:seq>
            <p:video>
              <p:cMediaNode vol="100000">
                <p:cTn id="17" fill="hold" display="0">
                  <p:stCondLst>
                    <p:cond delay="indefinite"/>
                  </p:stCondLst>
                </p:cTn>
                <p:tgtEl>
                  <p:spTgt spid="639"/>
                </p:tgtEl>
              </p:cMediaNode>
            </p:video>
            <p:seq concurrent="1" prevAc="none" nextAc="seek">
              <p:cTn id="18" restart="whenNotActive" fill="hold" evtFilter="cancelBubble" nodeType="interactiveSeq">
                <p:stCondLst>
                  <p:cond evt="onClick" delay="0">
                    <p:tgtEl>
                      <p:spTgt spid="639"/>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639"/>
                                        </p:tgtEl>
                                      </p:cBhvr>
                                    </p:cmd>
                                  </p:childTnLst>
                                </p:cTn>
                              </p:par>
                            </p:childTnLst>
                          </p:cTn>
                        </p:par>
                      </p:childTnLst>
                    </p:cTn>
                  </p:par>
                </p:childTnLst>
              </p:cTn>
              <p:nextCondLst>
                <p:cond evt="onClick" delay="0">
                  <p:tgtEl>
                    <p:spTgt spid="639"/>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 name="Discrete sequences (natural language, molecular structures) hold tremendous potential for safe autonomy.…"/>
          <p:cNvSpPr txBox="1">
            <a:spLocks noGrp="1"/>
          </p:cNvSpPr>
          <p:nvPr>
            <p:ph type="body" sz="quarter" idx="1"/>
          </p:nvPr>
        </p:nvSpPr>
        <p:spPr>
          <a:xfrm>
            <a:off x="1206500" y="2426654"/>
            <a:ext cx="14548057" cy="3485255"/>
          </a:xfrm>
          <a:prstGeom prst="rect">
            <a:avLst/>
          </a:prstGeom>
        </p:spPr>
        <p:txBody>
          <a:bodyPr/>
          <a:lstStyle/>
          <a:p>
            <a:pPr marL="0" indent="0" defTabSz="2316421">
              <a:lnSpc>
                <a:spcPct val="100000"/>
              </a:lnSpc>
              <a:spcBef>
                <a:spcPts val="1100"/>
              </a:spcBef>
              <a:buSzTx/>
              <a:buNone/>
              <a:defRPr sz="3514"/>
            </a:pPr>
            <a:r>
              <a:t>Discrete sequences (natural language, molecular structures) hold tremendous potential for safe autonomy. </a:t>
            </a:r>
          </a:p>
          <a:p>
            <a:pPr marL="0" indent="0" defTabSz="2316421">
              <a:spcBef>
                <a:spcPts val="2000"/>
              </a:spcBef>
              <a:buSzTx/>
              <a:buNone/>
              <a:defRPr sz="3800">
                <a:latin typeface="Gill Sans Light"/>
                <a:ea typeface="Gill Sans Light"/>
                <a:cs typeface="Gill Sans Light"/>
                <a:sym typeface="Gill Sans Light"/>
              </a:defRPr>
            </a:pPr>
            <a:r>
              <a:rPr>
                <a:solidFill>
                  <a:schemeClr val="accent1">
                    <a:hueOff val="114395"/>
                    <a:lumOff val="-24975"/>
                  </a:schemeClr>
                </a:solidFill>
              </a:rPr>
              <a:t>In autonomous Labs:</a:t>
            </a:r>
            <a:r>
              <a:t>  they could accelerate scientific discovery by interpreting complex experimental workflows.</a:t>
            </a:r>
            <a:br/>
            <a:r>
              <a:rPr>
                <a:solidFill>
                  <a:schemeClr val="accent1">
                    <a:hueOff val="114395"/>
                    <a:lumOff val="-24975"/>
                  </a:schemeClr>
                </a:solidFill>
              </a:rPr>
              <a:t>In embedded robotics:</a:t>
            </a:r>
            <a:r>
              <a:t>  They enable dynamic contextual reasoning, advanced planning, object manipulation, etc.  </a:t>
            </a:r>
          </a:p>
        </p:txBody>
      </p:sp>
      <p:sp>
        <p:nvSpPr>
          <p:cNvPr id="64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24</a:t>
            </a:fld>
            <a:endParaRPr/>
          </a:p>
        </p:txBody>
      </p:sp>
      <p:grpSp>
        <p:nvGrpSpPr>
          <p:cNvPr id="647" name="Group"/>
          <p:cNvGrpSpPr/>
          <p:nvPr/>
        </p:nvGrpSpPr>
        <p:grpSpPr>
          <a:xfrm>
            <a:off x="1305388" y="6332115"/>
            <a:ext cx="15243744" cy="3762335"/>
            <a:chOff x="0" y="0"/>
            <a:chExt cx="15243742" cy="3762334"/>
          </a:xfrm>
        </p:grpSpPr>
        <p:sp>
          <p:nvSpPr>
            <p:cNvPr id="645" name="Challenges"/>
            <p:cNvSpPr txBox="1"/>
            <p:nvPr/>
          </p:nvSpPr>
          <p:spPr>
            <a:xfrm>
              <a:off x="75405" y="0"/>
              <a:ext cx="3452199" cy="773558"/>
            </a:xfrm>
            <a:prstGeom prst="rect">
              <a:avLst/>
            </a:prstGeom>
            <a:noFill/>
            <a:ln w="25400" cap="flat">
              <a:solidFill>
                <a:schemeClr val="accent1">
                  <a:hueOff val="114395"/>
                  <a:lumOff val="-24975"/>
                </a:schemeClr>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6" tIns="71436" rIns="71436" bIns="71436" numCol="1" anchor="ctr">
              <a:noAutofit/>
            </a:bodyPr>
            <a:lstStyle>
              <a:lvl1pPr defTabSz="821530">
                <a:lnSpc>
                  <a:spcPct val="100000"/>
                </a:lnSpc>
                <a:spcBef>
                  <a:spcPts val="0"/>
                </a:spcBef>
                <a:defRPr sz="4000">
                  <a:solidFill>
                    <a:schemeClr val="accent1">
                      <a:hueOff val="114395"/>
                      <a:lumOff val="-24975"/>
                    </a:schemeClr>
                  </a:solidFill>
                  <a:latin typeface="Gill Sans"/>
                  <a:ea typeface="Gill Sans"/>
                  <a:cs typeface="Gill Sans"/>
                  <a:sym typeface="Gill Sans"/>
                </a:defRPr>
              </a:lvl1pPr>
            </a:lstStyle>
            <a:p>
              <a:r>
                <a:t>Challenges</a:t>
              </a:r>
            </a:p>
          </p:txBody>
        </p:sp>
        <p:sp>
          <p:nvSpPr>
            <p:cNvPr id="646" name="Safety risks (e.g., jailbreak attacks) can lead to harmful actions, like robot damaging components or breaching safety zones, labs generating hazardous substances.…"/>
            <p:cNvSpPr txBox="1"/>
            <p:nvPr/>
          </p:nvSpPr>
          <p:spPr>
            <a:xfrm>
              <a:off x="0" y="904632"/>
              <a:ext cx="15243743" cy="285770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rmAutofit/>
            </a:bodyPr>
            <a:lstStyle/>
            <a:p>
              <a:pPr defTabSz="1877520">
                <a:lnSpc>
                  <a:spcPct val="100000"/>
                </a:lnSpc>
                <a:spcBef>
                  <a:spcPts val="1600"/>
                </a:spcBef>
                <a:defRPr sz="3696"/>
              </a:pPr>
              <a:r>
                <a:t>Safety risks (</a:t>
              </a:r>
              <a:r>
                <a:rPr>
                  <a:solidFill>
                    <a:schemeClr val="accent5">
                      <a:lumOff val="-29866"/>
                    </a:schemeClr>
                  </a:solidFill>
                </a:rPr>
                <a:t>e.g., jailbreak attacks</a:t>
              </a:r>
              <a:r>
                <a:t>) can lead to harmful actions, like robot damaging components or breaching safety zones, labs generating hazardous substances. </a:t>
              </a:r>
            </a:p>
            <a:p>
              <a:pPr defTabSz="1877520">
                <a:lnSpc>
                  <a:spcPct val="100000"/>
                </a:lnSpc>
                <a:spcBef>
                  <a:spcPts val="1600"/>
                </a:spcBef>
                <a:defRPr sz="3696"/>
              </a:pPr>
              <a:r>
                <a:t>Other risks include, misuse of knowledge and operational risks in healthcare, manufacturing, and scientific innovation. </a:t>
              </a:r>
            </a:p>
          </p:txBody>
        </p:sp>
      </p:grpSp>
      <p:grpSp>
        <p:nvGrpSpPr>
          <p:cNvPr id="650" name="Group"/>
          <p:cNvGrpSpPr/>
          <p:nvPr/>
        </p:nvGrpSpPr>
        <p:grpSpPr>
          <a:xfrm>
            <a:off x="917273" y="10018048"/>
            <a:ext cx="20878551" cy="1634288"/>
            <a:chOff x="0" y="-3672"/>
            <a:chExt cx="20878551" cy="1634288"/>
          </a:xfrm>
        </p:grpSpPr>
        <p:sp>
          <p:nvSpPr>
            <p:cNvPr id="648" name="Need"/>
            <p:cNvSpPr/>
            <p:nvPr/>
          </p:nvSpPr>
          <p:spPr>
            <a:xfrm>
              <a:off x="503887" y="-3672"/>
              <a:ext cx="2272024" cy="75982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25400" cap="flat">
              <a:no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6" tIns="71436" rIns="71436" bIns="71436" numCol="1" anchor="ctr">
              <a:spAutoFit/>
            </a:bodyPr>
            <a:lstStyle>
              <a:lvl1pPr defTabSz="821530">
                <a:lnSpc>
                  <a:spcPct val="100000"/>
                </a:lnSpc>
                <a:spcBef>
                  <a:spcPts val="0"/>
                </a:spcBef>
                <a:defRPr sz="4000">
                  <a:solidFill>
                    <a:schemeClr val="accent1">
                      <a:hueOff val="114395"/>
                      <a:lumOff val="-24975"/>
                    </a:schemeClr>
                  </a:solidFill>
                  <a:latin typeface="Gill Sans"/>
                  <a:ea typeface="Gill Sans"/>
                  <a:cs typeface="Gill Sans"/>
                  <a:sym typeface="Gill Sans"/>
                </a:defRPr>
              </a:lvl1pPr>
            </a:lstStyle>
            <a:p>
              <a:r>
                <a:rPr dirty="0"/>
                <a:t>Need</a:t>
              </a:r>
            </a:p>
          </p:txBody>
        </p:sp>
        <p:sp>
          <p:nvSpPr>
            <p:cNvPr id="649" name="Techniques to ensure that desired safety or control desiderata are met during the LMM generation phase.  Ideally, we’d like to deliver provable safeguards against unsafe behaviors."/>
            <p:cNvSpPr/>
            <p:nvPr/>
          </p:nvSpPr>
          <p:spPr>
            <a:xfrm>
              <a:off x="0" y="1630615"/>
              <a:ext cx="2087855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p>
              <a:pPr lvl="1">
                <a:spcBef>
                  <a:spcPts val="0"/>
                </a:spcBef>
                <a:defRPr sz="4300"/>
              </a:pPr>
              <a:r>
                <a:rPr dirty="0"/>
                <a:t>Techniques to ensure that desired safety or control desiderata are met during the LMM generation phase.  Ideally, we’d like to deliver provable safeguards against unsafe behaviors. </a:t>
              </a:r>
            </a:p>
          </p:txBody>
        </p:sp>
      </p:grpSp>
      <p:pic>
        <p:nvPicPr>
          <p:cNvPr id="651" name="Image" descr="Image"/>
          <p:cNvPicPr>
            <a:picLocks noChangeAspect="1"/>
          </p:cNvPicPr>
          <p:nvPr/>
        </p:nvPicPr>
        <p:blipFill>
          <a:blip r:embed="rId2"/>
          <a:stretch>
            <a:fillRect/>
          </a:stretch>
        </p:blipFill>
        <p:spPr>
          <a:xfrm>
            <a:off x="16118040" y="3334083"/>
            <a:ext cx="7531303" cy="7286068"/>
          </a:xfrm>
          <a:prstGeom prst="rect">
            <a:avLst/>
          </a:prstGeom>
          <a:ln w="12700">
            <a:miter lim="400000"/>
          </a:ln>
        </p:spPr>
      </p:pic>
      <p:sp>
        <p:nvSpPr>
          <p:cNvPr id="652" name="Constraining discrete LLMs"/>
          <p:cNvSpPr txBox="1">
            <a:spLocks noGrp="1"/>
          </p:cNvSpPr>
          <p:nvPr>
            <p:ph type="title"/>
          </p:nvPr>
        </p:nvSpPr>
        <p:spPr>
          <a:xfrm>
            <a:off x="1206500" y="571500"/>
            <a:ext cx="21971000" cy="1434949"/>
          </a:xfrm>
          <a:prstGeom prst="rect">
            <a:avLst/>
          </a:prstGeom>
        </p:spPr>
        <p:txBody>
          <a:bodyPr/>
          <a:lstStyle/>
          <a:p>
            <a:r>
              <a:t>Constraining discrete LLMs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 grpId="1"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4" name="Screenshot 2024-12-04 at 11.05.25 AM.png" descr="Screenshot 2024-12-04 at 11.05.25 AM.png"/>
          <p:cNvPicPr>
            <a:picLocks noChangeAspect="1"/>
          </p:cNvPicPr>
          <p:nvPr/>
        </p:nvPicPr>
        <p:blipFill>
          <a:blip r:embed="rId2"/>
          <a:srcRect r="42233"/>
          <a:stretch>
            <a:fillRect/>
          </a:stretch>
        </p:blipFill>
        <p:spPr>
          <a:xfrm>
            <a:off x="12054434" y="1945775"/>
            <a:ext cx="12365896" cy="8943452"/>
          </a:xfrm>
          <a:prstGeom prst="rect">
            <a:avLst/>
          </a:prstGeom>
          <a:ln w="12700">
            <a:miter lim="400000"/>
          </a:ln>
        </p:spPr>
      </p:pic>
      <p:sp>
        <p:nvSpPr>
          <p:cNvPr id="655" name="Discrete diffusion models"/>
          <p:cNvSpPr txBox="1">
            <a:spLocks noGrp="1"/>
          </p:cNvSpPr>
          <p:nvPr>
            <p:ph type="title"/>
          </p:nvPr>
        </p:nvSpPr>
        <p:spPr>
          <a:prstGeom prst="rect">
            <a:avLst/>
          </a:prstGeom>
        </p:spPr>
        <p:txBody>
          <a:bodyPr/>
          <a:lstStyle/>
          <a:p>
            <a:r>
              <a:t>Discrete diffusion models</a:t>
            </a:r>
          </a:p>
        </p:txBody>
      </p:sp>
      <p:sp>
        <p:nvSpPr>
          <p:cNvPr id="656" name="Slide Subtitle"/>
          <p:cNvSpPr txBox="1">
            <a:spLocks noGrp="1"/>
          </p:cNvSpPr>
          <p:nvPr>
            <p:ph type="body" idx="21"/>
          </p:nvPr>
        </p:nvSpPr>
        <p:spPr>
          <a:prstGeom prst="rect">
            <a:avLst/>
          </a:prstGeom>
        </p:spPr>
        <p:txBody>
          <a:bodyPr/>
          <a:lstStyle/>
          <a:p>
            <a:endParaRPr/>
          </a:p>
        </p:txBody>
      </p:sp>
      <p:sp>
        <p:nvSpPr>
          <p:cNvPr id="65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25</a:t>
            </a:fld>
            <a:endParaRPr/>
          </a:p>
        </p:txBody>
      </p:sp>
      <p:pic>
        <p:nvPicPr>
          <p:cNvPr id="658" name="output.gif" descr="output.gif"/>
          <p:cNvPicPr>
            <a:picLocks/>
          </p:cNvPicPr>
          <p:nvPr/>
        </p:nvPicPr>
        <p:blipFill>
          <a:blip r:embed="rId3"/>
          <a:stretch>
            <a:fillRect/>
          </a:stretch>
        </p:blipFill>
        <p:spPr>
          <a:xfrm>
            <a:off x="1223782" y="9194889"/>
            <a:ext cx="13970001" cy="3429001"/>
          </a:xfrm>
          <a:prstGeom prst="rect">
            <a:avLst/>
          </a:prstGeom>
          <a:ln w="12700">
            <a:miter lim="400000"/>
          </a:ln>
        </p:spPr>
      </p:pic>
      <p:sp>
        <p:nvSpPr>
          <p:cNvPr id="659" name="Sahoo et al. (2024)">
            <a:hlinkClick r:id="rId4"/>
          </p:cNvPr>
          <p:cNvSpPr txBox="1"/>
          <p:nvPr/>
        </p:nvSpPr>
        <p:spPr>
          <a:xfrm>
            <a:off x="18761451" y="11046366"/>
            <a:ext cx="2669866"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90">
                <a:solidFill>
                  <a:srgbClr val="5E5E5E"/>
                </a:solidFill>
                <a:latin typeface="Helvetica"/>
                <a:ea typeface="Helvetica"/>
                <a:cs typeface="Helvetica"/>
                <a:sym typeface="Helvetica"/>
              </a:defRPr>
            </a:lvl1pPr>
          </a:lstStyle>
          <a:p>
            <a:r>
              <a:t> Sahoo et al. (2024)</a:t>
            </a:r>
          </a:p>
        </p:txBody>
      </p:sp>
      <p:pic>
        <p:nvPicPr>
          <p:cNvPr id="660" name="Screen Shot 2022-10-17 at 11.39.00 AM.png" descr="Screen Shot 2022-10-17 at 11.39.00 AM.png">
            <a:hlinkClick r:id="rId4"/>
          </p:cNvPr>
          <p:cNvPicPr>
            <a:picLocks noChangeAspect="1"/>
          </p:cNvPicPr>
          <p:nvPr/>
        </p:nvPicPr>
        <p:blipFill>
          <a:blip r:embed="rId5"/>
          <a:stretch>
            <a:fillRect/>
          </a:stretch>
        </p:blipFill>
        <p:spPr>
          <a:xfrm>
            <a:off x="18222816" y="11046366"/>
            <a:ext cx="589961" cy="526182"/>
          </a:xfrm>
          <a:prstGeom prst="rect">
            <a:avLst/>
          </a:prstGeom>
          <a:ln w="12700">
            <a:miter lim="400000"/>
          </a:ln>
        </p:spPr>
      </p:pic>
      <p:sp>
        <p:nvSpPr>
          <p:cNvPr id="661" name="AR models struggle to enforce constraints due to their reliance on token-by-token generation.…"/>
          <p:cNvSpPr txBox="1">
            <a:spLocks noGrp="1"/>
          </p:cNvSpPr>
          <p:nvPr>
            <p:ph type="body" sz="half" idx="1"/>
          </p:nvPr>
        </p:nvSpPr>
        <p:spPr>
          <a:xfrm>
            <a:off x="859201" y="2813304"/>
            <a:ext cx="11650208" cy="9127520"/>
          </a:xfrm>
          <a:prstGeom prst="rect">
            <a:avLst/>
          </a:prstGeom>
        </p:spPr>
        <p:txBody>
          <a:bodyPr/>
          <a:lstStyle/>
          <a:p>
            <a:pPr marL="520700" indent="-520700">
              <a:lnSpc>
                <a:spcPct val="100000"/>
              </a:lnSpc>
              <a:spcBef>
                <a:spcPts val="1200"/>
              </a:spcBef>
              <a:buSzPct val="70000"/>
              <a:defRPr sz="4500">
                <a:latin typeface="Helvetica Neue Light"/>
                <a:ea typeface="Helvetica Neue Light"/>
                <a:cs typeface="Helvetica Neue Light"/>
                <a:sym typeface="Helvetica Neue Light"/>
              </a:defRPr>
            </a:pPr>
            <a:r>
              <a:t>AR models struggle to enforce constraints due to their reliance on token-by-token generation. </a:t>
            </a:r>
            <a:br/>
            <a:endParaRPr sz="1400"/>
          </a:p>
          <a:p>
            <a:pPr marL="520700" indent="-520700">
              <a:lnSpc>
                <a:spcPct val="100000"/>
              </a:lnSpc>
              <a:spcBef>
                <a:spcPts val="1200"/>
              </a:spcBef>
              <a:buSzPct val="70000"/>
              <a:defRPr sz="4500">
                <a:latin typeface="Helvetica Neue Light"/>
                <a:ea typeface="Helvetica Neue Light"/>
                <a:cs typeface="Helvetica Neue Light"/>
                <a:sym typeface="Helvetica Neue Light"/>
              </a:defRPr>
            </a:pPr>
            <a:r>
              <a:rPr>
                <a:solidFill>
                  <a:schemeClr val="accent1">
                    <a:hueOff val="114395"/>
                    <a:lumOff val="-24975"/>
                  </a:schemeClr>
                </a:solidFill>
              </a:rPr>
              <a:t>Discrete diffusion models</a:t>
            </a:r>
            <a:r>
              <a:t> are rapidly evolving architectures which mirror (continuous) diffusion models but operate on token distributions. </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 name="Group"/>
          <p:cNvGrpSpPr/>
          <p:nvPr/>
        </p:nvGrpSpPr>
        <p:grpSpPr>
          <a:xfrm>
            <a:off x="1564914" y="4234869"/>
            <a:ext cx="15431512" cy="7058353"/>
            <a:chOff x="0" y="0"/>
            <a:chExt cx="15431510" cy="7058351"/>
          </a:xfrm>
        </p:grpSpPr>
        <p:sp>
          <p:nvSpPr>
            <p:cNvPr id="663" name="Rectangle"/>
            <p:cNvSpPr/>
            <p:nvPr/>
          </p:nvSpPr>
          <p:spPr>
            <a:xfrm>
              <a:off x="12308141" y="0"/>
              <a:ext cx="3123370" cy="1270000"/>
            </a:xfrm>
            <a:prstGeom prst="rect">
              <a:avLst/>
            </a:prstGeom>
            <a:solidFill>
              <a:schemeClr val="accent1">
                <a:lumOff val="16847"/>
                <a:alpha val="20000"/>
              </a:schemeClr>
            </a:solidFill>
            <a:ln w="12700" cap="flat">
              <a:solidFill>
                <a:schemeClr val="accent1">
                  <a:hueOff val="114395"/>
                  <a:lumOff val="-24975"/>
                </a:scheme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latin typeface="+mn-lt"/>
                  <a:ea typeface="+mn-ea"/>
                  <a:cs typeface="+mn-cs"/>
                  <a:sym typeface="Helvetica Neue"/>
                </a:defRPr>
              </a:pPr>
              <a:endParaRPr/>
            </a:p>
          </p:txBody>
        </p:sp>
        <p:sp>
          <p:nvSpPr>
            <p:cNvPr id="664" name="Rectangle"/>
            <p:cNvSpPr/>
            <p:nvPr/>
          </p:nvSpPr>
          <p:spPr>
            <a:xfrm>
              <a:off x="0" y="6351173"/>
              <a:ext cx="3115733" cy="707179"/>
            </a:xfrm>
            <a:prstGeom prst="rect">
              <a:avLst/>
            </a:prstGeom>
            <a:solidFill>
              <a:schemeClr val="accent1">
                <a:lumOff val="16847"/>
                <a:alpha val="20000"/>
              </a:schemeClr>
            </a:solidFill>
            <a:ln w="12700" cap="flat">
              <a:solidFill>
                <a:schemeClr val="accent1">
                  <a:hueOff val="114395"/>
                  <a:lumOff val="-24975"/>
                </a:scheme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latin typeface="+mn-lt"/>
                  <a:ea typeface="+mn-ea"/>
                  <a:cs typeface="+mn-cs"/>
                  <a:sym typeface="Helvetica Neue"/>
                </a:defRPr>
              </a:pPr>
              <a:endParaRPr/>
            </a:p>
          </p:txBody>
        </p:sp>
      </p:grpSp>
      <p:grpSp>
        <p:nvGrpSpPr>
          <p:cNvPr id="668" name="Group"/>
          <p:cNvGrpSpPr/>
          <p:nvPr/>
        </p:nvGrpSpPr>
        <p:grpSpPr>
          <a:xfrm>
            <a:off x="3384278" y="4151641"/>
            <a:ext cx="8513595" cy="4173597"/>
            <a:chOff x="0" y="0"/>
            <a:chExt cx="8513593" cy="4173595"/>
          </a:xfrm>
        </p:grpSpPr>
        <p:sp>
          <p:nvSpPr>
            <p:cNvPr id="666" name="Rectangle"/>
            <p:cNvSpPr/>
            <p:nvPr/>
          </p:nvSpPr>
          <p:spPr>
            <a:xfrm>
              <a:off x="5890606" y="0"/>
              <a:ext cx="2622988" cy="1270000"/>
            </a:xfrm>
            <a:prstGeom prst="rect">
              <a:avLst/>
            </a:prstGeom>
            <a:solidFill>
              <a:schemeClr val="accent4">
                <a:hueOff val="348544"/>
                <a:lumOff val="7139"/>
                <a:alpha val="30000"/>
              </a:schemeClr>
            </a:solidFill>
            <a:ln w="12700" cap="flat">
              <a:solidFill>
                <a:schemeClr val="accent4">
                  <a:hueOff val="-1247790"/>
                  <a:lumOff val="-12326"/>
                </a:scheme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latin typeface="+mn-lt"/>
                  <a:ea typeface="+mn-ea"/>
                  <a:cs typeface="+mn-cs"/>
                  <a:sym typeface="Helvetica Neue"/>
                </a:defRPr>
              </a:pPr>
              <a:endParaRPr/>
            </a:p>
          </p:txBody>
        </p:sp>
        <p:sp>
          <p:nvSpPr>
            <p:cNvPr id="667" name="Rectangle"/>
            <p:cNvSpPr/>
            <p:nvPr/>
          </p:nvSpPr>
          <p:spPr>
            <a:xfrm>
              <a:off x="0" y="3332276"/>
              <a:ext cx="3588524" cy="841320"/>
            </a:xfrm>
            <a:prstGeom prst="rect">
              <a:avLst/>
            </a:prstGeom>
            <a:solidFill>
              <a:schemeClr val="accent4">
                <a:hueOff val="348544"/>
                <a:lumOff val="7139"/>
                <a:alpha val="30000"/>
              </a:schemeClr>
            </a:solidFill>
            <a:ln w="12700" cap="flat">
              <a:solidFill>
                <a:schemeClr val="accent4">
                  <a:hueOff val="-1247790"/>
                  <a:lumOff val="-12326"/>
                </a:scheme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latin typeface="+mn-lt"/>
                  <a:ea typeface="+mn-ea"/>
                  <a:cs typeface="+mn-cs"/>
                  <a:sym typeface="Helvetica Neue"/>
                </a:defRPr>
              </a:pPr>
              <a:endParaRPr/>
            </a:p>
          </p:txBody>
        </p:sp>
      </p:grpSp>
      <p:sp>
        <p:nvSpPr>
          <p:cNvPr id="669" name="Constrained-aware discrete diffusion (CDD)"/>
          <p:cNvSpPr txBox="1">
            <a:spLocks noGrp="1"/>
          </p:cNvSpPr>
          <p:nvPr>
            <p:ph type="title"/>
          </p:nvPr>
        </p:nvSpPr>
        <p:spPr>
          <a:xfrm>
            <a:off x="969145" y="556631"/>
            <a:ext cx="21971001" cy="1433163"/>
          </a:xfrm>
          <a:prstGeom prst="rect">
            <a:avLst/>
          </a:prstGeom>
        </p:spPr>
        <p:txBody>
          <a:bodyPr/>
          <a:lstStyle/>
          <a:p>
            <a:r>
              <a:t>Constrained-aware discrete diffusion (CDD)</a:t>
            </a:r>
          </a:p>
        </p:txBody>
      </p:sp>
      <mc:AlternateContent xmlns:mc="http://schemas.openxmlformats.org/markup-compatibility/2006">
        <mc:Choice xmlns:a14="http://schemas.microsoft.com/office/drawing/2010/main" Requires="a14">
          <p:sp>
            <p:nvSpPr>
              <p:cNvPr id="670" name="Key Idea: Adapt the projected diffusion process to the discrete denoising process:…"/>
              <p:cNvSpPr txBox="1">
                <a:spLocks noGrp="1"/>
              </p:cNvSpPr>
              <p:nvPr>
                <p:ph type="body" idx="1"/>
              </p:nvPr>
            </p:nvSpPr>
            <p:spPr>
              <a:xfrm>
                <a:off x="848085" y="3199731"/>
                <a:ext cx="21971001" cy="9075419"/>
              </a:xfrm>
              <a:prstGeom prst="rect">
                <a:avLst/>
              </a:prstGeom>
            </p:spPr>
            <p:txBody>
              <a:bodyPr/>
              <a:lstStyle/>
              <a:p>
                <a:pPr marL="521605" indent="-521605" defTabSz="2340805">
                  <a:spcBef>
                    <a:spcPts val="2100"/>
                  </a:spcBef>
                  <a:defRPr sz="4416"/>
                </a:pPr>
                <a:r>
                  <a:rPr dirty="0">
                    <a:solidFill>
                      <a:schemeClr val="accent5">
                        <a:lumOff val="-29866"/>
                      </a:schemeClr>
                    </a:solidFill>
                    <a:latin typeface="Gill Sans"/>
                    <a:ea typeface="Gill Sans"/>
                    <a:cs typeface="Gill Sans"/>
                    <a:sym typeface="Gill Sans"/>
                  </a:rPr>
                  <a:t>Key Idea</a:t>
                </a:r>
                <a:r>
                  <a:rPr dirty="0"/>
                  <a:t>: Adapt the projected diffusion process to the discrete denoising process:</a:t>
                </a:r>
                <a:br>
                  <a:rPr dirty="0"/>
                </a:br>
                <a:endParaRPr dirty="0"/>
              </a:p>
              <a:p>
                <a:pPr marL="521605" indent="-521605" defTabSz="2340805">
                  <a:spcBef>
                    <a:spcPts val="2100"/>
                  </a:spcBef>
                  <a:defRPr sz="6719"/>
                </a:pPr>
                <a:endParaRPr dirty="0"/>
              </a:p>
              <a:p>
                <a:pPr marL="0" indent="0" defTabSz="2340805">
                  <a:spcBef>
                    <a:spcPts val="2100"/>
                  </a:spcBef>
                  <a:buSzTx/>
                  <a:buNone/>
                  <a:defRPr sz="4416"/>
                </a:pPr>
                <a:r>
                  <a:rPr dirty="0"/>
                  <a:t>where </a:t>
                </a:r>
                <a14:m>
                  <m:oMath xmlns:m="http://schemas.openxmlformats.org/officeDocument/2006/math">
                    <m:sSub>
                      <m:sSubPr>
                        <m:ctrlPr>
                          <a:rPr sz="5050">
                            <a:solidFill>
                              <a:srgbClr val="000000"/>
                            </a:solidFill>
                            <a:latin typeface="Cambria Math" panose="02040503050406030204" pitchFamily="18" charset="0"/>
                          </a:rPr>
                        </m:ctrlPr>
                      </m:sSubPr>
                      <m:e>
                        <m:r>
                          <a:rPr sz="5050" i="1">
                            <a:solidFill>
                              <a:srgbClr val="000000"/>
                            </a:solidFill>
                            <a:latin typeface="Cambria Math" panose="02040503050406030204" pitchFamily="18" charset="0"/>
                          </a:rPr>
                          <m:t>𝑥</m:t>
                        </m:r>
                      </m:e>
                      <m:sub>
                        <m:r>
                          <a:rPr sz="5050" i="1">
                            <a:solidFill>
                              <a:srgbClr val="000000"/>
                            </a:solidFill>
                            <a:latin typeface="Cambria Math" panose="02040503050406030204" pitchFamily="18" charset="0"/>
                          </a:rPr>
                          <m:t>𝑡</m:t>
                        </m:r>
                      </m:sub>
                    </m:sSub>
                  </m:oMath>
                </a14:m>
                <a:r>
                  <a:rPr dirty="0"/>
                  <a:t> is the current token sequence</a:t>
                </a:r>
                <a:br>
                  <a:rPr dirty="0"/>
                </a:br>
                <a:r>
                  <a:rPr dirty="0"/>
                  <a:t> (e.g., L tokens in </a:t>
                </a:r>
                <a14:m>
                  <m:oMath xmlns:m="http://schemas.openxmlformats.org/officeDocument/2006/math">
                    <m:sSup>
                      <m:sSupPr>
                        <m:ctrlPr>
                          <a:rPr sz="5450">
                            <a:solidFill>
                              <a:srgbClr val="000000"/>
                            </a:solidFill>
                            <a:latin typeface="Cambria Math" panose="02040503050406030204" pitchFamily="18" charset="0"/>
                          </a:rPr>
                        </m:ctrlPr>
                      </m:sSupPr>
                      <m:e>
                        <m:r>
                          <a:rPr sz="5450" i="1">
                            <a:solidFill>
                              <a:srgbClr val="000000"/>
                            </a:solidFill>
                            <a:latin typeface="Cambria Math" panose="02040503050406030204" pitchFamily="18" charset="0"/>
                          </a:rPr>
                          <m:t>ℝ</m:t>
                        </m:r>
                      </m:e>
                      <m:sup>
                        <m:r>
                          <a:rPr sz="5450" i="1">
                            <a:solidFill>
                              <a:srgbClr val="000000"/>
                            </a:solidFill>
                            <a:latin typeface="Cambria Math" panose="02040503050406030204" pitchFamily="18" charset="0"/>
                          </a:rPr>
                          <m:t>𝑉</m:t>
                        </m:r>
                      </m:sup>
                    </m:sSup>
                  </m:oMath>
                </a14:m>
                <a:r>
                  <a:rPr dirty="0"/>
                  <a:t>). </a:t>
                </a:r>
              </a:p>
              <a:p>
                <a:pPr marL="585215" indent="-585215" defTabSz="2340805">
                  <a:spcBef>
                    <a:spcPts val="2100"/>
                  </a:spcBef>
                  <a:defRPr sz="4416"/>
                </a:pPr>
                <a:r>
                  <a:rPr dirty="0"/>
                  <a:t>Use the KL divergence between the</a:t>
                </a:r>
                <a:br>
                  <a:rPr dirty="0"/>
                </a:br>
                <a:r>
                  <a:rPr dirty="0"/>
                  <a:t> original </a:t>
                </a:r>
                <a14:m>
                  <m:oMath xmlns:m="http://schemas.openxmlformats.org/officeDocument/2006/math">
                    <m:sSub>
                      <m:sSubPr>
                        <m:ctrlPr>
                          <a:rPr sz="5050">
                            <a:solidFill>
                              <a:srgbClr val="000000"/>
                            </a:solidFill>
                            <a:latin typeface="Cambria Math" panose="02040503050406030204" pitchFamily="18" charset="0"/>
                          </a:rPr>
                        </m:ctrlPr>
                      </m:sSubPr>
                      <m:e>
                        <m:r>
                          <a:rPr sz="5050" i="1">
                            <a:solidFill>
                              <a:srgbClr val="000000"/>
                            </a:solidFill>
                            <a:latin typeface="Cambria Math" panose="02040503050406030204" pitchFamily="18" charset="0"/>
                          </a:rPr>
                          <m:t>𝑥</m:t>
                        </m:r>
                      </m:e>
                      <m:sub>
                        <m:r>
                          <a:rPr sz="5050" i="1">
                            <a:solidFill>
                              <a:srgbClr val="000000"/>
                            </a:solidFill>
                            <a:latin typeface="Cambria Math" panose="02040503050406030204" pitchFamily="18" charset="0"/>
                          </a:rPr>
                          <m:t>𝑡</m:t>
                        </m:r>
                      </m:sub>
                    </m:sSub>
                  </m:oMath>
                </a14:m>
                <a:r>
                  <a:rPr dirty="0"/>
                  <a:t> and the “projected” </a:t>
                </a:r>
                <a:br>
                  <a:rPr dirty="0"/>
                </a:br>
                <a:r>
                  <a:rPr dirty="0"/>
                  <a:t>sequence </a:t>
                </a:r>
                <a14:m>
                  <m:oMath xmlns:m="http://schemas.openxmlformats.org/officeDocument/2006/math">
                    <m:r>
                      <a:rPr sz="5300" i="1">
                        <a:solidFill>
                          <a:srgbClr val="000000"/>
                        </a:solidFill>
                        <a:latin typeface="Cambria Math" panose="02040503050406030204" pitchFamily="18" charset="0"/>
                      </a:rPr>
                      <m:t>𝑦</m:t>
                    </m:r>
                  </m:oMath>
                </a14:m>
                <a:r>
                  <a:rPr dirty="0"/>
                  <a:t>.</a:t>
                </a:r>
              </a:p>
              <a:p>
                <a:pPr marL="585215" indent="-585215" defTabSz="2340805">
                  <a:spcBef>
                    <a:spcPts val="2100"/>
                  </a:spcBef>
                  <a:defRPr sz="4416"/>
                </a:pPr>
                <a:r>
                  <a:rPr dirty="0"/>
                  <a:t>The constraints are enforced over the</a:t>
                </a:r>
                <a:br>
                  <a:rPr dirty="0"/>
                </a:br>
                <a:r>
                  <a:rPr dirty="0"/>
                  <a:t> </a:t>
                </a:r>
                <a14:m>
                  <m:oMath xmlns:m="http://schemas.openxmlformats.org/officeDocument/2006/math">
                    <m:r>
                      <m:rPr>
                        <m:sty m:val="p"/>
                      </m:rPr>
                      <a:rPr sz="5500" i="1">
                        <a:solidFill>
                          <a:srgbClr val="000000"/>
                        </a:solidFill>
                        <a:latin typeface="Cambria Math" panose="02040503050406030204" pitchFamily="18" charset="0"/>
                      </a:rPr>
                      <m:t>arg</m:t>
                    </m:r>
                    <m:r>
                      <a:rPr sz="5500" i="1">
                        <a:solidFill>
                          <a:srgbClr val="000000"/>
                        </a:solidFill>
                        <a:latin typeface="Cambria Math" panose="02040503050406030204" pitchFamily="18" charset="0"/>
                      </a:rPr>
                      <m:t>𝑚𝑎𝑥</m:t>
                    </m:r>
                    <m:r>
                      <a:rPr sz="5500" i="1">
                        <a:solidFill>
                          <a:srgbClr val="000000"/>
                        </a:solidFill>
                        <a:latin typeface="Cambria Math" panose="02040503050406030204" pitchFamily="18" charset="0"/>
                      </a:rPr>
                      <m:t>(</m:t>
                    </m:r>
                    <m:r>
                      <a:rPr sz="5500" i="1">
                        <a:solidFill>
                          <a:srgbClr val="000000"/>
                        </a:solidFill>
                        <a:latin typeface="Cambria Math" panose="02040503050406030204" pitchFamily="18" charset="0"/>
                      </a:rPr>
                      <m:t>𝑦</m:t>
                    </m:r>
                    <m:r>
                      <a:rPr sz="5500" i="1">
                        <a:solidFill>
                          <a:srgbClr val="000000"/>
                        </a:solidFill>
                        <a:latin typeface="Cambria Math" panose="02040503050406030204" pitchFamily="18" charset="0"/>
                      </a:rPr>
                      <m:t>)</m:t>
                    </m:r>
                  </m:oMath>
                </a14:m>
                <a:r>
                  <a:rPr dirty="0"/>
                  <a:t> thus, </a:t>
                </a:r>
                <a:r>
                  <a:rPr dirty="0">
                    <a:solidFill>
                      <a:schemeClr val="accent1">
                        <a:hueOff val="114395"/>
                        <a:lumOff val="-24975"/>
                      </a:schemeClr>
                    </a:solidFill>
                  </a:rPr>
                  <a:t>CDD assess valid </a:t>
                </a:r>
                <a:br>
                  <a:rPr dirty="0">
                    <a:solidFill>
                      <a:schemeClr val="accent1">
                        <a:hueOff val="114395"/>
                        <a:lumOff val="-24975"/>
                      </a:schemeClr>
                    </a:solidFill>
                  </a:rPr>
                </a:br>
                <a:r>
                  <a:rPr dirty="0">
                    <a:solidFill>
                      <a:schemeClr val="accent1">
                        <a:hueOff val="114395"/>
                        <a:lumOff val="-24975"/>
                      </a:schemeClr>
                    </a:solidFill>
                  </a:rPr>
                  <a:t>outputs at the sequence level</a:t>
                </a:r>
                <a:r>
                  <a:rPr dirty="0"/>
                  <a:t>! </a:t>
                </a:r>
                <a:endParaRPr sz="4600" dirty="0"/>
              </a:p>
            </p:txBody>
          </p:sp>
        </mc:Choice>
        <mc:Fallback>
          <p:sp>
            <p:nvSpPr>
              <p:cNvPr id="670" name="Key Idea: Adapt the projected diffusion process to the discrete denoising process:…"/>
              <p:cNvSpPr txBox="1">
                <a:spLocks noGrp="1" noRot="1" noChangeAspect="1" noMove="1" noResize="1" noEditPoints="1" noAdjustHandles="1" noChangeArrowheads="1" noChangeShapeType="1" noTextEdit="1"/>
              </p:cNvSpPr>
              <p:nvPr>
                <p:ph type="body" idx="1"/>
              </p:nvPr>
            </p:nvSpPr>
            <p:spPr>
              <a:xfrm>
                <a:off x="848085" y="3199731"/>
                <a:ext cx="21971001" cy="9075419"/>
              </a:xfrm>
              <a:prstGeom prst="rect">
                <a:avLst/>
              </a:prstGeom>
              <a:blipFill>
                <a:blip r:embed="rId2"/>
                <a:stretch>
                  <a:fillRect l="-1271" t="-2238"/>
                </a:stretch>
              </a:blipFill>
            </p:spPr>
            <p:txBody>
              <a:bodyPr/>
              <a:lstStyle/>
              <a:p>
                <a:r>
                  <a:rPr lang="en-US">
                    <a:noFill/>
                  </a:rPr>
                  <a:t> </a:t>
                </a:r>
              </a:p>
            </p:txBody>
          </p:sp>
        </mc:Fallback>
      </mc:AlternateContent>
      <p:sp>
        <p:nvSpPr>
          <p:cNvPr id="67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26</a:t>
            </a:fld>
            <a:endParaRPr/>
          </a:p>
        </p:txBody>
      </p:sp>
      <p:pic>
        <p:nvPicPr>
          <p:cNvPr id="672" name="Image" descr="Image"/>
          <p:cNvPicPr>
            <a:picLocks noChangeAspect="1"/>
          </p:cNvPicPr>
          <p:nvPr/>
        </p:nvPicPr>
        <p:blipFill>
          <a:blip r:embed="rId3"/>
          <a:stretch>
            <a:fillRect/>
          </a:stretch>
        </p:blipFill>
        <p:spPr>
          <a:xfrm>
            <a:off x="3900430" y="4053834"/>
            <a:ext cx="14599354" cy="1784999"/>
          </a:xfrm>
          <a:prstGeom prst="rect">
            <a:avLst/>
          </a:prstGeom>
          <a:ln w="12700">
            <a:miter lim="400000"/>
          </a:ln>
        </p:spPr>
      </p:pic>
      <p:pic>
        <p:nvPicPr>
          <p:cNvPr id="673" name="Image" descr="Image"/>
          <p:cNvPicPr>
            <a:picLocks noChangeAspect="1"/>
          </p:cNvPicPr>
          <p:nvPr/>
        </p:nvPicPr>
        <p:blipFill>
          <a:blip r:embed="rId4"/>
          <a:stretch>
            <a:fillRect/>
          </a:stretch>
        </p:blipFill>
        <p:spPr>
          <a:xfrm>
            <a:off x="10217454" y="7048770"/>
            <a:ext cx="14242512" cy="5539140"/>
          </a:xfrm>
          <a:prstGeom prst="rect">
            <a:avLst/>
          </a:prstGeom>
          <a:ln w="12700">
            <a:miter lim="400000"/>
          </a:ln>
        </p:spPr>
      </p:pic>
      <p:pic>
        <p:nvPicPr>
          <p:cNvPr id="674" name="Screen Shot 2022-10-17 at 11.39.00 AM.png" descr="Screen Shot 2022-10-17 at 11.39.00 AM.png">
            <a:hlinkClick r:id="rId5"/>
          </p:cNvPr>
          <p:cNvPicPr>
            <a:picLocks noChangeAspect="1"/>
          </p:cNvPicPr>
          <p:nvPr/>
        </p:nvPicPr>
        <p:blipFill>
          <a:blip r:embed="rId6"/>
          <a:stretch>
            <a:fillRect/>
          </a:stretch>
        </p:blipFill>
        <p:spPr>
          <a:xfrm>
            <a:off x="11019043" y="13033464"/>
            <a:ext cx="362129" cy="322980"/>
          </a:xfrm>
          <a:prstGeom prst="rect">
            <a:avLst/>
          </a:prstGeom>
          <a:ln w="12700">
            <a:miter lim="400000"/>
          </a:ln>
        </p:spPr>
      </p:pic>
      <p:sp>
        <p:nvSpPr>
          <p:cNvPr id="675" name="NeurIPS:25">
            <a:hlinkClick r:id="rId5"/>
          </p:cNvPr>
          <p:cNvSpPr txBox="1"/>
          <p:nvPr/>
        </p:nvSpPr>
        <p:spPr>
          <a:xfrm>
            <a:off x="11423546" y="12966354"/>
            <a:ext cx="1466702"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400"/>
            </a:lvl1pPr>
          </a:lstStyle>
          <a:p>
            <a:r>
              <a:t>NeurIPS:25</a:t>
            </a:r>
          </a:p>
        </p:txBody>
      </p:sp>
      <p:sp>
        <p:nvSpPr>
          <p:cNvPr id="676" name="prompt:  This suggestion is […]"/>
          <p:cNvSpPr txBox="1"/>
          <p:nvPr/>
        </p:nvSpPr>
        <p:spPr>
          <a:xfrm>
            <a:off x="14704865" y="6217277"/>
            <a:ext cx="6731230" cy="723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4300"/>
            </a:lvl1pPr>
          </a:lstStyle>
          <a:p>
            <a:r>
              <a:t>prompt:  This suggestion is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70">
                                            <p:txEl>
                                              <p:pRg st="4" end="4"/>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668"/>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3" nodeType="afterEffect">
                                  <p:stCondLst>
                                    <p:cond delay="0"/>
                                  </p:stCondLst>
                                  <p:iterate>
                                    <p:tmAbs val="0"/>
                                  </p:iterate>
                                  <p:childTnLst>
                                    <p:set>
                                      <p:cBhvr>
                                        <p:cTn id="12" fill="hold"/>
                                        <p:tgtEl>
                                          <p:spTgt spid="665"/>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4" nodeType="afterEffect">
                                  <p:stCondLst>
                                    <p:cond delay="0"/>
                                  </p:stCondLst>
                                  <p:iterate>
                                    <p:tmAbs val="0"/>
                                  </p:iterate>
                                  <p:childTnLst>
                                    <p:set>
                                      <p:cBhvr>
                                        <p:cTn id="15" fill="hold"/>
                                        <p:tgtEl>
                                          <p:spTgt spid="673"/>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5" nodeType="afterEffect">
                                  <p:stCondLst>
                                    <p:cond delay="0"/>
                                  </p:stCondLst>
                                  <p:iterate>
                                    <p:tmAbs val="0"/>
                                  </p:iterate>
                                  <p:childTnLst>
                                    <p:set>
                                      <p:cBhvr>
                                        <p:cTn id="18" fill="hold"/>
                                        <p:tgtEl>
                                          <p:spTgt spid="6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 grpId="3" animBg="1" advAuto="0"/>
      <p:bldP spid="668" grpId="2" animBg="1" advAuto="0"/>
      <p:bldP spid="670" grpId="1" build="p" animBg="1" advAuto="0"/>
      <p:bldP spid="673" grpId="4" animBg="1" advAuto="0"/>
      <p:bldP spid="676" grpId="5"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 name="Natural language toxicity mitigation"/>
          <p:cNvSpPr txBox="1">
            <a:spLocks noGrp="1"/>
          </p:cNvSpPr>
          <p:nvPr>
            <p:ph type="title"/>
          </p:nvPr>
        </p:nvSpPr>
        <p:spPr>
          <a:prstGeom prst="rect">
            <a:avLst/>
          </a:prstGeom>
        </p:spPr>
        <p:txBody>
          <a:bodyPr/>
          <a:lstStyle/>
          <a:p>
            <a:r>
              <a:t>Natural language toxicity mitigation</a:t>
            </a:r>
          </a:p>
        </p:txBody>
      </p:sp>
      <p:sp>
        <p:nvSpPr>
          <p:cNvPr id="67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27</a:t>
            </a:fld>
            <a:endParaRPr/>
          </a:p>
        </p:txBody>
      </p:sp>
      <p:pic>
        <p:nvPicPr>
          <p:cNvPr id="680" name="Image" descr="Image"/>
          <p:cNvPicPr>
            <a:picLocks noChangeAspect="1"/>
          </p:cNvPicPr>
          <p:nvPr/>
        </p:nvPicPr>
        <p:blipFill>
          <a:blip r:embed="rId2"/>
          <a:stretch>
            <a:fillRect/>
          </a:stretch>
        </p:blipFill>
        <p:spPr>
          <a:xfrm>
            <a:off x="487768" y="6296755"/>
            <a:ext cx="21349844" cy="6378390"/>
          </a:xfrm>
          <a:prstGeom prst="rect">
            <a:avLst/>
          </a:prstGeom>
          <a:ln w="12700">
            <a:miter lim="400000"/>
          </a:ln>
        </p:spPr>
      </p:pic>
      <p:sp>
        <p:nvSpPr>
          <p:cNvPr id="681" name="RealToxicity Prompt dataset"/>
          <p:cNvSpPr txBox="1"/>
          <p:nvPr/>
        </p:nvSpPr>
        <p:spPr>
          <a:xfrm>
            <a:off x="3933938" y="5819929"/>
            <a:ext cx="5947322" cy="711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4200">
                <a:solidFill>
                  <a:schemeClr val="accent1">
                    <a:hueOff val="114395"/>
                    <a:lumOff val="-24975"/>
                  </a:schemeClr>
                </a:solidFill>
              </a:defRPr>
            </a:lvl1pPr>
          </a:lstStyle>
          <a:p>
            <a:r>
              <a:t>RealToxicity Prompt dataset</a:t>
            </a:r>
          </a:p>
        </p:txBody>
      </p:sp>
      <p:sp>
        <p:nvSpPr>
          <p:cNvPr id="682" name="Rectangle"/>
          <p:cNvSpPr/>
          <p:nvPr/>
        </p:nvSpPr>
        <p:spPr>
          <a:xfrm>
            <a:off x="10268010" y="10813578"/>
            <a:ext cx="4096435" cy="1277523"/>
          </a:xfrm>
          <a:prstGeom prst="rect">
            <a:avLst/>
          </a:prstGeom>
          <a:solidFill>
            <a:schemeClr val="accent4">
              <a:hueOff val="348544"/>
              <a:lumOff val="7139"/>
              <a:alpha val="30000"/>
            </a:schemeClr>
          </a:solidFill>
          <a:ln w="12700">
            <a:solidFill>
              <a:schemeClr val="accent4">
                <a:hueOff val="-1247790"/>
                <a:lumOff val="-12326"/>
              </a:schemeClr>
            </a:solidFill>
            <a:miter lim="400000"/>
          </a:ln>
        </p:spPr>
        <p:txBody>
          <a:bodyPr lIns="50800" tIns="50800" rIns="50800" bIns="50800" anchor="ctr"/>
          <a:lstStyle/>
          <a:p>
            <a:pPr algn="ctr" defTabSz="825500">
              <a:lnSpc>
                <a:spcPct val="100000"/>
              </a:lnSpc>
              <a:spcBef>
                <a:spcPts val="0"/>
              </a:spcBef>
              <a:defRPr sz="3200">
                <a:latin typeface="+mn-lt"/>
                <a:ea typeface="+mn-ea"/>
                <a:cs typeface="+mn-cs"/>
                <a:sym typeface="Helvetica Neue"/>
              </a:defRPr>
            </a:pPr>
            <a:endParaRPr/>
          </a:p>
        </p:txBody>
      </p:sp>
      <p:pic>
        <p:nvPicPr>
          <p:cNvPr id="683" name="Group" descr="Group"/>
          <p:cNvPicPr>
            <a:picLocks noChangeAspect="1"/>
          </p:cNvPicPr>
          <p:nvPr/>
        </p:nvPicPr>
        <p:blipFill>
          <a:blip r:embed="rId2"/>
          <a:srcRect l="66077"/>
          <a:stretch>
            <a:fillRect/>
          </a:stretch>
        </p:blipFill>
        <p:spPr>
          <a:xfrm>
            <a:off x="14468057" y="4589760"/>
            <a:ext cx="9365159" cy="8247875"/>
          </a:xfrm>
          <a:prstGeom prst="rect">
            <a:avLst/>
          </a:prstGeom>
          <a:ln w="12700">
            <a:miter lim="400000"/>
          </a:ln>
        </p:spPr>
      </p:pic>
      <p:sp>
        <p:nvSpPr>
          <p:cNvPr id="684" name="While LLMs have remarkable capabilities in generating human-like text, they can inadvertently create offensive and dangerous outputs.…"/>
          <p:cNvSpPr txBox="1">
            <a:spLocks noGrp="1"/>
          </p:cNvSpPr>
          <p:nvPr>
            <p:ph type="body" sz="quarter" idx="1"/>
          </p:nvPr>
        </p:nvSpPr>
        <p:spPr>
          <a:xfrm>
            <a:off x="1238607" y="2421539"/>
            <a:ext cx="21906786" cy="2981515"/>
          </a:xfrm>
          <a:prstGeom prst="rect">
            <a:avLst/>
          </a:prstGeom>
        </p:spPr>
        <p:txBody>
          <a:bodyPr/>
          <a:lstStyle/>
          <a:p>
            <a:pPr marL="609600" indent="-609600">
              <a:spcBef>
                <a:spcPts val="2200"/>
              </a:spcBef>
              <a:buSzPct val="123000"/>
              <a:defRPr>
                <a:latin typeface="Gill Sans Light"/>
                <a:ea typeface="Gill Sans Light"/>
                <a:cs typeface="Gill Sans Light"/>
                <a:sym typeface="Gill Sans Light"/>
              </a:defRPr>
            </a:pPr>
            <a:r>
              <a:t>While LLMs have remarkable capabilities in generating human-like text, they can inadvertently create offensive and dangerous outputs. </a:t>
            </a:r>
          </a:p>
          <a:p>
            <a:pPr marL="609600" indent="-609600">
              <a:spcBef>
                <a:spcPts val="2200"/>
              </a:spcBef>
              <a:buSzPct val="123000"/>
              <a:defRPr>
                <a:latin typeface="Gill Sans Light"/>
                <a:ea typeface="Gill Sans Light"/>
                <a:cs typeface="Gill Sans Light"/>
                <a:sym typeface="Gill Sans Light"/>
              </a:defRPr>
            </a:pPr>
            <a:r>
              <a:t>Post-processing methods do not provide guarantees.</a:t>
            </a:r>
          </a:p>
        </p:txBody>
      </p:sp>
      <p:pic>
        <p:nvPicPr>
          <p:cNvPr id="685" name="Screen Shot 2022-10-17 at 11.39.00 AM.png" descr="Screen Shot 2022-10-17 at 11.39.00 AM.png">
            <a:hlinkClick r:id="rId3"/>
          </p:cNvPr>
          <p:cNvPicPr>
            <a:picLocks noChangeAspect="1"/>
          </p:cNvPicPr>
          <p:nvPr/>
        </p:nvPicPr>
        <p:blipFill>
          <a:blip r:embed="rId4"/>
          <a:stretch>
            <a:fillRect/>
          </a:stretch>
        </p:blipFill>
        <p:spPr>
          <a:xfrm>
            <a:off x="10307014" y="12987383"/>
            <a:ext cx="465462" cy="415142"/>
          </a:xfrm>
          <a:prstGeom prst="rect">
            <a:avLst/>
          </a:prstGeom>
          <a:ln w="12700">
            <a:miter lim="400000"/>
          </a:ln>
        </p:spPr>
      </p:pic>
      <p:sp>
        <p:nvSpPr>
          <p:cNvPr id="686" name="NEuS:25">
            <a:hlinkClick r:id="rId3"/>
          </p:cNvPr>
          <p:cNvSpPr txBox="1"/>
          <p:nvPr/>
        </p:nvSpPr>
        <p:spPr>
          <a:xfrm>
            <a:off x="10817235" y="12966354"/>
            <a:ext cx="1279290" cy="482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700"/>
            </a:lvl1pPr>
          </a:lstStyle>
          <a:p>
            <a:r>
              <a:t>NEuS:25</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2" grpId="1"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 name="Synthetic chemistry: Molecular generation"/>
          <p:cNvSpPr txBox="1">
            <a:spLocks noGrp="1"/>
          </p:cNvSpPr>
          <p:nvPr>
            <p:ph type="title"/>
          </p:nvPr>
        </p:nvSpPr>
        <p:spPr>
          <a:xfrm>
            <a:off x="1206500" y="527777"/>
            <a:ext cx="21971000" cy="1433164"/>
          </a:xfrm>
          <a:prstGeom prst="rect">
            <a:avLst/>
          </a:prstGeom>
        </p:spPr>
        <p:txBody>
          <a:bodyPr/>
          <a:lstStyle/>
          <a:p>
            <a:r>
              <a:t>Synthetic chemistry: Molecular generation</a:t>
            </a:r>
          </a:p>
        </p:txBody>
      </p:sp>
      <p:sp>
        <p:nvSpPr>
          <p:cNvPr id="689" name="Task:"/>
          <p:cNvSpPr txBox="1">
            <a:spLocks noGrp="1"/>
          </p:cNvSpPr>
          <p:nvPr>
            <p:ph type="body" idx="21"/>
          </p:nvPr>
        </p:nvSpPr>
        <p:spPr>
          <a:xfrm>
            <a:off x="1206500" y="2635291"/>
            <a:ext cx="21971000" cy="93477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Task:</a:t>
            </a:r>
          </a:p>
        </p:txBody>
      </p:sp>
      <p:sp>
        <p:nvSpPr>
          <p:cNvPr id="690" name="Generate molecules in SMILE format using a discrete diffusion model.…"/>
          <p:cNvSpPr txBox="1">
            <a:spLocks noGrp="1"/>
          </p:cNvSpPr>
          <p:nvPr>
            <p:ph type="body" sz="half" idx="1"/>
          </p:nvPr>
        </p:nvSpPr>
        <p:spPr>
          <a:xfrm>
            <a:off x="1139586" y="3604378"/>
            <a:ext cx="10906163" cy="8777428"/>
          </a:xfrm>
          <a:prstGeom prst="rect">
            <a:avLst/>
          </a:prstGeom>
        </p:spPr>
        <p:txBody>
          <a:bodyPr/>
          <a:lstStyle/>
          <a:p>
            <a:pPr>
              <a:defRPr sz="4100"/>
            </a:pPr>
            <a:r>
              <a:t>Generate molecules in SMILE format using a discrete diffusion model.</a:t>
            </a:r>
            <a:br/>
            <a:br/>
            <a:br/>
            <a:br/>
            <a:endParaRPr/>
          </a:p>
          <a:p>
            <a:pPr>
              <a:buSzPct val="70000"/>
              <a:defRPr sz="4100"/>
            </a:pPr>
            <a:r>
              <a:t>Apply 5 BRENK substructure filters that identify fragments (e.g., aldehydes, three-membered heterocycles) linked to toxicity or reactivity. </a:t>
            </a:r>
          </a:p>
        </p:txBody>
      </p:sp>
      <p:sp>
        <p:nvSpPr>
          <p:cNvPr id="691" name="Challenges"/>
          <p:cNvSpPr txBox="1"/>
          <p:nvPr/>
        </p:nvSpPr>
        <p:spPr>
          <a:xfrm>
            <a:off x="1281505" y="6130514"/>
            <a:ext cx="2607613" cy="752475"/>
          </a:xfrm>
          <a:prstGeom prst="rect">
            <a:avLst/>
          </a:prstGeom>
          <a:ln w="25400">
            <a:solidFill>
              <a:schemeClr val="accent1">
                <a:hueOff val="114395"/>
                <a:lumOff val="-24975"/>
              </a:schemeClr>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spAutoFit/>
          </a:bodyPr>
          <a:lstStyle>
            <a:lvl1pPr defTabSz="821530">
              <a:lnSpc>
                <a:spcPct val="100000"/>
              </a:lnSpc>
              <a:spcBef>
                <a:spcPts val="0"/>
              </a:spcBef>
              <a:defRPr sz="4000">
                <a:solidFill>
                  <a:schemeClr val="accent1">
                    <a:hueOff val="114395"/>
                    <a:lumOff val="-24975"/>
                  </a:schemeClr>
                </a:solidFill>
                <a:latin typeface="Gill Sans"/>
                <a:ea typeface="Gill Sans"/>
                <a:cs typeface="Gill Sans"/>
                <a:sym typeface="Gill Sans"/>
              </a:defRPr>
            </a:lvl1pPr>
          </a:lstStyle>
          <a:p>
            <a:r>
              <a:t>Challenges</a:t>
            </a:r>
          </a:p>
        </p:txBody>
      </p:sp>
      <p:sp>
        <p:nvSpPr>
          <p:cNvPr id="692" name="O.o.d. generalization (novelty constraint)…"/>
          <p:cNvSpPr txBox="1"/>
          <p:nvPr/>
        </p:nvSpPr>
        <p:spPr>
          <a:xfrm>
            <a:off x="1222553" y="9443433"/>
            <a:ext cx="10171664" cy="2334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543339" indent="-543339">
              <a:lnSpc>
                <a:spcPct val="100000"/>
              </a:lnSpc>
              <a:buSzPct val="70000"/>
              <a:buChar char="•"/>
              <a:defRPr sz="4300">
                <a:latin typeface="Gill Sans"/>
                <a:ea typeface="Gill Sans"/>
                <a:cs typeface="Gill Sans"/>
                <a:sym typeface="Gill Sans"/>
              </a:defRPr>
            </a:pPr>
            <a:r>
              <a:t>O.o.d. generalization (novelty constraint)</a:t>
            </a:r>
          </a:p>
          <a:p>
            <a:pPr marL="543339" indent="-543339">
              <a:lnSpc>
                <a:spcPct val="100000"/>
              </a:lnSpc>
              <a:buSzPct val="70000"/>
              <a:buChar char="•"/>
              <a:defRPr sz="4300">
                <a:latin typeface="Gill Sans"/>
                <a:ea typeface="Gill Sans"/>
                <a:cs typeface="Gill Sans"/>
                <a:sym typeface="Gill Sans"/>
              </a:defRPr>
            </a:pPr>
            <a:r>
              <a:t>Rule-based constraints (toxicity filters)</a:t>
            </a:r>
          </a:p>
        </p:txBody>
      </p:sp>
      <p:pic>
        <p:nvPicPr>
          <p:cNvPr id="693" name="Image" descr="Image"/>
          <p:cNvPicPr>
            <a:picLocks noChangeAspect="1"/>
          </p:cNvPicPr>
          <p:nvPr/>
        </p:nvPicPr>
        <p:blipFill>
          <a:blip r:embed="rId2"/>
          <a:stretch>
            <a:fillRect/>
          </a:stretch>
        </p:blipFill>
        <p:spPr>
          <a:xfrm>
            <a:off x="12273561" y="9005834"/>
            <a:ext cx="5850766" cy="3210039"/>
          </a:xfrm>
          <a:prstGeom prst="rect">
            <a:avLst/>
          </a:prstGeom>
          <a:ln w="12700">
            <a:miter lim="400000"/>
          </a:ln>
        </p:spPr>
      </p:pic>
      <p:pic>
        <p:nvPicPr>
          <p:cNvPr id="694" name="Image" descr="Image"/>
          <p:cNvPicPr>
            <a:picLocks noChangeAspect="1"/>
          </p:cNvPicPr>
          <p:nvPr/>
        </p:nvPicPr>
        <p:blipFill>
          <a:blip r:embed="rId3"/>
          <a:stretch>
            <a:fillRect/>
          </a:stretch>
        </p:blipFill>
        <p:spPr>
          <a:xfrm>
            <a:off x="18352138" y="9020835"/>
            <a:ext cx="5850766" cy="3210037"/>
          </a:xfrm>
          <a:prstGeom prst="rect">
            <a:avLst/>
          </a:prstGeom>
          <a:ln w="12700">
            <a:miter lim="400000"/>
          </a:ln>
        </p:spPr>
      </p:pic>
      <p:pic>
        <p:nvPicPr>
          <p:cNvPr id="695" name="0*fYHw-wE0C9ZKWgdL.gif" descr="0*fYHw-wE0C9ZKWgdL.gif"/>
          <p:cNvPicPr>
            <a:picLocks/>
          </p:cNvPicPr>
          <p:nvPr/>
        </p:nvPicPr>
        <p:blipFill>
          <a:blip r:embed="rId4"/>
          <a:stretch>
            <a:fillRect/>
          </a:stretch>
        </p:blipFill>
        <p:spPr>
          <a:xfrm>
            <a:off x="12455193" y="2223633"/>
            <a:ext cx="11361211" cy="5661671"/>
          </a:xfrm>
          <a:prstGeom prst="rect">
            <a:avLst/>
          </a:prstGeom>
          <a:ln w="12700">
            <a:miter lim="400000"/>
          </a:ln>
        </p:spPr>
      </p:pic>
      <p:pic>
        <p:nvPicPr>
          <p:cNvPr id="696" name="Screen Shot 2022-10-17 at 11.39.00 AM.png" descr="Screen Shot 2022-10-17 at 11.39.00 AM.png">
            <a:hlinkClick r:id="rId5"/>
          </p:cNvPr>
          <p:cNvPicPr>
            <a:picLocks noChangeAspect="1"/>
          </p:cNvPicPr>
          <p:nvPr/>
        </p:nvPicPr>
        <p:blipFill>
          <a:blip r:embed="rId6"/>
          <a:stretch>
            <a:fillRect/>
          </a:stretch>
        </p:blipFill>
        <p:spPr>
          <a:xfrm>
            <a:off x="11019043" y="13033464"/>
            <a:ext cx="362129" cy="322980"/>
          </a:xfrm>
          <a:prstGeom prst="rect">
            <a:avLst/>
          </a:prstGeom>
          <a:ln w="12700">
            <a:miter lim="400000"/>
          </a:ln>
        </p:spPr>
      </p:pic>
      <p:sp>
        <p:nvSpPr>
          <p:cNvPr id="697" name="NeurIPS:25">
            <a:hlinkClick r:id="rId5"/>
          </p:cNvPr>
          <p:cNvSpPr txBox="1"/>
          <p:nvPr/>
        </p:nvSpPr>
        <p:spPr>
          <a:xfrm>
            <a:off x="11423546" y="12966354"/>
            <a:ext cx="1466702"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400"/>
            </a:lvl1pPr>
          </a:lstStyle>
          <a:p>
            <a:r>
              <a:t>NeurIPS:25</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iterate>
                                    <p:tmAbs val="0"/>
                                  </p:iterate>
                                  <p:childTnLst>
                                    <p:set>
                                      <p:cBhvr>
                                        <p:cTn id="6" fill="hold"/>
                                        <p:tgtEl>
                                          <p:spTgt spid="690">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9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2" nodeType="clickEffect">
                                  <p:stCondLst>
                                    <p:cond delay="0"/>
                                  </p:stCondLst>
                                  <p:iterate>
                                    <p:tmAbs val="0"/>
                                  </p:iterate>
                                  <p:childTnLst>
                                    <p:set>
                                      <p:cBhvr>
                                        <p:cTn id="12" fill="hold"/>
                                        <p:tgtEl>
                                          <p:spTgt spid="691"/>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1" nodeType="afterEffect">
                                  <p:stCondLst>
                                    <p:cond delay="0"/>
                                  </p:stCondLst>
                                  <p:iterate>
                                    <p:tmAbs val="0"/>
                                  </p:iterate>
                                  <p:childTnLst>
                                    <p:set>
                                      <p:cBhvr>
                                        <p:cTn id="15" fill="hold"/>
                                        <p:tgtEl>
                                          <p:spTgt spid="690">
                                            <p:txEl>
                                              <p:pRg st="1" end="1"/>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3" nodeType="afterEffect">
                                  <p:stCondLst>
                                    <p:cond delay="0"/>
                                  </p:stCondLst>
                                  <p:iterate>
                                    <p:tmAbs val="0"/>
                                  </p:iterate>
                                  <p:childTnLst>
                                    <p:set>
                                      <p:cBhvr>
                                        <p:cTn id="18" fill="hold"/>
                                        <p:tgtEl>
                                          <p:spTgt spid="692">
                                            <p:bg/>
                                          </p:spTgt>
                                        </p:tgtEl>
                                        <p:attrNameLst>
                                          <p:attrName>style.visibility</p:attrName>
                                        </p:attrNameLst>
                                      </p:cBhvr>
                                      <p:to>
                                        <p:strVal val="visible"/>
                                      </p:to>
                                    </p:set>
                                  </p:childTnLst>
                                </p:cTn>
                              </p:par>
                              <p:par>
                                <p:cTn id="19" presetID="1" presetClass="entr" presetSubtype="0" fill="hold" grpId="3" nodeType="withEffect">
                                  <p:stCondLst>
                                    <p:cond delay="0"/>
                                  </p:stCondLst>
                                  <p:iterate>
                                    <p:tmAbs val="0"/>
                                  </p:iterate>
                                  <p:childTnLst>
                                    <p:set>
                                      <p:cBhvr>
                                        <p:cTn id="20" fill="hold"/>
                                        <p:tgtEl>
                                          <p:spTgt spid="692">
                                            <p:txEl>
                                              <p:pRg st="0" end="0"/>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4" nodeType="afterEffect">
                                  <p:stCondLst>
                                    <p:cond delay="0"/>
                                  </p:stCondLst>
                                  <p:iterate>
                                    <p:tmAbs val="0"/>
                                  </p:iterate>
                                  <p:childTnLst>
                                    <p:set>
                                      <p:cBhvr>
                                        <p:cTn id="23" fill="hold"/>
                                        <p:tgtEl>
                                          <p:spTgt spid="69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3" nodeType="clickEffect">
                                  <p:stCondLst>
                                    <p:cond delay="0"/>
                                  </p:stCondLst>
                                  <p:iterate>
                                    <p:tmAbs val="0"/>
                                  </p:iterate>
                                  <p:childTnLst>
                                    <p:set>
                                      <p:cBhvr>
                                        <p:cTn id="27" fill="hold"/>
                                        <p:tgtEl>
                                          <p:spTgt spid="692">
                                            <p:txEl>
                                              <p:pRg st="1" end="1"/>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5" nodeType="afterEffect">
                                  <p:stCondLst>
                                    <p:cond delay="0"/>
                                  </p:stCondLst>
                                  <p:iterate>
                                    <p:tmAbs val="0"/>
                                  </p:iterate>
                                  <p:childTnLst>
                                    <p:set>
                                      <p:cBhvr>
                                        <p:cTn id="30" fill="hold"/>
                                        <p:tgtEl>
                                          <p:spTgt spid="6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 grpId="1" build="p" bldLvl="5" animBg="1" advAuto="0"/>
      <p:bldP spid="691" grpId="2" animBg="1" advAuto="0"/>
      <p:bldP spid="692" grpId="3" build="p" bldLvl="5" animBg="1" advAuto="0"/>
      <p:bldP spid="693" grpId="4" animBg="1" advAuto="0"/>
      <p:bldP spid="694" grpId="5"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9" name="brenk_vid (1).gif" descr="brenk_vid (1).gif"/>
          <p:cNvPicPr>
            <a:picLocks/>
          </p:cNvPicPr>
          <p:nvPr/>
        </p:nvPicPr>
        <p:blipFill>
          <a:blip r:embed="rId2"/>
          <a:stretch>
            <a:fillRect/>
          </a:stretch>
        </p:blipFill>
        <p:spPr>
          <a:xfrm>
            <a:off x="13287785" y="2698404"/>
            <a:ext cx="12050191" cy="9420345"/>
          </a:xfrm>
          <a:prstGeom prst="rect">
            <a:avLst/>
          </a:prstGeom>
          <a:ln w="12700">
            <a:miter lim="400000"/>
          </a:ln>
        </p:spPr>
      </p:pic>
      <p:pic>
        <p:nvPicPr>
          <p:cNvPr id="700" name="Image" descr="Image"/>
          <p:cNvPicPr>
            <a:picLocks noChangeAspect="1"/>
          </p:cNvPicPr>
          <p:nvPr/>
        </p:nvPicPr>
        <p:blipFill>
          <a:blip r:embed="rId3"/>
          <a:stretch>
            <a:fillRect/>
          </a:stretch>
        </p:blipFill>
        <p:spPr>
          <a:xfrm>
            <a:off x="265306" y="3906997"/>
            <a:ext cx="15076941" cy="5417966"/>
          </a:xfrm>
          <a:prstGeom prst="rect">
            <a:avLst/>
          </a:prstGeom>
          <a:ln w="12700">
            <a:miter lim="400000"/>
          </a:ln>
        </p:spPr>
      </p:pic>
      <mc:AlternateContent xmlns:mc="http://schemas.openxmlformats.org/markup-compatibility/2006">
        <mc:Choice xmlns:a14="http://schemas.microsoft.com/office/drawing/2010/main" Requires="a14">
          <p:sp>
            <p:nvSpPr>
              <p:cNvPr id="701" name="Key results:  CDD achieve perfect adherence to safety constraints, while increasing the frequency of novel, valid,   non-toxic generation by over 3.5x w.r.t previous SOTA models."/>
              <p:cNvSpPr txBox="1"/>
              <p:nvPr/>
            </p:nvSpPr>
            <p:spPr>
              <a:xfrm>
                <a:off x="824559" y="10141817"/>
                <a:ext cx="13958435" cy="1992037"/>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ormAutofit/>
              </a:bodyPr>
              <a:lstStyle/>
              <a:p>
                <a:pPr defTabSz="2121354">
                  <a:lnSpc>
                    <a:spcPct val="100000"/>
                  </a:lnSpc>
                  <a:spcBef>
                    <a:spcPts val="1900"/>
                  </a:spcBef>
                  <a:defRPr sz="4176"/>
                </a:pPr>
                <a:r>
                  <a:rPr>
                    <a:solidFill>
                      <a:schemeClr val="accent5">
                        <a:lumOff val="-29866"/>
                      </a:schemeClr>
                    </a:solidFill>
                  </a:rPr>
                  <a:t>Key results</a:t>
                </a:r>
                <a:r>
                  <a:t>:  CDD achieve </a:t>
                </a:r>
                <a:r>
                  <a:rPr>
                    <a:latin typeface="Gill Sans"/>
                    <a:ea typeface="Gill Sans"/>
                    <a:cs typeface="Gill Sans"/>
                    <a:sym typeface="Gill Sans"/>
                  </a:rPr>
                  <a:t>perfect adherence</a:t>
                </a:r>
                <a:r>
                  <a:t> to </a:t>
                </a:r>
                <a:r>
                  <a:rPr>
                    <a:solidFill>
                      <a:schemeClr val="accent1">
                        <a:hueOff val="114395"/>
                        <a:lumOff val="-24975"/>
                      </a:schemeClr>
                    </a:solidFill>
                  </a:rPr>
                  <a:t>safety constraints</a:t>
                </a:r>
                <a:r>
                  <a:t>, while increasing the frequency of </a:t>
                </a:r>
                <a:r>
                  <a:rPr>
                    <a:solidFill>
                      <a:schemeClr val="accent1">
                        <a:hueOff val="114395"/>
                        <a:lumOff val="-24975"/>
                      </a:schemeClr>
                    </a:solidFill>
                  </a:rPr>
                  <a:t>novel, valid, </a:t>
                </a:r>
                <a14:m>
                  <m:oMath xmlns:m="http://schemas.openxmlformats.org/officeDocument/2006/math">
                    <m:r>
                      <a:rPr sz="4900" i="1">
                        <a:solidFill>
                          <a:srgbClr val="004C7F"/>
                        </a:solidFill>
                        <a:latin typeface="Cambria Math" panose="02040503050406030204" pitchFamily="18" charset="0"/>
                      </a:rPr>
                      <m:t>∧</m:t>
                    </m:r>
                  </m:oMath>
                </a14:m>
                <a:r>
                  <a:rPr>
                    <a:solidFill>
                      <a:schemeClr val="accent1">
                        <a:hueOff val="114395"/>
                        <a:lumOff val="-24975"/>
                      </a:schemeClr>
                    </a:solidFill>
                  </a:rPr>
                  <a:t> non-toxic generation</a:t>
                </a:r>
                <a:r>
                  <a:t> by </a:t>
                </a:r>
                <a:r>
                  <a:rPr>
                    <a:latin typeface="Gill Sans"/>
                    <a:ea typeface="Gill Sans"/>
                    <a:cs typeface="Gill Sans"/>
                    <a:sym typeface="Gill Sans"/>
                  </a:rPr>
                  <a:t>over 3.5x</a:t>
                </a:r>
                <a:r>
                  <a:t> w.r.t previous SOTA models. </a:t>
                </a:r>
                <a:endParaRPr sz="4800">
                  <a:solidFill>
                    <a:srgbClr val="004D80"/>
                  </a:solidFill>
                </a:endParaRPr>
              </a:p>
            </p:txBody>
          </p:sp>
        </mc:Choice>
        <mc:Fallback>
          <p:sp>
            <p:nvSpPr>
              <p:cNvPr id="701" name="Key results:  CDD achieve perfect adherence to safety constraints, while increasing the frequency of novel, valid,   non-toxic generation by over 3.5x w.r.t previous SOTA models."/>
              <p:cNvSpPr txBox="1">
                <a:spLocks noRot="1" noChangeAspect="1" noMove="1" noResize="1" noEditPoints="1" noAdjustHandles="1" noChangeArrowheads="1" noChangeShapeType="1" noTextEdit="1"/>
              </p:cNvSpPr>
              <p:nvPr/>
            </p:nvSpPr>
            <p:spPr>
              <a:xfrm>
                <a:off x="824559" y="10141817"/>
                <a:ext cx="13958435" cy="1992037"/>
              </a:xfrm>
              <a:prstGeom prst="rect">
                <a:avLst/>
              </a:prstGeom>
              <a:blipFill>
                <a:blip r:embed="rId4"/>
                <a:stretch>
                  <a:fillRect l="-1909" t="-5696" b="-18987"/>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sp>
        <p:nvSpPr>
          <p:cNvPr id="702" name="Synthetic chemistry: Molecular generation"/>
          <p:cNvSpPr txBox="1">
            <a:spLocks noGrp="1"/>
          </p:cNvSpPr>
          <p:nvPr>
            <p:ph type="title"/>
          </p:nvPr>
        </p:nvSpPr>
        <p:spPr>
          <a:prstGeom prst="rect">
            <a:avLst/>
          </a:prstGeom>
        </p:spPr>
        <p:txBody>
          <a:bodyPr/>
          <a:lstStyle/>
          <a:p>
            <a:r>
              <a:t>Synthetic chemistry: Molecular generation</a:t>
            </a:r>
          </a:p>
        </p:txBody>
      </p:sp>
      <p:sp>
        <p:nvSpPr>
          <p:cNvPr id="70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29</a:t>
            </a:fld>
            <a:endParaRPr/>
          </a:p>
        </p:txBody>
      </p:sp>
      <p:sp>
        <p:nvSpPr>
          <p:cNvPr id="704" name="Rectangle"/>
          <p:cNvSpPr/>
          <p:nvPr/>
        </p:nvSpPr>
        <p:spPr>
          <a:xfrm>
            <a:off x="12737305" y="8546565"/>
            <a:ext cx="2140045" cy="510387"/>
          </a:xfrm>
          <a:prstGeom prst="rect">
            <a:avLst/>
          </a:prstGeom>
          <a:solidFill>
            <a:schemeClr val="accent1">
              <a:lumOff val="16847"/>
              <a:alpha val="20000"/>
            </a:schemeClr>
          </a:solidFill>
          <a:ln w="12700">
            <a:solidFill>
              <a:schemeClr val="accent1">
                <a:hueOff val="114395"/>
                <a:lumOff val="-24975"/>
              </a:schemeClr>
            </a:solidFill>
            <a:miter lim="400000"/>
          </a:ln>
        </p:spPr>
        <p:txBody>
          <a:bodyPr lIns="50800" tIns="50800" rIns="50800" bIns="50800" anchor="ctr"/>
          <a:lstStyle/>
          <a:p>
            <a:pPr algn="ctr" defTabSz="825500">
              <a:lnSpc>
                <a:spcPct val="100000"/>
              </a:lnSpc>
              <a:spcBef>
                <a:spcPts val="0"/>
              </a:spcBef>
              <a:defRPr sz="3200">
                <a:latin typeface="+mn-lt"/>
                <a:ea typeface="+mn-ea"/>
                <a:cs typeface="+mn-cs"/>
                <a:sym typeface="Helvetica Neue"/>
              </a:defRPr>
            </a:pPr>
            <a:endParaRPr/>
          </a:p>
        </p:txBody>
      </p:sp>
      <p:sp>
        <p:nvSpPr>
          <p:cNvPr id="705" name="CDD"/>
          <p:cNvSpPr txBox="1"/>
          <p:nvPr/>
        </p:nvSpPr>
        <p:spPr>
          <a:xfrm>
            <a:off x="1285288" y="7884845"/>
            <a:ext cx="939739" cy="558801"/>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3000" b="1">
                <a:latin typeface="Helvetica"/>
                <a:ea typeface="Helvetica"/>
                <a:cs typeface="Helvetica"/>
                <a:sym typeface="Helvetica"/>
              </a:defRPr>
            </a:lvl1pPr>
          </a:lstStyle>
          <a:p>
            <a:r>
              <a:t>CDD</a:t>
            </a:r>
          </a:p>
        </p:txBody>
      </p:sp>
      <p:sp>
        <p:nvSpPr>
          <p:cNvPr id="706" name="CDD"/>
          <p:cNvSpPr txBox="1"/>
          <p:nvPr/>
        </p:nvSpPr>
        <p:spPr>
          <a:xfrm>
            <a:off x="1285288" y="8522358"/>
            <a:ext cx="939739" cy="558801"/>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3000" b="1">
                <a:latin typeface="Helvetica"/>
                <a:ea typeface="Helvetica"/>
                <a:cs typeface="Helvetica"/>
                <a:sym typeface="Helvetica"/>
              </a:defRPr>
            </a:lvl1pPr>
          </a:lstStyle>
          <a:p>
            <a:r>
              <a:t>CDD</a:t>
            </a:r>
          </a:p>
        </p:txBody>
      </p:sp>
      <p:sp>
        <p:nvSpPr>
          <p:cNvPr id="707" name="Rectangle"/>
          <p:cNvSpPr/>
          <p:nvPr/>
        </p:nvSpPr>
        <p:spPr>
          <a:xfrm>
            <a:off x="1292152" y="8427042"/>
            <a:ext cx="8581661" cy="624280"/>
          </a:xfrm>
          <a:prstGeom prst="rect">
            <a:avLst/>
          </a:prstGeom>
          <a:solidFill>
            <a:schemeClr val="accent1">
              <a:lumOff val="16847"/>
              <a:alpha val="20000"/>
            </a:schemeClr>
          </a:solidFill>
          <a:ln w="12700">
            <a:solidFill>
              <a:schemeClr val="accent1">
                <a:hueOff val="114395"/>
                <a:lumOff val="-24975"/>
              </a:schemeClr>
            </a:solidFill>
            <a:miter lim="400000"/>
          </a:ln>
        </p:spPr>
        <p:txBody>
          <a:bodyPr lIns="50800" tIns="50800" rIns="50800" bIns="50800" anchor="ctr"/>
          <a:lstStyle/>
          <a:p>
            <a:pPr algn="ctr" defTabSz="825500">
              <a:lnSpc>
                <a:spcPct val="100000"/>
              </a:lnSpc>
              <a:spcBef>
                <a:spcPts val="0"/>
              </a:spcBef>
              <a:defRPr sz="3200">
                <a:latin typeface="+mn-lt"/>
                <a:ea typeface="+mn-ea"/>
                <a:cs typeface="+mn-cs"/>
                <a:sym typeface="Helvetica Neue"/>
              </a:defRPr>
            </a:pPr>
            <a:endParaRPr/>
          </a:p>
        </p:txBody>
      </p:sp>
      <p:pic>
        <p:nvPicPr>
          <p:cNvPr id="708" name="Screen Shot 2022-10-17 at 11.39.00 AM.png" descr="Screen Shot 2022-10-17 at 11.39.00 AM.png">
            <a:hlinkClick r:id="rId5"/>
          </p:cNvPr>
          <p:cNvPicPr>
            <a:picLocks noChangeAspect="1"/>
          </p:cNvPicPr>
          <p:nvPr/>
        </p:nvPicPr>
        <p:blipFill>
          <a:blip r:embed="rId6"/>
          <a:stretch>
            <a:fillRect/>
          </a:stretch>
        </p:blipFill>
        <p:spPr>
          <a:xfrm>
            <a:off x="11019043" y="13033464"/>
            <a:ext cx="362129" cy="322980"/>
          </a:xfrm>
          <a:prstGeom prst="rect">
            <a:avLst/>
          </a:prstGeom>
          <a:ln w="12700">
            <a:miter lim="400000"/>
          </a:ln>
        </p:spPr>
      </p:pic>
      <p:sp>
        <p:nvSpPr>
          <p:cNvPr id="709" name="NeurIPS:25">
            <a:hlinkClick r:id="rId5"/>
          </p:cNvPr>
          <p:cNvSpPr txBox="1"/>
          <p:nvPr/>
        </p:nvSpPr>
        <p:spPr>
          <a:xfrm>
            <a:off x="11423546" y="12966354"/>
            <a:ext cx="1466702"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400"/>
            </a:lvl1pPr>
          </a:lstStyle>
          <a:p>
            <a:r>
              <a:t>NeurIPS:25</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70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7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 grpId="1" animBg="1" advAuto="0"/>
      <p:bldP spid="707" grpId="2" animBg="1" advAuto="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 name="References"/>
          <p:cNvSpPr txBox="1">
            <a:spLocks noGrp="1"/>
          </p:cNvSpPr>
          <p:nvPr>
            <p:ph type="title"/>
          </p:nvPr>
        </p:nvSpPr>
        <p:spPr>
          <a:prstGeom prst="rect">
            <a:avLst/>
          </a:prstGeom>
        </p:spPr>
        <p:txBody>
          <a:bodyPr/>
          <a:lstStyle/>
          <a:p>
            <a:r>
              <a:t>References</a:t>
            </a:r>
          </a:p>
        </p:txBody>
      </p:sp>
      <p:sp>
        <p:nvSpPr>
          <p:cNvPr id="71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30</a:t>
            </a:fld>
            <a:endParaRPr/>
          </a:p>
        </p:txBody>
      </p:sp>
      <p:grpSp>
        <p:nvGrpSpPr>
          <p:cNvPr id="727" name="Group"/>
          <p:cNvGrpSpPr/>
          <p:nvPr/>
        </p:nvGrpSpPr>
        <p:grpSpPr>
          <a:xfrm>
            <a:off x="1372483" y="2829359"/>
            <a:ext cx="590058" cy="9355722"/>
            <a:chOff x="0" y="0"/>
            <a:chExt cx="590056" cy="9355721"/>
          </a:xfrm>
        </p:grpSpPr>
        <p:pic>
          <p:nvPicPr>
            <p:cNvPr id="719" name="Screen Shot 2022-10-17 at 11.39.00 AM.png" descr="Screen Shot 2022-10-17 at 11.39.00 AM.png"/>
            <p:cNvPicPr>
              <a:picLocks noChangeAspect="1"/>
            </p:cNvPicPr>
            <p:nvPr/>
          </p:nvPicPr>
          <p:blipFill>
            <a:blip r:embed="rId2"/>
            <a:stretch>
              <a:fillRect/>
            </a:stretch>
          </p:blipFill>
          <p:spPr>
            <a:xfrm>
              <a:off x="96" y="0"/>
              <a:ext cx="589961" cy="526182"/>
            </a:xfrm>
            <a:prstGeom prst="rect">
              <a:avLst/>
            </a:prstGeom>
            <a:ln w="12700" cap="flat">
              <a:noFill/>
              <a:miter lim="400000"/>
            </a:ln>
            <a:effectLst/>
          </p:spPr>
        </p:pic>
        <p:pic>
          <p:nvPicPr>
            <p:cNvPr id="720" name="Screen Shot 2022-10-17 at 11.39.00 AM.png" descr="Screen Shot 2022-10-17 at 11.39.00 AM.png"/>
            <p:cNvPicPr>
              <a:picLocks noChangeAspect="1"/>
            </p:cNvPicPr>
            <p:nvPr/>
          </p:nvPicPr>
          <p:blipFill>
            <a:blip r:embed="rId2"/>
            <a:stretch>
              <a:fillRect/>
            </a:stretch>
          </p:blipFill>
          <p:spPr>
            <a:xfrm>
              <a:off x="96" y="1201128"/>
              <a:ext cx="589961" cy="526182"/>
            </a:xfrm>
            <a:prstGeom prst="rect">
              <a:avLst/>
            </a:prstGeom>
            <a:ln w="12700" cap="flat">
              <a:noFill/>
              <a:miter lim="400000"/>
            </a:ln>
            <a:effectLst/>
          </p:spPr>
        </p:pic>
        <p:pic>
          <p:nvPicPr>
            <p:cNvPr id="721" name="Screen Shot 2022-10-17 at 11.39.00 AM.png" descr="Screen Shot 2022-10-17 at 11.39.00 AM.png"/>
            <p:cNvPicPr>
              <a:picLocks noChangeAspect="1"/>
            </p:cNvPicPr>
            <p:nvPr/>
          </p:nvPicPr>
          <p:blipFill>
            <a:blip r:embed="rId2"/>
            <a:stretch>
              <a:fillRect/>
            </a:stretch>
          </p:blipFill>
          <p:spPr>
            <a:xfrm>
              <a:off x="96" y="2226578"/>
              <a:ext cx="589961" cy="526182"/>
            </a:xfrm>
            <a:prstGeom prst="rect">
              <a:avLst/>
            </a:prstGeom>
            <a:ln w="12700" cap="flat">
              <a:noFill/>
              <a:miter lim="400000"/>
            </a:ln>
            <a:effectLst/>
          </p:spPr>
        </p:pic>
        <p:pic>
          <p:nvPicPr>
            <p:cNvPr id="722" name="Screen Shot 2022-10-17 at 11.39.00 AM.png" descr="Screen Shot 2022-10-17 at 11.39.00 AM.png"/>
            <p:cNvPicPr>
              <a:picLocks noChangeAspect="1"/>
            </p:cNvPicPr>
            <p:nvPr/>
          </p:nvPicPr>
          <p:blipFill>
            <a:blip r:embed="rId2"/>
            <a:stretch>
              <a:fillRect/>
            </a:stretch>
          </p:blipFill>
          <p:spPr>
            <a:xfrm>
              <a:off x="96" y="3409183"/>
              <a:ext cx="589961" cy="526182"/>
            </a:xfrm>
            <a:prstGeom prst="rect">
              <a:avLst/>
            </a:prstGeom>
            <a:ln w="12700" cap="flat">
              <a:noFill/>
              <a:miter lim="400000"/>
            </a:ln>
            <a:effectLst/>
          </p:spPr>
        </p:pic>
        <p:pic>
          <p:nvPicPr>
            <p:cNvPr id="723" name="Screen Shot 2022-10-17 at 11.39.00 AM.png" descr="Screen Shot 2022-10-17 at 11.39.00 AM.png"/>
            <p:cNvPicPr>
              <a:picLocks noChangeAspect="1"/>
            </p:cNvPicPr>
            <p:nvPr/>
          </p:nvPicPr>
          <p:blipFill>
            <a:blip r:embed="rId2"/>
            <a:stretch>
              <a:fillRect/>
            </a:stretch>
          </p:blipFill>
          <p:spPr>
            <a:xfrm>
              <a:off x="96" y="4591788"/>
              <a:ext cx="589961" cy="526182"/>
            </a:xfrm>
            <a:prstGeom prst="rect">
              <a:avLst/>
            </a:prstGeom>
            <a:ln w="12700" cap="flat">
              <a:noFill/>
              <a:miter lim="400000"/>
            </a:ln>
            <a:effectLst/>
          </p:spPr>
        </p:pic>
        <p:pic>
          <p:nvPicPr>
            <p:cNvPr id="724" name="Screen Shot 2022-10-17 at 11.39.00 AM.png" descr="Screen Shot 2022-10-17 at 11.39.00 AM.png"/>
            <p:cNvPicPr>
              <a:picLocks noChangeAspect="1"/>
            </p:cNvPicPr>
            <p:nvPr/>
          </p:nvPicPr>
          <p:blipFill>
            <a:blip r:embed="rId2"/>
            <a:srcRect/>
            <a:stretch>
              <a:fillRect/>
            </a:stretch>
          </p:blipFill>
          <p:spPr>
            <a:xfrm>
              <a:off x="0" y="6041821"/>
              <a:ext cx="589961" cy="526182"/>
            </a:xfrm>
            <a:prstGeom prst="rect">
              <a:avLst/>
            </a:prstGeom>
            <a:ln w="12700" cap="flat">
              <a:noFill/>
              <a:miter lim="400000"/>
            </a:ln>
            <a:effectLst/>
          </p:spPr>
        </p:pic>
        <p:pic>
          <p:nvPicPr>
            <p:cNvPr id="725" name="Screen Shot 2022-10-17 at 11.39.00 AM.png" descr="Screen Shot 2022-10-17 at 11.39.00 AM.png"/>
            <p:cNvPicPr>
              <a:picLocks noChangeAspect="1"/>
            </p:cNvPicPr>
            <p:nvPr/>
          </p:nvPicPr>
          <p:blipFill>
            <a:blip r:embed="rId2"/>
            <a:stretch>
              <a:fillRect/>
            </a:stretch>
          </p:blipFill>
          <p:spPr>
            <a:xfrm>
              <a:off x="96" y="7491930"/>
              <a:ext cx="589961" cy="526182"/>
            </a:xfrm>
            <a:prstGeom prst="rect">
              <a:avLst/>
            </a:prstGeom>
            <a:ln w="12700" cap="flat">
              <a:noFill/>
              <a:miter lim="400000"/>
            </a:ln>
            <a:effectLst/>
          </p:spPr>
        </p:pic>
        <p:pic>
          <p:nvPicPr>
            <p:cNvPr id="726" name="Screen Shot 2022-10-17 at 11.39.00 AM.png" descr="Screen Shot 2022-10-17 at 11.39.00 AM.png"/>
            <p:cNvPicPr>
              <a:picLocks noChangeAspect="1"/>
            </p:cNvPicPr>
            <p:nvPr/>
          </p:nvPicPr>
          <p:blipFill>
            <a:blip r:embed="rId2"/>
            <a:stretch>
              <a:fillRect/>
            </a:stretch>
          </p:blipFill>
          <p:spPr>
            <a:xfrm>
              <a:off x="96" y="8829540"/>
              <a:ext cx="589961" cy="526182"/>
            </a:xfrm>
            <a:prstGeom prst="rect">
              <a:avLst/>
            </a:prstGeom>
            <a:ln w="12700" cap="flat">
              <a:noFill/>
              <a:miter lim="400000"/>
            </a:ln>
            <a:effectLst/>
          </p:spPr>
        </p:pic>
      </p:grpSp>
      <p:sp>
        <p:nvSpPr>
          <p:cNvPr id="728" name="Motion Planning Diffusion: Learning and Planning of Robot Motions with Diffusion Models. Joao Carvalho, An T. Le, Mark Baierl, Dorothea Koert, Jan Peters IROS 2023"/>
          <p:cNvSpPr txBox="1"/>
          <p:nvPr/>
        </p:nvSpPr>
        <p:spPr>
          <a:xfrm>
            <a:off x="2396416" y="3765989"/>
            <a:ext cx="20969893" cy="8060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nSpc>
                <a:spcPct val="100000"/>
              </a:lnSpc>
              <a:spcBef>
                <a:spcPts val="0"/>
              </a:spcBef>
              <a:defRPr sz="2300">
                <a:latin typeface="+mn-lt"/>
                <a:ea typeface="+mn-ea"/>
                <a:cs typeface="+mn-cs"/>
                <a:sym typeface="Helvetica Neue"/>
              </a:defRPr>
            </a:pPr>
            <a:r>
              <a:rPr b="1"/>
              <a:t>Motion Planning Diffusion: Learning and Planning of Robot Motions with Diffusion Models</a:t>
            </a:r>
            <a:r>
              <a:t>. Joao Carvalho</a:t>
            </a:r>
            <a:r>
              <a:rPr sz="1555"/>
              <a:t>, </a:t>
            </a:r>
            <a:r>
              <a:t>An T. Le</a:t>
            </a:r>
            <a:r>
              <a:rPr sz="1555"/>
              <a:t>, </a:t>
            </a:r>
            <a:r>
              <a:t>Mark Baierl</a:t>
            </a:r>
            <a:r>
              <a:rPr sz="1555"/>
              <a:t>, </a:t>
            </a:r>
            <a:r>
              <a:t>Dorothea Koert</a:t>
            </a:r>
            <a:r>
              <a:rPr sz="1555"/>
              <a:t>, </a:t>
            </a:r>
            <a:r>
              <a:t>Jan Peters</a:t>
            </a:r>
            <a:br/>
            <a:r>
              <a:rPr u="sng"/>
              <a:t>IROS 2023</a:t>
            </a:r>
            <a:r>
              <a:t> </a:t>
            </a:r>
          </a:p>
        </p:txBody>
      </p:sp>
      <p:sp>
        <p:nvSpPr>
          <p:cNvPr id="729" name="Constrained Synthesis with Projected Diffusion Models. Jacob K. Christopher, Stephen Baek, Ferdinando Fioretto.  Advances in Neural Information Processing Systems 37 (NeurIPS 2024)"/>
          <p:cNvSpPr txBox="1"/>
          <p:nvPr/>
        </p:nvSpPr>
        <p:spPr>
          <a:xfrm>
            <a:off x="2351620" y="2763170"/>
            <a:ext cx="20969893" cy="8060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nSpc>
                <a:spcPct val="100000"/>
              </a:lnSpc>
              <a:spcBef>
                <a:spcPts val="0"/>
              </a:spcBef>
              <a:defRPr sz="2300">
                <a:latin typeface="+mn-lt"/>
                <a:ea typeface="+mn-ea"/>
                <a:cs typeface="+mn-cs"/>
                <a:sym typeface="Helvetica Neue"/>
              </a:defRPr>
            </a:pPr>
            <a:r>
              <a:rPr b="1"/>
              <a:t>Constrained Synthesis with Projected Diffusion Models</a:t>
            </a:r>
            <a:r>
              <a:t>. Jacob K. Christopher, Stephen Baek, </a:t>
            </a:r>
            <a:r>
              <a:rPr b="1"/>
              <a:t>Ferdinando Fioretto</a:t>
            </a:r>
            <a:r>
              <a:t>. </a:t>
            </a:r>
            <a:br/>
            <a:r>
              <a:rPr u="sng">
                <a:hlinkClick r:id="rId3"/>
              </a:rPr>
              <a:t>Advances in Neural Information Processing Systems 37 (NeurIPS 2024)</a:t>
            </a:r>
          </a:p>
        </p:txBody>
      </p:sp>
      <p:sp>
        <p:nvSpPr>
          <p:cNvPr id="730" name="Simultaneous Multi-Robot Motion Planning with Projected Diffusion Models. Jinhao Liang, Jacob Christopher, Sven Koenig, and Ferdinando Fioretto.…"/>
          <p:cNvSpPr txBox="1"/>
          <p:nvPr/>
        </p:nvSpPr>
        <p:spPr>
          <a:xfrm>
            <a:off x="2410204" y="4945877"/>
            <a:ext cx="20730658" cy="8060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nSpc>
                <a:spcPct val="100000"/>
              </a:lnSpc>
              <a:spcBef>
                <a:spcPts val="0"/>
              </a:spcBef>
              <a:defRPr sz="2300">
                <a:latin typeface="+mn-lt"/>
                <a:ea typeface="+mn-ea"/>
                <a:cs typeface="+mn-cs"/>
                <a:sym typeface="Helvetica Neue"/>
              </a:defRPr>
            </a:pPr>
            <a:r>
              <a:rPr b="1">
                <a:hlinkClick r:id="rId4"/>
              </a:rPr>
              <a:t>Simultaneous Multi-Robot Motion Planning with Projected Diffusion Models</a:t>
            </a:r>
            <a:r>
              <a:t>. Jinhao Liang, Jacob Christopher, Sven Koenig, and </a:t>
            </a:r>
            <a:r>
              <a:rPr b="1"/>
              <a:t>Ferdinando Fioretto</a:t>
            </a:r>
            <a:r>
              <a:t>.</a:t>
            </a:r>
          </a:p>
          <a:p>
            <a:pPr>
              <a:lnSpc>
                <a:spcPct val="100000"/>
              </a:lnSpc>
              <a:spcBef>
                <a:spcPts val="0"/>
              </a:spcBef>
              <a:defRPr sz="2300" u="sng">
                <a:latin typeface="+mn-lt"/>
                <a:ea typeface="+mn-ea"/>
                <a:cs typeface="+mn-cs"/>
                <a:sym typeface="Helvetica Neue"/>
              </a:defRPr>
            </a:pPr>
            <a:r>
              <a:t>In International Conference on Machine Learning, (ICML 2025).</a:t>
            </a:r>
          </a:p>
        </p:txBody>
      </p:sp>
      <p:sp>
        <p:nvSpPr>
          <p:cNvPr id="731" name="Discrete-Guided Diffusion for Scalable and Safe Multi-Robot Motion Planning. Jinhao Liang, Sven Koenig, and Ferdinando Fioretto…"/>
          <p:cNvSpPr txBox="1"/>
          <p:nvPr/>
        </p:nvSpPr>
        <p:spPr>
          <a:xfrm>
            <a:off x="2405065" y="6125765"/>
            <a:ext cx="20050593" cy="8060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nSpc>
                <a:spcPct val="100000"/>
              </a:lnSpc>
              <a:spcBef>
                <a:spcPts val="0"/>
              </a:spcBef>
              <a:defRPr sz="2300" b="1">
                <a:latin typeface="+mn-lt"/>
                <a:ea typeface="+mn-ea"/>
                <a:cs typeface="+mn-cs"/>
                <a:sym typeface="Helvetica Neue"/>
              </a:defRPr>
            </a:pPr>
            <a:r>
              <a:rPr>
                <a:hlinkClick r:id="rId5"/>
              </a:rPr>
              <a:t>Discrete-Guided Diffusion for Scalable and Safe Multi-Robot Motion Planning</a:t>
            </a:r>
            <a:r>
              <a:rPr b="0"/>
              <a:t>. Jinhao Liang, Sven Koenig, and </a:t>
            </a:r>
            <a:r>
              <a:t>Ferdinando Fioretto</a:t>
            </a:r>
          </a:p>
          <a:p>
            <a:pPr>
              <a:lnSpc>
                <a:spcPct val="100000"/>
              </a:lnSpc>
              <a:spcBef>
                <a:spcPts val="0"/>
              </a:spcBef>
              <a:defRPr sz="2300" u="sng">
                <a:latin typeface="+mn-lt"/>
                <a:ea typeface="+mn-ea"/>
                <a:cs typeface="+mn-cs"/>
                <a:sym typeface="Helvetica Neue"/>
              </a:defRPr>
            </a:pPr>
            <a:r>
              <a:t>In AAAI Conference on Artificial Intelligence, (AAAI 2026)</a:t>
            </a:r>
          </a:p>
        </p:txBody>
      </p:sp>
      <p:sp>
        <p:nvSpPr>
          <p:cNvPr id="732" name="Simple and Effective Masked Diffusion Language Models. Subham Sekhar Sahoo et al. NeurIPS 2024"/>
          <p:cNvSpPr txBox="1"/>
          <p:nvPr/>
        </p:nvSpPr>
        <p:spPr>
          <a:xfrm>
            <a:off x="2283434" y="7512873"/>
            <a:ext cx="13208382" cy="4377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defTabSz="457200">
              <a:lnSpc>
                <a:spcPct val="117999"/>
              </a:lnSpc>
              <a:spcBef>
                <a:spcPts val="0"/>
              </a:spcBef>
              <a:defRPr sz="2200">
                <a:latin typeface="+mn-lt"/>
                <a:ea typeface="+mn-ea"/>
                <a:cs typeface="+mn-cs"/>
                <a:sym typeface="Helvetica Neue"/>
              </a:defRPr>
            </a:pPr>
            <a:r>
              <a:rPr b="1"/>
              <a:t>Simple and Effective Masked Diffusion Language Models</a:t>
            </a:r>
            <a:r>
              <a:t>. Subham Sekhar Sahoo et al. </a:t>
            </a:r>
            <a:r>
              <a:rPr u="sng"/>
              <a:t>NeurIPS 2024</a:t>
            </a:r>
          </a:p>
        </p:txBody>
      </p:sp>
      <p:sp>
        <p:nvSpPr>
          <p:cNvPr id="733" name="Constrained Discrete Diffusion Models. Michael Cardei, Jacob K Christopher, Thomas Hartvigsen, Brian R. Bartoldson, Bhavya Kailkhura, and Ferdinando Fioretto. In Advances in Neural Information Processing Systems, (NeurIPS 2025)"/>
          <p:cNvSpPr txBox="1"/>
          <p:nvPr/>
        </p:nvSpPr>
        <p:spPr>
          <a:xfrm>
            <a:off x="2193048" y="8692761"/>
            <a:ext cx="20969893" cy="8414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defTabSz="457200">
              <a:lnSpc>
                <a:spcPct val="117999"/>
              </a:lnSpc>
              <a:spcBef>
                <a:spcPts val="0"/>
              </a:spcBef>
              <a:defRPr sz="2200" b="1">
                <a:latin typeface="+mn-lt"/>
                <a:ea typeface="+mn-ea"/>
                <a:cs typeface="+mn-cs"/>
                <a:sym typeface="Helvetica Neue"/>
              </a:defRPr>
            </a:pPr>
            <a:r>
              <a:t>Constrained Discrete Diffusion Models. </a:t>
            </a:r>
            <a:r>
              <a:rPr b="0"/>
              <a:t>Michael Cardei, Jacob K Christopher, Thomas Hartvigsen, Brian R. Bartoldson, Bhavya Kailkhura, and </a:t>
            </a:r>
            <a:r>
              <a:t>Ferdinando Fioretto</a:t>
            </a:r>
            <a:r>
              <a:rPr b="0"/>
              <a:t>. </a:t>
            </a:r>
            <a:r>
              <a:rPr b="0" u="sng"/>
              <a:t>In Advances in Neural Information Processing Systems, (NeurIPS 2025)</a:t>
            </a:r>
          </a:p>
        </p:txBody>
      </p:sp>
      <p:sp>
        <p:nvSpPr>
          <p:cNvPr id="734" name="Neuro-symbolic Generative Diffusion Models for Physically Grounded, Robust, and Safe Generation. Jacob K. Christopher, Michael Cardei, Jinhao Liang, and Ferdinando Fioretto. In International Conference on Neuro-symbolic Systems (NeuS), 2025"/>
          <p:cNvSpPr txBox="1"/>
          <p:nvPr/>
        </p:nvSpPr>
        <p:spPr>
          <a:xfrm>
            <a:off x="2166704" y="10036712"/>
            <a:ext cx="20050592" cy="842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defTabSz="457200">
              <a:lnSpc>
                <a:spcPct val="117999"/>
              </a:lnSpc>
              <a:spcBef>
                <a:spcPts val="0"/>
              </a:spcBef>
              <a:defRPr sz="2200" b="1">
                <a:latin typeface="+mn-lt"/>
                <a:ea typeface="+mn-ea"/>
                <a:cs typeface="+mn-cs"/>
                <a:sym typeface="Helvetica Neue"/>
              </a:defRPr>
            </a:pPr>
            <a:r>
              <a:t>Neuro-symbolic Generative Diffusion Models for Physically Grounded, Robust, and Safe Generation. </a:t>
            </a:r>
            <a:r>
              <a:rPr b="0"/>
              <a:t>Jacob K. Christopher, Michael Cardei, Jinhao Liang, and </a:t>
            </a:r>
            <a:r>
              <a:t>Ferdinando Fioretto. </a:t>
            </a:r>
            <a:r>
              <a:rPr b="0" u="sng"/>
              <a:t>In International Conference on Neuro-symbolic Systems (NeuS), 2025</a:t>
            </a:r>
          </a:p>
        </p:txBody>
      </p:sp>
      <p:sp>
        <p:nvSpPr>
          <p:cNvPr id="735" name="Search-Augmented Masked Diffusion Models for Constrained Generation. Huu Binh Ta, Michael Cardei, Alvaro Velasquez, and Ferdinando Fioretto.  ArXiv 2026"/>
          <p:cNvSpPr txBox="1"/>
          <p:nvPr/>
        </p:nvSpPr>
        <p:spPr>
          <a:xfrm>
            <a:off x="2135279" y="11501597"/>
            <a:ext cx="18698592" cy="8414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defTabSz="457200">
              <a:lnSpc>
                <a:spcPct val="117999"/>
              </a:lnSpc>
              <a:spcBef>
                <a:spcPts val="0"/>
              </a:spcBef>
              <a:defRPr sz="2200">
                <a:latin typeface="+mn-lt"/>
                <a:ea typeface="+mn-ea"/>
                <a:cs typeface="+mn-cs"/>
                <a:sym typeface="Helvetica Neue"/>
              </a:defRPr>
            </a:pPr>
            <a:r>
              <a:rPr u="sng">
                <a:hlinkClick r:id="rId6"/>
              </a:rPr>
              <a:t>Search-Augmented Masked Diffusion Models for Constrained Generation</a:t>
            </a:r>
            <a:r>
              <a:t>. Huu Binh Ta, Michael Cardei, Alvaro Velasquez, and </a:t>
            </a:r>
            <a:r>
              <a:rPr b="1"/>
              <a:t>Ferdinando Fioretto. </a:t>
            </a:r>
            <a:br>
              <a:rPr b="1"/>
            </a:br>
            <a:r>
              <a:rPr u="sng"/>
              <a:t>ArXiv 2026</a:t>
            </a:r>
          </a:p>
        </p:txBody>
      </p:sp>
    </p:spTree>
  </p:cSld>
  <p:clrMapOvr>
    <a:masterClrMapping/>
  </p:clrMapOvr>
  <p:transition spd="med"/>
</p:sld>
</file>

<file path=ppt/theme/theme1.xml><?xml version="1.0" encoding="utf-8"?>
<a:theme xmlns:a="http://schemas.openxmlformats.org/drawingml/2006/main" name="30_BasicColor">
  <a:themeElements>
    <a:clrScheme name="30_BasicColor">
      <a:dk1>
        <a:srgbClr val="000000"/>
      </a:dk1>
      <a:lt1>
        <a:srgbClr val="003462"/>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0_BasicColor">
      <a:majorFont>
        <a:latin typeface="Helvetica Neue"/>
        <a:ea typeface="Helvetica Neue"/>
        <a:cs typeface="Helvetica Neue"/>
      </a:majorFont>
      <a:minorFont>
        <a:latin typeface="Helvetica Neue"/>
        <a:ea typeface="Helvetica Neue"/>
        <a:cs typeface="Helvetica Neue"/>
      </a:minorFont>
    </a:fontScheme>
    <a:fmtScheme name="30_Bas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200"/>
          </a:spcBef>
          <a:spcAft>
            <a:spcPts val="0"/>
          </a:spcAft>
          <a:buClrTx/>
          <a:buSzTx/>
          <a:buFontTx/>
          <a:buNone/>
          <a:tabLst/>
          <a:defRPr kumimoji="0" sz="4800" b="0" i="0" u="none" strike="noStrike" cap="none" spc="0" normalizeH="0" baseline="0">
            <a:ln>
              <a:noFill/>
            </a:ln>
            <a:solidFill>
              <a:srgbClr val="000000"/>
            </a:solidFill>
            <a:effectLst/>
            <a:uFillTx/>
            <a:latin typeface="Gill Sans Light"/>
            <a:ea typeface="Gill Sans Light"/>
            <a:cs typeface="Gill Sans Light"/>
            <a:sym typeface="Gill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30_BasicColor">
  <a:themeElements>
    <a:clrScheme name="30_BasicColor">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0_BasicColor">
      <a:majorFont>
        <a:latin typeface="Helvetica Neue"/>
        <a:ea typeface="Helvetica Neue"/>
        <a:cs typeface="Helvetica Neue"/>
      </a:majorFont>
      <a:minorFont>
        <a:latin typeface="Helvetica Neue"/>
        <a:ea typeface="Helvetica Neue"/>
        <a:cs typeface="Helvetica Neue"/>
      </a:minorFont>
    </a:fontScheme>
    <a:fmtScheme name="30_Bas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200"/>
          </a:spcBef>
          <a:spcAft>
            <a:spcPts val="0"/>
          </a:spcAft>
          <a:buClrTx/>
          <a:buSzTx/>
          <a:buFontTx/>
          <a:buNone/>
          <a:tabLst/>
          <a:defRPr kumimoji="0" sz="4800" b="0" i="0" u="none" strike="noStrike" cap="none" spc="0" normalizeH="0" baseline="0">
            <a:ln>
              <a:noFill/>
            </a:ln>
            <a:solidFill>
              <a:srgbClr val="000000"/>
            </a:solidFill>
            <a:effectLst/>
            <a:uFillTx/>
            <a:latin typeface="Gill Sans Light"/>
            <a:ea typeface="Gill Sans Light"/>
            <a:cs typeface="Gill Sans Light"/>
            <a:sym typeface="Gill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TotalTime>
  <Words>2106</Words>
  <Application>Microsoft Macintosh PowerPoint</Application>
  <PresentationFormat>Custom</PresentationFormat>
  <Paragraphs>219</Paragraphs>
  <Slides>30</Slides>
  <Notes>1</Notes>
  <HiddenSlides>5</HiddenSlides>
  <MMClips>4</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Cambria Math</vt:lpstr>
      <vt:lpstr>Gill Sans</vt:lpstr>
      <vt:lpstr>Gill Sans Light</vt:lpstr>
      <vt:lpstr>Gill Sans SemiBold</vt:lpstr>
      <vt:lpstr>Helvetica Neue</vt:lpstr>
      <vt:lpstr>Helvetica Neue Light</vt:lpstr>
      <vt:lpstr>Helvetica Neue Medium</vt:lpstr>
      <vt:lpstr>Times Roman</vt:lpstr>
      <vt:lpstr>30_BasicColor</vt:lpstr>
      <vt:lpstr>PowerPoint Presentation</vt:lpstr>
      <vt:lpstr>Key idea</vt:lpstr>
      <vt:lpstr>Diffusion models: a short primer</vt:lpstr>
      <vt:lpstr>Diffusion models: a short primer</vt:lpstr>
      <vt:lpstr>Visualizing the diffusion process for trajectories</vt:lpstr>
      <vt:lpstr>PowerPoint Presentation</vt:lpstr>
      <vt:lpstr>Understanding the reverse diffusion process</vt:lpstr>
      <vt:lpstr>Constrained-based diffusion</vt:lpstr>
      <vt:lpstr>Constrained-based diffusion</vt:lpstr>
      <vt:lpstr>Constrained-based diffusion</vt:lpstr>
      <vt:lpstr>PowerPoint Presentation</vt:lpstr>
      <vt:lpstr>Augmented Lagrangian sampling </vt:lpstr>
      <vt:lpstr>Safe autonomy: constrained trajectory</vt:lpstr>
      <vt:lpstr>Safe autonomy: Multi-robot setting</vt:lpstr>
      <vt:lpstr>Safe autonomy: Scaling to large systems</vt:lpstr>
      <vt:lpstr>Ongoing work: Safe and dynamic control</vt:lpstr>
      <vt:lpstr>Ongoing work: Decentralized multi-agent setting</vt:lpstr>
      <vt:lpstr>Ongoing work: Decentralized multi-agent setting</vt:lpstr>
      <vt:lpstr>Ongoing work: Decentralized multi-agent setting</vt:lpstr>
      <vt:lpstr>Closed-form diffusion</vt:lpstr>
      <vt:lpstr>Closed-form diffusion</vt:lpstr>
      <vt:lpstr>Ongoing work: Closed-form diffusion</vt:lpstr>
      <vt:lpstr>Ongoing work: Closed-form diffusion</vt:lpstr>
      <vt:lpstr>Constraining discrete LLMs</vt:lpstr>
      <vt:lpstr>Discrete diffusion models</vt:lpstr>
      <vt:lpstr>Constrained-aware discrete diffusion (CDD)</vt:lpstr>
      <vt:lpstr>Natural language toxicity mitigation</vt:lpstr>
      <vt:lpstr>Synthetic chemistry: Molecular generation</vt:lpstr>
      <vt:lpstr>Synthetic chemistry: Molecular generation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Fioretto, Ferdinando (spq7wp)</cp:lastModifiedBy>
  <cp:revision>3</cp:revision>
  <dcterms:modified xsi:type="dcterms:W3CDTF">2026-03-16T22:54:13Z</dcterms:modified>
</cp:coreProperties>
</file>